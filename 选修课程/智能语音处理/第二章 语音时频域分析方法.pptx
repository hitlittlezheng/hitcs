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handoutMasterIdLst>
    <p:handoutMasterId r:id="rId64"/>
  </p:handoutMasterIdLst>
  <p:sldIdLst>
    <p:sldId id="572" r:id="rId5"/>
    <p:sldId id="573" r:id="rId7"/>
    <p:sldId id="474" r:id="rId8"/>
    <p:sldId id="475" r:id="rId9"/>
    <p:sldId id="476" r:id="rId10"/>
    <p:sldId id="477" r:id="rId11"/>
    <p:sldId id="478" r:id="rId12"/>
    <p:sldId id="479" r:id="rId13"/>
    <p:sldId id="480" r:id="rId14"/>
    <p:sldId id="481" r:id="rId15"/>
    <p:sldId id="482" r:id="rId16"/>
    <p:sldId id="483" r:id="rId17"/>
    <p:sldId id="484" r:id="rId18"/>
    <p:sldId id="485" r:id="rId19"/>
    <p:sldId id="486" r:id="rId20"/>
    <p:sldId id="487" r:id="rId21"/>
    <p:sldId id="488" r:id="rId22"/>
    <p:sldId id="489" r:id="rId23"/>
    <p:sldId id="490" r:id="rId24"/>
    <p:sldId id="491" r:id="rId25"/>
    <p:sldId id="492" r:id="rId26"/>
    <p:sldId id="493" r:id="rId27"/>
    <p:sldId id="494" r:id="rId28"/>
    <p:sldId id="495" r:id="rId29"/>
    <p:sldId id="496" r:id="rId30"/>
    <p:sldId id="497" r:id="rId31"/>
    <p:sldId id="498" r:id="rId32"/>
    <p:sldId id="499" r:id="rId33"/>
    <p:sldId id="500" r:id="rId34"/>
    <p:sldId id="501" r:id="rId35"/>
    <p:sldId id="502" r:id="rId36"/>
    <p:sldId id="503" r:id="rId37"/>
    <p:sldId id="504" r:id="rId38"/>
    <p:sldId id="505" r:id="rId39"/>
    <p:sldId id="506" r:id="rId40"/>
    <p:sldId id="507" r:id="rId41"/>
    <p:sldId id="508" r:id="rId42"/>
    <p:sldId id="509" r:id="rId43"/>
    <p:sldId id="510" r:id="rId44"/>
    <p:sldId id="511" r:id="rId45"/>
    <p:sldId id="512" r:id="rId46"/>
    <p:sldId id="513" r:id="rId47"/>
    <p:sldId id="514" r:id="rId48"/>
    <p:sldId id="515" r:id="rId49"/>
    <p:sldId id="516" r:id="rId50"/>
    <p:sldId id="517" r:id="rId51"/>
    <p:sldId id="518" r:id="rId52"/>
    <p:sldId id="519" r:id="rId53"/>
    <p:sldId id="520" r:id="rId54"/>
    <p:sldId id="521" r:id="rId55"/>
    <p:sldId id="522" r:id="rId56"/>
    <p:sldId id="523" r:id="rId57"/>
    <p:sldId id="524" r:id="rId58"/>
    <p:sldId id="525" r:id="rId59"/>
    <p:sldId id="526" r:id="rId60"/>
    <p:sldId id="527" r:id="rId61"/>
    <p:sldId id="528" r:id="rId62"/>
    <p:sldId id="529" r:id="rId63"/>
  </p:sldIdLst>
  <p:sldSz cx="9144000" cy="6858000" type="screen4x3"/>
  <p:notesSz cx="6858000" cy="9947275"/>
  <p:custDataLst>
    <p:tags r:id="rId68"/>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CC9900"/>
    <a:srgbClr val="FF99CC"/>
    <a:srgbClr val="1616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3" autoAdjust="0"/>
    <p:restoredTop sz="94608" autoAdjust="0"/>
  </p:normalViewPr>
  <p:slideViewPr>
    <p:cSldViewPr showGuides="1">
      <p:cViewPr varScale="1">
        <p:scale>
          <a:sx n="132" d="100"/>
          <a:sy n="132" d="100"/>
        </p:scale>
        <p:origin x="384" y="126"/>
      </p:cViewPr>
      <p:guideLst>
        <p:guide orient="horz" pos="2160"/>
        <p:guide pos="2929"/>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8" Type="http://schemas.openxmlformats.org/officeDocument/2006/relationships/tags" Target="tags/tag8.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4.wmf"/><Relationship Id="rId1" Type="http://schemas.openxmlformats.org/officeDocument/2006/relationships/image" Target="../media/image56.wmf"/></Relationships>
</file>

<file path=ppt/drawings/_rels/vmlDrawing23.vml.rels><?xml version="1.0" encoding="UTF-8" standalone="yes"?>
<Relationships xmlns="http://schemas.openxmlformats.org/package/2006/relationships"><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8.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wmf"/><Relationship Id="rId1" Type="http://schemas.openxmlformats.org/officeDocument/2006/relationships/image" Target="../media/image74.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8.vml.rels><?xml version="1.0" encoding="UTF-8" standalone="yes"?>
<Relationships xmlns="http://schemas.openxmlformats.org/package/2006/relationships"><Relationship Id="rId7" Type="http://schemas.openxmlformats.org/officeDocument/2006/relationships/image" Target="../media/image66.wmf"/><Relationship Id="rId6" Type="http://schemas.openxmlformats.org/officeDocument/2006/relationships/image" Target="../media/image86.wmf"/><Relationship Id="rId5" Type="http://schemas.openxmlformats.org/officeDocument/2006/relationships/image" Target="../media/image79.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97.wmf"/><Relationship Id="rId7" Type="http://schemas.openxmlformats.org/officeDocument/2006/relationships/image" Target="../media/image96.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114.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32.wmf"/><Relationship Id="rId7" Type="http://schemas.openxmlformats.org/officeDocument/2006/relationships/image" Target="../media/image131.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98475"/>
          </a:xfrm>
          <a:prstGeom prst="rect">
            <a:avLst/>
          </a:prstGeom>
        </p:spPr>
        <p:txBody>
          <a:bodyPr vert="horz" lIns="91440" tIns="45720" rIns="91440" bIns="45720" rtlCol="0"/>
          <a:lstStyle>
            <a:lvl1pPr algn="r">
              <a:defRPr sz="1200"/>
            </a:lvl1pPr>
          </a:lstStyle>
          <a:p>
            <a:pPr>
              <a:defRPr/>
            </a:pPr>
            <a:fld id="{D35ECC31-B2EE-4F08-B963-51589D57E802}" type="datetimeFigureOut">
              <a:rPr lang="zh-CN" altLang="en-US"/>
            </a:fld>
            <a:endParaRPr lang="zh-CN" altLang="en-US"/>
          </a:p>
        </p:txBody>
      </p:sp>
      <p:sp>
        <p:nvSpPr>
          <p:cNvPr id="4" name="页脚占位符 3"/>
          <p:cNvSpPr>
            <a:spLocks noGrp="1"/>
          </p:cNvSpPr>
          <p:nvPr>
            <p:ph type="ftr" sz="quarter" idx="2"/>
          </p:nvPr>
        </p:nvSpPr>
        <p:spPr>
          <a:xfrm>
            <a:off x="0" y="9448800"/>
            <a:ext cx="29718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9448800"/>
            <a:ext cx="2971800" cy="498475"/>
          </a:xfrm>
          <a:prstGeom prst="rect">
            <a:avLst/>
          </a:prstGeom>
        </p:spPr>
        <p:txBody>
          <a:bodyPr vert="horz" lIns="91440" tIns="45720" rIns="91440" bIns="45720" rtlCol="0" anchor="b"/>
          <a:lstStyle>
            <a:lvl1pPr algn="r">
              <a:defRPr sz="1200"/>
            </a:lvl1pPr>
          </a:lstStyle>
          <a:p>
            <a:pPr>
              <a:defRPr/>
            </a:pPr>
            <a:fld id="{A2A3E25D-6983-4369-BAA3-51431C8A8209}"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zh-CN" altLang="en-US"/>
          </a:p>
        </p:txBody>
      </p:sp>
      <p:sp>
        <p:nvSpPr>
          <p:cNvPr id="57347" name="Rectangle 3"/>
          <p:cNvSpPr>
            <a:spLocks noGrp="1" noChangeArrowheads="1"/>
          </p:cNvSpPr>
          <p:nvPr>
            <p:ph type="dt" idx="1"/>
          </p:nvPr>
        </p:nvSpPr>
        <p:spPr bwMode="auto">
          <a:xfrm>
            <a:off x="3886200" y="0"/>
            <a:ext cx="29718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942975" y="746125"/>
            <a:ext cx="4972050" cy="37306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9" name="Rectangle 5"/>
          <p:cNvSpPr>
            <a:spLocks noGrp="1" noChangeArrowheads="1"/>
          </p:cNvSpPr>
          <p:nvPr>
            <p:ph type="body" sz="quarter" idx="3"/>
          </p:nvPr>
        </p:nvSpPr>
        <p:spPr bwMode="auto">
          <a:xfrm>
            <a:off x="914400" y="4724400"/>
            <a:ext cx="5029200" cy="447675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7350" name="Rectangle 6"/>
          <p:cNvSpPr>
            <a:spLocks noGrp="1" noChangeArrowheads="1"/>
          </p:cNvSpPr>
          <p:nvPr>
            <p:ph type="ftr" sz="quarter" idx="4"/>
          </p:nvPr>
        </p:nvSpPr>
        <p:spPr bwMode="auto">
          <a:xfrm>
            <a:off x="0" y="9450388"/>
            <a:ext cx="29718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57351" name="Rectangle 7"/>
          <p:cNvSpPr>
            <a:spLocks noGrp="1" noChangeArrowheads="1"/>
          </p:cNvSpPr>
          <p:nvPr>
            <p:ph type="sldNum" sz="quarter" idx="5"/>
          </p:nvPr>
        </p:nvSpPr>
        <p:spPr bwMode="auto">
          <a:xfrm>
            <a:off x="3886200" y="9450388"/>
            <a:ext cx="29718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a:defRPr/>
            </a:pPr>
            <a:fld id="{91CA62FB-D1CD-4E67-A496-156C9EF4772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defRPr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defRPr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defRPr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defRPr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9pPr>
          </a:lstStyle>
          <a:p>
            <a:pPr>
              <a:spcBef>
                <a:spcPct val="0"/>
              </a:spcBef>
            </a:pPr>
            <a:fld id="{C71C5247-3400-420B-9C82-E9BD7E4716BE}"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ea typeface="宋体" panose="02010600030101010101" pitchFamily="2" charset="-122"/>
              </a:defRPr>
            </a:lvl1pPr>
            <a:lvl2pPr marL="742950" indent="-285750">
              <a:spcBef>
                <a:spcPct val="30000"/>
              </a:spcBef>
              <a:defRPr sz="1200">
                <a:solidFill>
                  <a:schemeClr val="tx1"/>
                </a:solidFill>
                <a:latin typeface="Arial Narrow" panose="020B0606020202030204" pitchFamily="34" charset="0"/>
                <a:ea typeface="宋体" panose="02010600030101010101" pitchFamily="2" charset="-122"/>
              </a:defRPr>
            </a:lvl2pPr>
            <a:lvl3pPr marL="1143000" indent="-228600">
              <a:spcBef>
                <a:spcPct val="30000"/>
              </a:spcBef>
              <a:defRPr sz="1200">
                <a:solidFill>
                  <a:schemeClr val="tx1"/>
                </a:solidFill>
                <a:latin typeface="Arial Narrow" panose="020B0606020202030204" pitchFamily="34" charset="0"/>
                <a:ea typeface="宋体" panose="02010600030101010101" pitchFamily="2" charset="-122"/>
              </a:defRPr>
            </a:lvl3pPr>
            <a:lvl4pPr marL="1600200" indent="-228600">
              <a:spcBef>
                <a:spcPct val="30000"/>
              </a:spcBef>
              <a:defRPr sz="1200">
                <a:solidFill>
                  <a:schemeClr val="tx1"/>
                </a:solidFill>
                <a:latin typeface="Arial Narrow" panose="020B0606020202030204" pitchFamily="34" charset="0"/>
                <a:ea typeface="宋体" panose="02010600030101010101" pitchFamily="2" charset="-122"/>
              </a:defRPr>
            </a:lvl4pPr>
            <a:lvl5pPr marL="2057400" indent="-228600">
              <a:spcBef>
                <a:spcPct val="30000"/>
              </a:spcBef>
              <a:defRPr sz="12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9pPr>
          </a:lstStyle>
          <a:p>
            <a:pPr>
              <a:spcBef>
                <a:spcPct val="0"/>
              </a:spcBef>
            </a:pPr>
            <a:fld id="{1EBD844B-0BCC-42F7-89FC-60CE2AB6BEEC}" type="slidenum">
              <a:rPr lang="zh-CN" altLang="en-US" smtClean="0">
                <a:latin typeface="Times New Roman" panose="02020603050405020304" pitchFamily="18" charset="0"/>
              </a:rPr>
            </a:fld>
            <a:endParaRPr lang="en-US" altLang="zh-CN">
              <a:latin typeface="Times New Roman" panose="02020603050405020304" pitchFamily="18"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76316CC-08F7-48D1-A192-1A5413CEAC68}" type="slidenum">
              <a:rPr lang="zh-CN" altLang="en-US" smtClean="0"/>
            </a:fld>
            <a:endParaRPr lang="en-US" altLang="zh-CN"/>
          </a:p>
        </p:txBody>
      </p:sp>
      <p:sp>
        <p:nvSpPr>
          <p:cNvPr id="10243" name="Rectangle 2"/>
          <p:cNvSpPr>
            <a:spLocks noGrp="1" noRot="1" noChangeAspect="1" noChangeArrowheads="1" noTextEdit="1"/>
          </p:cNvSpPr>
          <p:nvPr>
            <p:ph type="sldImg"/>
          </p:nvPr>
        </p:nvSpPr>
        <p:spPr/>
      </p:sp>
      <p:sp>
        <p:nvSpPr>
          <p:cNvPr id="102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94EC83F-8ACB-46D4-AB33-E5525D8396BE}" type="slidenum">
              <a:rPr lang="zh-CN" altLang="en-US" smtClean="0"/>
            </a:fld>
            <a:endParaRPr lang="en-US" altLang="zh-CN"/>
          </a:p>
        </p:txBody>
      </p:sp>
      <p:sp>
        <p:nvSpPr>
          <p:cNvPr id="12291" name="Rectangle 2"/>
          <p:cNvSpPr>
            <a:spLocks noGrp="1" noRot="1" noChangeAspect="1" noChangeArrowheads="1" noTextEdit="1"/>
          </p:cNvSpPr>
          <p:nvPr>
            <p:ph type="sldImg"/>
          </p:nvPr>
        </p:nvSpPr>
        <p:spPr/>
      </p:sp>
      <p:sp>
        <p:nvSpPr>
          <p:cNvPr id="1229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A26500E-47BC-4C43-A039-0FF61307F14D}" type="slidenum">
              <a:rPr lang="zh-CN" altLang="en-US" smtClean="0"/>
            </a:fld>
            <a:endParaRPr lang="en-US" altLang="zh-CN"/>
          </a:p>
        </p:txBody>
      </p:sp>
      <p:sp>
        <p:nvSpPr>
          <p:cNvPr id="14339" name="Rectangle 2"/>
          <p:cNvSpPr>
            <a:spLocks noGrp="1" noRot="1" noChangeAspect="1" noChangeArrowheads="1" noTextEdit="1"/>
          </p:cNvSpPr>
          <p:nvPr>
            <p:ph type="sldImg"/>
          </p:nvPr>
        </p:nvSpPr>
        <p:spPr/>
      </p:sp>
      <p:sp>
        <p:nvSpPr>
          <p:cNvPr id="1434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312DD4B-6B5C-4B4B-A14B-B9CD257C5B33}" type="slidenum">
              <a:rPr lang="zh-CN" altLang="en-US" smtClean="0"/>
            </a:fld>
            <a:endParaRPr lang="en-US" altLang="zh-CN"/>
          </a:p>
        </p:txBody>
      </p:sp>
      <p:sp>
        <p:nvSpPr>
          <p:cNvPr id="17411" name="Rectangle 2"/>
          <p:cNvSpPr>
            <a:spLocks noGrp="1" noRot="1" noChangeAspect="1" noChangeArrowheads="1" noTextEdit="1"/>
          </p:cNvSpPr>
          <p:nvPr>
            <p:ph type="sldImg"/>
          </p:nvPr>
        </p:nvSpPr>
        <p:spPr/>
      </p:sp>
      <p:sp>
        <p:nvSpPr>
          <p:cNvPr id="1741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55CCD82-86C8-4034-844A-B745D05C5299}" type="slidenum">
              <a:rPr lang="zh-CN" altLang="en-US" smtClean="0"/>
            </a:fld>
            <a:endParaRPr lang="en-US" altLang="zh-CN"/>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7553A394-11D4-4340-B113-A350197F67F7}" type="slidenum">
              <a:rPr lang="zh-CN" altLang="en-US" smtClean="0"/>
            </a:fld>
            <a:endParaRPr lang="en-US" altLang="zh-CN"/>
          </a:p>
        </p:txBody>
      </p:sp>
      <p:sp>
        <p:nvSpPr>
          <p:cNvPr id="21507" name="Rectangle 2"/>
          <p:cNvSpPr>
            <a:spLocks noGrp="1" noRot="1" noChangeAspect="1" noChangeArrowheads="1" noTextEdit="1"/>
          </p:cNvSpPr>
          <p:nvPr>
            <p:ph type="sldImg"/>
          </p:nvPr>
        </p:nvSpPr>
        <p:spPr/>
      </p:sp>
      <p:sp>
        <p:nvSpPr>
          <p:cNvPr id="2150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6B3EF8D-64DC-4283-949B-16D9E369000A}" type="slidenum">
              <a:rPr lang="zh-CN" altLang="en-US" smtClean="0"/>
            </a:fld>
            <a:endParaRPr lang="en-US" altLang="zh-CN"/>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C4C9AB3C-F372-462F-B1FD-6EA053874114}" type="slidenum">
              <a:rPr lang="zh-CN" altLang="en-US" smtClean="0"/>
            </a:fld>
            <a:endParaRPr lang="en-US" altLang="zh-CN"/>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8CF7920-E2A2-45B4-9D7A-42610B591188}" type="slidenum">
              <a:rPr lang="zh-CN" altLang="en-US" smtClean="0"/>
            </a:fld>
            <a:endParaRPr lang="en-US" altLang="zh-CN"/>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826CFFF-B5E9-4803-B563-0785154031DE}" type="slidenum">
              <a:rPr lang="zh-CN" altLang="en-US" smtClean="0"/>
            </a:fld>
            <a:endParaRPr lang="en-US" altLang="zh-CN"/>
          </a:p>
        </p:txBody>
      </p:sp>
      <p:sp>
        <p:nvSpPr>
          <p:cNvPr id="29699" name="Rectangle 2"/>
          <p:cNvSpPr>
            <a:spLocks noGrp="1" noRot="1" noChangeAspect="1" noChangeArrowheads="1" noTextEdit="1"/>
          </p:cNvSpPr>
          <p:nvPr>
            <p:ph type="sldImg"/>
          </p:nvPr>
        </p:nvSpPr>
        <p:spPr/>
      </p:sp>
      <p:sp>
        <p:nvSpPr>
          <p:cNvPr id="2970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01B9D94-F45A-4FEA-B187-36B8C012B8D7}" type="slidenum">
              <a:rPr lang="zh-CN" altLang="en-US" smtClean="0"/>
            </a:fld>
            <a:endParaRPr lang="en-US" altLang="zh-CN"/>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9D775BF-AD69-4AA3-B590-C5B5FC3576E7}" type="slidenum">
              <a:rPr lang="zh-CN" altLang="en-US" smtClean="0"/>
            </a:fld>
            <a:endParaRPr lang="en-US" altLang="zh-CN"/>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9C64E77-011E-4043-8875-ADE0366D0E49}" type="slidenum">
              <a:rPr lang="zh-CN" altLang="en-US" smtClean="0"/>
            </a:fld>
            <a:endParaRPr lang="en-US" altLang="zh-CN"/>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0753F75-92A2-438C-917B-DE365EE6DE8D}" type="slidenum">
              <a:rPr lang="zh-CN" altLang="en-US" smtClean="0"/>
            </a:fld>
            <a:endParaRPr lang="en-US" altLang="zh-CN"/>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F2ADE04-6933-41D7-9726-D4590B5D5DF6}" type="slidenum">
              <a:rPr lang="zh-CN" altLang="en-US" smtClean="0"/>
            </a:fld>
            <a:endParaRPr lang="en-US" altLang="zh-CN"/>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00B043D-891C-45B3-B756-BDE3CCFABF7B}" type="slidenum">
              <a:rPr lang="zh-CN" altLang="en-US" smtClean="0"/>
            </a:fld>
            <a:endParaRPr lang="en-US" altLang="zh-CN"/>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FE109CF-C21E-4467-8C9D-8894196C6D85}" type="slidenum">
              <a:rPr lang="zh-CN" altLang="en-US" smtClean="0"/>
            </a:fld>
            <a:endParaRPr lang="en-US" altLang="zh-CN"/>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5065FD9-6560-4F3B-B886-541E44324DCA}" type="slidenum">
              <a:rPr lang="zh-CN" altLang="en-US" smtClean="0"/>
            </a:fld>
            <a:endParaRPr lang="en-US" altLang="zh-CN"/>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AC721A6-33C7-4665-BFF7-463745CE7373}" type="slidenum">
              <a:rPr lang="zh-CN" altLang="en-US" smtClean="0"/>
            </a:fld>
            <a:endParaRPr lang="en-US" altLang="zh-CN"/>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DCBD689-BB33-4096-A7E3-AF9D1696905C}" type="slidenum">
              <a:rPr lang="zh-CN" altLang="en-US" smtClean="0"/>
            </a:fld>
            <a:endParaRPr lang="en-US" altLang="zh-CN"/>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803D29D-D4E2-4C11-B455-35717D85138D}" type="slidenum">
              <a:rPr lang="zh-CN" altLang="en-US" smtClean="0"/>
            </a:fld>
            <a:endParaRPr lang="en-US" altLang="zh-CN"/>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16D1E5E1-629A-4098-97E8-15CBF3BCF80A}" type="slidenum">
              <a:rPr lang="zh-CN" altLang="en-US" smtClean="0"/>
            </a:fld>
            <a:endParaRPr lang="en-US" altLang="zh-CN"/>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75E0AFE-1C56-4B02-AB17-7F4910FA0001}" type="slidenum">
              <a:rPr lang="zh-CN" altLang="en-US" smtClean="0"/>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0366602-51FC-4240-9770-3A7BCF0DD9D6}" type="slidenum">
              <a:rPr lang="zh-CN" altLang="en-US" smtClean="0"/>
            </a:fld>
            <a:endParaRPr lang="en-US" altLang="zh-CN"/>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5916743-23E6-44BB-A8B2-F812A1DDEF33}" type="slidenum">
              <a:rPr lang="zh-CN" altLang="en-US" smtClean="0"/>
            </a:fld>
            <a:endParaRPr lang="en-US" altLang="zh-CN"/>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4272196-5356-4AE9-BE18-6E2A60870B6C}" type="slidenum">
              <a:rPr lang="zh-CN" altLang="en-US" smtClean="0"/>
            </a:fld>
            <a:endParaRPr lang="en-US" altLang="zh-CN"/>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E7BF8C1-086B-4A12-BC0F-8B1D4EDDC372}" type="slidenum">
              <a:rPr lang="zh-CN" altLang="en-US" smtClean="0"/>
            </a:fld>
            <a:endParaRPr lang="en-US" altLang="zh-CN"/>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97EEB5B-5C08-486A-BEE9-CE9E247ACE42}" type="slidenum">
              <a:rPr lang="zh-CN" altLang="en-US" smtClean="0"/>
            </a:fld>
            <a:endParaRPr lang="en-US" altLang="zh-CN"/>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BCDEA63-D842-468D-AF55-2F6C783F6326}" type="slidenum">
              <a:rPr lang="zh-CN" altLang="en-US" smtClean="0"/>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1DB66765-E75A-446D-B36D-DD0E3D7D9EFA}" type="slidenum">
              <a:rPr lang="zh-CN" altLang="en-US" smtClean="0"/>
            </a:fld>
            <a:endParaRPr lang="en-US" altLang="zh-CN"/>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11476913-C869-4A31-A25B-AAA481DD2EAD}" type="slidenum">
              <a:rPr lang="zh-CN" altLang="en-US" smtClean="0"/>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A5F2494-9014-44A9-A3E4-6AFDAA068110}" type="slidenum">
              <a:rPr lang="zh-CN" altLang="en-US" smtClean="0"/>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363B3170-1268-4AAC-9118-17BB30263CF3}" type="slidenum">
              <a:rPr lang="zh-CN" altLang="en-US" smtClean="0"/>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1AB9645-2EFB-4EF2-ABD6-494BD5D10DB3}" type="slidenum">
              <a:rPr lang="zh-CN" altLang="en-US" smtClean="0"/>
            </a:fld>
            <a:endParaRPr lang="en-US" altLang="zh-CN"/>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28F5D28-F3C6-4E2F-B426-9CCA047C392E}" type="slidenum">
              <a:rPr lang="zh-CN" altLang="en-US" smtClean="0"/>
            </a:fld>
            <a:endParaRPr lang="en-US" altLang="zh-CN"/>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2E969C0-5BEC-4358-AFAE-3A9B35E909E9}" type="slidenum">
              <a:rPr lang="zh-CN" altLang="en-US" smtClean="0"/>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E41E913-1350-4717-AA76-390627DAA3C6}" type="slidenum">
              <a:rPr lang="zh-CN" altLang="en-US" smtClean="0"/>
            </a:fld>
            <a:endParaRPr lang="en-US" altLang="zh-CN"/>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B9B6B73-7C34-471F-B72D-F836282655DB}" type="slidenum">
              <a:rPr lang="zh-CN" altLang="en-US" smtClean="0"/>
            </a:fld>
            <a:endParaRPr lang="en-US" altLang="zh-CN"/>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557895B-3714-4FC3-9C6D-C029D21E0A50}" type="slidenum">
              <a:rPr lang="zh-CN" altLang="en-US" smtClean="0"/>
            </a:fld>
            <a:endParaRPr lang="en-US" altLang="zh-CN"/>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DD06E8B-49A4-47D6-82C3-676A628445B5}" type="slidenum">
              <a:rPr lang="zh-CN" altLang="en-US" smtClean="0"/>
            </a:fld>
            <a:endParaRPr lang="en-US" altLang="zh-CN"/>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F50E554-FCCA-4B0A-9CCA-CBDFED18F660}" type="slidenum">
              <a:rPr lang="zh-CN" altLang="en-US" smtClean="0"/>
            </a:fld>
            <a:endParaRPr lang="en-US" altLang="zh-CN"/>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182E825-6774-4C7B-A697-89851BE31128}"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C6B8317F-58FF-43DC-96ED-EA535F662AE6}" type="slidenum">
              <a:rPr lang="zh-CN" altLang="en-US" smtClean="0"/>
            </a:fld>
            <a:endParaRPr lang="en-US" altLang="zh-CN"/>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83C56851-88C2-4635-B174-5A68876DFCA5}" type="slidenum">
              <a:rPr lang="en-US" altLang="zh-CN"/>
            </a:fld>
            <a:endParaRPr lang="en-US" altLang="zh-CN"/>
          </a:p>
        </p:txBody>
      </p:sp>
    </p:spTree>
  </p:cSld>
  <p:clrMapOvr>
    <a:masterClrMapping/>
  </p:clrMapOvr>
  <p:transition spd="slow" advClick="0">
    <p:sndAc>
      <p:end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6EFF6B24-90A0-4DC1-BC53-2B6500E3F082}" type="slidenum">
              <a:rPr lang="en-US" altLang="zh-CN"/>
            </a:fld>
            <a:endParaRPr lang="en-US" altLang="zh-CN"/>
          </a:p>
        </p:txBody>
      </p:sp>
    </p:spTree>
  </p:cSld>
  <p:clrMapOvr>
    <a:masterClrMapping/>
  </p:clrMapOvr>
  <p:transition spd="slow" advClick="0">
    <p:sndAc>
      <p:end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BB1E6D3E-4762-418E-9AB9-B5210D4A865C}" type="slidenum">
              <a:rPr lang="en-US" altLang="zh-CN"/>
            </a:fld>
            <a:endParaRPr lang="en-US" altLang="zh-CN"/>
          </a:p>
        </p:txBody>
      </p:sp>
    </p:spTree>
  </p:cSld>
  <p:clrMapOvr>
    <a:masterClrMapping/>
  </p:clrMapOvr>
  <p:transition spd="slow" advClick="0">
    <p:sndAc>
      <p:end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81CEB905-B78D-47D7-8D87-EAE4E5DC7968}" type="slidenum">
              <a:rPr lang="en-US" altLang="zh-CN"/>
            </a:fld>
            <a:endParaRPr lang="en-US" altLang="zh-CN"/>
          </a:p>
        </p:txBody>
      </p:sp>
    </p:spTree>
  </p:cSld>
  <p:clrMapOvr>
    <a:masterClrMapping/>
  </p:clrMapOvr>
  <p:transition spd="slow" advClick="0">
    <p:sndAc>
      <p:end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9"/>
          <p:cNvSpPr>
            <a:spLocks noGrp="1" noChangeArrowheads="1"/>
          </p:cNvSpPr>
          <p:nvPr>
            <p:ph type="dt" sz="half" idx="10"/>
          </p:nvPr>
        </p:nvSpPr>
        <p:spPr/>
        <p:txBody>
          <a:bodyPr/>
          <a:lstStyle>
            <a:lvl1pPr>
              <a:defRPr/>
            </a:lvl1pPr>
          </a:lstStyle>
          <a:p>
            <a:pPr>
              <a:defRPr/>
            </a:pPr>
            <a:endParaRPr lang="en-US" altLang="zh-CN"/>
          </a:p>
        </p:txBody>
      </p:sp>
      <p:sp>
        <p:nvSpPr>
          <p:cNvPr id="8" name="Rectangle 10"/>
          <p:cNvSpPr>
            <a:spLocks noGrp="1" noChangeArrowheads="1"/>
          </p:cNvSpPr>
          <p:nvPr>
            <p:ph type="ftr" sz="quarter" idx="11"/>
          </p:nvPr>
        </p:nvSpPr>
        <p:spPr/>
        <p:txBody>
          <a:bodyPr/>
          <a:lstStyle>
            <a:lvl1pPr>
              <a:defRPr/>
            </a:lvl1pPr>
          </a:lstStyle>
          <a:p>
            <a:pPr>
              <a:defRPr/>
            </a:pPr>
            <a:endParaRPr lang="zh-CN" altLang="zh-CN"/>
          </a:p>
        </p:txBody>
      </p:sp>
      <p:sp>
        <p:nvSpPr>
          <p:cNvPr id="9" name="Rectangle 11"/>
          <p:cNvSpPr>
            <a:spLocks noGrp="1" noChangeArrowheads="1"/>
          </p:cNvSpPr>
          <p:nvPr>
            <p:ph type="sldNum" sz="quarter" idx="12"/>
          </p:nvPr>
        </p:nvSpPr>
        <p:spPr/>
        <p:txBody>
          <a:bodyPr/>
          <a:lstStyle>
            <a:lvl1pPr>
              <a:defRPr/>
            </a:lvl1pPr>
          </a:lstStyle>
          <a:p>
            <a:pPr>
              <a:defRPr/>
            </a:pPr>
            <a:fld id="{3EF39E99-BEFC-42F5-87E6-583F954AC492}" type="slidenum">
              <a:rPr lang="en-US" altLang="zh-CN"/>
            </a:fld>
            <a:endParaRPr lang="en-US" altLang="zh-CN"/>
          </a:p>
        </p:txBody>
      </p:sp>
    </p:spTree>
  </p:cSld>
  <p:clrMapOvr>
    <a:masterClrMapping/>
  </p:clrMapOvr>
  <p:transition spd="slow" advClick="0">
    <p:sndAc>
      <p:end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9"/>
          <p:cNvSpPr>
            <a:spLocks noGrp="1" noChangeArrowheads="1"/>
          </p:cNvSpPr>
          <p:nvPr>
            <p:ph type="dt" sz="half" idx="10"/>
          </p:nvPr>
        </p:nvSpPr>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p:txBody>
          <a:bodyPr/>
          <a:lstStyle>
            <a:lvl1pPr>
              <a:defRPr/>
            </a:lvl1pPr>
          </a:lstStyle>
          <a:p>
            <a:pPr>
              <a:defRPr/>
            </a:pPr>
            <a:endParaRPr lang="zh-CN" altLang="zh-CN"/>
          </a:p>
        </p:txBody>
      </p:sp>
      <p:sp>
        <p:nvSpPr>
          <p:cNvPr id="5" name="Rectangle 11"/>
          <p:cNvSpPr>
            <a:spLocks noGrp="1" noChangeArrowheads="1"/>
          </p:cNvSpPr>
          <p:nvPr>
            <p:ph type="sldNum" sz="quarter" idx="12"/>
          </p:nvPr>
        </p:nvSpPr>
        <p:spPr/>
        <p:txBody>
          <a:bodyPr/>
          <a:lstStyle>
            <a:lvl1pPr>
              <a:defRPr/>
            </a:lvl1pPr>
          </a:lstStyle>
          <a:p>
            <a:pPr>
              <a:defRPr/>
            </a:pPr>
            <a:fld id="{970F8B1D-5479-4976-8E53-75DB9C08A5E8}" type="slidenum">
              <a:rPr lang="en-US" altLang="zh-CN"/>
            </a:fld>
            <a:endParaRPr lang="en-US" altLang="zh-CN"/>
          </a:p>
        </p:txBody>
      </p:sp>
    </p:spTree>
  </p:cSld>
  <p:clrMapOvr>
    <a:masterClrMapping/>
  </p:clrMapOvr>
  <p:transition spd="slow" advClick="0">
    <p:sndAc>
      <p:end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p:txBody>
          <a:bodyPr/>
          <a:lstStyle>
            <a:lvl1pPr>
              <a:defRPr/>
            </a:lvl1pPr>
          </a:lstStyle>
          <a:p>
            <a:pPr>
              <a:defRPr/>
            </a:pPr>
            <a:endParaRPr lang="en-US" altLang="zh-CN"/>
          </a:p>
        </p:txBody>
      </p:sp>
      <p:sp>
        <p:nvSpPr>
          <p:cNvPr id="3" name="Rectangle 10"/>
          <p:cNvSpPr>
            <a:spLocks noGrp="1" noChangeArrowheads="1"/>
          </p:cNvSpPr>
          <p:nvPr>
            <p:ph type="ftr" sz="quarter" idx="11"/>
          </p:nvPr>
        </p:nvSpPr>
        <p:spPr/>
        <p:txBody>
          <a:bodyPr/>
          <a:lstStyle>
            <a:lvl1pPr>
              <a:defRPr/>
            </a:lvl1pPr>
          </a:lstStyle>
          <a:p>
            <a:pPr>
              <a:defRPr/>
            </a:pPr>
            <a:endParaRPr lang="zh-CN" altLang="zh-CN"/>
          </a:p>
        </p:txBody>
      </p:sp>
      <p:sp>
        <p:nvSpPr>
          <p:cNvPr id="4" name="Rectangle 11"/>
          <p:cNvSpPr>
            <a:spLocks noGrp="1" noChangeArrowheads="1"/>
          </p:cNvSpPr>
          <p:nvPr>
            <p:ph type="sldNum" sz="quarter" idx="12"/>
          </p:nvPr>
        </p:nvSpPr>
        <p:spPr/>
        <p:txBody>
          <a:bodyPr/>
          <a:lstStyle>
            <a:lvl1pPr>
              <a:defRPr/>
            </a:lvl1pPr>
          </a:lstStyle>
          <a:p>
            <a:pPr>
              <a:defRPr/>
            </a:pPr>
            <a:fld id="{2413959C-7B39-47D3-820A-AF5C37E28432}" type="slidenum">
              <a:rPr lang="en-US" altLang="zh-CN"/>
            </a:fld>
            <a:endParaRPr lang="en-US" altLang="zh-CN"/>
          </a:p>
        </p:txBody>
      </p:sp>
    </p:spTree>
  </p:cSld>
  <p:clrMapOvr>
    <a:masterClrMapping/>
  </p:clrMapOvr>
  <p:transition spd="slow" advClick="0">
    <p:sndAc>
      <p:end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6FA5BCDB-9B3A-40D1-A274-B5EFA6F16E6C}" type="slidenum">
              <a:rPr lang="en-US" altLang="zh-CN"/>
            </a:fld>
            <a:endParaRPr lang="en-US" altLang="zh-CN"/>
          </a:p>
        </p:txBody>
      </p:sp>
    </p:spTree>
  </p:cSld>
  <p:clrMapOvr>
    <a:masterClrMapping/>
  </p:clrMapOvr>
  <p:transition spd="slow" advClick="0">
    <p:sndAc>
      <p:end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DECCFD45-43CB-4B4B-8340-336AB40550E4}" type="slidenum">
              <a:rPr lang="en-US" altLang="zh-CN"/>
            </a:fld>
            <a:endParaRPr lang="en-US" altLang="zh-CN"/>
          </a:p>
        </p:txBody>
      </p:sp>
    </p:spTree>
  </p:cSld>
  <p:clrMapOvr>
    <a:masterClrMapping/>
  </p:clrMapOvr>
  <p:transition spd="slow" advClick="0">
    <p:sndAc>
      <p:end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236B3838-987F-4237-8224-4145BE498857}" type="slidenum">
              <a:rPr lang="en-US" altLang="zh-CN"/>
            </a:fld>
            <a:endParaRPr lang="en-US" altLang="zh-CN"/>
          </a:p>
        </p:txBody>
      </p:sp>
    </p:spTree>
  </p:cSld>
  <p:clrMapOvr>
    <a:masterClrMapping/>
  </p:clrMapOvr>
  <p:transition spd="slow" advClick="0">
    <p:sndAc>
      <p:end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0013" y="215900"/>
            <a:ext cx="2084387" cy="58039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95263" y="215900"/>
            <a:ext cx="6102350" cy="58039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9302C10A-8852-4ACE-AF45-88363C101708}" type="slidenum">
              <a:rPr lang="en-US" altLang="zh-CN"/>
            </a:fld>
            <a:endParaRPr lang="en-US" altLang="zh-CN"/>
          </a:p>
        </p:txBody>
      </p:sp>
    </p:spTree>
  </p:cSld>
  <p:clrMapOvr>
    <a:masterClrMapping/>
  </p:clrMapOvr>
  <p:transition spd="slow" advClick="0">
    <p:sndAc>
      <p:end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slow" advClick="0">
    <p:sndAc>
      <p:end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advClick="0">
    <p:sndAc>
      <p:end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slow" advClick="0">
    <p:sndAc>
      <p:end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advClick="0">
    <p:sndAc>
      <p:end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advClick="0">
    <p:sndAc>
      <p:end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spd="slow" advClick="0">
    <p:sndAc>
      <p:end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advClick="0">
    <p:sndAc>
      <p:end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advClick="0">
    <p:sndAc>
      <p:end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advClick="0">
    <p:sndAc>
      <p:end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advClick="0">
    <p:sndAc>
      <p:end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0013" y="228600"/>
            <a:ext cx="2084387" cy="5791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95263" y="228600"/>
            <a:ext cx="6102350" cy="5791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advClick="0">
    <p:sndAc>
      <p:end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B6FDB4C-B201-4A0B-9DB5-42DC9DB51EBD}" type="slidenum">
              <a:rPr lang="zh-CN" altLang="en-US"/>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A3ED449-CA8D-4829-A69C-D33670928353}" type="slidenum">
              <a:rPr lang="zh-CN" altLang="en-US"/>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34E23DC-E305-4497-87CE-4EF121C12E4A}" type="slidenum">
              <a:rPr lang="zh-CN" altLang="en-US"/>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FEB1F46-C512-438E-A9FD-8F1A08D51CC9}" type="slidenum">
              <a:rPr lang="zh-CN" altLang="en-US"/>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C25533F-03BE-49BC-9C37-2D233E91F813}" type="slidenum">
              <a:rPr lang="zh-CN" altLang="en-US"/>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C82C505-64A0-4AC6-8321-915200A201F7}" type="slidenum">
              <a:rPr lang="zh-CN" altLang="en-US"/>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C9152A4-1605-408A-8DF6-A53D64D8948A}" type="slidenum">
              <a:rPr lang="zh-CN" altLang="en-US"/>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183A6E4-7C42-4EAE-ACBE-4A2DCDFCBE60}" type="slidenum">
              <a:rPr lang="zh-CN" altLang="en-US"/>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DC1EC04-AA99-44F3-AFC0-EF0CBFA5A025}" type="slidenum">
              <a:rPr lang="zh-CN" altLang="en-US"/>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075EFB8-F5E9-4679-B925-7955A91B52EE}" type="slidenum">
              <a:rPr lang="zh-CN" altLang="en-US"/>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F33648C-18B3-4CC9-8B7A-BCA970B78F6D}"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bwMode="auto">
          <a:xfrm>
            <a:off x="0" y="927100"/>
            <a:ext cx="8991600" cy="4495800"/>
            <a:chOff x="0" y="584"/>
            <a:chExt cx="5664" cy="2832"/>
          </a:xfrm>
        </p:grpSpPr>
        <p:sp>
          <p:nvSpPr>
            <p:cNvPr id="1032"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3"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AutoShape 5"/>
            <p:cNvSpPr>
              <a:spLocks noChangeArrowheads="1"/>
            </p:cNvSpPr>
            <p:nvPr userDrawn="1"/>
          </p:nvSpPr>
          <p:spPr bwMode="blackWhite">
            <a:xfrm>
              <a:off x="0" y="872"/>
              <a:ext cx="5664" cy="1152"/>
            </a:xfrm>
            <a:custGeom>
              <a:avLst/>
              <a:gdLst>
                <a:gd name="T0" fmla="*/ 0 w 4917"/>
                <a:gd name="T1" fmla="*/ 0 h 1000"/>
                <a:gd name="T2" fmla="*/ 18165 w 4917"/>
                <a:gd name="T3" fmla="*/ 0 h 1000"/>
                <a:gd name="T4" fmla="*/ 20225 w 4917"/>
                <a:gd name="T5" fmla="*/ 2060 h 1000"/>
                <a:gd name="T6" fmla="*/ 18169 w 4917"/>
                <a:gd name="T7" fmla="*/ 4115 h 1000"/>
                <a:gd name="T8" fmla="*/ 0 w 4917"/>
                <a:gd name="T9" fmla="*/ 4115 h 1000"/>
                <a:gd name="T10" fmla="*/ 0 60000 65536"/>
                <a:gd name="T11" fmla="*/ 0 60000 65536"/>
                <a:gd name="T12" fmla="*/ 0 60000 65536"/>
                <a:gd name="T13" fmla="*/ 0 60000 65536"/>
                <a:gd name="T14" fmla="*/ 0 60000 65536"/>
                <a:gd name="T15" fmla="*/ 0 w 4917"/>
                <a:gd name="T16" fmla="*/ 0 h 1000"/>
                <a:gd name="T17" fmla="*/ 2459 w 4917"/>
                <a:gd name="T18" fmla="*/ 1000 h 1000"/>
              </a:gdLst>
              <a:ahLst/>
              <a:cxnLst>
                <a:cxn ang="T10">
                  <a:pos x="T0" y="T1"/>
                </a:cxn>
                <a:cxn ang="T11">
                  <a:pos x="T2" y="T3"/>
                </a:cxn>
                <a:cxn ang="T12">
                  <a:pos x="T4" y="T5"/>
                </a:cxn>
                <a:cxn ang="T13">
                  <a:pos x="T6" y="T7"/>
                </a:cxn>
                <a:cxn ang="T14">
                  <a:pos x="T8" y="T9"/>
                </a:cxn>
              </a:cxnLst>
              <a:rect l="T15" t="T16" r="T17" b="T18"/>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5" name="Line 6"/>
            <p:cNvSpPr>
              <a:spLocks noChangeShapeType="1"/>
            </p:cNvSpPr>
            <p:nvPr userDrawn="1"/>
          </p:nvSpPr>
          <p:spPr bwMode="auto">
            <a:xfrm>
              <a:off x="0" y="1928"/>
              <a:ext cx="5232" cy="0"/>
            </a:xfrm>
            <a:prstGeom prst="line">
              <a:avLst/>
            </a:prstGeom>
            <a:noFill/>
            <a:ln w="508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27" name="Rectangle 6"/>
          <p:cNvSpPr>
            <a:spLocks noGrp="1" noChangeArrowheads="1"/>
          </p:cNvSpPr>
          <p:nvPr>
            <p:ph type="title"/>
          </p:nvPr>
        </p:nvSpPr>
        <p:spPr bwMode="auto">
          <a:xfrm>
            <a:off x="195263" y="21590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609600" y="1600200"/>
            <a:ext cx="7924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9" name="Rectangle 9"/>
          <p:cNvSpPr>
            <a:spLocks noGrp="1" noChangeArrowheads="1"/>
          </p:cNvSpPr>
          <p:nvPr>
            <p:ph type="dt" sz="half" idx="2"/>
          </p:nvPr>
        </p:nvSpPr>
        <p:spPr bwMode="auto">
          <a:xfrm>
            <a:off x="457200" y="6248400"/>
            <a:ext cx="2133600" cy="471488"/>
          </a:xfrm>
          <a:prstGeom prst="rect">
            <a:avLst/>
          </a:prstGeom>
          <a:ln>
            <a:miter lim="800000"/>
          </a:ln>
        </p:spPr>
        <p:txBody>
          <a:bodyPr vert="horz" wrap="square" lIns="91440" tIns="45720" rIns="91440" bIns="45720" numCol="1" anchor="b" anchorCtr="0" compatLnSpc="1"/>
          <a:lstStyle>
            <a:lvl1pPr algn="l" eaLnBrk="1" hangingPunct="1">
              <a:defRPr sz="1200" b="0">
                <a:latin typeface="+mn-lt"/>
                <a:ea typeface="+mn-ea"/>
              </a:defRPr>
            </a:lvl1pPr>
          </a:lstStyle>
          <a:p>
            <a:pPr>
              <a:defRPr/>
            </a:pPr>
            <a:endParaRPr lang="en-US" altLang="zh-CN"/>
          </a:p>
        </p:txBody>
      </p:sp>
      <p:sp>
        <p:nvSpPr>
          <p:cNvPr id="20" name="Rectangle 10"/>
          <p:cNvSpPr>
            <a:spLocks noGrp="1" noChangeArrowheads="1"/>
          </p:cNvSpPr>
          <p:nvPr>
            <p:ph type="ftr" sz="quarter" idx="3"/>
          </p:nvPr>
        </p:nvSpPr>
        <p:spPr bwMode="auto">
          <a:xfrm>
            <a:off x="3124200" y="6253163"/>
            <a:ext cx="2895600" cy="457200"/>
          </a:xfrm>
          <a:prstGeom prst="rect">
            <a:avLst/>
          </a:prstGeom>
          <a:ln>
            <a:miter lim="800000"/>
          </a:ln>
        </p:spPr>
        <p:txBody>
          <a:bodyPr vert="horz" wrap="square" lIns="91440" tIns="45720" rIns="91440" bIns="45720" numCol="1" anchor="b" anchorCtr="0" compatLnSpc="1"/>
          <a:lstStyle>
            <a:lvl1pPr algn="ctr" eaLnBrk="1" hangingPunct="1">
              <a:defRPr sz="1200" b="0">
                <a:latin typeface="+mn-lt"/>
              </a:defRPr>
            </a:lvl1pPr>
          </a:lstStyle>
          <a:p>
            <a:pPr>
              <a:defRPr/>
            </a:pPr>
            <a:endParaRPr lang="zh-CN" altLang="zh-CN"/>
          </a:p>
        </p:txBody>
      </p:sp>
      <p:sp>
        <p:nvSpPr>
          <p:cNvPr id="21" name="Rectangle 11"/>
          <p:cNvSpPr>
            <a:spLocks noGrp="1" noChangeArrowheads="1"/>
          </p:cNvSpPr>
          <p:nvPr>
            <p:ph type="sldNum" sz="quarter" idx="4"/>
          </p:nvPr>
        </p:nvSpPr>
        <p:spPr bwMode="auto">
          <a:xfrm>
            <a:off x="6553200" y="6248400"/>
            <a:ext cx="2133600" cy="471488"/>
          </a:xfrm>
          <a:prstGeom prst="rect">
            <a:avLst/>
          </a:prstGeom>
          <a:ln>
            <a:miter lim="800000"/>
          </a:ln>
        </p:spPr>
        <p:txBody>
          <a:bodyPr vert="horz" wrap="square" lIns="91440" tIns="45720" rIns="91440" bIns="45720" numCol="1" anchor="b" anchorCtr="0" compatLnSpc="1"/>
          <a:lstStyle>
            <a:lvl1pPr algn="r" eaLnBrk="1" hangingPunct="1">
              <a:defRPr sz="1200">
                <a:latin typeface="Arial Black" panose="020B0A04020102020204" pitchFamily="34" charset="0"/>
              </a:defRPr>
            </a:lvl1pPr>
          </a:lstStyle>
          <a:p>
            <a:pPr>
              <a:defRPr/>
            </a:pPr>
            <a:fld id="{AA319BD7-F04A-47FF-B512-5EC206901B58}"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p:sndAc>
      <p:endSnd/>
    </p:sndAc>
  </p:transition>
  <p:hf hdr="0" ftr="0" dt="0"/>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b="1">
          <a:solidFill>
            <a:srgbClr val="0000CC"/>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b="1">
          <a:solidFill>
            <a:srgbClr val="0000CC"/>
          </a:solidFill>
          <a:latin typeface="+mn-lt"/>
          <a:ea typeface="+mn-ea"/>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rgbClr val="0000CC"/>
          </a:solidFill>
          <a:latin typeface="+mn-lt"/>
          <a:ea typeface="+mn-ea"/>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5pPr>
      <a:lvl6pPr marL="25146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6pPr>
      <a:lvl7pPr marL="29718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7pPr>
      <a:lvl8pPr marL="34290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8pPr>
      <a:lvl9pPr marL="38862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bwMode="auto">
          <a:xfrm>
            <a:off x="0" y="115888"/>
            <a:ext cx="8686800" cy="6096000"/>
            <a:chOff x="0" y="96"/>
            <a:chExt cx="5472" cy="3840"/>
          </a:xfrm>
        </p:grpSpPr>
        <p:sp>
          <p:nvSpPr>
            <p:cNvPr id="2054" name="AutoShape 3"/>
            <p:cNvSpPr>
              <a:spLocks noChangeArrowheads="1"/>
            </p:cNvSpPr>
            <p:nvPr userDrawn="1"/>
          </p:nvSpPr>
          <p:spPr bwMode="auto">
            <a:xfrm>
              <a:off x="240" y="336"/>
              <a:ext cx="5232" cy="3600"/>
            </a:xfrm>
            <a:prstGeom prst="roundRect">
              <a:avLst>
                <a:gd name="adj" fmla="val 13727"/>
              </a:avLst>
            </a:prstGeom>
            <a:noFill/>
            <a:ln w="50800">
              <a:solidFill>
                <a:schemeClr val="bg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2055" name="AutoShape 4"/>
            <p:cNvSpPr>
              <a:spLocks noChangeArrowheads="1"/>
            </p:cNvSpPr>
            <p:nvPr userDrawn="1"/>
          </p:nvSpPr>
          <p:spPr bwMode="blackWhite">
            <a:xfrm>
              <a:off x="0" y="96"/>
              <a:ext cx="5376" cy="768"/>
            </a:xfrm>
            <a:custGeom>
              <a:avLst/>
              <a:gdLst>
                <a:gd name="T0" fmla="*/ 0 w 7000"/>
                <a:gd name="T1" fmla="*/ 0 h 1000"/>
                <a:gd name="T2" fmla="*/ 464 w 7000"/>
                <a:gd name="T3" fmla="*/ 0 h 1000"/>
                <a:gd name="T4" fmla="*/ 499 w 7000"/>
                <a:gd name="T5" fmla="*/ 36 h 1000"/>
                <a:gd name="T6" fmla="*/ 464 w 7000"/>
                <a:gd name="T7" fmla="*/ 71 h 1000"/>
                <a:gd name="T8" fmla="*/ 0 w 7000"/>
                <a:gd name="T9" fmla="*/ 71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6" name="Line 5"/>
            <p:cNvSpPr>
              <a:spLocks noChangeShapeType="1"/>
            </p:cNvSpPr>
            <p:nvPr userDrawn="1"/>
          </p:nvSpPr>
          <p:spPr bwMode="auto">
            <a:xfrm>
              <a:off x="0" y="768"/>
              <a:ext cx="5088" cy="0"/>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51" name="Rectangle 6"/>
          <p:cNvSpPr>
            <a:spLocks noGrp="1" noChangeArrowheads="1"/>
          </p:cNvSpPr>
          <p:nvPr>
            <p:ph type="title"/>
          </p:nvPr>
        </p:nvSpPr>
        <p:spPr bwMode="auto">
          <a:xfrm>
            <a:off x="195263" y="22860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2" name="Rectangle 7"/>
          <p:cNvSpPr>
            <a:spLocks noGrp="1" noChangeArrowheads="1"/>
          </p:cNvSpPr>
          <p:nvPr>
            <p:ph type="body" idx="1"/>
          </p:nvPr>
        </p:nvSpPr>
        <p:spPr bwMode="auto">
          <a:xfrm>
            <a:off x="609600" y="1600200"/>
            <a:ext cx="7924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2053" name="Picture 11" descr="index2008_03"/>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6661150" y="6245225"/>
            <a:ext cx="18319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advClick="0">
    <p:sndAc>
      <p:endSnd/>
    </p:sndAc>
  </p:transition>
  <p:hf hdr="0" ftr="0" dt="0"/>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b="1">
          <a:solidFill>
            <a:srgbClr val="0000CC"/>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b="1">
          <a:solidFill>
            <a:srgbClr val="0000CC"/>
          </a:solidFill>
          <a:latin typeface="+mn-lt"/>
          <a:ea typeface="+mn-ea"/>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rgbClr val="0000CC"/>
          </a:solidFill>
          <a:latin typeface="+mn-lt"/>
          <a:ea typeface="+mn-ea"/>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5pPr>
      <a:lvl6pPr marL="25146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6pPr>
      <a:lvl7pPr marL="29718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7pPr>
      <a:lvl8pPr marL="34290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8pPr>
      <a:lvl9pPr marL="38862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307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7284"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a:defRPr/>
            </a:pPr>
            <a:endParaRPr lang="en-US" altLang="zh-CN"/>
          </a:p>
        </p:txBody>
      </p:sp>
      <p:sp>
        <p:nvSpPr>
          <p:cNvPr id="97285"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a:defRPr/>
            </a:pPr>
            <a:endParaRPr lang="en-US" altLang="zh-CN"/>
          </a:p>
        </p:txBody>
      </p:sp>
      <p:sp>
        <p:nvSpPr>
          <p:cNvPr id="97286"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80AFE1A0-EB92-4602-BFAE-145726FE8F68}"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1.vml"/><Relationship Id="rId5" Type="http://schemas.openxmlformats.org/officeDocument/2006/relationships/slideLayout" Target="../slideLayouts/slideLayout24.xml"/><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5.wmf"/><Relationship Id="rId4" Type="http://schemas.openxmlformats.org/officeDocument/2006/relationships/oleObject" Target="../embeddings/oleObject3.bin"/><Relationship Id="rId3" Type="http://schemas.openxmlformats.org/officeDocument/2006/relationships/tags" Target="../tags/tag4.xml"/><Relationship Id="rId2" Type="http://schemas.openxmlformats.org/officeDocument/2006/relationships/tags" Target="../tags/tag3.xml"/><Relationship Id="rId13" Type="http://schemas.openxmlformats.org/officeDocument/2006/relationships/notesSlide" Target="../notesSlides/notesSlide4.xml"/><Relationship Id="rId12" Type="http://schemas.openxmlformats.org/officeDocument/2006/relationships/vmlDrawing" Target="../drawings/vmlDrawing2.vml"/><Relationship Id="rId11" Type="http://schemas.openxmlformats.org/officeDocument/2006/relationships/slideLayout" Target="../slideLayouts/slideLayout24.xml"/><Relationship Id="rId10" Type="http://schemas.openxmlformats.org/officeDocument/2006/relationships/image" Target="../media/image6.wmf"/><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3.vml"/><Relationship Id="rId3" Type="http://schemas.openxmlformats.org/officeDocument/2006/relationships/slideLayout" Target="../slideLayouts/slideLayout24.xml"/><Relationship Id="rId2" Type="http://schemas.openxmlformats.org/officeDocument/2006/relationships/image" Target="../media/image8.w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2.wmf"/><Relationship Id="rId7" Type="http://schemas.openxmlformats.org/officeDocument/2006/relationships/oleObject" Target="../embeddings/oleObject9.bin"/><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 Id="rId3" Type="http://schemas.openxmlformats.org/officeDocument/2006/relationships/oleObject" Target="../embeddings/oleObject7.bin"/><Relationship Id="rId2" Type="http://schemas.openxmlformats.org/officeDocument/2006/relationships/image" Target="../media/image9.wmf"/><Relationship Id="rId11" Type="http://schemas.openxmlformats.org/officeDocument/2006/relationships/notesSlide" Target="../notesSlides/notesSlide7.xml"/><Relationship Id="rId10" Type="http://schemas.openxmlformats.org/officeDocument/2006/relationships/vmlDrawing" Target="../drawings/vmlDrawing4.vml"/><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5.vml"/><Relationship Id="rId5" Type="http://schemas.openxmlformats.org/officeDocument/2006/relationships/slideLayout" Target="../slideLayouts/slideLayout24.xml"/><Relationship Id="rId4" Type="http://schemas.openxmlformats.org/officeDocument/2006/relationships/image" Target="../media/image14.wmf"/><Relationship Id="rId3" Type="http://schemas.openxmlformats.org/officeDocument/2006/relationships/oleObject" Target="../embeddings/oleObject11.bin"/><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6.vml"/><Relationship Id="rId3" Type="http://schemas.openxmlformats.org/officeDocument/2006/relationships/slideLayout" Target="../slideLayouts/slideLayout24.xml"/><Relationship Id="rId2" Type="http://schemas.openxmlformats.org/officeDocument/2006/relationships/image" Target="../media/image15.wmf"/><Relationship Id="rId1"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7.vml"/><Relationship Id="rId5" Type="http://schemas.openxmlformats.org/officeDocument/2006/relationships/slideLayout" Target="../slideLayouts/slideLayout24.xml"/><Relationship Id="rId4" Type="http://schemas.openxmlformats.org/officeDocument/2006/relationships/image" Target="../media/image17.wmf"/><Relationship Id="rId3" Type="http://schemas.openxmlformats.org/officeDocument/2006/relationships/oleObject" Target="../embeddings/oleObject14.bin"/><Relationship Id="rId2" Type="http://schemas.openxmlformats.org/officeDocument/2006/relationships/image" Target="../media/image16.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vmlDrawing" Target="../drawings/vmlDrawing8.vml"/><Relationship Id="rId7" Type="http://schemas.openxmlformats.org/officeDocument/2006/relationships/slideLayout" Target="../slideLayouts/slideLayout24.xml"/><Relationship Id="rId6" Type="http://schemas.openxmlformats.org/officeDocument/2006/relationships/image" Target="../media/image20.wmf"/><Relationship Id="rId5" Type="http://schemas.openxmlformats.org/officeDocument/2006/relationships/oleObject" Target="../embeddings/oleObject17.bin"/><Relationship Id="rId4" Type="http://schemas.openxmlformats.org/officeDocument/2006/relationships/image" Target="../media/image19.wmf"/><Relationship Id="rId3" Type="http://schemas.openxmlformats.org/officeDocument/2006/relationships/oleObject" Target="../embeddings/oleObject16.bin"/><Relationship Id="rId2" Type="http://schemas.openxmlformats.org/officeDocument/2006/relationships/image" Target="../media/image18.wmf"/><Relationship Id="rId1"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9.vml"/><Relationship Id="rId7" Type="http://schemas.openxmlformats.org/officeDocument/2006/relationships/slideLayout" Target="../slideLayouts/slideLayout24.xml"/><Relationship Id="rId6" Type="http://schemas.openxmlformats.org/officeDocument/2006/relationships/image" Target="../media/image23.wmf"/><Relationship Id="rId5" Type="http://schemas.openxmlformats.org/officeDocument/2006/relationships/oleObject" Target="../embeddings/oleObject20.bin"/><Relationship Id="rId4" Type="http://schemas.openxmlformats.org/officeDocument/2006/relationships/image" Target="../media/image22.wmf"/><Relationship Id="rId3" Type="http://schemas.openxmlformats.org/officeDocument/2006/relationships/oleObject" Target="../embeddings/oleObject19.bin"/><Relationship Id="rId2" Type="http://schemas.openxmlformats.org/officeDocument/2006/relationships/image" Target="../media/image21.wmf"/><Relationship Id="rId1"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image" Target="../media/image27.wmf"/><Relationship Id="rId7" Type="http://schemas.openxmlformats.org/officeDocument/2006/relationships/oleObject" Target="../embeddings/oleObject24.bin"/><Relationship Id="rId6" Type="http://schemas.openxmlformats.org/officeDocument/2006/relationships/image" Target="../media/image26.wmf"/><Relationship Id="rId5" Type="http://schemas.openxmlformats.org/officeDocument/2006/relationships/oleObject" Target="../embeddings/oleObject23.bin"/><Relationship Id="rId4" Type="http://schemas.openxmlformats.org/officeDocument/2006/relationships/image" Target="../media/image25.wmf"/><Relationship Id="rId3" Type="http://schemas.openxmlformats.org/officeDocument/2006/relationships/oleObject" Target="../embeddings/oleObject22.bin"/><Relationship Id="rId2" Type="http://schemas.openxmlformats.org/officeDocument/2006/relationships/image" Target="../media/image24.wmf"/><Relationship Id="rId15" Type="http://schemas.openxmlformats.org/officeDocument/2006/relationships/notesSlide" Target="../notesSlides/notesSlide14.xml"/><Relationship Id="rId14" Type="http://schemas.openxmlformats.org/officeDocument/2006/relationships/vmlDrawing" Target="../drawings/vmlDrawing10.vml"/><Relationship Id="rId13" Type="http://schemas.openxmlformats.org/officeDocument/2006/relationships/slideLayout" Target="../slideLayouts/slideLayout24.xml"/><Relationship Id="rId12" Type="http://schemas.openxmlformats.org/officeDocument/2006/relationships/image" Target="../media/image29.wmf"/><Relationship Id="rId11" Type="http://schemas.openxmlformats.org/officeDocument/2006/relationships/oleObject" Target="../embeddings/oleObject26.bin"/><Relationship Id="rId10" Type="http://schemas.openxmlformats.org/officeDocument/2006/relationships/image" Target="../media/image28.wmf"/><Relationship Id="rId1"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1.vml"/><Relationship Id="rId3" Type="http://schemas.openxmlformats.org/officeDocument/2006/relationships/slideLayout" Target="../slideLayouts/slideLayout24.xml"/><Relationship Id="rId2" Type="http://schemas.openxmlformats.org/officeDocument/2006/relationships/image" Target="../media/image30.wmf"/><Relationship Id="rId1" Type="http://schemas.openxmlformats.org/officeDocument/2006/relationships/oleObject" Target="../embeddings/oleObject27.bin"/></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12.vml"/><Relationship Id="rId5" Type="http://schemas.openxmlformats.org/officeDocument/2006/relationships/slideLayout" Target="../slideLayouts/slideLayout24.xml"/><Relationship Id="rId4" Type="http://schemas.openxmlformats.org/officeDocument/2006/relationships/image" Target="../media/image32.png"/><Relationship Id="rId3" Type="http://schemas.openxmlformats.org/officeDocument/2006/relationships/oleObject" Target="../embeddings/oleObject29.bin"/><Relationship Id="rId2" Type="http://schemas.openxmlformats.org/officeDocument/2006/relationships/image" Target="../media/image31.png"/><Relationship Id="rId1" Type="http://schemas.openxmlformats.org/officeDocument/2006/relationships/oleObject" Target="../embeddings/oleObject28.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4.xml"/><Relationship Id="rId2" Type="http://schemas.openxmlformats.org/officeDocument/2006/relationships/image" Target="../media/image33.wmf"/><Relationship Id="rId1"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4.xml"/><Relationship Id="rId2" Type="http://schemas.openxmlformats.org/officeDocument/2006/relationships/image" Target="../media/image34.wmf"/><Relationship Id="rId1"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15.vml"/><Relationship Id="rId5" Type="http://schemas.openxmlformats.org/officeDocument/2006/relationships/slideLayout" Target="../slideLayouts/slideLayout24.xml"/><Relationship Id="rId4" Type="http://schemas.openxmlformats.org/officeDocument/2006/relationships/image" Target="../media/image37.wmf"/><Relationship Id="rId3" Type="http://schemas.openxmlformats.org/officeDocument/2006/relationships/oleObject" Target="../embeddings/oleObject33.bin"/><Relationship Id="rId2" Type="http://schemas.openxmlformats.org/officeDocument/2006/relationships/image" Target="../media/image36.wmf"/><Relationship Id="rId1"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41.wmf"/><Relationship Id="rId7" Type="http://schemas.openxmlformats.org/officeDocument/2006/relationships/oleObject" Target="../embeddings/oleObject37.bin"/><Relationship Id="rId6" Type="http://schemas.openxmlformats.org/officeDocument/2006/relationships/image" Target="../media/image40.wmf"/><Relationship Id="rId5" Type="http://schemas.openxmlformats.org/officeDocument/2006/relationships/oleObject" Target="../embeddings/oleObject36.bin"/><Relationship Id="rId4" Type="http://schemas.openxmlformats.org/officeDocument/2006/relationships/image" Target="../media/image39.wmf"/><Relationship Id="rId3" Type="http://schemas.openxmlformats.org/officeDocument/2006/relationships/oleObject" Target="../embeddings/oleObject35.bin"/><Relationship Id="rId2" Type="http://schemas.openxmlformats.org/officeDocument/2006/relationships/image" Target="../media/image38.wmf"/><Relationship Id="rId11" Type="http://schemas.openxmlformats.org/officeDocument/2006/relationships/notesSlide" Target="../notesSlides/notesSlide19.xml"/><Relationship Id="rId10" Type="http://schemas.openxmlformats.org/officeDocument/2006/relationships/vmlDrawing" Target="../drawings/vmlDrawing16.vml"/><Relationship Id="rId1" Type="http://schemas.openxmlformats.org/officeDocument/2006/relationships/oleObject" Target="../embeddings/oleObject34.bin"/></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vmlDrawing" Target="../drawings/vmlDrawing17.vml"/><Relationship Id="rId6" Type="http://schemas.openxmlformats.org/officeDocument/2006/relationships/slideLayout" Target="../slideLayouts/slideLayout24.xml"/><Relationship Id="rId5" Type="http://schemas.openxmlformats.org/officeDocument/2006/relationships/image" Target="../media/image44.wmf"/><Relationship Id="rId4" Type="http://schemas.openxmlformats.org/officeDocument/2006/relationships/oleObject" Target="../embeddings/oleObject39.bin"/><Relationship Id="rId3" Type="http://schemas.openxmlformats.org/officeDocument/2006/relationships/image" Target="../media/image43.png"/><Relationship Id="rId2" Type="http://schemas.openxmlformats.org/officeDocument/2006/relationships/image" Target="../media/image42.wmf"/><Relationship Id="rId1" Type="http://schemas.openxmlformats.org/officeDocument/2006/relationships/oleObject" Target="../embeddings/oleObject38.bin"/></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vmlDrawing" Target="../drawings/vmlDrawing18.vml"/><Relationship Id="rId6" Type="http://schemas.openxmlformats.org/officeDocument/2006/relationships/slideLayout" Target="../slideLayouts/slideLayout24.xml"/><Relationship Id="rId5" Type="http://schemas.openxmlformats.org/officeDocument/2006/relationships/image" Target="../media/image43.png"/><Relationship Id="rId4" Type="http://schemas.openxmlformats.org/officeDocument/2006/relationships/image" Target="../media/image46.wmf"/><Relationship Id="rId3" Type="http://schemas.openxmlformats.org/officeDocument/2006/relationships/oleObject" Target="../embeddings/oleObject41.bin"/><Relationship Id="rId2" Type="http://schemas.openxmlformats.org/officeDocument/2006/relationships/image" Target="../media/image45.wmf"/><Relationship Id="rId1" Type="http://schemas.openxmlformats.org/officeDocument/2006/relationships/oleObject" Target="../embeddings/oleObject40.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24.xml"/><Relationship Id="rId4" Type="http://schemas.openxmlformats.org/officeDocument/2006/relationships/image" Target="../media/image48.wmf"/><Relationship Id="rId3" Type="http://schemas.openxmlformats.org/officeDocument/2006/relationships/oleObject" Target="../embeddings/oleObject43.bin"/><Relationship Id="rId2" Type="http://schemas.openxmlformats.org/officeDocument/2006/relationships/image" Target="../media/image47.wmf"/><Relationship Id="rId1" Type="http://schemas.openxmlformats.org/officeDocument/2006/relationships/oleObject" Target="../embeddings/oleObject42.bin"/></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vmlDrawing" Target="../drawings/vmlDrawing20.vml"/><Relationship Id="rId5" Type="http://schemas.openxmlformats.org/officeDocument/2006/relationships/slideLayout" Target="../slideLayouts/slideLayout24.xml"/><Relationship Id="rId4" Type="http://schemas.openxmlformats.org/officeDocument/2006/relationships/image" Target="../media/image50.wmf"/><Relationship Id="rId3" Type="http://schemas.openxmlformats.org/officeDocument/2006/relationships/oleObject" Target="../embeddings/oleObject45.bin"/><Relationship Id="rId2" Type="http://schemas.openxmlformats.org/officeDocument/2006/relationships/image" Target="../media/image49.wmf"/><Relationship Id="rId1" Type="http://schemas.openxmlformats.org/officeDocument/2006/relationships/oleObject" Target="../embeddings/oleObject44.bin"/></Relationships>
</file>

<file path=ppt/slides/_rels/slide33.x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oleObject" Target="../embeddings/oleObject50.bin"/><Relationship Id="rId7" Type="http://schemas.openxmlformats.org/officeDocument/2006/relationships/image" Target="../media/image53.wmf"/><Relationship Id="rId6" Type="http://schemas.openxmlformats.org/officeDocument/2006/relationships/oleObject" Target="../embeddings/oleObject49.bin"/><Relationship Id="rId5" Type="http://schemas.openxmlformats.org/officeDocument/2006/relationships/oleObject" Target="../embeddings/oleObject48.bin"/><Relationship Id="rId4" Type="http://schemas.openxmlformats.org/officeDocument/2006/relationships/image" Target="../media/image52.wmf"/><Relationship Id="rId3" Type="http://schemas.openxmlformats.org/officeDocument/2006/relationships/oleObject" Target="../embeddings/oleObject47.bin"/><Relationship Id="rId2" Type="http://schemas.openxmlformats.org/officeDocument/2006/relationships/image" Target="../media/image51.wmf"/><Relationship Id="rId14" Type="http://schemas.openxmlformats.org/officeDocument/2006/relationships/notesSlide" Target="../notesSlides/notesSlide23.xml"/><Relationship Id="rId13" Type="http://schemas.openxmlformats.org/officeDocument/2006/relationships/vmlDrawing" Target="../drawings/vmlDrawing21.vml"/><Relationship Id="rId12" Type="http://schemas.openxmlformats.org/officeDocument/2006/relationships/slideLayout" Target="../slideLayouts/slideLayout24.xml"/><Relationship Id="rId11" Type="http://schemas.openxmlformats.org/officeDocument/2006/relationships/image" Target="../media/image55.wmf"/><Relationship Id="rId10" Type="http://schemas.openxmlformats.org/officeDocument/2006/relationships/oleObject" Target="../embeddings/oleObject51.bin"/><Relationship Id="rId1" Type="http://schemas.openxmlformats.org/officeDocument/2006/relationships/oleObject" Target="../embeddings/oleObject46.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8.wmf"/><Relationship Id="rId7" Type="http://schemas.openxmlformats.org/officeDocument/2006/relationships/oleObject" Target="../embeddings/oleObject55.bin"/><Relationship Id="rId6" Type="http://schemas.openxmlformats.org/officeDocument/2006/relationships/image" Target="../media/image57.wmf"/><Relationship Id="rId5" Type="http://schemas.openxmlformats.org/officeDocument/2006/relationships/oleObject" Target="../embeddings/oleObject54.bin"/><Relationship Id="rId4" Type="http://schemas.openxmlformats.org/officeDocument/2006/relationships/image" Target="../media/image54.wmf"/><Relationship Id="rId3" Type="http://schemas.openxmlformats.org/officeDocument/2006/relationships/oleObject" Target="../embeddings/oleObject53.bin"/><Relationship Id="rId2" Type="http://schemas.openxmlformats.org/officeDocument/2006/relationships/image" Target="../media/image56.wmf"/><Relationship Id="rId17" Type="http://schemas.openxmlformats.org/officeDocument/2006/relationships/notesSlide" Target="../notesSlides/notesSlide24.xml"/><Relationship Id="rId16" Type="http://schemas.openxmlformats.org/officeDocument/2006/relationships/vmlDrawing" Target="../drawings/vmlDrawing22.vml"/><Relationship Id="rId15" Type="http://schemas.openxmlformats.org/officeDocument/2006/relationships/slideLayout" Target="../slideLayouts/slideLayout24.xml"/><Relationship Id="rId14" Type="http://schemas.openxmlformats.org/officeDocument/2006/relationships/image" Target="../media/image60.wmf"/><Relationship Id="rId13" Type="http://schemas.openxmlformats.org/officeDocument/2006/relationships/oleObject" Target="../embeddings/oleObject59.bin"/><Relationship Id="rId12" Type="http://schemas.openxmlformats.org/officeDocument/2006/relationships/oleObject" Target="../embeddings/oleObject58.bin"/><Relationship Id="rId11" Type="http://schemas.openxmlformats.org/officeDocument/2006/relationships/oleObject" Target="../embeddings/oleObject57.bin"/><Relationship Id="rId10" Type="http://schemas.openxmlformats.org/officeDocument/2006/relationships/image" Target="../media/image59.wmf"/><Relationship Id="rId1" Type="http://schemas.openxmlformats.org/officeDocument/2006/relationships/oleObject" Target="../embeddings/oleObject52.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oleObject" Target="../embeddings/oleObject63.bin"/><Relationship Id="rId7" Type="http://schemas.openxmlformats.org/officeDocument/2006/relationships/image" Target="../media/image62.wmf"/><Relationship Id="rId6" Type="http://schemas.openxmlformats.org/officeDocument/2006/relationships/oleObject" Target="../embeddings/oleObject62.bin"/><Relationship Id="rId5" Type="http://schemas.openxmlformats.org/officeDocument/2006/relationships/image" Target="../media/image43.png"/><Relationship Id="rId4" Type="http://schemas.openxmlformats.org/officeDocument/2006/relationships/image" Target="../media/image61.wmf"/><Relationship Id="rId3" Type="http://schemas.openxmlformats.org/officeDocument/2006/relationships/oleObject" Target="../embeddings/oleObject61.bin"/><Relationship Id="rId2" Type="http://schemas.openxmlformats.org/officeDocument/2006/relationships/image" Target="../media/image58.wmf"/><Relationship Id="rId14" Type="http://schemas.openxmlformats.org/officeDocument/2006/relationships/notesSlide" Target="../notesSlides/notesSlide27.xml"/><Relationship Id="rId13" Type="http://schemas.openxmlformats.org/officeDocument/2006/relationships/vmlDrawing" Target="../drawings/vmlDrawing23.vml"/><Relationship Id="rId12" Type="http://schemas.openxmlformats.org/officeDocument/2006/relationships/slideLayout" Target="../slideLayouts/slideLayout24.xml"/><Relationship Id="rId11" Type="http://schemas.openxmlformats.org/officeDocument/2006/relationships/image" Target="../media/image64.wmf"/><Relationship Id="rId10" Type="http://schemas.openxmlformats.org/officeDocument/2006/relationships/oleObject" Target="../embeddings/oleObject64.bin"/><Relationship Id="rId1" Type="http://schemas.openxmlformats.org/officeDocument/2006/relationships/oleObject" Target="../embeddings/oleObject60.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68.wmf"/><Relationship Id="rId7" Type="http://schemas.openxmlformats.org/officeDocument/2006/relationships/oleObject" Target="../embeddings/oleObject68.bin"/><Relationship Id="rId6" Type="http://schemas.openxmlformats.org/officeDocument/2006/relationships/image" Target="../media/image67.wmf"/><Relationship Id="rId5" Type="http://schemas.openxmlformats.org/officeDocument/2006/relationships/oleObject" Target="../embeddings/oleObject67.bin"/><Relationship Id="rId4" Type="http://schemas.openxmlformats.org/officeDocument/2006/relationships/image" Target="../media/image66.wmf"/><Relationship Id="rId3" Type="http://schemas.openxmlformats.org/officeDocument/2006/relationships/oleObject" Target="../embeddings/oleObject66.bin"/><Relationship Id="rId2" Type="http://schemas.openxmlformats.org/officeDocument/2006/relationships/image" Target="../media/image65.wmf"/><Relationship Id="rId13" Type="http://schemas.openxmlformats.org/officeDocument/2006/relationships/notesSlide" Target="../notesSlides/notesSlide28.xml"/><Relationship Id="rId12" Type="http://schemas.openxmlformats.org/officeDocument/2006/relationships/vmlDrawing" Target="../drawings/vmlDrawing24.vml"/><Relationship Id="rId11" Type="http://schemas.openxmlformats.org/officeDocument/2006/relationships/slideLayout" Target="../slideLayouts/slideLayout24.xml"/><Relationship Id="rId10" Type="http://schemas.openxmlformats.org/officeDocument/2006/relationships/image" Target="../media/image69.wmf"/><Relationship Id="rId1" Type="http://schemas.openxmlformats.org/officeDocument/2006/relationships/oleObject" Target="../embeddings/oleObject65.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73.wmf"/><Relationship Id="rId7" Type="http://schemas.openxmlformats.org/officeDocument/2006/relationships/oleObject" Target="../embeddings/oleObject73.bin"/><Relationship Id="rId6" Type="http://schemas.openxmlformats.org/officeDocument/2006/relationships/image" Target="../media/image72.wmf"/><Relationship Id="rId5" Type="http://schemas.openxmlformats.org/officeDocument/2006/relationships/oleObject" Target="../embeddings/oleObject72.bin"/><Relationship Id="rId4" Type="http://schemas.openxmlformats.org/officeDocument/2006/relationships/image" Target="../media/image71.wmf"/><Relationship Id="rId3" Type="http://schemas.openxmlformats.org/officeDocument/2006/relationships/oleObject" Target="../embeddings/oleObject71.bin"/><Relationship Id="rId2" Type="http://schemas.openxmlformats.org/officeDocument/2006/relationships/image" Target="../media/image70.wmf"/><Relationship Id="rId11" Type="http://schemas.openxmlformats.org/officeDocument/2006/relationships/notesSlide" Target="../notesSlides/notesSlide29.xml"/><Relationship Id="rId10" Type="http://schemas.openxmlformats.org/officeDocument/2006/relationships/vmlDrawing" Target="../drawings/vmlDrawing25.vml"/><Relationship Id="rId1" Type="http://schemas.openxmlformats.org/officeDocument/2006/relationships/oleObject" Target="../embeddings/oleObject70.bin"/></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vmlDrawing" Target="../drawings/vmlDrawing26.vml"/><Relationship Id="rId7" Type="http://schemas.openxmlformats.org/officeDocument/2006/relationships/slideLayout" Target="../slideLayouts/slideLayout24.xml"/><Relationship Id="rId6" Type="http://schemas.openxmlformats.org/officeDocument/2006/relationships/image" Target="../media/image76.emf"/><Relationship Id="rId5" Type="http://schemas.openxmlformats.org/officeDocument/2006/relationships/oleObject" Target="../embeddings/oleObject76.bin"/><Relationship Id="rId4" Type="http://schemas.openxmlformats.org/officeDocument/2006/relationships/image" Target="../media/image75.wmf"/><Relationship Id="rId3" Type="http://schemas.openxmlformats.org/officeDocument/2006/relationships/oleObject" Target="../embeddings/oleObject75.bin"/><Relationship Id="rId2" Type="http://schemas.openxmlformats.org/officeDocument/2006/relationships/image" Target="../media/image74.wmf"/><Relationship Id="rId1" Type="http://schemas.openxmlformats.org/officeDocument/2006/relationships/oleObject" Target="../embeddings/oleObject74.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81.bin"/><Relationship Id="rId8" Type="http://schemas.openxmlformats.org/officeDocument/2006/relationships/image" Target="../media/image80.wmf"/><Relationship Id="rId7" Type="http://schemas.openxmlformats.org/officeDocument/2006/relationships/oleObject" Target="../embeddings/oleObject80.bin"/><Relationship Id="rId6" Type="http://schemas.openxmlformats.org/officeDocument/2006/relationships/image" Target="../media/image79.wmf"/><Relationship Id="rId5" Type="http://schemas.openxmlformats.org/officeDocument/2006/relationships/oleObject" Target="../embeddings/oleObject79.bin"/><Relationship Id="rId4" Type="http://schemas.openxmlformats.org/officeDocument/2006/relationships/image" Target="../media/image78.wmf"/><Relationship Id="rId3" Type="http://schemas.openxmlformats.org/officeDocument/2006/relationships/oleObject" Target="../embeddings/oleObject78.bin"/><Relationship Id="rId2" Type="http://schemas.openxmlformats.org/officeDocument/2006/relationships/image" Target="../media/image77.wmf"/><Relationship Id="rId14" Type="http://schemas.openxmlformats.org/officeDocument/2006/relationships/notesSlide" Target="../notesSlides/notesSlide31.xml"/><Relationship Id="rId13" Type="http://schemas.openxmlformats.org/officeDocument/2006/relationships/vmlDrawing" Target="../drawings/vmlDrawing27.vml"/><Relationship Id="rId12" Type="http://schemas.openxmlformats.org/officeDocument/2006/relationships/slideLayout" Target="../slideLayouts/slideLayout24.xml"/><Relationship Id="rId11" Type="http://schemas.openxmlformats.org/officeDocument/2006/relationships/image" Target="../media/image81.wmf"/><Relationship Id="rId10" Type="http://schemas.openxmlformats.org/officeDocument/2006/relationships/oleObject" Target="../embeddings/oleObject82.bin"/><Relationship Id="rId1" Type="http://schemas.openxmlformats.org/officeDocument/2006/relationships/oleObject" Target="../embeddings/oleObject77.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85.wmf"/><Relationship Id="rId7" Type="http://schemas.openxmlformats.org/officeDocument/2006/relationships/oleObject" Target="../embeddings/oleObject86.bin"/><Relationship Id="rId6" Type="http://schemas.openxmlformats.org/officeDocument/2006/relationships/image" Target="../media/image84.wmf"/><Relationship Id="rId5" Type="http://schemas.openxmlformats.org/officeDocument/2006/relationships/oleObject" Target="../embeddings/oleObject85.bin"/><Relationship Id="rId4" Type="http://schemas.openxmlformats.org/officeDocument/2006/relationships/image" Target="../media/image83.wmf"/><Relationship Id="rId3" Type="http://schemas.openxmlformats.org/officeDocument/2006/relationships/oleObject" Target="../embeddings/oleObject84.bin"/><Relationship Id="rId2" Type="http://schemas.openxmlformats.org/officeDocument/2006/relationships/image" Target="../media/image82.wmf"/><Relationship Id="rId17" Type="http://schemas.openxmlformats.org/officeDocument/2006/relationships/notesSlide" Target="../notesSlides/notesSlide32.xml"/><Relationship Id="rId16" Type="http://schemas.openxmlformats.org/officeDocument/2006/relationships/vmlDrawing" Target="../drawings/vmlDrawing28.vml"/><Relationship Id="rId15" Type="http://schemas.openxmlformats.org/officeDocument/2006/relationships/slideLayout" Target="../slideLayouts/slideLayout24.xml"/><Relationship Id="rId14" Type="http://schemas.openxmlformats.org/officeDocument/2006/relationships/image" Target="../media/image66.wmf"/><Relationship Id="rId13" Type="http://schemas.openxmlformats.org/officeDocument/2006/relationships/oleObject" Target="../embeddings/oleObject89.bin"/><Relationship Id="rId12" Type="http://schemas.openxmlformats.org/officeDocument/2006/relationships/image" Target="../media/image86.wmf"/><Relationship Id="rId11" Type="http://schemas.openxmlformats.org/officeDocument/2006/relationships/oleObject" Target="../embeddings/oleObject88.bin"/><Relationship Id="rId10" Type="http://schemas.openxmlformats.org/officeDocument/2006/relationships/image" Target="../media/image79.wmf"/><Relationship Id="rId1" Type="http://schemas.openxmlformats.org/officeDocument/2006/relationships/oleObject" Target="../embeddings/oleObject83.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29.vml"/><Relationship Id="rId3" Type="http://schemas.openxmlformats.org/officeDocument/2006/relationships/slideLayout" Target="../slideLayouts/slideLayout24.xml"/><Relationship Id="rId2" Type="http://schemas.openxmlformats.org/officeDocument/2006/relationships/image" Target="../media/image87.wmf"/><Relationship Id="rId1" Type="http://schemas.openxmlformats.org/officeDocument/2006/relationships/oleObject" Target="../embeddings/oleObject90.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vmlDrawing" Target="../drawings/vmlDrawing30.vml"/><Relationship Id="rId5" Type="http://schemas.openxmlformats.org/officeDocument/2006/relationships/slideLayout" Target="../slideLayouts/slideLayout24.xml"/><Relationship Id="rId4" Type="http://schemas.openxmlformats.org/officeDocument/2006/relationships/image" Target="../media/image89.wmf"/><Relationship Id="rId3" Type="http://schemas.openxmlformats.org/officeDocument/2006/relationships/oleObject" Target="../embeddings/oleObject92.bin"/><Relationship Id="rId2" Type="http://schemas.openxmlformats.org/officeDocument/2006/relationships/image" Target="../media/image88.wmf"/><Relationship Id="rId1" Type="http://schemas.openxmlformats.org/officeDocument/2006/relationships/oleObject" Target="../embeddings/oleObject91.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97.bin"/><Relationship Id="rId8" Type="http://schemas.openxmlformats.org/officeDocument/2006/relationships/image" Target="../media/image93.wmf"/><Relationship Id="rId7" Type="http://schemas.openxmlformats.org/officeDocument/2006/relationships/oleObject" Target="../embeddings/oleObject96.bin"/><Relationship Id="rId6" Type="http://schemas.openxmlformats.org/officeDocument/2006/relationships/image" Target="../media/image92.wmf"/><Relationship Id="rId5" Type="http://schemas.openxmlformats.org/officeDocument/2006/relationships/oleObject" Target="../embeddings/oleObject95.bin"/><Relationship Id="rId4" Type="http://schemas.openxmlformats.org/officeDocument/2006/relationships/image" Target="../media/image91.wmf"/><Relationship Id="rId3" Type="http://schemas.openxmlformats.org/officeDocument/2006/relationships/oleObject" Target="../embeddings/oleObject94.bin"/><Relationship Id="rId2" Type="http://schemas.openxmlformats.org/officeDocument/2006/relationships/image" Target="../media/image90.wmf"/><Relationship Id="rId19" Type="http://schemas.openxmlformats.org/officeDocument/2006/relationships/notesSlide" Target="../notesSlides/notesSlide36.xml"/><Relationship Id="rId18" Type="http://schemas.openxmlformats.org/officeDocument/2006/relationships/vmlDrawing" Target="../drawings/vmlDrawing31.vml"/><Relationship Id="rId17" Type="http://schemas.openxmlformats.org/officeDocument/2006/relationships/slideLayout" Target="../slideLayouts/slideLayout24.xml"/><Relationship Id="rId16" Type="http://schemas.openxmlformats.org/officeDocument/2006/relationships/image" Target="../media/image97.wmf"/><Relationship Id="rId15" Type="http://schemas.openxmlformats.org/officeDocument/2006/relationships/oleObject" Target="../embeddings/oleObject100.bin"/><Relationship Id="rId14" Type="http://schemas.openxmlformats.org/officeDocument/2006/relationships/image" Target="../media/image96.wmf"/><Relationship Id="rId13" Type="http://schemas.openxmlformats.org/officeDocument/2006/relationships/oleObject" Target="../embeddings/oleObject99.bin"/><Relationship Id="rId12" Type="http://schemas.openxmlformats.org/officeDocument/2006/relationships/image" Target="../media/image95.wmf"/><Relationship Id="rId11" Type="http://schemas.openxmlformats.org/officeDocument/2006/relationships/oleObject" Target="../embeddings/oleObject98.bin"/><Relationship Id="rId10" Type="http://schemas.openxmlformats.org/officeDocument/2006/relationships/image" Target="../media/image94.wmf"/><Relationship Id="rId1" Type="http://schemas.openxmlformats.org/officeDocument/2006/relationships/oleObject" Target="../embeddings/oleObject93.bin"/></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01.wmf"/><Relationship Id="rId7" Type="http://schemas.openxmlformats.org/officeDocument/2006/relationships/oleObject" Target="../embeddings/oleObject104.bin"/><Relationship Id="rId6" Type="http://schemas.openxmlformats.org/officeDocument/2006/relationships/image" Target="../media/image100.wmf"/><Relationship Id="rId5" Type="http://schemas.openxmlformats.org/officeDocument/2006/relationships/oleObject" Target="../embeddings/oleObject103.bin"/><Relationship Id="rId4" Type="http://schemas.openxmlformats.org/officeDocument/2006/relationships/image" Target="../media/image99.wmf"/><Relationship Id="rId3" Type="http://schemas.openxmlformats.org/officeDocument/2006/relationships/oleObject" Target="../embeddings/oleObject102.bin"/><Relationship Id="rId2" Type="http://schemas.openxmlformats.org/officeDocument/2006/relationships/image" Target="../media/image98.wmf"/><Relationship Id="rId11" Type="http://schemas.openxmlformats.org/officeDocument/2006/relationships/notesSlide" Target="../notesSlides/notesSlide37.xml"/><Relationship Id="rId10" Type="http://schemas.openxmlformats.org/officeDocument/2006/relationships/vmlDrawing" Target="../drawings/vmlDrawing32.vml"/><Relationship Id="rId1" Type="http://schemas.openxmlformats.org/officeDocument/2006/relationships/oleObject" Target="../embeddings/oleObject101.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09.bin"/><Relationship Id="rId8" Type="http://schemas.openxmlformats.org/officeDocument/2006/relationships/image" Target="../media/image105.wmf"/><Relationship Id="rId7" Type="http://schemas.openxmlformats.org/officeDocument/2006/relationships/oleObject" Target="../embeddings/oleObject108.bin"/><Relationship Id="rId6" Type="http://schemas.openxmlformats.org/officeDocument/2006/relationships/image" Target="../media/image104.wmf"/><Relationship Id="rId5" Type="http://schemas.openxmlformats.org/officeDocument/2006/relationships/oleObject" Target="../embeddings/oleObject107.bin"/><Relationship Id="rId4" Type="http://schemas.openxmlformats.org/officeDocument/2006/relationships/image" Target="../media/image103.wmf"/><Relationship Id="rId3" Type="http://schemas.openxmlformats.org/officeDocument/2006/relationships/oleObject" Target="../embeddings/oleObject106.bin"/><Relationship Id="rId2" Type="http://schemas.openxmlformats.org/officeDocument/2006/relationships/image" Target="../media/image102.wmf"/><Relationship Id="rId16" Type="http://schemas.openxmlformats.org/officeDocument/2006/relationships/notesSlide" Target="../notesSlides/notesSlide38.xml"/><Relationship Id="rId15" Type="http://schemas.openxmlformats.org/officeDocument/2006/relationships/vmlDrawing" Target="../drawings/vmlDrawing33.vml"/><Relationship Id="rId14" Type="http://schemas.openxmlformats.org/officeDocument/2006/relationships/slideLayout" Target="../slideLayouts/slideLayout24.xml"/><Relationship Id="rId13" Type="http://schemas.openxmlformats.org/officeDocument/2006/relationships/image" Target="../media/image107.wmf"/><Relationship Id="rId12" Type="http://schemas.openxmlformats.org/officeDocument/2006/relationships/oleObject" Target="../embeddings/oleObject111.bin"/><Relationship Id="rId11" Type="http://schemas.openxmlformats.org/officeDocument/2006/relationships/image" Target="../media/image106.wmf"/><Relationship Id="rId10" Type="http://schemas.openxmlformats.org/officeDocument/2006/relationships/oleObject" Target="../embeddings/oleObject110.bin"/><Relationship Id="rId1" Type="http://schemas.openxmlformats.org/officeDocument/2006/relationships/oleObject" Target="../embeddings/oleObject105.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16.bin"/><Relationship Id="rId8" Type="http://schemas.openxmlformats.org/officeDocument/2006/relationships/image" Target="../media/image111.wmf"/><Relationship Id="rId7" Type="http://schemas.openxmlformats.org/officeDocument/2006/relationships/oleObject" Target="../embeddings/oleObject115.bin"/><Relationship Id="rId6" Type="http://schemas.openxmlformats.org/officeDocument/2006/relationships/image" Target="../media/image110.wmf"/><Relationship Id="rId5" Type="http://schemas.openxmlformats.org/officeDocument/2006/relationships/oleObject" Target="../embeddings/oleObject114.bin"/><Relationship Id="rId4" Type="http://schemas.openxmlformats.org/officeDocument/2006/relationships/image" Target="../media/image109.wmf"/><Relationship Id="rId3" Type="http://schemas.openxmlformats.org/officeDocument/2006/relationships/oleObject" Target="../embeddings/oleObject113.bin"/><Relationship Id="rId2" Type="http://schemas.openxmlformats.org/officeDocument/2006/relationships/image" Target="../media/image108.wmf"/><Relationship Id="rId17" Type="http://schemas.openxmlformats.org/officeDocument/2006/relationships/notesSlide" Target="../notesSlides/notesSlide40.xml"/><Relationship Id="rId16" Type="http://schemas.openxmlformats.org/officeDocument/2006/relationships/vmlDrawing" Target="../drawings/vmlDrawing34.vml"/><Relationship Id="rId15" Type="http://schemas.openxmlformats.org/officeDocument/2006/relationships/slideLayout" Target="../slideLayouts/slideLayout24.xml"/><Relationship Id="rId14" Type="http://schemas.openxmlformats.org/officeDocument/2006/relationships/image" Target="../media/image114.wmf"/><Relationship Id="rId13" Type="http://schemas.openxmlformats.org/officeDocument/2006/relationships/oleObject" Target="../embeddings/oleObject118.bin"/><Relationship Id="rId12" Type="http://schemas.openxmlformats.org/officeDocument/2006/relationships/image" Target="../media/image113.wmf"/><Relationship Id="rId11" Type="http://schemas.openxmlformats.org/officeDocument/2006/relationships/oleObject" Target="../embeddings/oleObject117.bin"/><Relationship Id="rId10" Type="http://schemas.openxmlformats.org/officeDocument/2006/relationships/image" Target="../media/image112.wmf"/><Relationship Id="rId1" Type="http://schemas.openxmlformats.org/officeDocument/2006/relationships/oleObject" Target="../embeddings/oleObject112.bin"/></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18.wmf"/><Relationship Id="rId7" Type="http://schemas.openxmlformats.org/officeDocument/2006/relationships/oleObject" Target="../embeddings/oleObject122.bin"/><Relationship Id="rId6" Type="http://schemas.openxmlformats.org/officeDocument/2006/relationships/image" Target="../media/image117.wmf"/><Relationship Id="rId5" Type="http://schemas.openxmlformats.org/officeDocument/2006/relationships/oleObject" Target="../embeddings/oleObject121.bin"/><Relationship Id="rId4" Type="http://schemas.openxmlformats.org/officeDocument/2006/relationships/image" Target="../media/image116.wmf"/><Relationship Id="rId3" Type="http://schemas.openxmlformats.org/officeDocument/2006/relationships/oleObject" Target="../embeddings/oleObject120.bin"/><Relationship Id="rId2" Type="http://schemas.openxmlformats.org/officeDocument/2006/relationships/image" Target="../media/image115.wmf"/><Relationship Id="rId11" Type="http://schemas.openxmlformats.org/officeDocument/2006/relationships/notesSlide" Target="../notesSlides/notesSlide41.xml"/><Relationship Id="rId10" Type="http://schemas.openxmlformats.org/officeDocument/2006/relationships/vmlDrawing" Target="../drawings/vmlDrawing35.vml"/><Relationship Id="rId1" Type="http://schemas.openxmlformats.org/officeDocument/2006/relationships/oleObject" Target="../embeddings/oleObject119.bin"/></Relationships>
</file>

<file path=ppt/slides/_rels/slide52.xml.rels><?xml version="1.0" encoding="UTF-8" standalone="yes"?>
<Relationships xmlns="http://schemas.openxmlformats.org/package/2006/relationships"><Relationship Id="rId9" Type="http://schemas.openxmlformats.org/officeDocument/2006/relationships/notesSlide" Target="../notesSlides/notesSlide42.xml"/><Relationship Id="rId8" Type="http://schemas.openxmlformats.org/officeDocument/2006/relationships/vmlDrawing" Target="../drawings/vmlDrawing36.vml"/><Relationship Id="rId7" Type="http://schemas.openxmlformats.org/officeDocument/2006/relationships/slideLayout" Target="../slideLayouts/slideLayout24.xml"/><Relationship Id="rId6" Type="http://schemas.openxmlformats.org/officeDocument/2006/relationships/image" Target="../media/image121.wmf"/><Relationship Id="rId5" Type="http://schemas.openxmlformats.org/officeDocument/2006/relationships/oleObject" Target="../embeddings/oleObject125.bin"/><Relationship Id="rId4" Type="http://schemas.openxmlformats.org/officeDocument/2006/relationships/image" Target="../media/image120.wmf"/><Relationship Id="rId3" Type="http://schemas.openxmlformats.org/officeDocument/2006/relationships/oleObject" Target="../embeddings/oleObject124.bin"/><Relationship Id="rId2" Type="http://schemas.openxmlformats.org/officeDocument/2006/relationships/image" Target="../media/image119.wmf"/><Relationship Id="rId1" Type="http://schemas.openxmlformats.org/officeDocument/2006/relationships/oleObject" Target="../embeddings/oleObject123.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24.xml"/><Relationship Id="rId2" Type="http://schemas.openxmlformats.org/officeDocument/2006/relationships/image" Target="../media/image122.wmf"/><Relationship Id="rId1" Type="http://schemas.openxmlformats.org/officeDocument/2006/relationships/oleObject" Target="../embeddings/oleObject126.bin"/></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38.vml"/><Relationship Id="rId4" Type="http://schemas.openxmlformats.org/officeDocument/2006/relationships/slideLayout" Target="../slideLayouts/slideLayout24.xml"/><Relationship Id="rId3" Type="http://schemas.openxmlformats.org/officeDocument/2006/relationships/image" Target="../media/image43.png"/><Relationship Id="rId2" Type="http://schemas.openxmlformats.org/officeDocument/2006/relationships/image" Target="../media/image123.wmf"/><Relationship Id="rId1" Type="http://schemas.openxmlformats.org/officeDocument/2006/relationships/oleObject" Target="../embeddings/oleObject127.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24.png"/></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32.bin"/><Relationship Id="rId8" Type="http://schemas.openxmlformats.org/officeDocument/2006/relationships/image" Target="../media/image128.wmf"/><Relationship Id="rId7" Type="http://schemas.openxmlformats.org/officeDocument/2006/relationships/oleObject" Target="../embeddings/oleObject131.bin"/><Relationship Id="rId6" Type="http://schemas.openxmlformats.org/officeDocument/2006/relationships/image" Target="../media/image127.wmf"/><Relationship Id="rId5" Type="http://schemas.openxmlformats.org/officeDocument/2006/relationships/oleObject" Target="../embeddings/oleObject130.bin"/><Relationship Id="rId4" Type="http://schemas.openxmlformats.org/officeDocument/2006/relationships/image" Target="../media/image126.wmf"/><Relationship Id="rId3" Type="http://schemas.openxmlformats.org/officeDocument/2006/relationships/oleObject" Target="../embeddings/oleObject129.bin"/><Relationship Id="rId2" Type="http://schemas.openxmlformats.org/officeDocument/2006/relationships/image" Target="../media/image125.wmf"/><Relationship Id="rId19" Type="http://schemas.openxmlformats.org/officeDocument/2006/relationships/notesSlide" Target="../notesSlides/notesSlide43.xml"/><Relationship Id="rId18" Type="http://schemas.openxmlformats.org/officeDocument/2006/relationships/vmlDrawing" Target="../drawings/vmlDrawing39.vml"/><Relationship Id="rId17" Type="http://schemas.openxmlformats.org/officeDocument/2006/relationships/slideLayout" Target="../slideLayouts/slideLayout24.xml"/><Relationship Id="rId16" Type="http://schemas.openxmlformats.org/officeDocument/2006/relationships/image" Target="../media/image132.wmf"/><Relationship Id="rId15" Type="http://schemas.openxmlformats.org/officeDocument/2006/relationships/oleObject" Target="../embeddings/oleObject135.bin"/><Relationship Id="rId14" Type="http://schemas.openxmlformats.org/officeDocument/2006/relationships/image" Target="../media/image131.wmf"/><Relationship Id="rId13" Type="http://schemas.openxmlformats.org/officeDocument/2006/relationships/oleObject" Target="../embeddings/oleObject134.bin"/><Relationship Id="rId12" Type="http://schemas.openxmlformats.org/officeDocument/2006/relationships/image" Target="../media/image130.wmf"/><Relationship Id="rId11" Type="http://schemas.openxmlformats.org/officeDocument/2006/relationships/oleObject" Target="../embeddings/oleObject133.bin"/><Relationship Id="rId10" Type="http://schemas.openxmlformats.org/officeDocument/2006/relationships/image" Target="../media/image129.wmf"/><Relationship Id="rId1" Type="http://schemas.openxmlformats.org/officeDocument/2006/relationships/oleObject" Target="../embeddings/oleObject128.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4.xml"/><Relationship Id="rId1" Type="http://schemas.openxmlformats.org/officeDocument/2006/relationships/image" Target="../media/image1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382270" y="1556385"/>
            <a:ext cx="8219440" cy="1141730"/>
          </a:xfrm>
        </p:spPr>
        <p:txBody>
          <a:bodyPr/>
          <a:lstStyle/>
          <a:p>
            <a:pPr eaLnBrk="1" hangingPunct="1"/>
            <a:r>
              <a:rPr lang="zh-CN" altLang="en-US" b="1"/>
              <a:t>时频域分析</a:t>
            </a:r>
            <a:r>
              <a:rPr lang="zh-CN" altLang="en-US" b="1"/>
              <a:t>方法</a:t>
            </a:r>
            <a:br>
              <a:rPr lang="zh-CN" altLang="en-US" b="1"/>
            </a:br>
            <a:r>
              <a:rPr lang="zh-CN" altLang="en-US"/>
              <a:t> </a:t>
            </a:r>
            <a:endParaRPr lang="zh-CN" altLang="en-US" sz="3600" b="1">
              <a:solidFill>
                <a:schemeClr val="folHlink"/>
              </a:solidFill>
              <a:latin typeface="Times New Roman" panose="02020603050405020304" pitchFamily="18" charset="0"/>
            </a:endParaRPr>
          </a:p>
        </p:txBody>
      </p:sp>
      <p:pic>
        <p:nvPicPr>
          <p:cNvPr id="6147" name="图片 6" descr="HIT-Logo-AL.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875463" y="6165850"/>
            <a:ext cx="21605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323850" y="1844675"/>
            <a:ext cx="8229600" cy="4525963"/>
          </a:xfrm>
        </p:spPr>
        <p:txBody>
          <a:bodyPr/>
          <a:lstStyle/>
          <a:p>
            <a:pPr eaLnBrk="1" hangingPunct="1"/>
            <a:r>
              <a:rPr lang="zh-CN" altLang="en-US">
                <a:solidFill>
                  <a:schemeClr val="tx2"/>
                </a:solidFill>
              </a:rPr>
              <a:t>任课教师：    郑铁然</a:t>
            </a:r>
            <a:endParaRPr lang="zh-CN" altLang="en-US">
              <a:solidFill>
                <a:schemeClr val="tx2"/>
              </a:solidFill>
            </a:endParaRPr>
          </a:p>
          <a:p>
            <a:pPr eaLnBrk="1" hangingPunct="1"/>
            <a:r>
              <a:rPr lang="zh-CN" altLang="en-US">
                <a:solidFill>
                  <a:schemeClr val="tx2"/>
                </a:solidFill>
              </a:rPr>
              <a:t>办公室地址： 综合楼6</a:t>
            </a:r>
            <a:r>
              <a:rPr lang="en-US" altLang="zh-CN">
                <a:solidFill>
                  <a:schemeClr val="tx2"/>
                </a:solidFill>
              </a:rPr>
              <a:t>03</a:t>
            </a:r>
            <a:endParaRPr lang="en-US" altLang="zh-CN">
              <a:solidFill>
                <a:schemeClr val="tx2"/>
              </a:solidFill>
            </a:endParaRPr>
          </a:p>
          <a:p>
            <a:pPr eaLnBrk="1" hangingPunct="1"/>
            <a:r>
              <a:rPr lang="zh-CN" altLang="en-US">
                <a:solidFill>
                  <a:schemeClr val="tx2"/>
                </a:solidFill>
              </a:rPr>
              <a:t>办公室电话： </a:t>
            </a:r>
            <a:r>
              <a:rPr lang="en-US" altLang="zh-CN">
                <a:solidFill>
                  <a:schemeClr val="tx2"/>
                </a:solidFill>
              </a:rPr>
              <a:t>86417981-11</a:t>
            </a:r>
            <a:endParaRPr lang="en-US" altLang="zh-CN">
              <a:solidFill>
                <a:schemeClr val="tx2"/>
              </a:solidFill>
            </a:endParaRPr>
          </a:p>
          <a:p>
            <a:pPr eaLnBrk="1" hangingPunct="1"/>
            <a:r>
              <a:rPr lang="zh-CN" altLang="en-US">
                <a:solidFill>
                  <a:schemeClr val="tx2"/>
                </a:solidFill>
              </a:rPr>
              <a:t>手机：            </a:t>
            </a:r>
            <a:r>
              <a:rPr lang="en-US" altLang="zh-CN">
                <a:solidFill>
                  <a:schemeClr val="tx2"/>
                </a:solidFill>
              </a:rPr>
              <a:t>13313655979</a:t>
            </a:r>
            <a:endParaRPr lang="en-US" altLang="zh-CN">
              <a:solidFill>
                <a:schemeClr val="tx2"/>
              </a:solidFill>
            </a:endParaRPr>
          </a:p>
          <a:p>
            <a:pPr eaLnBrk="1" hangingPunct="1"/>
            <a:r>
              <a:rPr lang="en-US" altLang="zh-CN">
                <a:solidFill>
                  <a:schemeClr val="tx2"/>
                </a:solidFill>
              </a:rPr>
              <a:t>QQ</a:t>
            </a:r>
            <a:r>
              <a:rPr lang="zh-CN" altLang="en-US">
                <a:solidFill>
                  <a:schemeClr val="tx2"/>
                </a:solidFill>
              </a:rPr>
              <a:t>：              </a:t>
            </a:r>
            <a:r>
              <a:rPr lang="en-US" altLang="zh-CN">
                <a:solidFill>
                  <a:schemeClr val="tx2"/>
                </a:solidFill>
              </a:rPr>
              <a:t>2350562164</a:t>
            </a:r>
            <a:endParaRPr lang="en-US" altLang="zh-CN">
              <a:solidFill>
                <a:schemeClr val="tx2"/>
              </a:solidFill>
            </a:endParaRPr>
          </a:p>
          <a:p>
            <a:pPr eaLnBrk="1" hangingPunct="1"/>
            <a:r>
              <a:rPr lang="en-US" altLang="zh-CN">
                <a:solidFill>
                  <a:schemeClr val="tx2"/>
                </a:solidFill>
              </a:rPr>
              <a:t>Email</a:t>
            </a:r>
            <a:r>
              <a:rPr lang="zh-CN" altLang="en-US">
                <a:solidFill>
                  <a:schemeClr val="tx2"/>
                </a:solidFill>
              </a:rPr>
              <a:t>：          </a:t>
            </a:r>
            <a:r>
              <a:rPr lang="en-US" altLang="zh-CN">
                <a:solidFill>
                  <a:schemeClr val="tx2"/>
                </a:solidFill>
              </a:rPr>
              <a:t>zhengtieran@hit.edu.cn</a:t>
            </a:r>
            <a:r>
              <a:rPr lang="zh-CN" altLang="en-US">
                <a:solidFill>
                  <a:schemeClr val="tx2"/>
                </a:solidFill>
              </a:rPr>
              <a:t>   </a:t>
            </a:r>
            <a:endParaRPr lang="zh-CN" altLang="en-US">
              <a:solidFill>
                <a:schemeClr val="tx2"/>
              </a:solidFill>
            </a:endParaRPr>
          </a:p>
          <a:p>
            <a:pPr eaLnBrk="1" hangingPunct="1">
              <a:buFontTx/>
              <a:buNone/>
            </a:pPr>
            <a:r>
              <a:rPr lang="zh-CN" altLang="en-US">
                <a:solidFill>
                  <a:schemeClr val="tx2"/>
                </a:solidFill>
              </a:rPr>
              <a:t>                          </a:t>
            </a:r>
            <a:r>
              <a:rPr lang="en-US" altLang="zh-CN">
                <a:solidFill>
                  <a:schemeClr val="tx2"/>
                </a:solidFill>
              </a:rPr>
              <a:t>                          </a:t>
            </a:r>
            <a:endParaRPr lang="zh-CN" altLang="en-US">
              <a:solidFill>
                <a:schemeClr val="tx2"/>
              </a:solidFill>
            </a:endParaRP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custDataLst>
              <p:tags r:id="rId1"/>
            </p:custDataLst>
          </p:nvPr>
        </p:nvSpPr>
        <p:spPr>
          <a:xfrm>
            <a:off x="467360" y="764540"/>
            <a:ext cx="8365490" cy="5562600"/>
          </a:xfrm>
        </p:spPr>
        <p:txBody>
          <a:bodyPr/>
          <a:lstStyle/>
          <a:p>
            <a:pPr eaLnBrk="1" latinLnBrk="0" hangingPunct="1">
              <a:lnSpc>
                <a:spcPct val="150000"/>
              </a:lnSpc>
              <a:spcBef>
                <a:spcPts val="1200"/>
              </a:spcBef>
              <a:spcAft>
                <a:spcPts val="600"/>
              </a:spcAft>
              <a:buFont typeface="Wingdings" panose="05000000000000000000" charset="0"/>
              <a:buChar char="n"/>
            </a:pPr>
            <a:r>
              <a:rPr lang="zh-CN" altLang="en-US" sz="3600">
                <a:latin typeface="华文细黑" panose="02010600040101010101" pitchFamily="2" charset="-122"/>
                <a:ea typeface="华文细黑" panose="02010600040101010101" pitchFamily="2" charset="-122"/>
              </a:rPr>
              <a:t>机器（人类）如何理解语音信号？</a:t>
            </a:r>
            <a:endParaRPr lang="en-US" altLang="zh-CN" sz="3600">
              <a:latin typeface="华文细黑" panose="02010600040101010101" pitchFamily="2" charset="-122"/>
              <a:ea typeface="华文细黑" panose="02010600040101010101" pitchFamily="2" charset="-122"/>
            </a:endParaRPr>
          </a:p>
          <a:p>
            <a:pPr eaLnBrk="1" latinLnBrk="0" hangingPunct="1">
              <a:lnSpc>
                <a:spcPct val="100000"/>
              </a:lnSpc>
              <a:spcBef>
                <a:spcPts val="1200"/>
              </a:spcBef>
              <a:spcAft>
                <a:spcPts val="600"/>
              </a:spcAft>
              <a:buFont typeface="Wingdings" panose="05000000000000000000" charset="0"/>
              <a:buChar char="n"/>
            </a:pPr>
            <a:r>
              <a:rPr lang="zh-CN" altLang="en-US" sz="3600">
                <a:latin typeface="华文细黑" panose="02010600040101010101" pitchFamily="2" charset="-122"/>
                <a:ea typeface="华文细黑" panose="02010600040101010101" pitchFamily="2" charset="-122"/>
              </a:rPr>
              <a:t>如何用</a:t>
            </a:r>
            <a:r>
              <a:rPr lang="zh-CN" altLang="en-US" sz="3600">
                <a:solidFill>
                  <a:srgbClr val="0070C0"/>
                </a:solidFill>
                <a:latin typeface="华文细黑" panose="02010600040101010101" pitchFamily="2" charset="-122"/>
                <a:ea typeface="华文细黑" panose="02010600040101010101" pitchFamily="2" charset="-122"/>
              </a:rPr>
              <a:t>更少</a:t>
            </a:r>
            <a:r>
              <a:rPr lang="zh-CN" altLang="en-US" sz="3600">
                <a:solidFill>
                  <a:schemeClr val="tx1"/>
                </a:solidFill>
                <a:latin typeface="华文细黑" panose="02010600040101010101" pitchFamily="2" charset="-122"/>
                <a:ea typeface="华文细黑" panose="02010600040101010101" pitchFamily="2" charset="-122"/>
              </a:rPr>
              <a:t>的</a:t>
            </a:r>
            <a:r>
              <a:rPr lang="zh-CN" altLang="en-US" sz="3600">
                <a:latin typeface="华文细黑" panose="02010600040101010101" pitchFamily="2" charset="-122"/>
                <a:ea typeface="华文细黑" panose="02010600040101010101" pitchFamily="2" charset="-122"/>
              </a:rPr>
              <a:t>、且</a:t>
            </a:r>
            <a:r>
              <a:rPr lang="zh-CN" altLang="en-US" sz="3600">
                <a:latin typeface="华文细黑" panose="02010600040101010101" pitchFamily="2" charset="-122"/>
                <a:ea typeface="华文细黑" panose="02010600040101010101" pitchFamily="2" charset="-122"/>
                <a:sym typeface="+mn-ea"/>
              </a:rPr>
              <a:t>具有</a:t>
            </a:r>
            <a:r>
              <a:rPr lang="zh-CN" altLang="en-US" sz="3600">
                <a:solidFill>
                  <a:srgbClr val="0070C0"/>
                </a:solidFill>
                <a:latin typeface="华文细黑" panose="02010600040101010101" pitchFamily="2" charset="-122"/>
                <a:ea typeface="华文细黑" panose="02010600040101010101" pitchFamily="2" charset="-122"/>
                <a:sym typeface="+mn-ea"/>
              </a:rPr>
              <a:t>可区分性</a:t>
            </a:r>
            <a:r>
              <a:rPr lang="zh-CN" altLang="en-US" sz="3600">
                <a:latin typeface="华文细黑" panose="02010600040101010101" pitchFamily="2" charset="-122"/>
                <a:ea typeface="华文细黑" panose="02010600040101010101" pitchFamily="2" charset="-122"/>
              </a:rPr>
              <a:t>的属性数据来刻画语音的内容？</a:t>
            </a:r>
            <a:endParaRPr lang="zh-CN" altLang="en-US" sz="4400">
              <a:latin typeface="华文细黑" panose="02010600040101010101" pitchFamily="2" charset="-122"/>
              <a:ea typeface="华文细黑" panose="02010600040101010101" pitchFamily="2" charset="-122"/>
            </a:endParaRPr>
          </a:p>
          <a:p>
            <a:pPr lvl="1" eaLnBrk="1" latinLnBrk="0" hangingPunct="1">
              <a:lnSpc>
                <a:spcPct val="150000"/>
              </a:lnSpc>
              <a:spcBef>
                <a:spcPts val="1200"/>
              </a:spcBef>
              <a:spcAft>
                <a:spcPts val="600"/>
              </a:spcAft>
              <a:buFont typeface="Wingdings" panose="05000000000000000000" charset="0"/>
              <a:buChar char="Ø"/>
            </a:pPr>
            <a:r>
              <a:rPr lang="zh-CN" altLang="en-US">
                <a:latin typeface="华文细黑" panose="02010600040101010101" pitchFamily="2" charset="-122"/>
                <a:ea typeface="华文细黑" panose="02010600040101010101" pitchFamily="2" charset="-122"/>
              </a:rPr>
              <a:t>对识别类应用</a:t>
            </a:r>
            <a:r>
              <a:rPr lang="en-US" altLang="zh-CN">
                <a:latin typeface="华文细黑" panose="02010600040101010101" pitchFamily="2" charset="-122"/>
                <a:ea typeface="华文细黑" panose="02010600040101010101" pitchFamily="2" charset="-122"/>
              </a:rPr>
              <a:t>---》</a:t>
            </a:r>
            <a:r>
              <a:rPr lang="zh-CN" altLang="en-US">
                <a:solidFill>
                  <a:srgbClr val="FF0000"/>
                </a:solidFill>
                <a:latin typeface="华文细黑" panose="02010600040101010101" pitchFamily="2" charset="-122"/>
                <a:ea typeface="华文细黑" panose="02010600040101010101" pitchFamily="2" charset="-122"/>
              </a:rPr>
              <a:t>特征提取</a:t>
            </a:r>
            <a:endParaRPr lang="en-US" altLang="zh-CN">
              <a:solidFill>
                <a:srgbClr val="FF0000"/>
              </a:solidFill>
              <a:latin typeface="华文细黑" panose="02010600040101010101" pitchFamily="2" charset="-122"/>
              <a:ea typeface="华文细黑" panose="02010600040101010101" pitchFamily="2" charset="-122"/>
            </a:endParaRPr>
          </a:p>
          <a:p>
            <a:pPr lvl="1" eaLnBrk="1" latinLnBrk="0" hangingPunct="1">
              <a:lnSpc>
                <a:spcPct val="150000"/>
              </a:lnSpc>
              <a:spcBef>
                <a:spcPts val="1200"/>
              </a:spcBef>
              <a:spcAft>
                <a:spcPts val="600"/>
              </a:spcAft>
              <a:buFont typeface="Wingdings" panose="05000000000000000000" charset="0"/>
              <a:buChar char="Ø"/>
            </a:pPr>
            <a:r>
              <a:rPr lang="zh-CN" altLang="en-US">
                <a:latin typeface="华文细黑" panose="02010600040101010101" pitchFamily="2" charset="-122"/>
                <a:ea typeface="华文细黑" panose="02010600040101010101" pitchFamily="2" charset="-122"/>
              </a:rPr>
              <a:t>对表示类应用</a:t>
            </a:r>
            <a:r>
              <a:rPr lang="en-US" altLang="zh-CN">
                <a:latin typeface="华文细黑" panose="02010600040101010101" pitchFamily="2" charset="-122"/>
                <a:ea typeface="华文细黑" panose="02010600040101010101" pitchFamily="2" charset="-122"/>
              </a:rPr>
              <a:t>---》</a:t>
            </a:r>
            <a:r>
              <a:rPr lang="zh-CN" altLang="en-US">
                <a:solidFill>
                  <a:srgbClr val="FF0000"/>
                </a:solidFill>
                <a:latin typeface="华文细黑" panose="02010600040101010101" pitchFamily="2" charset="-122"/>
                <a:ea typeface="华文细黑" panose="02010600040101010101" pitchFamily="2" charset="-122"/>
              </a:rPr>
              <a:t>表示机理</a:t>
            </a:r>
            <a:endParaRPr lang="en-US" altLang="zh-CN">
              <a:solidFill>
                <a:srgbClr val="FF0000"/>
              </a:solidFill>
              <a:latin typeface="华文细黑" panose="02010600040101010101" pitchFamily="2" charset="-122"/>
              <a:ea typeface="华文细黑"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up)">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wipe(up)">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wipe(left)">
                                      <p:cBhvr>
                                        <p:cTn id="17" dur="500"/>
                                        <p:tgtEl>
                                          <p:spTgt spid="7171">
                                            <p:txEl>
                                              <p:pRg st="2" end="2"/>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7171">
                                            <p:txEl>
                                              <p:pRg st="3" end="3"/>
                                            </p:txEl>
                                          </p:spTgt>
                                        </p:tgtEl>
                                        <p:attrNameLst>
                                          <p:attrName>style.visibility</p:attrName>
                                        </p:attrNameLst>
                                      </p:cBhvr>
                                      <p:to>
                                        <p:strVal val="visible"/>
                                      </p:to>
                                    </p:set>
                                    <p:animEffect transition="in" filter="wipe(left)">
                                      <p:cBhvr>
                                        <p:cTn id="21"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1188" y="2852738"/>
            <a:ext cx="8229600" cy="1143000"/>
          </a:xfrm>
        </p:spPr>
        <p:txBody>
          <a:bodyPr/>
          <a:lstStyle/>
          <a:p>
            <a:pPr eaLnBrk="1" hangingPunct="1"/>
            <a:r>
              <a:rPr lang="zh-CN" altLang="en-US" sz="5400">
                <a:solidFill>
                  <a:schemeClr val="hlink"/>
                </a:solidFill>
                <a:ea typeface="隶书" panose="02010509060101010101" pitchFamily="49" charset="-122"/>
              </a:rPr>
              <a:t>特征的分析时长</a:t>
            </a:r>
            <a:endParaRPr lang="en-US" altLang="zh-CN" sz="5400">
              <a:solidFill>
                <a:schemeClr val="hlink"/>
              </a:solidFill>
              <a:ea typeface="隶书" panose="020105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特征的分析时长</a:t>
            </a:r>
            <a:endParaRPr lang="en-US" altLang="zh-CN">
              <a:solidFill>
                <a:schemeClr val="accent2"/>
              </a:solidFill>
            </a:endParaRPr>
          </a:p>
        </p:txBody>
      </p:sp>
      <p:sp>
        <p:nvSpPr>
          <p:cNvPr id="128003" name="Rectangle 3"/>
          <p:cNvSpPr>
            <a:spLocks noGrp="1" noChangeArrowheads="1"/>
          </p:cNvSpPr>
          <p:nvPr>
            <p:ph type="body" idx="1"/>
          </p:nvPr>
        </p:nvSpPr>
        <p:spPr>
          <a:xfrm>
            <a:off x="539750" y="1701165"/>
            <a:ext cx="8229600" cy="2133600"/>
          </a:xfrm>
        </p:spPr>
        <p:txBody>
          <a:bodyPr/>
          <a:lstStyle/>
          <a:p>
            <a:pPr eaLnBrk="1" hangingPunct="1">
              <a:buClr>
                <a:srgbClr val="9900FF"/>
              </a:buClr>
              <a:buFont typeface="Wingdings" panose="05000000000000000000" pitchFamily="2" charset="2"/>
              <a:buChar char="Ø"/>
            </a:pPr>
            <a:r>
              <a:rPr lang="zh-CN" altLang="en-US" sz="2800" b="1">
                <a:solidFill>
                  <a:srgbClr val="0070C0"/>
                </a:solidFill>
                <a:latin typeface="黑体" panose="02010609060101010101" pitchFamily="49" charset="-122"/>
                <a:ea typeface="黑体" panose="02010609060101010101" pitchFamily="49" charset="-122"/>
              </a:rPr>
              <a:t>短时分析</a:t>
            </a:r>
            <a:endParaRPr lang="zh-CN" altLang="en-US" sz="2800" b="1">
              <a:solidFill>
                <a:srgbClr val="0070C0"/>
              </a:solidFill>
              <a:latin typeface="黑体" panose="02010609060101010101" pitchFamily="49" charset="-122"/>
              <a:ea typeface="黑体" panose="02010609060101010101" pitchFamily="49" charset="-122"/>
            </a:endParaRPr>
          </a:p>
          <a:p>
            <a:pPr eaLnBrk="1" hangingPunct="1"/>
            <a:r>
              <a:rPr lang="zh-CN" altLang="en-US" sz="2800" b="1">
                <a:solidFill>
                  <a:schemeClr val="tx2"/>
                </a:solidFill>
              </a:rPr>
              <a:t>语音信号是非平稳信号，但是可以认为</a:t>
            </a:r>
            <a:r>
              <a:rPr lang="zh-CN" altLang="en-US" sz="2800" b="1">
                <a:solidFill>
                  <a:srgbClr val="0070C0"/>
                </a:solidFill>
              </a:rPr>
              <a:t>10~30</a:t>
            </a:r>
            <a:r>
              <a:rPr lang="en-US" altLang="zh-CN" sz="2800" b="1">
                <a:solidFill>
                  <a:srgbClr val="0070C0"/>
                </a:solidFill>
              </a:rPr>
              <a:t>ms</a:t>
            </a:r>
            <a:r>
              <a:rPr lang="zh-CN" altLang="en-US" sz="2800" b="1">
                <a:solidFill>
                  <a:schemeClr val="tx2"/>
                </a:solidFill>
              </a:rPr>
              <a:t>的时间范围内，语音信号是平稳信号。</a:t>
            </a:r>
            <a:endParaRPr lang="zh-CN" altLang="en-US" sz="2800" b="1">
              <a:solidFill>
                <a:schemeClr val="tx2"/>
              </a:solidFill>
            </a:endParaRPr>
          </a:p>
          <a:p>
            <a:pPr eaLnBrk="1" hangingPunct="1"/>
            <a:r>
              <a:rPr lang="zh-CN" altLang="en-US" sz="2800" b="1">
                <a:solidFill>
                  <a:schemeClr val="tx2"/>
                </a:solidFill>
              </a:rPr>
              <a:t>短时语音段被称为</a:t>
            </a:r>
            <a:r>
              <a:rPr lang="zh-CN" altLang="en-US" sz="2800" b="1">
                <a:solidFill>
                  <a:srgbClr val="0070C0"/>
                </a:solidFill>
                <a:latin typeface="黑体" panose="02010609060101010101" pitchFamily="49" charset="-122"/>
                <a:ea typeface="黑体" panose="02010609060101010101" pitchFamily="49" charset="-122"/>
              </a:rPr>
              <a:t>帧，</a:t>
            </a:r>
            <a:r>
              <a:rPr lang="zh-CN" altLang="en-US" sz="2800" b="1">
                <a:solidFill>
                  <a:schemeClr val="tx1"/>
                </a:solidFill>
                <a:latin typeface="宋体" panose="02010600030101010101" pitchFamily="2" charset="-122"/>
                <a:ea typeface="宋体" panose="02010600030101010101" pitchFamily="2" charset="-122"/>
              </a:rPr>
              <a:t>一帧提取一组特征</a:t>
            </a:r>
            <a:endParaRPr lang="zh-CN" altLang="en-US" sz="2800" b="1">
              <a:solidFill>
                <a:schemeClr val="tx2"/>
              </a:solidFill>
            </a:endParaRPr>
          </a:p>
          <a:p>
            <a:pPr eaLnBrk="1" hangingPunct="1"/>
            <a:r>
              <a:rPr lang="zh-CN" altLang="en-US" sz="2800" b="1">
                <a:solidFill>
                  <a:schemeClr val="tx2"/>
                </a:solidFill>
              </a:rPr>
              <a:t>获得帧</a:t>
            </a:r>
            <a:r>
              <a:rPr lang="zh-CN" altLang="en-US" sz="2800" b="1">
                <a:solidFill>
                  <a:schemeClr val="tx2"/>
                </a:solidFill>
              </a:rPr>
              <a:t>信号的最基本手段是对语音信号</a:t>
            </a:r>
            <a:r>
              <a:rPr lang="zh-CN" altLang="en-US" sz="2800" b="1">
                <a:solidFill>
                  <a:srgbClr val="0070C0"/>
                </a:solidFill>
                <a:latin typeface="黑体" panose="02010609060101010101" pitchFamily="49" charset="-122"/>
                <a:ea typeface="黑体" panose="02010609060101010101" pitchFamily="49" charset="-122"/>
              </a:rPr>
              <a:t>加窗</a:t>
            </a:r>
            <a:r>
              <a:rPr lang="zh-CN" altLang="en-US" sz="2800" b="1">
                <a:solidFill>
                  <a:schemeClr val="tx2"/>
                </a:solidFill>
              </a:rPr>
              <a:t>。</a:t>
            </a:r>
            <a:endParaRPr lang="zh-CN" altLang="en-US" sz="2800" b="1">
              <a:solidFill>
                <a:schemeClr val="tx2"/>
              </a:solidFill>
            </a:endParaRPr>
          </a:p>
        </p:txBody>
      </p:sp>
      <p:graphicFrame>
        <p:nvGraphicFramePr>
          <p:cNvPr id="128004" name="Object 4"/>
          <p:cNvGraphicFramePr>
            <a:graphicFrameLocks noChangeAspect="1"/>
          </p:cNvGraphicFramePr>
          <p:nvPr/>
        </p:nvGraphicFramePr>
        <p:xfrm>
          <a:off x="2843848" y="4221480"/>
          <a:ext cx="2157412" cy="452438"/>
        </p:xfrm>
        <a:graphic>
          <a:graphicData uri="http://schemas.openxmlformats.org/presentationml/2006/ole">
            <mc:AlternateContent xmlns:mc="http://schemas.openxmlformats.org/markup-compatibility/2006">
              <mc:Choice xmlns:v="urn:schemas-microsoft-com:vml" Requires="v">
                <p:oleObj spid="_x0000_s9241" name="Equation" r:id="rId1" imgW="26212800" imgH="5486400" progId="Equation.DSMT4">
                  <p:embed/>
                </p:oleObj>
              </mc:Choice>
              <mc:Fallback>
                <p:oleObj name="Equation" r:id="rId1" imgW="26212800" imgH="5486400" progId="Equation.DSMT4">
                  <p:embed/>
                  <p:pic>
                    <p:nvPicPr>
                      <p:cNvPr id="0" name="Object 4"/>
                      <p:cNvPicPr>
                        <a:picLocks noChangeAspect="1" noChangeArrowheads="1"/>
                      </p:cNvPicPr>
                      <p:nvPr/>
                    </p:nvPicPr>
                    <p:blipFill>
                      <a:blip r:embed="rId2"/>
                      <a:srcRect/>
                      <a:stretch>
                        <a:fillRect/>
                      </a:stretch>
                    </p:blipFill>
                    <p:spPr bwMode="auto">
                      <a:xfrm>
                        <a:off x="2843848" y="4221480"/>
                        <a:ext cx="2157412"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1" name="Rectangle 5"/>
          <p:cNvSpPr>
            <a:spLocks noChangeArrowheads="1"/>
          </p:cNvSpPr>
          <p:nvPr/>
        </p:nvSpPr>
        <p:spPr bwMode="auto">
          <a:xfrm>
            <a:off x="376713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6"/>
          <p:cNvGrpSpPr/>
          <p:nvPr/>
        </p:nvGrpSpPr>
        <p:grpSpPr bwMode="auto">
          <a:xfrm>
            <a:off x="1119188" y="4724400"/>
            <a:ext cx="6477000" cy="1657350"/>
            <a:chOff x="849" y="2976"/>
            <a:chExt cx="4080" cy="1044"/>
          </a:xfrm>
        </p:grpSpPr>
        <p:grpSp>
          <p:nvGrpSpPr>
            <p:cNvPr id="9223" name="Group 7"/>
            <p:cNvGrpSpPr/>
            <p:nvPr/>
          </p:nvGrpSpPr>
          <p:grpSpPr bwMode="auto">
            <a:xfrm>
              <a:off x="849" y="2976"/>
              <a:ext cx="4080" cy="1044"/>
              <a:chOff x="849" y="2976"/>
              <a:chExt cx="4080" cy="1044"/>
            </a:xfrm>
          </p:grpSpPr>
          <p:sp>
            <p:nvSpPr>
              <p:cNvPr id="9225" name="Rectangle 8"/>
              <p:cNvSpPr>
                <a:spLocks noChangeArrowheads="1"/>
              </p:cNvSpPr>
              <p:nvPr/>
            </p:nvSpPr>
            <p:spPr bwMode="auto">
              <a:xfrm>
                <a:off x="849" y="2976"/>
                <a:ext cx="40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800" b="1">
                    <a:solidFill>
                      <a:schemeClr val="tx2"/>
                    </a:solidFill>
                  </a:rPr>
                  <a:t>常见窗函数:   </a:t>
                </a:r>
                <a:r>
                  <a:rPr kumimoji="1" lang="en-US" altLang="zh-CN" sz="2800" b="1">
                    <a:solidFill>
                      <a:schemeClr val="tx2"/>
                    </a:solidFill>
                  </a:rPr>
                  <a:t>N</a:t>
                </a:r>
                <a:r>
                  <a:rPr kumimoji="1" lang="zh-CN" altLang="en-US" sz="2800" b="1">
                    <a:solidFill>
                      <a:schemeClr val="tx2"/>
                    </a:solidFill>
                  </a:rPr>
                  <a:t>为窗长</a:t>
                </a:r>
                <a:endParaRPr kumimoji="1" lang="zh-CN" altLang="en-US" sz="2800" b="1">
                  <a:solidFill>
                    <a:schemeClr val="tx2"/>
                  </a:solidFill>
                </a:endParaRPr>
              </a:p>
            </p:txBody>
          </p:sp>
          <p:graphicFrame>
            <p:nvGraphicFramePr>
              <p:cNvPr id="9226" name="Object 9"/>
              <p:cNvGraphicFramePr>
                <a:graphicFrameLocks noChangeAspect="1"/>
              </p:cNvGraphicFramePr>
              <p:nvPr/>
            </p:nvGraphicFramePr>
            <p:xfrm>
              <a:off x="1731" y="3434"/>
              <a:ext cx="2064" cy="586"/>
            </p:xfrm>
            <a:graphic>
              <a:graphicData uri="http://schemas.openxmlformats.org/presentationml/2006/ole">
                <mc:AlternateContent xmlns:mc="http://schemas.openxmlformats.org/markup-compatibility/2006">
                  <mc:Choice xmlns:v="urn:schemas-microsoft-com:vml" Requires="v">
                    <p:oleObj spid="_x0000_s9242" name="" r:id="rId3" imgW="1612900" imgH="457200" progId="Equation.3">
                      <p:embed/>
                    </p:oleObj>
                  </mc:Choice>
                  <mc:Fallback>
                    <p:oleObj name="" r:id="rId3" imgW="1612900" imgH="4572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1" y="3434"/>
                            <a:ext cx="2064" cy="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224" name="Text Box 10"/>
            <p:cNvSpPr txBox="1">
              <a:spLocks noChangeArrowheads="1"/>
            </p:cNvSpPr>
            <p:nvPr/>
          </p:nvSpPr>
          <p:spPr bwMode="auto">
            <a:xfrm>
              <a:off x="963" y="3540"/>
              <a:ext cx="52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70C0"/>
                  </a:solidFill>
                  <a:latin typeface="黑体" panose="02010609060101010101" pitchFamily="49" charset="-122"/>
                  <a:ea typeface="黑体" panose="02010609060101010101" pitchFamily="49" charset="-122"/>
                </a:rPr>
                <a:t>方窗</a:t>
              </a:r>
              <a:r>
                <a:rPr kumimoji="1" lang="en-US" altLang="zh-CN" sz="2800" b="1">
                  <a:solidFill>
                    <a:schemeClr val="tx2"/>
                  </a:solidFill>
                </a:rPr>
                <a:t>:</a:t>
              </a:r>
              <a:endParaRPr kumimoji="1" lang="zh-CN" altLang="en-US" sz="2800" b="1">
                <a:solidFill>
                  <a:schemeClr val="tx2"/>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wipe(up)">
                                      <p:cBhvr>
                                        <p:cTn id="7" dur="500"/>
                                        <p:tgtEl>
                                          <p:spTgt spid="128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wipe(up)">
                                      <p:cBhvr>
                                        <p:cTn id="12" dur="500"/>
                                        <p:tgtEl>
                                          <p:spTgt spid="128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8003">
                                            <p:txEl>
                                              <p:pRg st="2" end="2"/>
                                            </p:txEl>
                                          </p:spTgt>
                                        </p:tgtEl>
                                        <p:attrNameLst>
                                          <p:attrName>style.visibility</p:attrName>
                                        </p:attrNameLst>
                                      </p:cBhvr>
                                      <p:to>
                                        <p:strVal val="visible"/>
                                      </p:to>
                                    </p:set>
                                    <p:animEffect transition="in" filter="wipe(up)">
                                      <p:cBhvr>
                                        <p:cTn id="17" dur="500"/>
                                        <p:tgtEl>
                                          <p:spTgt spid="128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8003">
                                            <p:txEl>
                                              <p:pRg st="3" end="3"/>
                                            </p:txEl>
                                          </p:spTgt>
                                        </p:tgtEl>
                                        <p:attrNameLst>
                                          <p:attrName>style.visibility</p:attrName>
                                        </p:attrNameLst>
                                      </p:cBhvr>
                                      <p:to>
                                        <p:strVal val="visible"/>
                                      </p:to>
                                    </p:set>
                                    <p:animEffect transition="in" filter="wipe(up)">
                                      <p:cBhvr>
                                        <p:cTn id="22" dur="500"/>
                                        <p:tgtEl>
                                          <p:spTgt spid="128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28004"/>
                                        </p:tgtEl>
                                        <p:attrNameLst>
                                          <p:attrName>style.visibility</p:attrName>
                                        </p:attrNameLst>
                                      </p:cBhvr>
                                      <p:to>
                                        <p:strVal val="visible"/>
                                      </p:to>
                                    </p:set>
                                    <p:animEffect transition="in" filter="wipe(up)">
                                      <p:cBhvr>
                                        <p:cTn id="27" dur="500"/>
                                        <p:tgtEl>
                                          <p:spTgt spid="1280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autoUpdateAnimBg="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11267" name="Rectangle 3"/>
          <p:cNvSpPr>
            <a:spLocks noChangeArrowheads="1"/>
          </p:cNvSpPr>
          <p:nvPr/>
        </p:nvSpPr>
        <p:spPr bwMode="auto">
          <a:xfrm>
            <a:off x="297180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4"/>
          <p:cNvGrpSpPr/>
          <p:nvPr>
            <p:custDataLst>
              <p:tags r:id="rId1"/>
            </p:custDataLst>
          </p:nvPr>
        </p:nvGrpSpPr>
        <p:grpSpPr bwMode="auto">
          <a:xfrm>
            <a:off x="1143000" y="1989138"/>
            <a:ext cx="6934200" cy="1600200"/>
            <a:chOff x="720" y="1253"/>
            <a:chExt cx="4368" cy="1008"/>
          </a:xfrm>
        </p:grpSpPr>
        <p:sp>
          <p:nvSpPr>
            <p:cNvPr id="11273" name="Text Box 5"/>
            <p:cNvSpPr txBox="1">
              <a:spLocks noChangeArrowheads="1"/>
            </p:cNvSpPr>
            <p:nvPr>
              <p:custDataLst>
                <p:tags r:id="rId2"/>
              </p:custDataLst>
            </p:nvPr>
          </p:nvSpPr>
          <p:spPr bwMode="auto">
            <a:xfrm>
              <a:off x="720" y="1253"/>
              <a:ext cx="23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70C0"/>
                  </a:solidFill>
                  <a:latin typeface="黑体" panose="02010609060101010101" pitchFamily="49" charset="-122"/>
                  <a:ea typeface="黑体" panose="02010609060101010101" pitchFamily="49" charset="-122"/>
                </a:rPr>
                <a:t>哈明</a:t>
              </a:r>
              <a:r>
                <a:rPr kumimoji="1" lang="zh-CN" altLang="en-US" sz="2400" b="1">
                  <a:solidFill>
                    <a:schemeClr val="tx2"/>
                  </a:solidFill>
                </a:rPr>
                <a:t>（</a:t>
              </a:r>
              <a:r>
                <a:rPr kumimoji="1" lang="en-US" altLang="zh-CN" sz="2400" b="1">
                  <a:solidFill>
                    <a:schemeClr val="tx2"/>
                  </a:solidFill>
                </a:rPr>
                <a:t>Hamming）</a:t>
              </a:r>
              <a:r>
                <a:rPr kumimoji="1" lang="zh-CN" altLang="en-US" sz="2400" b="1">
                  <a:solidFill>
                    <a:schemeClr val="tx2"/>
                  </a:solidFill>
                </a:rPr>
                <a:t>窗</a:t>
              </a:r>
              <a:endParaRPr kumimoji="1" lang="en-US" altLang="zh-CN" sz="2400" b="1">
                <a:solidFill>
                  <a:schemeClr val="tx2"/>
                </a:solidFill>
              </a:endParaRPr>
            </a:p>
          </p:txBody>
        </p:sp>
        <p:graphicFrame>
          <p:nvGraphicFramePr>
            <p:cNvPr id="11274" name="Object 6"/>
            <p:cNvGraphicFramePr>
              <a:graphicFrameLocks noChangeAspect="1"/>
            </p:cNvGraphicFramePr>
            <p:nvPr>
              <p:custDataLst>
                <p:tags r:id="rId3"/>
              </p:custDataLst>
            </p:nvPr>
          </p:nvGraphicFramePr>
          <p:xfrm>
            <a:off x="720" y="1637"/>
            <a:ext cx="4368" cy="624"/>
          </p:xfrm>
          <a:graphic>
            <a:graphicData uri="http://schemas.openxmlformats.org/presentationml/2006/ole">
              <mc:AlternateContent xmlns:mc="http://schemas.openxmlformats.org/markup-compatibility/2006">
                <mc:Choice xmlns:v="urn:schemas-microsoft-com:vml" Requires="v">
                  <p:oleObj spid="_x0000_s11289" name="" r:id="rId4" imgW="3200400" imgH="457200" progId="Equation.3">
                    <p:embed/>
                  </p:oleObj>
                </mc:Choice>
                <mc:Fallback>
                  <p:oleObj name="" r:id="rId4" imgW="3200400" imgH="457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 y="1637"/>
                          <a:ext cx="436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269" name="Rectangle 7"/>
          <p:cNvSpPr>
            <a:spLocks noChangeArrowheads="1"/>
          </p:cNvSpPr>
          <p:nvPr/>
        </p:nvSpPr>
        <p:spPr bwMode="auto">
          <a:xfrm>
            <a:off x="310515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8"/>
          <p:cNvGrpSpPr/>
          <p:nvPr>
            <p:custDataLst>
              <p:tags r:id="rId6"/>
            </p:custDataLst>
          </p:nvPr>
        </p:nvGrpSpPr>
        <p:grpSpPr bwMode="auto">
          <a:xfrm>
            <a:off x="1143000" y="4260850"/>
            <a:ext cx="6934200" cy="1689100"/>
            <a:chOff x="720" y="2684"/>
            <a:chExt cx="4368" cy="1064"/>
          </a:xfrm>
        </p:grpSpPr>
        <p:sp>
          <p:nvSpPr>
            <p:cNvPr id="11271" name="Text Box 9"/>
            <p:cNvSpPr txBox="1">
              <a:spLocks noChangeArrowheads="1"/>
            </p:cNvSpPr>
            <p:nvPr>
              <p:custDataLst>
                <p:tags r:id="rId7"/>
              </p:custDataLst>
            </p:nvPr>
          </p:nvSpPr>
          <p:spPr bwMode="auto">
            <a:xfrm>
              <a:off x="720" y="2684"/>
              <a:ext cx="230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70C0"/>
                  </a:solidFill>
                  <a:latin typeface="黑体" panose="02010609060101010101" pitchFamily="49" charset="-122"/>
                  <a:ea typeface="黑体" panose="02010609060101010101" pitchFamily="49" charset="-122"/>
                </a:rPr>
                <a:t>哈宁</a:t>
              </a:r>
              <a:r>
                <a:rPr kumimoji="1" lang="en-US" altLang="zh-CN" sz="2400" b="1">
                  <a:solidFill>
                    <a:schemeClr val="tx2"/>
                  </a:solidFill>
                </a:rPr>
                <a:t>（Hanning）</a:t>
              </a:r>
              <a:r>
                <a:rPr kumimoji="1" lang="zh-CN" altLang="en-US" sz="2400" b="1">
                  <a:solidFill>
                    <a:schemeClr val="tx2"/>
                  </a:solidFill>
                </a:rPr>
                <a:t>窗</a:t>
              </a:r>
              <a:endParaRPr kumimoji="1" lang="en-US" altLang="zh-CN" sz="2400" b="1">
                <a:solidFill>
                  <a:schemeClr val="tx2"/>
                </a:solidFill>
              </a:endParaRPr>
            </a:p>
          </p:txBody>
        </p:sp>
        <p:graphicFrame>
          <p:nvGraphicFramePr>
            <p:cNvPr id="11272" name="Object 10"/>
            <p:cNvGraphicFramePr>
              <a:graphicFrameLocks noChangeAspect="1"/>
            </p:cNvGraphicFramePr>
            <p:nvPr>
              <p:custDataLst>
                <p:tags r:id="rId8"/>
              </p:custDataLst>
            </p:nvPr>
          </p:nvGraphicFramePr>
          <p:xfrm>
            <a:off x="720" y="3068"/>
            <a:ext cx="4368" cy="680"/>
          </p:xfrm>
          <a:graphic>
            <a:graphicData uri="http://schemas.openxmlformats.org/presentationml/2006/ole">
              <mc:AlternateContent xmlns:mc="http://schemas.openxmlformats.org/markup-compatibility/2006">
                <mc:Choice xmlns:v="urn:schemas-microsoft-com:vml" Requires="v">
                  <p:oleObj spid="_x0000_s11290" name="" r:id="rId9" imgW="2933700" imgH="457200" progId="Equation.3">
                    <p:embed/>
                  </p:oleObj>
                </mc:Choice>
                <mc:Fallback>
                  <p:oleObj name="" r:id="rId9" imgW="2933700" imgH="457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 y="3068"/>
                          <a:ext cx="4368"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13315" name="Rectangle 3"/>
          <p:cNvSpPr>
            <a:spLocks noChangeArrowheads="1"/>
          </p:cNvSpPr>
          <p:nvPr/>
        </p:nvSpPr>
        <p:spPr bwMode="auto">
          <a:xfrm>
            <a:off x="297180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316" name="Rectangle 7"/>
          <p:cNvSpPr>
            <a:spLocks noChangeArrowheads="1"/>
          </p:cNvSpPr>
          <p:nvPr/>
        </p:nvSpPr>
        <p:spPr bwMode="auto">
          <a:xfrm>
            <a:off x="310515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13317"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76475" y="1557338"/>
            <a:ext cx="459105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8"/>
          <p:cNvSpPr>
            <a:spLocks noChangeArrowheads="1"/>
          </p:cNvSpPr>
          <p:nvPr/>
        </p:nvSpPr>
        <p:spPr bwMode="auto">
          <a:xfrm>
            <a:off x="381000" y="5356225"/>
            <a:ext cx="815975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800" b="1">
                <a:solidFill>
                  <a:schemeClr val="tx2"/>
                </a:solidFill>
              </a:rPr>
              <a:t>    在进行频率分析（</a:t>
            </a:r>
            <a:r>
              <a:rPr kumimoji="1" lang="en-US" altLang="zh-CN" sz="2800" b="1">
                <a:solidFill>
                  <a:schemeClr val="tx2"/>
                </a:solidFill>
              </a:rPr>
              <a:t>FFT</a:t>
            </a:r>
            <a:r>
              <a:rPr kumimoji="1" lang="zh-CN" altLang="en-US" sz="2800" b="1">
                <a:solidFill>
                  <a:schemeClr val="tx2"/>
                </a:solidFill>
              </a:rPr>
              <a:t>）时，加窗让帧信号具有</a:t>
            </a:r>
            <a:r>
              <a:rPr kumimoji="1" lang="zh-CN" altLang="en-US" sz="2800" b="1">
                <a:solidFill>
                  <a:srgbClr val="0070C0"/>
                </a:solidFill>
                <a:latin typeface="黑体" panose="02010609060101010101" pitchFamily="49" charset="-122"/>
                <a:ea typeface="黑体" panose="02010609060101010101" pitchFamily="49" charset="-122"/>
              </a:rPr>
              <a:t>周期性</a:t>
            </a:r>
            <a:r>
              <a:rPr kumimoji="1" lang="zh-CN" altLang="en-US" sz="2800" b="1">
                <a:solidFill>
                  <a:schemeClr val="tx2"/>
                </a:solidFill>
              </a:rPr>
              <a:t>，平滑不连续点，消除</a:t>
            </a:r>
            <a:r>
              <a:rPr kumimoji="1" lang="zh-CN" altLang="en-US" sz="2800">
                <a:solidFill>
                  <a:srgbClr val="0070C0"/>
                </a:solidFill>
                <a:latin typeface="黑体" panose="02010609060101010101" pitchFamily="49" charset="-122"/>
                <a:ea typeface="黑体" panose="02010609060101010101" pitchFamily="49" charset="-122"/>
              </a:rPr>
              <a:t>吉布斯效应</a:t>
            </a:r>
            <a:r>
              <a:rPr kumimoji="1" lang="zh-CN" altLang="en-US" sz="2800" b="1">
                <a:solidFill>
                  <a:schemeClr val="tx2"/>
                </a:solidFill>
              </a:rPr>
              <a:t>的影响</a:t>
            </a:r>
            <a:endParaRPr kumimoji="1" lang="zh-CN" altLang="en-US" sz="2800" b="1">
              <a:solidFill>
                <a:schemeClr val="tx2"/>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2852738"/>
            <a:ext cx="8229600" cy="1143000"/>
          </a:xfrm>
        </p:spPr>
        <p:txBody>
          <a:bodyPr/>
          <a:lstStyle/>
          <a:p>
            <a:pPr eaLnBrk="1" hangingPunct="1"/>
            <a:r>
              <a:rPr lang="zh-CN" altLang="en-US" sz="5400">
                <a:solidFill>
                  <a:schemeClr val="hlink"/>
                </a:solidFill>
                <a:ea typeface="隶书" panose="02010509060101010101" pitchFamily="49" charset="-122"/>
              </a:rPr>
              <a:t>特征的时域分析方法</a:t>
            </a:r>
            <a:endParaRPr lang="en-US" altLang="zh-CN" sz="5400">
              <a:solidFill>
                <a:schemeClr val="hlink"/>
              </a:solidFill>
              <a:ea typeface="隶书" panose="020105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34499" name="Rectangle 3"/>
          <p:cNvSpPr>
            <a:spLocks noGrp="1" noChangeArrowheads="1"/>
          </p:cNvSpPr>
          <p:nvPr>
            <p:ph type="body" idx="1"/>
          </p:nvPr>
        </p:nvSpPr>
        <p:spPr>
          <a:xfrm>
            <a:off x="685800" y="1803400"/>
            <a:ext cx="7924800" cy="2057400"/>
          </a:xfrm>
        </p:spPr>
        <p:txBody>
          <a:bodyPr/>
          <a:lstStyle/>
          <a:p>
            <a:pPr eaLnBrk="1" hangingPunct="1">
              <a:lnSpc>
                <a:spcPct val="90000"/>
              </a:lnSpc>
              <a:buFontTx/>
              <a:buNone/>
            </a:pPr>
            <a:endParaRPr lang="zh-CN" altLang="en-US" sz="2800" b="1">
              <a:solidFill>
                <a:schemeClr val="tx2"/>
              </a:solidFill>
            </a:endParaRPr>
          </a:p>
          <a:p>
            <a:pPr eaLnBrk="1" hangingPunct="1">
              <a:lnSpc>
                <a:spcPct val="90000"/>
              </a:lnSpc>
              <a:buClr>
                <a:srgbClr val="9900FF"/>
              </a:buClr>
              <a:buFont typeface="Wingdings" panose="05000000000000000000" pitchFamily="2" charset="2"/>
              <a:buChar char="Ø"/>
            </a:pPr>
            <a:r>
              <a:rPr lang="zh-CN" altLang="en-US" sz="2800" b="1">
                <a:solidFill>
                  <a:schemeClr val="tx2"/>
                </a:solidFill>
                <a:ea typeface="黑体" panose="02010609060101010101" pitchFamily="49" charset="-122"/>
              </a:rPr>
              <a:t>短时能量、短时平均幅度和短时过零率</a:t>
            </a:r>
            <a:endParaRPr lang="zh-CN" altLang="en-US" sz="2800" b="1">
              <a:solidFill>
                <a:schemeClr val="tx2"/>
              </a:solidFill>
              <a:ea typeface="黑体" panose="02010609060101010101" pitchFamily="49" charset="-122"/>
            </a:endParaRPr>
          </a:p>
          <a:p>
            <a:pPr eaLnBrk="1" hangingPunct="1">
              <a:spcBef>
                <a:spcPct val="60000"/>
              </a:spcBef>
            </a:pPr>
            <a:r>
              <a:rPr lang="zh-CN" altLang="en-US" sz="2800" b="1">
                <a:solidFill>
                  <a:srgbClr val="0070C0"/>
                </a:solidFill>
                <a:latin typeface="黑体" panose="02010609060101010101" pitchFamily="49" charset="-122"/>
                <a:ea typeface="黑体" panose="02010609060101010101" pitchFamily="49" charset="-122"/>
              </a:rPr>
              <a:t>短时能量</a:t>
            </a:r>
            <a:endParaRPr lang="zh-CN" altLang="en-US" sz="2800" b="1">
              <a:solidFill>
                <a:srgbClr val="0070C0"/>
              </a:solidFill>
              <a:latin typeface="黑体" panose="02010609060101010101" pitchFamily="49" charset="-122"/>
              <a:ea typeface="黑体" panose="02010609060101010101" pitchFamily="49" charset="-122"/>
            </a:endParaRPr>
          </a:p>
          <a:p>
            <a:pPr eaLnBrk="1" hangingPunct="1">
              <a:lnSpc>
                <a:spcPct val="90000"/>
              </a:lnSpc>
              <a:buFontTx/>
              <a:buNone/>
            </a:pPr>
            <a:endParaRPr lang="zh-CN" altLang="en-US" sz="2800" b="1">
              <a:solidFill>
                <a:schemeClr val="tx2"/>
              </a:solidFill>
            </a:endParaRPr>
          </a:p>
          <a:p>
            <a:pPr eaLnBrk="1" hangingPunct="1">
              <a:lnSpc>
                <a:spcPct val="90000"/>
              </a:lnSpc>
              <a:buFontTx/>
              <a:buNone/>
            </a:pPr>
            <a:r>
              <a:rPr lang="zh-CN" altLang="en-US" sz="2800" b="1">
                <a:solidFill>
                  <a:schemeClr val="tx2"/>
                </a:solidFill>
              </a:rPr>
              <a:t>       </a:t>
            </a:r>
            <a:endParaRPr lang="zh-CN" altLang="en-US" sz="2800" b="1">
              <a:solidFill>
                <a:schemeClr val="tx2"/>
              </a:solidFill>
            </a:endParaRPr>
          </a:p>
        </p:txBody>
      </p:sp>
      <p:sp>
        <p:nvSpPr>
          <p:cNvPr id="234501" name="Rectangle 5"/>
          <p:cNvSpPr>
            <a:spLocks noChangeArrowheads="1"/>
          </p:cNvSpPr>
          <p:nvPr/>
        </p:nvSpPr>
        <p:spPr bwMode="auto">
          <a:xfrm>
            <a:off x="609600" y="4652963"/>
            <a:ext cx="7924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None/>
            </a:pPr>
            <a:r>
              <a:rPr kumimoji="1" lang="zh-CN" altLang="en-US" sz="2800" b="1">
                <a:solidFill>
                  <a:schemeClr val="tx2"/>
                </a:solidFill>
              </a:rPr>
              <a:t>    短时能量可用于</a:t>
            </a:r>
            <a:r>
              <a:rPr kumimoji="1" lang="zh-CN" altLang="en-US" sz="2800" b="1">
                <a:solidFill>
                  <a:srgbClr val="0070C0"/>
                </a:solidFill>
                <a:latin typeface="黑体" panose="02010609060101010101" pitchFamily="49" charset="-122"/>
                <a:ea typeface="黑体" panose="02010609060101010101" pitchFamily="49" charset="-122"/>
              </a:rPr>
              <a:t>清浊判决</a:t>
            </a:r>
            <a:r>
              <a:rPr kumimoji="1" lang="zh-CN" altLang="en-US" sz="2800" b="1">
                <a:solidFill>
                  <a:schemeClr val="tx2"/>
                </a:solidFill>
              </a:rPr>
              <a:t>、</a:t>
            </a:r>
            <a:r>
              <a:rPr kumimoji="1" lang="zh-CN" altLang="en-US" sz="2800" b="1">
                <a:solidFill>
                  <a:srgbClr val="0070C0"/>
                </a:solidFill>
                <a:latin typeface="黑体" panose="02010609060101010101" pitchFamily="49" charset="-122"/>
                <a:ea typeface="黑体" panose="02010609060101010101" pitchFamily="49" charset="-122"/>
              </a:rPr>
              <a:t>有声段和无声段</a:t>
            </a:r>
            <a:r>
              <a:rPr kumimoji="1" lang="zh-CN" altLang="en-US" sz="2800" b="1">
                <a:solidFill>
                  <a:schemeClr val="tx1"/>
                </a:solidFill>
                <a:latin typeface="宋体" panose="02010600030101010101" pitchFamily="2" charset="-122"/>
              </a:rPr>
              <a:t>进行判定</a:t>
            </a:r>
            <a:r>
              <a:rPr kumimoji="1" lang="zh-CN" altLang="en-US" sz="2800" b="1">
                <a:solidFill>
                  <a:schemeClr val="tx2"/>
                </a:solidFill>
                <a:latin typeface="宋体" panose="02010600030101010101" pitchFamily="2" charset="-122"/>
              </a:rPr>
              <a:t>、对</a:t>
            </a:r>
            <a:r>
              <a:rPr kumimoji="1" lang="zh-CN" altLang="en-US" sz="2800" b="1">
                <a:solidFill>
                  <a:srgbClr val="0070C0"/>
                </a:solidFill>
                <a:latin typeface="黑体" panose="02010609060101010101" pitchFamily="49" charset="-122"/>
                <a:ea typeface="黑体" panose="02010609060101010101" pitchFamily="49" charset="-122"/>
              </a:rPr>
              <a:t>声母和韵母</a:t>
            </a:r>
            <a:r>
              <a:rPr kumimoji="1" lang="zh-CN" altLang="en-US" sz="2800" b="1">
                <a:solidFill>
                  <a:schemeClr val="tx1"/>
                </a:solidFill>
                <a:latin typeface="宋体" panose="02010600030101010101" pitchFamily="2" charset="-122"/>
              </a:rPr>
              <a:t>分界</a:t>
            </a:r>
            <a:r>
              <a:rPr kumimoji="1" lang="zh-CN" altLang="en-US" sz="2800" b="1">
                <a:solidFill>
                  <a:schemeClr val="tx2"/>
                </a:solidFill>
                <a:latin typeface="宋体" panose="02010600030101010101" pitchFamily="2" charset="-122"/>
              </a:rPr>
              <a:t>，以及</a:t>
            </a:r>
            <a:r>
              <a:rPr kumimoji="1" lang="zh-CN" altLang="en-US" sz="2800" b="1">
                <a:solidFill>
                  <a:srgbClr val="0070C0"/>
                </a:solidFill>
                <a:latin typeface="黑体" panose="02010609060101010101" pitchFamily="49" charset="-122"/>
                <a:ea typeface="黑体" panose="02010609060101010101" pitchFamily="49" charset="-122"/>
              </a:rPr>
              <a:t>连字</a:t>
            </a:r>
            <a:r>
              <a:rPr kumimoji="1" lang="zh-CN" altLang="en-US" sz="2800" b="1">
                <a:solidFill>
                  <a:schemeClr val="tx1"/>
                </a:solidFill>
                <a:latin typeface="宋体" panose="02010600030101010101" pitchFamily="2" charset="-122"/>
              </a:rPr>
              <a:t>的分界</a:t>
            </a:r>
            <a:r>
              <a:rPr kumimoji="1" lang="zh-CN" altLang="en-US" sz="2800" b="1">
                <a:solidFill>
                  <a:schemeClr val="tx2"/>
                </a:solidFill>
                <a:latin typeface="宋体" panose="02010600030101010101" pitchFamily="2" charset="-122"/>
              </a:rPr>
              <a:t>等。经常是识别系统中</a:t>
            </a:r>
            <a:r>
              <a:rPr kumimoji="1" lang="zh-CN" altLang="en-US" sz="2800" b="1">
                <a:solidFill>
                  <a:schemeClr val="tx1"/>
                </a:solidFill>
                <a:latin typeface="宋体" panose="02010600030101010101" pitchFamily="2" charset="-122"/>
              </a:rPr>
              <a:t>特征的一维</a:t>
            </a:r>
            <a:r>
              <a:rPr kumimoji="1" lang="zh-CN" altLang="en-US" sz="2800" b="1">
                <a:solidFill>
                  <a:schemeClr val="tx2"/>
                </a:solidFill>
                <a:latin typeface="宋体" panose="02010600030101010101" pitchFamily="2" charset="-122"/>
              </a:rPr>
              <a:t>。</a:t>
            </a:r>
            <a:r>
              <a:rPr kumimoji="1" lang="zh-CN" altLang="en-US" sz="2800" b="1">
                <a:solidFill>
                  <a:schemeClr val="tx2"/>
                </a:solidFill>
              </a:rPr>
              <a:t>       </a:t>
            </a:r>
            <a:endParaRPr kumimoji="1" lang="zh-CN" altLang="en-US" sz="2800" b="1">
              <a:solidFill>
                <a:schemeClr val="tx2"/>
              </a:solidFill>
            </a:endParaRPr>
          </a:p>
        </p:txBody>
      </p:sp>
      <p:sp>
        <p:nvSpPr>
          <p:cNvPr id="16389" name="Rectangle 6"/>
          <p:cNvSpPr>
            <a:spLocks noChangeArrowheads="1"/>
          </p:cNvSpPr>
          <p:nvPr/>
        </p:nvSpPr>
        <p:spPr bwMode="auto">
          <a:xfrm>
            <a:off x="415290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4503" name="Object 7"/>
          <p:cNvGraphicFramePr>
            <a:graphicFrameLocks noChangeAspect="1"/>
          </p:cNvGraphicFramePr>
          <p:nvPr/>
        </p:nvGraphicFramePr>
        <p:xfrm>
          <a:off x="3408363" y="3429000"/>
          <a:ext cx="2554287" cy="804863"/>
        </p:xfrm>
        <a:graphic>
          <a:graphicData uri="http://schemas.openxmlformats.org/presentationml/2006/ole">
            <mc:AlternateContent xmlns:mc="http://schemas.openxmlformats.org/markup-compatibility/2006">
              <mc:Choice xmlns:v="urn:schemas-microsoft-com:vml" Requires="v">
                <p:oleObj spid="_x0000_s16398" name="公式" r:id="rId1" imgW="1358265" imgH="431800" progId="Equation.3">
                  <p:embed/>
                </p:oleObj>
              </mc:Choice>
              <mc:Fallback>
                <p:oleObj name="公式" r:id="rId1" imgW="1358265" imgH="431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363" y="3429000"/>
                        <a:ext cx="2554287"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4499">
                                            <p:txEl>
                                              <p:pRg st="2" end="2"/>
                                            </p:txEl>
                                          </p:spTgt>
                                        </p:tgtEl>
                                        <p:attrNameLst>
                                          <p:attrName>style.visibility</p:attrName>
                                        </p:attrNameLst>
                                      </p:cBhvr>
                                      <p:to>
                                        <p:strVal val="visible"/>
                                      </p:to>
                                    </p:set>
                                    <p:animEffect transition="in" filter="wipe(up)">
                                      <p:cBhvr>
                                        <p:cTn id="7" dur="500"/>
                                        <p:tgtEl>
                                          <p:spTgt spid="234499">
                                            <p:txEl>
                                              <p:pRg st="2" end="2"/>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34503"/>
                                        </p:tgtEl>
                                        <p:attrNameLst>
                                          <p:attrName>style.visibility</p:attrName>
                                        </p:attrNameLst>
                                      </p:cBhvr>
                                      <p:to>
                                        <p:strVal val="visible"/>
                                      </p:to>
                                    </p:set>
                                    <p:animEffect transition="in" filter="wipe(up)">
                                      <p:cBhvr>
                                        <p:cTn id="10" dur="500"/>
                                        <p:tgtEl>
                                          <p:spTgt spid="23450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34501">
                                            <p:txEl>
                                              <p:pRg st="0" end="0"/>
                                            </p:txEl>
                                          </p:spTgt>
                                        </p:tgtEl>
                                        <p:attrNameLst>
                                          <p:attrName>style.visibility</p:attrName>
                                        </p:attrNameLst>
                                      </p:cBhvr>
                                      <p:to>
                                        <p:strVal val="visible"/>
                                      </p:to>
                                    </p:set>
                                    <p:animEffect transition="in" filter="wipe(up)">
                                      <p:cBhvr>
                                        <p:cTn id="15" dur="500"/>
                                        <p:tgtEl>
                                          <p:spTgt spid="2345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autoUpdateAnimBg="0" uiExpand="1" build="p"/>
      <p:bldP spid="234501" grpId="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36547" name="Rectangle 3"/>
          <p:cNvSpPr>
            <a:spLocks noGrp="1" noChangeArrowheads="1"/>
          </p:cNvSpPr>
          <p:nvPr>
            <p:ph type="body" idx="1"/>
          </p:nvPr>
        </p:nvSpPr>
        <p:spPr>
          <a:xfrm>
            <a:off x="457200" y="1684338"/>
            <a:ext cx="8229600" cy="585787"/>
          </a:xfrm>
        </p:spPr>
        <p:txBody>
          <a:bodyPr/>
          <a:lstStyle/>
          <a:p>
            <a:pPr eaLnBrk="1" hangingPunct="1"/>
            <a:r>
              <a:rPr lang="zh-CN" altLang="en-US" sz="2800" b="1">
                <a:solidFill>
                  <a:srgbClr val="0070C0"/>
                </a:solidFill>
                <a:latin typeface="黑体" panose="02010609060101010101" pitchFamily="49" charset="-122"/>
                <a:ea typeface="黑体" panose="02010609060101010101" pitchFamily="49" charset="-122"/>
              </a:rPr>
              <a:t>短时平均幅度</a:t>
            </a:r>
            <a:endParaRPr lang="zh-CN" altLang="en-US" sz="2800" b="1">
              <a:solidFill>
                <a:srgbClr val="0070C0"/>
              </a:solidFill>
              <a:latin typeface="黑体" panose="02010609060101010101" pitchFamily="49" charset="-122"/>
              <a:ea typeface="黑体" panose="02010609060101010101" pitchFamily="49" charset="-122"/>
            </a:endParaRPr>
          </a:p>
          <a:p>
            <a:pPr eaLnBrk="1" hangingPunct="1">
              <a:buFontTx/>
              <a:buNone/>
            </a:pPr>
            <a:endParaRPr lang="zh-CN" altLang="en-US" sz="2800" b="1">
              <a:solidFill>
                <a:srgbClr val="0070C0"/>
              </a:solidFill>
              <a:latin typeface="黑体" panose="02010609060101010101" pitchFamily="49" charset="-122"/>
              <a:ea typeface="黑体" panose="02010609060101010101" pitchFamily="49" charset="-122"/>
            </a:endParaRPr>
          </a:p>
        </p:txBody>
      </p:sp>
      <p:sp>
        <p:nvSpPr>
          <p:cNvPr id="18436" name="Rectangle 4"/>
          <p:cNvSpPr>
            <a:spLocks noChangeArrowheads="1"/>
          </p:cNvSpPr>
          <p:nvPr/>
        </p:nvSpPr>
        <p:spPr bwMode="auto">
          <a:xfrm>
            <a:off x="335756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6549" name="Object 5"/>
          <p:cNvGraphicFramePr>
            <a:graphicFrameLocks noChangeAspect="1"/>
          </p:cNvGraphicFramePr>
          <p:nvPr/>
        </p:nvGraphicFramePr>
        <p:xfrm>
          <a:off x="2595563" y="2349500"/>
          <a:ext cx="2049462" cy="842963"/>
        </p:xfrm>
        <a:graphic>
          <a:graphicData uri="http://schemas.openxmlformats.org/presentationml/2006/ole">
            <mc:AlternateContent xmlns:mc="http://schemas.openxmlformats.org/markup-compatibility/2006">
              <mc:Choice xmlns:v="urn:schemas-microsoft-com:vml" Requires="v">
                <p:oleObj spid="_x0000_s18476" name="公式" r:id="rId1" imgW="1040765" imgH="431800" progId="Equation.3">
                  <p:embed/>
                </p:oleObj>
              </mc:Choice>
              <mc:Fallback>
                <p:oleObj name="公式" r:id="rId1" imgW="1040765"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3" y="2349500"/>
                        <a:ext cx="2049462"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8" name="Rectangle 6"/>
          <p:cNvSpPr>
            <a:spLocks noChangeArrowheads="1"/>
          </p:cNvSpPr>
          <p:nvPr/>
        </p:nvSpPr>
        <p:spPr bwMode="auto">
          <a:xfrm>
            <a:off x="3148013"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7"/>
          <p:cNvGrpSpPr/>
          <p:nvPr/>
        </p:nvGrpSpPr>
        <p:grpSpPr bwMode="auto">
          <a:xfrm>
            <a:off x="468313" y="3429000"/>
            <a:ext cx="7772400" cy="1724025"/>
            <a:chOff x="480" y="2160"/>
            <a:chExt cx="4896" cy="1086"/>
          </a:xfrm>
        </p:grpSpPr>
        <p:sp>
          <p:nvSpPr>
            <p:cNvPr id="18446" name="Rectangle 8"/>
            <p:cNvSpPr>
              <a:spLocks noChangeArrowheads="1"/>
            </p:cNvSpPr>
            <p:nvPr/>
          </p:nvSpPr>
          <p:spPr bwMode="auto">
            <a:xfrm>
              <a:off x="480" y="2160"/>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70C0"/>
                  </a:solidFill>
                  <a:latin typeface="黑体" panose="02010609060101010101" pitchFamily="49" charset="-122"/>
                  <a:ea typeface="黑体" panose="02010609060101010101" pitchFamily="49" charset="-122"/>
                </a:rPr>
                <a:t>短时过零率</a:t>
              </a:r>
              <a:r>
                <a:rPr kumimoji="1" lang="zh-CN" altLang="en-US" sz="2800" b="1">
                  <a:solidFill>
                    <a:schemeClr val="tx2"/>
                  </a:solidFill>
                  <a:latin typeface="Times New Roman" panose="02020603050405020304" pitchFamily="18" charset="0"/>
                </a:rPr>
                <a:t>：单位时间内过零发生的次数。</a:t>
              </a:r>
              <a:endParaRPr kumimoji="1" lang="zh-CN" altLang="en-US" sz="2800" b="1">
                <a:solidFill>
                  <a:schemeClr val="tx2"/>
                </a:solidFill>
                <a:latin typeface="Times New Roman" panose="02020603050405020304" pitchFamily="18" charset="0"/>
              </a:endParaRPr>
            </a:p>
            <a:p>
              <a:pPr eaLnBrk="1" hangingPunct="1">
                <a:buSzPct val="80000"/>
                <a:buFontTx/>
                <a:buNone/>
              </a:pPr>
              <a:endParaRPr kumimoji="1" lang="en-US" altLang="zh-CN" sz="2800" b="1">
                <a:solidFill>
                  <a:schemeClr val="tx2"/>
                </a:solidFill>
                <a:latin typeface="Times New Roman" panose="02020603050405020304" pitchFamily="18" charset="0"/>
              </a:endParaRPr>
            </a:p>
          </p:txBody>
        </p:sp>
        <p:graphicFrame>
          <p:nvGraphicFramePr>
            <p:cNvPr id="18447" name="Object 9"/>
            <p:cNvGraphicFramePr>
              <a:graphicFrameLocks noChangeAspect="1"/>
            </p:cNvGraphicFramePr>
            <p:nvPr/>
          </p:nvGraphicFramePr>
          <p:xfrm>
            <a:off x="1477" y="2523"/>
            <a:ext cx="2821" cy="723"/>
          </p:xfrm>
          <a:graphic>
            <a:graphicData uri="http://schemas.openxmlformats.org/presentationml/2006/ole">
              <mc:AlternateContent xmlns:mc="http://schemas.openxmlformats.org/markup-compatibility/2006">
                <mc:Choice xmlns:v="urn:schemas-microsoft-com:vml" Requires="v">
                  <p:oleObj spid="_x0000_s18477" name="公式" r:id="rId3" imgW="2463800" imgH="635000" progId="Equation.3">
                    <p:embed/>
                  </p:oleObj>
                </mc:Choice>
                <mc:Fallback>
                  <p:oleObj name="公式" r:id="rId3" imgW="2463800" imgH="6350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 y="2523"/>
                          <a:ext cx="2821" cy="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440" name="Rectangle 10"/>
          <p:cNvSpPr>
            <a:spLocks noChangeArrowheads="1"/>
          </p:cNvSpPr>
          <p:nvPr/>
        </p:nvSpPr>
        <p:spPr bwMode="auto">
          <a:xfrm>
            <a:off x="374808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8441" name="Rectangle 11"/>
          <p:cNvSpPr>
            <a:spLocks noChangeArrowheads="1"/>
          </p:cNvSpPr>
          <p:nvPr/>
        </p:nvSpPr>
        <p:spPr bwMode="auto">
          <a:xfrm>
            <a:off x="376713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12"/>
          <p:cNvGrpSpPr/>
          <p:nvPr/>
        </p:nvGrpSpPr>
        <p:grpSpPr bwMode="auto">
          <a:xfrm>
            <a:off x="1127125" y="5049838"/>
            <a:ext cx="7370763" cy="1350962"/>
            <a:chOff x="710" y="3181"/>
            <a:chExt cx="4643" cy="851"/>
          </a:xfrm>
        </p:grpSpPr>
        <p:graphicFrame>
          <p:nvGraphicFramePr>
            <p:cNvPr id="18443" name="Object 13"/>
            <p:cNvGraphicFramePr>
              <a:graphicFrameLocks noChangeAspect="1"/>
            </p:cNvGraphicFramePr>
            <p:nvPr/>
          </p:nvGraphicFramePr>
          <p:xfrm>
            <a:off x="816" y="3459"/>
            <a:ext cx="2064" cy="573"/>
          </p:xfrm>
          <a:graphic>
            <a:graphicData uri="http://schemas.openxmlformats.org/presentationml/2006/ole">
              <mc:AlternateContent xmlns:mc="http://schemas.openxmlformats.org/markup-compatibility/2006">
                <mc:Choice xmlns:v="urn:schemas-microsoft-com:vml" Requires="v">
                  <p:oleObj spid="_x0000_s18478" name="" r:id="rId5" imgW="1651000" imgH="457200" progId="Equation.3">
                    <p:embed/>
                  </p:oleObj>
                </mc:Choice>
                <mc:Fallback>
                  <p:oleObj name="" r:id="rId5" imgW="1651000" imgH="4572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 y="3459"/>
                          <a:ext cx="2064"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4" name="Object 14"/>
            <p:cNvGraphicFramePr>
              <a:graphicFrameLocks noChangeAspect="1"/>
            </p:cNvGraphicFramePr>
            <p:nvPr/>
          </p:nvGraphicFramePr>
          <p:xfrm>
            <a:off x="3001" y="3459"/>
            <a:ext cx="2352" cy="573"/>
          </p:xfrm>
          <a:graphic>
            <a:graphicData uri="http://schemas.openxmlformats.org/presentationml/2006/ole">
              <mc:AlternateContent xmlns:mc="http://schemas.openxmlformats.org/markup-compatibility/2006">
                <mc:Choice xmlns:v="urn:schemas-microsoft-com:vml" Requires="v">
                  <p:oleObj spid="_x0000_s18479" name="Equation" r:id="rId7" imgW="1879600" imgH="457200" progId="Equation.3">
                    <p:embed/>
                  </p:oleObj>
                </mc:Choice>
                <mc:Fallback>
                  <p:oleObj name="Equation" r:id="rId7" imgW="1879600" imgH="4572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1" y="3459"/>
                          <a:ext cx="2352" cy="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5" name="Text Box 15"/>
            <p:cNvSpPr txBox="1">
              <a:spLocks noChangeArrowheads="1"/>
            </p:cNvSpPr>
            <p:nvPr/>
          </p:nvSpPr>
          <p:spPr bwMode="auto">
            <a:xfrm>
              <a:off x="710" y="31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式中</a:t>
              </a:r>
              <a:endParaRPr kumimoji="1" lang="zh-CN" altLang="en-US" sz="2400" b="1">
                <a:solidFill>
                  <a:schemeClr val="tx2"/>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Effect transition="in" filter="wipe(up)">
                                      <p:cBhvr>
                                        <p:cTn id="7" dur="500"/>
                                        <p:tgtEl>
                                          <p:spTgt spid="236547">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36549"/>
                                        </p:tgtEl>
                                        <p:attrNameLst>
                                          <p:attrName>style.visibility</p:attrName>
                                        </p:attrNameLst>
                                      </p:cBhvr>
                                      <p:to>
                                        <p:strVal val="visible"/>
                                      </p:to>
                                    </p:set>
                                    <p:animEffect transition="in" filter="wipe(up)">
                                      <p:cBhvr>
                                        <p:cTn id="10" dur="500"/>
                                        <p:tgtEl>
                                          <p:spTgt spid="23654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38595" name="Rectangle 3"/>
          <p:cNvSpPr>
            <a:spLocks noGrp="1" noChangeArrowheads="1"/>
          </p:cNvSpPr>
          <p:nvPr>
            <p:ph type="body" idx="1"/>
          </p:nvPr>
        </p:nvSpPr>
        <p:spPr>
          <a:xfrm>
            <a:off x="457200" y="1600200"/>
            <a:ext cx="8229600" cy="503238"/>
          </a:xfrm>
        </p:spPr>
        <p:txBody>
          <a:bodyPr/>
          <a:lstStyle/>
          <a:p>
            <a:pPr eaLnBrk="1" hangingPunct="1">
              <a:lnSpc>
                <a:spcPct val="90000"/>
              </a:lnSpc>
            </a:pPr>
            <a:r>
              <a:rPr lang="zh-CN" altLang="en-US" sz="2800" b="1">
                <a:solidFill>
                  <a:schemeClr val="tx2"/>
                </a:solidFill>
                <a:latin typeface="宋体" panose="02010600030101010101" pitchFamily="2" charset="-122"/>
              </a:rPr>
              <a:t>短时平均过零率容易受到噪声的干扰</a:t>
            </a:r>
            <a:r>
              <a:rPr lang="zh-CN" altLang="en-US" sz="2800" b="1">
                <a:solidFill>
                  <a:schemeClr val="tx2"/>
                </a:solidFill>
                <a:latin typeface="Times New Roman" panose="02020603050405020304" pitchFamily="18" charset="0"/>
              </a:rPr>
              <a:t> ,因而提出了</a:t>
            </a:r>
            <a:r>
              <a:rPr lang="zh-CN" altLang="en-US" sz="2800" b="1">
                <a:solidFill>
                  <a:srgbClr val="0070C0"/>
                </a:solidFill>
                <a:latin typeface="黑体" panose="02010609060101010101" pitchFamily="49" charset="-122"/>
                <a:ea typeface="黑体" panose="02010609060101010101" pitchFamily="49" charset="-122"/>
              </a:rPr>
              <a:t>门限过零率</a:t>
            </a:r>
            <a:r>
              <a:rPr lang="zh-CN" altLang="en-US" sz="2800" b="1">
                <a:solidFill>
                  <a:schemeClr val="tx2"/>
                </a:solidFill>
                <a:latin typeface="Times New Roman" panose="02020603050405020304" pitchFamily="18" charset="0"/>
              </a:rPr>
              <a:t>的思想。</a:t>
            </a:r>
            <a:endParaRPr lang="en-US" altLang="zh-CN" sz="2800" b="1">
              <a:solidFill>
                <a:schemeClr val="tx2"/>
              </a:solidFill>
              <a:latin typeface="Times New Roman" panose="02020603050405020304" pitchFamily="18" charset="0"/>
            </a:endParaRPr>
          </a:p>
          <a:p>
            <a:pPr eaLnBrk="1" hangingPunct="1">
              <a:lnSpc>
                <a:spcPct val="90000"/>
              </a:lnSpc>
              <a:buFontTx/>
              <a:buNone/>
            </a:pPr>
            <a:endParaRPr lang="zh-CN" altLang="en-US" sz="2800" b="1">
              <a:solidFill>
                <a:schemeClr val="tx2"/>
              </a:solidFill>
              <a:latin typeface="Times New Roman" panose="02020603050405020304" pitchFamily="18" charset="0"/>
            </a:endParaRPr>
          </a:p>
        </p:txBody>
      </p:sp>
      <p:sp>
        <p:nvSpPr>
          <p:cNvPr id="20484" name="Rectangle 4"/>
          <p:cNvSpPr>
            <a:spLocks noChangeArrowheads="1"/>
          </p:cNvSpPr>
          <p:nvPr/>
        </p:nvSpPr>
        <p:spPr bwMode="auto">
          <a:xfrm>
            <a:off x="2400300" y="2614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8597" name="Object 5"/>
          <p:cNvGraphicFramePr>
            <a:graphicFrameLocks noChangeAspect="1"/>
          </p:cNvGraphicFramePr>
          <p:nvPr/>
        </p:nvGraphicFramePr>
        <p:xfrm>
          <a:off x="2057400" y="3024188"/>
          <a:ext cx="4343400" cy="1628775"/>
        </p:xfrm>
        <a:graphic>
          <a:graphicData uri="http://schemas.openxmlformats.org/presentationml/2006/ole">
            <mc:AlternateContent xmlns:mc="http://schemas.openxmlformats.org/markup-compatibility/2006">
              <mc:Choice xmlns:v="urn:schemas-microsoft-com:vml" Requires="v">
                <p:oleObj spid="_x0000_s20502" name="" r:id="rId1" imgW="4343400" imgH="1627505" progId="Word.Picture.8">
                  <p:embed/>
                </p:oleObj>
              </mc:Choice>
              <mc:Fallback>
                <p:oleObj name="" r:id="rId1" imgW="4343400" imgH="1627505" progId="Word.Picture.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024188"/>
                        <a:ext cx="43434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Rectangle 6"/>
          <p:cNvSpPr>
            <a:spLocks noChangeArrowheads="1"/>
          </p:cNvSpPr>
          <p:nvPr/>
        </p:nvSpPr>
        <p:spPr bwMode="auto">
          <a:xfrm>
            <a:off x="3062288"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38599" name="Object 7"/>
          <p:cNvGraphicFramePr>
            <a:graphicFrameLocks noChangeAspect="1"/>
          </p:cNvGraphicFramePr>
          <p:nvPr/>
        </p:nvGraphicFramePr>
        <p:xfrm>
          <a:off x="1557338" y="4876800"/>
          <a:ext cx="5722937" cy="1419225"/>
        </p:xfrm>
        <a:graphic>
          <a:graphicData uri="http://schemas.openxmlformats.org/presentationml/2006/ole">
            <mc:AlternateContent xmlns:mc="http://schemas.openxmlformats.org/markup-compatibility/2006">
              <mc:Choice xmlns:v="urn:schemas-microsoft-com:vml" Requires="v">
                <p:oleObj spid="_x0000_s20503" name="公式" r:id="rId3" imgW="2768600" imgH="685800" progId="Equation.3">
                  <p:embed/>
                </p:oleObj>
              </mc:Choice>
              <mc:Fallback>
                <p:oleObj name="公式" r:id="rId3" imgW="2768600" imgH="685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338" y="4876800"/>
                        <a:ext cx="5722937"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wipe(up)">
                                      <p:cBhvr>
                                        <p:cTn id="7" dur="500"/>
                                        <p:tgtEl>
                                          <p:spTgt spid="238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8597"/>
                                        </p:tgtEl>
                                        <p:attrNameLst>
                                          <p:attrName>style.visibility</p:attrName>
                                        </p:attrNameLst>
                                      </p:cBhvr>
                                      <p:to>
                                        <p:strVal val="visible"/>
                                      </p:to>
                                    </p:set>
                                    <p:animEffect transition="in" filter="wipe(up)">
                                      <p:cBhvr>
                                        <p:cTn id="12" dur="500"/>
                                        <p:tgtEl>
                                          <p:spTgt spid="2385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38599"/>
                                        </p:tgtEl>
                                        <p:attrNameLst>
                                          <p:attrName>style.visibility</p:attrName>
                                        </p:attrNameLst>
                                      </p:cBhvr>
                                      <p:to>
                                        <p:strVal val="visible"/>
                                      </p:to>
                                    </p:set>
                                    <p:animEffect transition="in" filter="wipe(up)">
                                      <p:cBhvr>
                                        <p:cTn id="17" dur="500"/>
                                        <p:tgtEl>
                                          <p:spTgt spid="238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40643" name="Rectangle 3"/>
          <p:cNvSpPr>
            <a:spLocks noGrp="1" noChangeArrowheads="1"/>
          </p:cNvSpPr>
          <p:nvPr>
            <p:ph type="body" idx="1"/>
          </p:nvPr>
        </p:nvSpPr>
        <p:spPr>
          <a:xfrm>
            <a:off x="381000" y="1828800"/>
            <a:ext cx="8439150" cy="4267200"/>
          </a:xfrm>
        </p:spPr>
        <p:txBody>
          <a:bodyPr/>
          <a:lstStyle/>
          <a:p>
            <a:pPr eaLnBrk="1" hangingPunct="1">
              <a:spcAft>
                <a:spcPct val="30000"/>
              </a:spcAft>
              <a:buClr>
                <a:srgbClr val="9900FF"/>
              </a:buClr>
              <a:buFont typeface="Wingdings" panose="05000000000000000000" pitchFamily="2" charset="2"/>
              <a:buChar char="Ø"/>
            </a:pPr>
            <a:r>
              <a:rPr lang="zh-CN" altLang="en-US" sz="2800" b="1">
                <a:solidFill>
                  <a:srgbClr val="0070C0"/>
                </a:solidFill>
                <a:latin typeface="黑体" panose="02010609060101010101" pitchFamily="49" charset="-122"/>
                <a:ea typeface="黑体" panose="02010609060101010101" pitchFamily="49" charset="-122"/>
              </a:rPr>
              <a:t>端点检测</a:t>
            </a:r>
            <a:r>
              <a:rPr lang="zh-CN" altLang="en-US" sz="2800" b="1">
                <a:solidFill>
                  <a:schemeClr val="tx2"/>
                </a:solidFill>
                <a:latin typeface="黑体" panose="02010609060101010101" pitchFamily="49" charset="-122"/>
                <a:ea typeface="黑体" panose="02010609060101010101" pitchFamily="49" charset="-122"/>
              </a:rPr>
              <a:t>-----能量过零率特征的应用示例</a:t>
            </a:r>
            <a:endParaRPr lang="zh-CN" altLang="en-US" sz="2800" b="1">
              <a:solidFill>
                <a:schemeClr val="tx2"/>
              </a:solidFill>
              <a:latin typeface="黑体" panose="02010609060101010101" pitchFamily="49" charset="-122"/>
              <a:ea typeface="黑体" panose="02010609060101010101" pitchFamily="49" charset="-122"/>
            </a:endParaRPr>
          </a:p>
          <a:p>
            <a:pPr eaLnBrk="1" latinLnBrk="0" hangingPunct="1">
              <a:lnSpc>
                <a:spcPct val="140000"/>
              </a:lnSpc>
              <a:spcBef>
                <a:spcPts val="0"/>
              </a:spcBef>
              <a:buFont typeface="Wingdings" panose="05000000000000000000" pitchFamily="2" charset="2"/>
              <a:buChar char="Ø"/>
            </a:pPr>
            <a:r>
              <a:rPr lang="zh-CN" altLang="en-US" sz="2800">
                <a:solidFill>
                  <a:schemeClr val="tx2"/>
                </a:solidFill>
                <a:latin typeface="华文细黑" panose="02010600040101010101" pitchFamily="2" charset="-122"/>
                <a:ea typeface="华文细黑" panose="02010600040101010101" pitchFamily="2" charset="-122"/>
              </a:rPr>
              <a:t>对于语音进行“浊音/清音/无声”的判定，找到</a:t>
            </a:r>
            <a:r>
              <a:rPr lang="zh-CN" altLang="en-US" sz="2800" b="1">
                <a:gradFill>
                  <a:gsLst>
                    <a:gs pos="0">
                      <a:srgbClr val="007BD3"/>
                    </a:gs>
                    <a:gs pos="100000">
                      <a:srgbClr val="034373"/>
                    </a:gs>
                  </a:gsLst>
                  <a:lin scaled="0"/>
                </a:gradFill>
                <a:latin typeface="华文细黑" panose="02010600040101010101" pitchFamily="2" charset="-122"/>
                <a:ea typeface="华文细黑" panose="02010600040101010101" pitchFamily="2" charset="-122"/>
              </a:rPr>
              <a:t>开始点</a:t>
            </a:r>
            <a:r>
              <a:rPr lang="zh-CN" altLang="en-US" sz="2800">
                <a:solidFill>
                  <a:schemeClr val="tx1"/>
                </a:solidFill>
                <a:latin typeface="华文细黑" panose="02010600040101010101" pitchFamily="2" charset="-122"/>
                <a:ea typeface="华文细黑" panose="02010600040101010101" pitchFamily="2" charset="-122"/>
              </a:rPr>
              <a:t>和</a:t>
            </a:r>
            <a:r>
              <a:rPr lang="zh-CN" altLang="en-US" sz="2800" b="1">
                <a:gradFill>
                  <a:gsLst>
                    <a:gs pos="0">
                      <a:srgbClr val="007BD3"/>
                    </a:gs>
                    <a:gs pos="100000">
                      <a:srgbClr val="034373"/>
                    </a:gs>
                  </a:gsLst>
                  <a:lin scaled="0"/>
                </a:gradFill>
                <a:latin typeface="华文细黑" panose="02010600040101010101" pitchFamily="2" charset="-122"/>
                <a:ea typeface="华文细黑" panose="02010600040101010101" pitchFamily="2" charset="-122"/>
              </a:rPr>
              <a:t>结束点</a:t>
            </a:r>
            <a:r>
              <a:rPr lang="zh-CN" altLang="en-US" sz="2800">
                <a:solidFill>
                  <a:schemeClr val="tx2"/>
                </a:solidFill>
                <a:latin typeface="华文细黑" panose="02010600040101010101" pitchFamily="2" charset="-122"/>
                <a:ea typeface="华文细黑" panose="02010600040101010101" pitchFamily="2" charset="-122"/>
              </a:rPr>
              <a:t>。</a:t>
            </a:r>
            <a:endParaRPr lang="zh-CN" altLang="en-US" sz="2800">
              <a:solidFill>
                <a:schemeClr val="tx2"/>
              </a:solidFill>
              <a:latin typeface="华文细黑" panose="02010600040101010101" pitchFamily="2" charset="-122"/>
              <a:ea typeface="华文细黑" panose="02010600040101010101" pitchFamily="2" charset="-122"/>
            </a:endParaRPr>
          </a:p>
          <a:p>
            <a:pPr eaLnBrk="1" latinLnBrk="0" hangingPunct="1">
              <a:lnSpc>
                <a:spcPct val="140000"/>
              </a:lnSpc>
              <a:spcBef>
                <a:spcPts val="0"/>
              </a:spcBef>
              <a:buFont typeface="Wingdings" panose="05000000000000000000" pitchFamily="2" charset="2"/>
              <a:buChar char="Ø"/>
            </a:pPr>
            <a:r>
              <a:rPr lang="zh-CN" altLang="en-US" sz="2800">
                <a:solidFill>
                  <a:schemeClr val="tx2"/>
                </a:solidFill>
                <a:latin typeface="华文细黑" panose="02010600040101010101" pitchFamily="2" charset="-122"/>
                <a:ea typeface="华文细黑" panose="02010600040101010101" pitchFamily="2" charset="-122"/>
              </a:rPr>
              <a:t>浊音的能量高于清音</a:t>
            </a:r>
            <a:endParaRPr lang="zh-CN" altLang="en-US" sz="2800">
              <a:solidFill>
                <a:schemeClr val="tx2"/>
              </a:solidFill>
              <a:latin typeface="华文细黑" panose="02010600040101010101" pitchFamily="2" charset="-122"/>
              <a:ea typeface="华文细黑" panose="02010600040101010101" pitchFamily="2" charset="-122"/>
            </a:endParaRPr>
          </a:p>
          <a:p>
            <a:pPr eaLnBrk="1" latinLnBrk="0" hangingPunct="1">
              <a:lnSpc>
                <a:spcPct val="140000"/>
              </a:lnSpc>
              <a:spcBef>
                <a:spcPts val="0"/>
              </a:spcBef>
              <a:buFont typeface="Wingdings" panose="05000000000000000000" pitchFamily="2" charset="2"/>
              <a:buChar char="Ø"/>
            </a:pPr>
            <a:r>
              <a:rPr lang="zh-CN" altLang="en-US" sz="2800">
                <a:solidFill>
                  <a:schemeClr val="tx2"/>
                </a:solidFill>
                <a:latin typeface="华文细黑" panose="02010600040101010101" pitchFamily="2" charset="-122"/>
                <a:ea typeface="华文细黑" panose="02010600040101010101" pitchFamily="2" charset="-122"/>
                <a:sym typeface="+mn-ea"/>
              </a:rPr>
              <a:t>清音与环境噪声的能量</a:t>
            </a:r>
            <a:r>
              <a:rPr lang="zh-CN" altLang="en-US" sz="2800">
                <a:solidFill>
                  <a:schemeClr val="tx2"/>
                </a:solidFill>
                <a:latin typeface="华文细黑" panose="02010600040101010101" pitchFamily="2" charset="-122"/>
                <a:ea typeface="华文细黑" panose="02010600040101010101" pitchFamily="2" charset="-122"/>
                <a:sym typeface="+mn-ea"/>
              </a:rPr>
              <a:t>却很难区分。</a:t>
            </a:r>
            <a:endParaRPr lang="zh-CN" altLang="en-US" sz="2800">
              <a:solidFill>
                <a:schemeClr val="tx2"/>
              </a:solidFill>
              <a:latin typeface="华文细黑" panose="02010600040101010101" pitchFamily="2" charset="-122"/>
              <a:ea typeface="华文细黑" panose="02010600040101010101" pitchFamily="2" charset="-122"/>
              <a:sym typeface="+mn-ea"/>
            </a:endParaRPr>
          </a:p>
          <a:p>
            <a:pPr eaLnBrk="1" latinLnBrk="0" hangingPunct="1">
              <a:lnSpc>
                <a:spcPct val="140000"/>
              </a:lnSpc>
              <a:spcBef>
                <a:spcPts val="0"/>
              </a:spcBef>
              <a:buFont typeface="Wingdings" panose="05000000000000000000" pitchFamily="2" charset="2"/>
              <a:buChar char="Ø"/>
            </a:pPr>
            <a:r>
              <a:rPr lang="zh-CN" altLang="en-US" sz="2800">
                <a:solidFill>
                  <a:schemeClr val="tx2"/>
                </a:solidFill>
                <a:latin typeface="华文细黑" panose="02010600040101010101" pitchFamily="2" charset="-122"/>
                <a:ea typeface="华文细黑" panose="02010600040101010101" pitchFamily="2" charset="-122"/>
              </a:rPr>
              <a:t>清音的过零率高于无声段。</a:t>
            </a:r>
            <a:endParaRPr lang="zh-CN" altLang="en-US" sz="2800">
              <a:solidFill>
                <a:schemeClr val="tx2"/>
              </a:solidFill>
              <a:latin typeface="华文细黑" panose="02010600040101010101" pitchFamily="2" charset="-122"/>
              <a:ea typeface="华文细黑" panose="02010600040101010101" pitchFamily="2" charset="-122"/>
            </a:endParaRPr>
          </a:p>
        </p:txBody>
      </p:sp>
      <p:sp>
        <p:nvSpPr>
          <p:cNvPr id="22532" name="Rectangle 4"/>
          <p:cNvSpPr>
            <a:spLocks noChangeArrowheads="1"/>
          </p:cNvSpPr>
          <p:nvPr/>
        </p:nvSpPr>
        <p:spPr bwMode="auto">
          <a:xfrm>
            <a:off x="2747963" y="2343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0643">
                                            <p:txEl>
                                              <p:pRg st="1" end="1"/>
                                            </p:txEl>
                                          </p:spTgt>
                                        </p:tgtEl>
                                        <p:attrNameLst>
                                          <p:attrName>style.visibility</p:attrName>
                                        </p:attrNameLst>
                                      </p:cBhvr>
                                      <p:to>
                                        <p:strVal val="visible"/>
                                      </p:to>
                                    </p:set>
                                    <p:animEffect transition="in" filter="wipe(up)">
                                      <p:cBhvr>
                                        <p:cTn id="7" dur="500"/>
                                        <p:tgtEl>
                                          <p:spTgt spid="2406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0643">
                                            <p:txEl>
                                              <p:pRg st="2" end="2"/>
                                            </p:txEl>
                                          </p:spTgt>
                                        </p:tgtEl>
                                        <p:attrNameLst>
                                          <p:attrName>style.visibility</p:attrName>
                                        </p:attrNameLst>
                                      </p:cBhvr>
                                      <p:to>
                                        <p:strVal val="visible"/>
                                      </p:to>
                                    </p:set>
                                    <p:animEffect transition="in" filter="wipe(up)">
                                      <p:cBhvr>
                                        <p:cTn id="12" dur="500"/>
                                        <p:tgtEl>
                                          <p:spTgt spid="2406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0643">
                                            <p:txEl>
                                              <p:pRg st="3" end="3"/>
                                            </p:txEl>
                                          </p:spTgt>
                                        </p:tgtEl>
                                        <p:attrNameLst>
                                          <p:attrName>style.visibility</p:attrName>
                                        </p:attrNameLst>
                                      </p:cBhvr>
                                      <p:to>
                                        <p:strVal val="visible"/>
                                      </p:to>
                                    </p:set>
                                    <p:animEffect transition="in" filter="wipe(up)">
                                      <p:cBhvr>
                                        <p:cTn id="17" dur="500"/>
                                        <p:tgtEl>
                                          <p:spTgt spid="2406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40643">
                                            <p:txEl>
                                              <p:pRg st="4" end="4"/>
                                            </p:txEl>
                                          </p:spTgt>
                                        </p:tgtEl>
                                        <p:attrNameLst>
                                          <p:attrName>style.visibility</p:attrName>
                                        </p:attrNameLst>
                                      </p:cBhvr>
                                      <p:to>
                                        <p:strVal val="visible"/>
                                      </p:to>
                                    </p:set>
                                    <p:animEffect transition="in" filter="wipe(up)">
                                      <p:cBhvr>
                                        <p:cTn id="22" dur="500"/>
                                        <p:tgtEl>
                                          <p:spTgt spid="2406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4579" name="Rectangle 3"/>
          <p:cNvSpPr>
            <a:spLocks noGrp="1" noChangeArrowheads="1"/>
          </p:cNvSpPr>
          <p:nvPr>
            <p:ph type="body" idx="1"/>
          </p:nvPr>
        </p:nvSpPr>
        <p:spPr/>
        <p:txBody>
          <a:bodyPr/>
          <a:lstStyle/>
          <a:p>
            <a:pPr eaLnBrk="1" hangingPunct="1"/>
            <a:r>
              <a:rPr lang="zh-CN" altLang="en-US" sz="2800" b="1">
                <a:solidFill>
                  <a:schemeClr val="tx2"/>
                </a:solidFill>
                <a:latin typeface="黑体" panose="02010609060101010101" pitchFamily="49" charset="-122"/>
                <a:ea typeface="黑体" panose="02010609060101010101" pitchFamily="49" charset="-122"/>
              </a:rPr>
              <a:t>双门限法</a:t>
            </a:r>
            <a:endParaRPr lang="zh-CN" altLang="en-US" sz="2800" b="1">
              <a:solidFill>
                <a:schemeClr val="tx2"/>
              </a:solidFill>
              <a:latin typeface="黑体" panose="02010609060101010101" pitchFamily="49" charset="-122"/>
              <a:ea typeface="黑体" panose="02010609060101010101" pitchFamily="49" charset="-122"/>
            </a:endParaRPr>
          </a:p>
          <a:p>
            <a:pPr eaLnBrk="1" hangingPunct="1"/>
            <a:endParaRPr lang="zh-CN" altLang="en-US" sz="2800" b="1">
              <a:solidFill>
                <a:schemeClr val="tx2"/>
              </a:solidFill>
            </a:endParaRPr>
          </a:p>
        </p:txBody>
      </p:sp>
      <p:graphicFrame>
        <p:nvGraphicFramePr>
          <p:cNvPr id="242692" name="Object 4"/>
          <p:cNvGraphicFramePr>
            <a:graphicFrameLocks noChangeAspect="1"/>
          </p:cNvGraphicFramePr>
          <p:nvPr/>
        </p:nvGraphicFramePr>
        <p:xfrm>
          <a:off x="609600" y="2852738"/>
          <a:ext cx="4800600" cy="3175000"/>
        </p:xfrm>
        <a:graphic>
          <a:graphicData uri="http://schemas.openxmlformats.org/presentationml/2006/ole">
            <mc:AlternateContent xmlns:mc="http://schemas.openxmlformats.org/markup-compatibility/2006">
              <mc:Choice xmlns:v="urn:schemas-microsoft-com:vml" Requires="v">
                <p:oleObj spid="_x0000_s24589" name="" r:id="rId1" imgW="3267710" imgH="2191385" progId="Word.Picture.8">
                  <p:embed/>
                </p:oleObj>
              </mc:Choice>
              <mc:Fallback>
                <p:oleObj name="" r:id="rId1" imgW="3267710" imgH="2191385" progId="Word.Picture.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852738"/>
                        <a:ext cx="48006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2693" name="Text Box 5"/>
          <p:cNvSpPr txBox="1">
            <a:spLocks noChangeArrowheads="1"/>
          </p:cNvSpPr>
          <p:nvPr/>
        </p:nvSpPr>
        <p:spPr bwMode="auto">
          <a:xfrm>
            <a:off x="5638800" y="1676400"/>
            <a:ext cx="2971800"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tx2"/>
                </a:solidFill>
              </a:rPr>
              <a:t>（1） 用较高的短时能量门限</a:t>
            </a:r>
            <a:r>
              <a:rPr kumimoji="1" lang="en-US" altLang="zh-CN" sz="2400" b="1">
                <a:solidFill>
                  <a:schemeClr val="tx2"/>
                </a:solidFill>
              </a:rPr>
              <a:t>M</a:t>
            </a:r>
            <a:r>
              <a:rPr kumimoji="1" lang="en-US" altLang="zh-CN" sz="2400" b="1" baseline="-25000">
                <a:solidFill>
                  <a:schemeClr val="tx2"/>
                </a:solidFill>
              </a:rPr>
              <a:t>H</a:t>
            </a:r>
            <a:r>
              <a:rPr kumimoji="1" lang="zh-CN" altLang="en-US" sz="2400" b="1">
                <a:solidFill>
                  <a:schemeClr val="tx2"/>
                </a:solidFill>
              </a:rPr>
              <a:t>确保</a:t>
            </a:r>
            <a:r>
              <a:rPr kumimoji="1" lang="en-US" altLang="zh-CN" sz="2400" b="1">
                <a:solidFill>
                  <a:schemeClr val="tx2"/>
                </a:solidFill>
              </a:rPr>
              <a:t>A1-A2</a:t>
            </a:r>
            <a:r>
              <a:rPr kumimoji="1" lang="zh-CN" altLang="en-US" sz="2400" b="1">
                <a:solidFill>
                  <a:schemeClr val="tx2"/>
                </a:solidFill>
              </a:rPr>
              <a:t>肯定是浊音。</a:t>
            </a:r>
            <a:endParaRPr kumimoji="1" lang="zh-CN" altLang="en-US" sz="2400" b="1">
              <a:solidFill>
                <a:schemeClr val="tx2"/>
              </a:solidFill>
            </a:endParaRPr>
          </a:p>
          <a:p>
            <a:pPr eaLnBrk="1" hangingPunct="1">
              <a:spcBef>
                <a:spcPct val="50000"/>
              </a:spcBef>
              <a:buFontTx/>
              <a:buNone/>
            </a:pPr>
            <a:r>
              <a:rPr kumimoji="1" lang="zh-CN" altLang="en-US" sz="2400" b="1">
                <a:solidFill>
                  <a:schemeClr val="tx2"/>
                </a:solidFill>
              </a:rPr>
              <a:t>（2）从</a:t>
            </a:r>
            <a:r>
              <a:rPr kumimoji="1" lang="en-US" altLang="zh-CN" sz="2400" b="1">
                <a:solidFill>
                  <a:schemeClr val="tx2"/>
                </a:solidFill>
              </a:rPr>
              <a:t>A1 A2</a:t>
            </a:r>
            <a:r>
              <a:rPr kumimoji="1" lang="zh-CN" altLang="en-US" sz="2400" b="1">
                <a:solidFill>
                  <a:schemeClr val="tx2"/>
                </a:solidFill>
              </a:rPr>
              <a:t>开始向两端搜索，短时能量&gt;较低门限</a:t>
            </a:r>
            <a:r>
              <a:rPr kumimoji="1" lang="en-US" altLang="zh-CN" sz="2400" b="1">
                <a:solidFill>
                  <a:schemeClr val="tx2"/>
                </a:solidFill>
              </a:rPr>
              <a:t>M</a:t>
            </a:r>
            <a:r>
              <a:rPr kumimoji="1" lang="en-US" altLang="zh-CN" sz="2400" b="1" baseline="-25000">
                <a:solidFill>
                  <a:schemeClr val="tx2"/>
                </a:solidFill>
              </a:rPr>
              <a:t>l</a:t>
            </a:r>
            <a:r>
              <a:rPr kumimoji="1" lang="zh-CN" altLang="en-US" sz="2400" b="1">
                <a:solidFill>
                  <a:schemeClr val="tx2"/>
                </a:solidFill>
              </a:rPr>
              <a:t>的</a:t>
            </a:r>
            <a:r>
              <a:rPr kumimoji="1" lang="en-US" altLang="zh-CN" sz="2400" b="1">
                <a:solidFill>
                  <a:schemeClr val="tx2"/>
                </a:solidFill>
              </a:rPr>
              <a:t>B1-B2</a:t>
            </a:r>
            <a:r>
              <a:rPr kumimoji="1" lang="zh-CN" altLang="en-US" sz="2400" b="1">
                <a:solidFill>
                  <a:schemeClr val="tx2"/>
                </a:solidFill>
              </a:rPr>
              <a:t>还是语音段</a:t>
            </a:r>
            <a:endParaRPr kumimoji="1" lang="zh-CN" altLang="en-US" sz="2400" b="1">
              <a:solidFill>
                <a:schemeClr val="tx2"/>
              </a:solidFill>
            </a:endParaRPr>
          </a:p>
          <a:p>
            <a:pPr eaLnBrk="1" hangingPunct="1">
              <a:spcBef>
                <a:spcPct val="50000"/>
              </a:spcBef>
              <a:buFontTx/>
              <a:buNone/>
            </a:pPr>
            <a:r>
              <a:rPr kumimoji="1" lang="zh-CN" altLang="en-US" sz="2400" b="1">
                <a:solidFill>
                  <a:schemeClr val="tx2"/>
                </a:solidFill>
              </a:rPr>
              <a:t>（3）从</a:t>
            </a:r>
            <a:r>
              <a:rPr kumimoji="1" lang="en-US" altLang="zh-CN" sz="2400" b="1">
                <a:solidFill>
                  <a:schemeClr val="tx2"/>
                </a:solidFill>
              </a:rPr>
              <a:t>B1 B2</a:t>
            </a:r>
            <a:r>
              <a:rPr kumimoji="1" lang="zh-CN" altLang="en-US" sz="2400" b="1">
                <a:solidFill>
                  <a:schemeClr val="tx2"/>
                </a:solidFill>
              </a:rPr>
              <a:t>开始向两端搜索，短时过零率</a:t>
            </a:r>
            <a:r>
              <a:rPr kumimoji="1" lang="en-US" altLang="zh-CN" sz="2400" b="1">
                <a:solidFill>
                  <a:schemeClr val="tx2"/>
                </a:solidFill>
              </a:rPr>
              <a:t>&gt;</a:t>
            </a:r>
            <a:r>
              <a:rPr kumimoji="1" lang="zh-CN" altLang="en-US" sz="2400" b="1">
                <a:solidFill>
                  <a:schemeClr val="tx2"/>
                </a:solidFill>
              </a:rPr>
              <a:t>门限</a:t>
            </a:r>
            <a:r>
              <a:rPr kumimoji="1" lang="en-US" altLang="zh-CN" sz="2400" b="1">
                <a:solidFill>
                  <a:schemeClr val="tx2"/>
                </a:solidFill>
              </a:rPr>
              <a:t>Zs</a:t>
            </a:r>
            <a:r>
              <a:rPr kumimoji="1" lang="zh-CN" altLang="en-US" sz="2400" b="1">
                <a:solidFill>
                  <a:schemeClr val="tx2"/>
                </a:solidFill>
              </a:rPr>
              <a:t>的为清音部分。</a:t>
            </a:r>
            <a:endParaRPr kumimoji="1" lang="zh-CN" altLang="en-US" sz="2400" b="1">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2692"/>
                                        </p:tgtEl>
                                        <p:attrNameLst>
                                          <p:attrName>style.visibility</p:attrName>
                                        </p:attrNameLst>
                                      </p:cBhvr>
                                      <p:to>
                                        <p:strVal val="visible"/>
                                      </p:to>
                                    </p:set>
                                    <p:animEffect transition="in" filter="wipe(up)">
                                      <p:cBhvr>
                                        <p:cTn id="7" dur="500"/>
                                        <p:tgtEl>
                                          <p:spTgt spid="2426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2693">
                                            <p:txEl>
                                              <p:pRg st="0" end="0"/>
                                            </p:txEl>
                                          </p:spTgt>
                                        </p:tgtEl>
                                        <p:attrNameLst>
                                          <p:attrName>style.visibility</p:attrName>
                                        </p:attrNameLst>
                                      </p:cBhvr>
                                      <p:to>
                                        <p:strVal val="visible"/>
                                      </p:to>
                                    </p:set>
                                    <p:animEffect transition="in" filter="wipe(up)">
                                      <p:cBhvr>
                                        <p:cTn id="12" dur="500"/>
                                        <p:tgtEl>
                                          <p:spTgt spid="24269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2693">
                                            <p:txEl>
                                              <p:pRg st="1" end="1"/>
                                            </p:txEl>
                                          </p:spTgt>
                                        </p:tgtEl>
                                        <p:attrNameLst>
                                          <p:attrName>style.visibility</p:attrName>
                                        </p:attrNameLst>
                                      </p:cBhvr>
                                      <p:to>
                                        <p:strVal val="visible"/>
                                      </p:to>
                                    </p:set>
                                    <p:animEffect transition="in" filter="wipe(up)">
                                      <p:cBhvr>
                                        <p:cTn id="17" dur="500"/>
                                        <p:tgtEl>
                                          <p:spTgt spid="24269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42693">
                                            <p:txEl>
                                              <p:pRg st="2" end="2"/>
                                            </p:txEl>
                                          </p:spTgt>
                                        </p:tgtEl>
                                        <p:attrNameLst>
                                          <p:attrName>style.visibility</p:attrName>
                                        </p:attrNameLst>
                                      </p:cBhvr>
                                      <p:to>
                                        <p:strVal val="visible"/>
                                      </p:to>
                                    </p:set>
                                    <p:animEffect transition="in" filter="wipe(up)">
                                      <p:cBhvr>
                                        <p:cTn id="22" dur="500"/>
                                        <p:tgtEl>
                                          <p:spTgt spid="2426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6627" name="Rectangle 3"/>
          <p:cNvSpPr>
            <a:spLocks noGrp="1" noChangeArrowheads="1"/>
          </p:cNvSpPr>
          <p:nvPr>
            <p:ph type="body" idx="1"/>
          </p:nvPr>
        </p:nvSpPr>
        <p:spPr/>
        <p:txBody>
          <a:bodyPr/>
          <a:lstStyle/>
          <a:p>
            <a:pPr eaLnBrk="1" hangingPunct="1">
              <a:buClr>
                <a:srgbClr val="9900FF"/>
              </a:buClr>
              <a:buFont typeface="Wingdings" panose="05000000000000000000" pitchFamily="2" charset="2"/>
              <a:buChar char="Ø"/>
            </a:pPr>
            <a:r>
              <a:rPr lang="zh-CN" altLang="en-US" sz="2800" b="1">
                <a:solidFill>
                  <a:schemeClr val="tx2"/>
                </a:solidFill>
                <a:latin typeface="黑体" panose="02010609060101010101" pitchFamily="49" charset="-122"/>
                <a:ea typeface="黑体" panose="02010609060101010101" pitchFamily="49" charset="-122"/>
              </a:rPr>
              <a:t>短时自相关函数</a:t>
            </a:r>
            <a:endParaRPr lang="zh-CN" altLang="en-US" sz="2800" b="1">
              <a:solidFill>
                <a:schemeClr val="tx2"/>
              </a:solidFill>
              <a:latin typeface="黑体" panose="02010609060101010101" pitchFamily="49" charset="-122"/>
              <a:ea typeface="黑体" panose="02010609060101010101" pitchFamily="49" charset="-122"/>
            </a:endParaRPr>
          </a:p>
          <a:p>
            <a:pPr eaLnBrk="1" hangingPunct="1">
              <a:spcBef>
                <a:spcPts val="1800"/>
              </a:spcBef>
            </a:pPr>
            <a:r>
              <a:rPr lang="zh-CN" altLang="en-US" sz="2800" b="1">
                <a:solidFill>
                  <a:srgbClr val="0070C0"/>
                </a:solidFill>
                <a:latin typeface="黑体" panose="02010609060101010101" pitchFamily="49" charset="-122"/>
                <a:ea typeface="黑体" panose="02010609060101010101" pitchFamily="49" charset="-122"/>
              </a:rPr>
              <a:t>自相关函数</a:t>
            </a:r>
            <a:endParaRPr lang="zh-CN" altLang="en-US" sz="2800" b="1">
              <a:solidFill>
                <a:srgbClr val="0070C0"/>
              </a:solidFill>
              <a:latin typeface="黑体" panose="02010609060101010101" pitchFamily="49" charset="-122"/>
              <a:ea typeface="黑体" panose="02010609060101010101" pitchFamily="49" charset="-122"/>
            </a:endParaRPr>
          </a:p>
          <a:p>
            <a:pPr eaLnBrk="1" hangingPunct="1">
              <a:buFontTx/>
              <a:buNone/>
            </a:pPr>
            <a:r>
              <a:rPr lang="zh-CN" altLang="en-US" sz="2800" b="1">
                <a:solidFill>
                  <a:schemeClr val="tx2"/>
                </a:solidFill>
                <a:latin typeface="Times New Roman" panose="02020603050405020304" pitchFamily="18" charset="0"/>
              </a:rPr>
              <a:t>   对于确定性离散信号</a:t>
            </a:r>
            <a:endParaRPr lang="zh-CN" altLang="en-US" sz="2800" b="1">
              <a:solidFill>
                <a:schemeClr val="tx2"/>
              </a:solidFill>
              <a:latin typeface="Times New Roman" panose="02020603050405020304" pitchFamily="18" charset="0"/>
            </a:endParaRPr>
          </a:p>
        </p:txBody>
      </p:sp>
      <p:sp>
        <p:nvSpPr>
          <p:cNvPr id="26628" name="Rectangle 4"/>
          <p:cNvSpPr>
            <a:spLocks noChangeArrowheads="1"/>
          </p:cNvSpPr>
          <p:nvPr/>
        </p:nvSpPr>
        <p:spPr bwMode="auto">
          <a:xfrm>
            <a:off x="380523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44741" name="Object 5"/>
          <p:cNvGraphicFramePr>
            <a:graphicFrameLocks noChangeAspect="1"/>
          </p:cNvGraphicFramePr>
          <p:nvPr/>
        </p:nvGraphicFramePr>
        <p:xfrm>
          <a:off x="2987675" y="3536315"/>
          <a:ext cx="2971165" cy="892810"/>
        </p:xfrm>
        <a:graphic>
          <a:graphicData uri="http://schemas.openxmlformats.org/presentationml/2006/ole">
            <mc:AlternateContent xmlns:mc="http://schemas.openxmlformats.org/markup-compatibility/2006">
              <mc:Choice xmlns:v="urn:schemas-microsoft-com:vml" Requires="v">
                <p:oleObj spid="_x0000_s26646" name="Equation" r:id="rId1" imgW="1473200" imgH="431800" progId="Equation.DSMT4">
                  <p:embed/>
                </p:oleObj>
              </mc:Choice>
              <mc:Fallback>
                <p:oleObj name="Equation" r:id="rId1" imgW="1473200" imgH="431800" progId="Equation.DSMT4">
                  <p:embed/>
                  <p:pic>
                    <p:nvPicPr>
                      <p:cNvPr id="0" name="Object 5"/>
                      <p:cNvPicPr>
                        <a:picLocks noChangeAspect="1" noChangeArrowheads="1"/>
                      </p:cNvPicPr>
                      <p:nvPr/>
                    </p:nvPicPr>
                    <p:blipFill>
                      <a:blip r:embed="rId2"/>
                      <a:srcRect/>
                      <a:stretch>
                        <a:fillRect/>
                      </a:stretch>
                    </p:blipFill>
                    <p:spPr bwMode="auto">
                      <a:xfrm>
                        <a:off x="2987675" y="3536315"/>
                        <a:ext cx="2971165" cy="892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0" name="Object 6"/>
          <p:cNvGraphicFramePr>
            <a:graphicFrameLocks noChangeAspect="1"/>
          </p:cNvGraphicFramePr>
          <p:nvPr/>
        </p:nvGraphicFramePr>
        <p:xfrm>
          <a:off x="4067175" y="2816225"/>
          <a:ext cx="619125" cy="396875"/>
        </p:xfrm>
        <a:graphic>
          <a:graphicData uri="http://schemas.openxmlformats.org/presentationml/2006/ole">
            <mc:AlternateContent xmlns:mc="http://schemas.openxmlformats.org/markup-compatibility/2006">
              <mc:Choice xmlns:v="urn:schemas-microsoft-com:vml" Requires="v">
                <p:oleObj spid="_x0000_s26647" name="Equation" r:id="rId3" imgW="317500" imgH="203200" progId="Equation.3">
                  <p:embed/>
                </p:oleObj>
              </mc:Choice>
              <mc:Fallback>
                <p:oleObj name="Equation" r:id="rId3" imgW="317500" imgH="203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2816225"/>
                        <a:ext cx="6191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4746" name="Text Box 10"/>
          <p:cNvSpPr txBox="1">
            <a:spLocks noChangeArrowheads="1"/>
          </p:cNvSpPr>
          <p:nvPr/>
        </p:nvSpPr>
        <p:spPr bwMode="auto">
          <a:xfrm>
            <a:off x="900113" y="4749800"/>
            <a:ext cx="72723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chemeClr val="tx2"/>
                </a:solidFill>
                <a:latin typeface="Times New Roman" panose="02020603050405020304" pitchFamily="18" charset="0"/>
                <a:cs typeface="Times New Roman" panose="02020603050405020304" pitchFamily="18" charset="0"/>
              </a:rPr>
              <a:t>R</a:t>
            </a:r>
            <a:r>
              <a:rPr kumimoji="1" lang="en-US" altLang="zh-CN" sz="2800" b="1">
                <a:solidFill>
                  <a:schemeClr val="tx2"/>
                </a:solidFill>
                <a:latin typeface="Times New Roman" panose="02020603050405020304" pitchFamily="18" charset="0"/>
                <a:cs typeface="Times New Roman" panose="02020603050405020304" pitchFamily="18" charset="0"/>
              </a:rPr>
              <a:t>(</a:t>
            </a:r>
            <a:r>
              <a:rPr kumimoji="1" lang="en-US" altLang="zh-CN" sz="2800" b="1" i="1">
                <a:solidFill>
                  <a:schemeClr val="tx2"/>
                </a:solidFill>
                <a:latin typeface="Times New Roman" panose="02020603050405020304" pitchFamily="18" charset="0"/>
                <a:cs typeface="Times New Roman" panose="02020603050405020304" pitchFamily="18" charset="0"/>
              </a:rPr>
              <a:t>k</a:t>
            </a:r>
            <a:r>
              <a:rPr kumimoji="1" lang="en-US" altLang="zh-CN" sz="2800" b="1">
                <a:solidFill>
                  <a:schemeClr val="tx2"/>
                </a:solidFill>
                <a:latin typeface="Times New Roman" panose="02020603050405020304" pitchFamily="18" charset="0"/>
                <a:cs typeface="Times New Roman" panose="02020603050405020304" pitchFamily="18" charset="0"/>
              </a:rPr>
              <a:t>)</a:t>
            </a:r>
            <a:r>
              <a:rPr kumimoji="1" lang="zh-CN" altLang="en-US" sz="2800" b="1">
                <a:solidFill>
                  <a:schemeClr val="tx2"/>
                </a:solidFill>
                <a:latin typeface="Times New Roman" panose="02020603050405020304" pitchFamily="18" charset="0"/>
                <a:cs typeface="Times New Roman" panose="02020603050405020304" pitchFamily="18" charset="0"/>
              </a:rPr>
              <a:t>表示一个信号和延迟</a:t>
            </a:r>
            <a:r>
              <a:rPr kumimoji="1" lang="en-US" altLang="zh-CN" sz="2800" b="1" i="1">
                <a:solidFill>
                  <a:schemeClr val="tx2"/>
                </a:solidFill>
                <a:latin typeface="Times New Roman" panose="02020603050405020304" pitchFamily="18" charset="0"/>
                <a:cs typeface="Times New Roman" panose="02020603050405020304" pitchFamily="18" charset="0"/>
              </a:rPr>
              <a:t>k</a:t>
            </a:r>
            <a:r>
              <a:rPr kumimoji="1" lang="zh-CN" altLang="en-US" sz="2800" b="1">
                <a:solidFill>
                  <a:schemeClr val="tx2"/>
                </a:solidFill>
                <a:latin typeface="Times New Roman" panose="02020603050405020304" pitchFamily="18" charset="0"/>
                <a:cs typeface="Times New Roman" panose="02020603050405020304" pitchFamily="18" charset="0"/>
              </a:rPr>
              <a:t>点后的该信号本身的相似性。 </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4741"/>
                                        </p:tgtEl>
                                        <p:attrNameLst>
                                          <p:attrName>style.visibility</p:attrName>
                                        </p:attrNameLst>
                                      </p:cBhvr>
                                      <p:to>
                                        <p:strVal val="visible"/>
                                      </p:to>
                                    </p:set>
                                    <p:animEffect transition="in" filter="wipe(up)">
                                      <p:cBhvr>
                                        <p:cTn id="7" dur="500"/>
                                        <p:tgtEl>
                                          <p:spTgt spid="2447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4746"/>
                                        </p:tgtEl>
                                        <p:attrNameLst>
                                          <p:attrName>style.visibility</p:attrName>
                                        </p:attrNameLst>
                                      </p:cBhvr>
                                      <p:to>
                                        <p:strVal val="visible"/>
                                      </p:to>
                                    </p:set>
                                    <p:animEffect transition="in" filter="wipe(up)">
                                      <p:cBhvr>
                                        <p:cTn id="12" dur="500"/>
                                        <p:tgtEl>
                                          <p:spTgt spid="244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特征的时域分析方法</a:t>
            </a:r>
            <a:endParaRPr lang="zh-CN" altLang="en-US">
              <a:latin typeface="华文中宋" panose="02010600040101010101" pitchFamily="2" charset="-122"/>
              <a:ea typeface="仿宋_GB2312" pitchFamily="49" charset="-122"/>
            </a:endParaRPr>
          </a:p>
        </p:txBody>
      </p:sp>
      <p:sp>
        <p:nvSpPr>
          <p:cNvPr id="246787" name="Text Box 3"/>
          <p:cNvSpPr txBox="1">
            <a:spLocks noChangeArrowheads="1"/>
          </p:cNvSpPr>
          <p:nvPr/>
        </p:nvSpPr>
        <p:spPr bwMode="auto">
          <a:xfrm>
            <a:off x="822325" y="1814830"/>
            <a:ext cx="3398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rPr>
              <a:t>自相关函数的性质：</a:t>
            </a:r>
            <a:endParaRPr kumimoji="1" lang="zh-CN" altLang="en-US" sz="2800" b="1">
              <a:solidFill>
                <a:schemeClr val="tx2"/>
              </a:solidFill>
            </a:endParaRPr>
          </a:p>
        </p:txBody>
      </p:sp>
      <p:sp>
        <p:nvSpPr>
          <p:cNvPr id="28676" name="Text Box 4"/>
          <p:cNvSpPr txBox="1">
            <a:spLocks noChangeArrowheads="1"/>
          </p:cNvSpPr>
          <p:nvPr/>
        </p:nvSpPr>
        <p:spPr bwMode="auto">
          <a:xfrm>
            <a:off x="1127125" y="40068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800" b="1">
              <a:solidFill>
                <a:schemeClr val="tx2"/>
              </a:solidFill>
            </a:endParaRPr>
          </a:p>
        </p:txBody>
      </p:sp>
      <p:sp>
        <p:nvSpPr>
          <p:cNvPr id="246789" name="Rectangle 5"/>
          <p:cNvSpPr>
            <a:spLocks noChangeArrowheads="1"/>
          </p:cNvSpPr>
          <p:nvPr/>
        </p:nvSpPr>
        <p:spPr bwMode="auto">
          <a:xfrm>
            <a:off x="41338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6"/>
          <p:cNvGrpSpPr/>
          <p:nvPr/>
        </p:nvGrpSpPr>
        <p:grpSpPr bwMode="auto">
          <a:xfrm>
            <a:off x="990600" y="2553018"/>
            <a:ext cx="4087813" cy="519112"/>
            <a:chOff x="624" y="1789"/>
            <a:chExt cx="2575" cy="327"/>
          </a:xfrm>
        </p:grpSpPr>
        <p:sp>
          <p:nvSpPr>
            <p:cNvPr id="28681" name="Text Box 7"/>
            <p:cNvSpPr txBox="1">
              <a:spLocks noChangeArrowheads="1"/>
            </p:cNvSpPr>
            <p:nvPr/>
          </p:nvSpPr>
          <p:spPr bwMode="auto">
            <a:xfrm>
              <a:off x="624" y="1789"/>
              <a:ext cx="11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rPr>
                <a:t>1偶函数：</a:t>
              </a:r>
              <a:endParaRPr kumimoji="1" lang="zh-CN" altLang="en-US" sz="2800" b="1">
                <a:solidFill>
                  <a:schemeClr val="tx2"/>
                </a:solidFill>
              </a:endParaRPr>
            </a:p>
          </p:txBody>
        </p:sp>
        <p:graphicFrame>
          <p:nvGraphicFramePr>
            <p:cNvPr id="28682" name="Object 8"/>
            <p:cNvGraphicFramePr>
              <a:graphicFrameLocks noChangeAspect="1"/>
            </p:cNvGraphicFramePr>
            <p:nvPr/>
          </p:nvGraphicFramePr>
          <p:xfrm>
            <a:off x="1920" y="1820"/>
            <a:ext cx="1279" cy="292"/>
          </p:xfrm>
          <a:graphic>
            <a:graphicData uri="http://schemas.openxmlformats.org/presentationml/2006/ole">
              <mc:AlternateContent xmlns:mc="http://schemas.openxmlformats.org/markup-compatibility/2006">
                <mc:Choice xmlns:v="urn:schemas-microsoft-com:vml" Requires="v">
                  <p:oleObj spid="_x0000_s28690" name="" r:id="rId1" imgW="876300" imgH="203200" progId="Equation.3">
                    <p:embed/>
                  </p:oleObj>
                </mc:Choice>
                <mc:Fallback>
                  <p:oleObj name="" r:id="rId1" imgW="876300" imgH="203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 y="1820"/>
                          <a:ext cx="127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46793" name="Text Box 9"/>
          <p:cNvSpPr txBox="1">
            <a:spLocks noChangeArrowheads="1"/>
          </p:cNvSpPr>
          <p:nvPr/>
        </p:nvSpPr>
        <p:spPr bwMode="auto">
          <a:xfrm>
            <a:off x="990283" y="3215005"/>
            <a:ext cx="751681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tx2"/>
                </a:solidFill>
              </a:rPr>
              <a:t>2 </a:t>
            </a:r>
            <a:r>
              <a:rPr kumimoji="1" lang="en-US" altLang="zh-CN" sz="2800" i="1">
                <a:solidFill>
                  <a:schemeClr val="tx2"/>
                </a:solidFill>
                <a:latin typeface="Times New Roman" panose="02020603050405020304" pitchFamily="18" charset="0"/>
                <a:cs typeface="Times New Roman" panose="02020603050405020304" pitchFamily="18" charset="0"/>
              </a:rPr>
              <a:t>k=0</a:t>
            </a:r>
            <a:r>
              <a:rPr kumimoji="1" lang="zh-CN" altLang="en-US" sz="2800" b="1">
                <a:solidFill>
                  <a:schemeClr val="tx2"/>
                </a:solidFill>
              </a:rPr>
              <a:t>时函数</a:t>
            </a:r>
            <a:r>
              <a:rPr kumimoji="1" lang="zh-CN" altLang="en-US" sz="2800" b="1">
                <a:solidFill>
                  <a:srgbClr val="0070C0"/>
                </a:solidFill>
                <a:latin typeface="黑体" panose="02010609060101010101" pitchFamily="49" charset="-122"/>
                <a:ea typeface="黑体" panose="02010609060101010101" pitchFamily="49" charset="-122"/>
              </a:rPr>
              <a:t>取最大值</a:t>
            </a:r>
            <a:r>
              <a:rPr kumimoji="1" lang="zh-CN" altLang="en-US" sz="2800" b="1">
                <a:solidFill>
                  <a:schemeClr val="tx2"/>
                </a:solidFill>
              </a:rPr>
              <a:t>，其值为能量。</a:t>
            </a:r>
            <a:endParaRPr kumimoji="1" lang="en-US" altLang="zh-CN" sz="2800" b="1">
              <a:solidFill>
                <a:schemeClr val="tx2"/>
              </a:solidFill>
            </a:endParaRPr>
          </a:p>
        </p:txBody>
      </p:sp>
      <p:sp>
        <p:nvSpPr>
          <p:cNvPr id="246794" name="Text Box 10"/>
          <p:cNvSpPr txBox="1">
            <a:spLocks noChangeArrowheads="1"/>
          </p:cNvSpPr>
          <p:nvPr/>
        </p:nvSpPr>
        <p:spPr bwMode="auto">
          <a:xfrm>
            <a:off x="995045" y="4020185"/>
            <a:ext cx="7516813"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chemeClr val="tx2"/>
                </a:solidFill>
              </a:rPr>
              <a:t>3 </a:t>
            </a:r>
            <a:r>
              <a:rPr kumimoji="1" lang="zh-CN" altLang="en-US" sz="2800" b="1">
                <a:solidFill>
                  <a:schemeClr val="tx2"/>
                </a:solidFill>
              </a:rPr>
              <a:t>如果原序列是</a:t>
            </a:r>
            <a:r>
              <a:rPr kumimoji="1" lang="zh-CN" altLang="en-US" sz="2800" b="1">
                <a:solidFill>
                  <a:srgbClr val="0070C0"/>
                </a:solidFill>
                <a:latin typeface="黑体" panose="02010609060101010101" pitchFamily="49" charset="-122"/>
                <a:ea typeface="黑体" panose="02010609060101010101" pitchFamily="49" charset="-122"/>
                <a:cs typeface="黑体" panose="02010609060101010101" pitchFamily="49" charset="-122"/>
              </a:rPr>
              <a:t>周期为</a:t>
            </a:r>
            <a:r>
              <a:rPr kumimoji="1" lang="en-US" altLang="zh-CN" sz="2800" b="1" i="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 </a:t>
            </a:r>
            <a:r>
              <a:rPr kumimoji="1" lang="zh-CN" altLang="en-US" sz="2800" b="1">
                <a:solidFill>
                  <a:schemeClr val="tx2"/>
                </a:solidFill>
              </a:rPr>
              <a:t>的周期信号，那么自相关函数也是</a:t>
            </a:r>
            <a:r>
              <a:rPr kumimoji="1" lang="zh-CN" altLang="en-US" sz="2800" b="1">
                <a:solidFill>
                  <a:srgbClr val="0070C0"/>
                </a:solidFill>
                <a:latin typeface="黑体" panose="02010609060101010101" pitchFamily="49" charset="-122"/>
                <a:ea typeface="黑体" panose="02010609060101010101" pitchFamily="49" charset="-122"/>
              </a:rPr>
              <a:t>周期为</a:t>
            </a:r>
            <a:r>
              <a:rPr kumimoji="1" lang="en-US" altLang="zh-CN" sz="2800" b="1" i="1">
                <a:solidFill>
                  <a:srgbClr val="0070C0"/>
                </a:solidFill>
                <a:latin typeface="Times New Roman" panose="02020603050405020304" pitchFamily="18" charset="0"/>
                <a:cs typeface="Times New Roman" panose="02020603050405020304" pitchFamily="18" charset="0"/>
              </a:rPr>
              <a:t>T </a:t>
            </a:r>
            <a:r>
              <a:rPr kumimoji="1" lang="zh-CN" altLang="en-US" sz="2800" b="1">
                <a:solidFill>
                  <a:schemeClr val="tx2"/>
                </a:solidFill>
              </a:rPr>
              <a:t>的</a:t>
            </a:r>
            <a:r>
              <a:rPr kumimoji="1" lang="zh-CN" altLang="en-US" sz="2800" b="1">
                <a:solidFill>
                  <a:schemeClr val="tx1"/>
                </a:solidFill>
                <a:latin typeface="宋体" panose="02010600030101010101" pitchFamily="2" charset="-122"/>
              </a:rPr>
              <a:t>周期函数，有：</a:t>
            </a:r>
            <a:endParaRPr kumimoji="1" lang="zh-CN" altLang="en-US" sz="2800" b="1">
              <a:solidFill>
                <a:schemeClr val="tx2"/>
              </a:solidFill>
              <a:latin typeface="宋体" panose="02010600030101010101" pitchFamily="2" charset="-122"/>
            </a:endParaRPr>
          </a:p>
        </p:txBody>
      </p:sp>
      <p:graphicFrame>
        <p:nvGraphicFramePr>
          <p:cNvPr id="3" name="Object 8"/>
          <p:cNvGraphicFramePr>
            <a:graphicFrameLocks noChangeAspect="1"/>
          </p:cNvGraphicFramePr>
          <p:nvPr/>
        </p:nvGraphicFramePr>
        <p:xfrm>
          <a:off x="3419952" y="5229225"/>
          <a:ext cx="2355850" cy="463550"/>
        </p:xfrm>
        <a:graphic>
          <a:graphicData uri="http://schemas.openxmlformats.org/presentationml/2006/ole">
            <mc:AlternateContent xmlns:mc="http://schemas.openxmlformats.org/markup-compatibility/2006">
              <mc:Choice xmlns:v="urn:schemas-microsoft-com:vml" Requires="v">
                <p:oleObj spid="_x0000_s4" name="" r:id="rId3" imgW="1016000" imgH="203200" progId="Equation.3">
                  <p:embed/>
                </p:oleObj>
              </mc:Choice>
              <mc:Fallback>
                <p:oleObj name="" r:id="rId3" imgW="1016000" imgH="203200" progId="Equation.3">
                  <p:embed/>
                  <p:pic>
                    <p:nvPicPr>
                      <p:cNvPr id="0" name="Object 8"/>
                      <p:cNvPicPr>
                        <a:picLocks noChangeAspect="1" noChangeArrowheads="1"/>
                      </p:cNvPicPr>
                      <p:nvPr/>
                    </p:nvPicPr>
                    <p:blipFill>
                      <a:blip r:embed="rId4"/>
                      <a:srcRect/>
                      <a:stretch>
                        <a:fillRect/>
                      </a:stretch>
                    </p:blipFill>
                    <p:spPr bwMode="auto">
                      <a:xfrm>
                        <a:off x="3419952" y="5229225"/>
                        <a:ext cx="23558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8"/>
          <p:cNvGraphicFramePr>
            <a:graphicFrameLocks noChangeAspect="1"/>
          </p:cNvGraphicFramePr>
          <p:nvPr/>
        </p:nvGraphicFramePr>
        <p:xfrm>
          <a:off x="2358550" y="6093460"/>
          <a:ext cx="4623435" cy="463550"/>
        </p:xfrm>
        <a:graphic>
          <a:graphicData uri="http://schemas.openxmlformats.org/presentationml/2006/ole">
            <mc:AlternateContent xmlns:mc="http://schemas.openxmlformats.org/markup-compatibility/2006">
              <mc:Choice xmlns:v="urn:schemas-microsoft-com:vml" Requires="v">
                <p:oleObj spid="_x0000_s6" name="" r:id="rId5" imgW="1993900" imgH="203200" progId="Equation.3">
                  <p:embed/>
                </p:oleObj>
              </mc:Choice>
              <mc:Fallback>
                <p:oleObj name="" r:id="rId5" imgW="1993900" imgH="203200" progId="Equation.3">
                  <p:embed/>
                  <p:pic>
                    <p:nvPicPr>
                      <p:cNvPr id="0" name="Object 8"/>
                      <p:cNvPicPr>
                        <a:picLocks noChangeAspect="1" noChangeArrowheads="1"/>
                      </p:cNvPicPr>
                      <p:nvPr/>
                    </p:nvPicPr>
                    <p:blipFill>
                      <a:blip r:embed="rId6"/>
                      <a:srcRect/>
                      <a:stretch>
                        <a:fillRect/>
                      </a:stretch>
                    </p:blipFill>
                    <p:spPr bwMode="auto">
                      <a:xfrm>
                        <a:off x="2358550" y="6093460"/>
                        <a:ext cx="462343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6787"/>
                                        </p:tgtEl>
                                        <p:attrNameLst>
                                          <p:attrName>style.visibility</p:attrName>
                                        </p:attrNameLst>
                                      </p:cBhvr>
                                      <p:to>
                                        <p:strVal val="visible"/>
                                      </p:to>
                                    </p:set>
                                    <p:animEffect transition="in" filter="wipe(up)">
                                      <p:cBhvr>
                                        <p:cTn id="7" dur="500"/>
                                        <p:tgtEl>
                                          <p:spTgt spid="2467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nodePh="1">
                                  <p:stCondLst>
                                    <p:cond delay="0"/>
                                  </p:stCondLst>
                                  <p:endCondLst>
                                    <p:cond evt="begin" delay="0">
                                      <p:tn val="15"/>
                                    </p:cond>
                                  </p:endCondLst>
                                  <p:childTnLst>
                                    <p:set>
                                      <p:cBhvr>
                                        <p:cTn id="16" dur="1" fill="hold">
                                          <p:stCondLst>
                                            <p:cond delay="0"/>
                                          </p:stCondLst>
                                        </p:cTn>
                                        <p:tgtEl>
                                          <p:spTgt spid="246789"/>
                                        </p:tgtEl>
                                        <p:attrNameLst>
                                          <p:attrName>style.visibility</p:attrName>
                                        </p:attrNameLst>
                                      </p:cBhvr>
                                      <p:to>
                                        <p:strVal val="visible"/>
                                      </p:to>
                                    </p:set>
                                    <p:animEffect transition="in" filter="wipe(up)">
                                      <p:cBhvr>
                                        <p:cTn id="17" dur="500"/>
                                        <p:tgtEl>
                                          <p:spTgt spid="2467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46793"/>
                                        </p:tgtEl>
                                        <p:attrNameLst>
                                          <p:attrName>style.visibility</p:attrName>
                                        </p:attrNameLst>
                                      </p:cBhvr>
                                      <p:to>
                                        <p:strVal val="visible"/>
                                      </p:to>
                                    </p:set>
                                    <p:animEffect transition="in" filter="wipe(up)">
                                      <p:cBhvr>
                                        <p:cTn id="22" dur="500"/>
                                        <p:tgtEl>
                                          <p:spTgt spid="2467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46794"/>
                                        </p:tgtEl>
                                        <p:attrNameLst>
                                          <p:attrName>style.visibility</p:attrName>
                                        </p:attrNameLst>
                                      </p:cBhvr>
                                      <p:to>
                                        <p:strVal val="visible"/>
                                      </p:to>
                                    </p:set>
                                    <p:animEffect transition="in" filter="wipe(up)">
                                      <p:cBhvr>
                                        <p:cTn id="27" dur="500"/>
                                        <p:tgtEl>
                                          <p:spTgt spid="246794"/>
                                        </p:tgtEl>
                                      </p:cBhvr>
                                    </p:animEffect>
                                  </p:childTnLst>
                                </p:cTn>
                              </p:par>
                              <p:par>
                                <p:cTn id="28" presetID="22" presetClass="entr" presetSubtype="1"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par>
                                <p:cTn id="31" presetID="22" presetClass="entr" presetSubtype="1"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autoUpdateAnimBg="0"/>
      <p:bldP spid="246789" grpId="0" animBg="1"/>
      <p:bldP spid="246793" grpId="0" autoUpdateAnimBg="0"/>
      <p:bldP spid="24679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1"/>
          <p:cNvSpPr>
            <a:spLocks noGrp="1" noChangeArrowheads="1"/>
          </p:cNvSpPr>
          <p:nvPr>
            <p:ph idx="1"/>
          </p:nvPr>
        </p:nvSpPr>
        <p:spPr/>
        <p:txBody>
          <a:bodyPr/>
          <a:lstStyle/>
          <a:p>
            <a:pPr marL="0" indent="0">
              <a:buFontTx/>
              <a:buNone/>
            </a:pPr>
            <a:r>
              <a:rPr lang="zh-CN" altLang="en-US" sz="2800" b="1">
                <a:solidFill>
                  <a:srgbClr val="0070C0"/>
                </a:solidFill>
                <a:latin typeface="黑体" panose="02010609060101010101" pitchFamily="49" charset="-122"/>
                <a:ea typeface="黑体" panose="02010609060101010101" pitchFamily="49" charset="-122"/>
              </a:rPr>
              <a:t>短时自相关函数</a:t>
            </a:r>
            <a:endParaRPr lang="zh-CN" altLang="en-US" sz="2800" b="1">
              <a:solidFill>
                <a:srgbClr val="0070C0"/>
              </a:solidFill>
              <a:latin typeface="黑体" panose="02010609060101010101" pitchFamily="49" charset="-122"/>
              <a:ea typeface="黑体" panose="02010609060101010101" pitchFamily="49" charset="-122"/>
            </a:endParaRPr>
          </a:p>
          <a:p>
            <a:pPr marL="0" indent="0">
              <a:buFontTx/>
              <a:buNone/>
            </a:pPr>
            <a:r>
              <a:rPr lang="zh-CN" altLang="en-US" sz="2800"/>
              <a:t>在假定窗外为</a:t>
            </a:r>
            <a:r>
              <a:rPr lang="en-US" altLang="zh-CN" sz="2800"/>
              <a:t>0</a:t>
            </a:r>
            <a:r>
              <a:rPr lang="zh-CN" altLang="en-US" sz="2800"/>
              <a:t>时同样具有</a:t>
            </a:r>
            <a:r>
              <a:rPr lang="zh-CN" altLang="en-US" sz="2800">
                <a:sym typeface="+mn-ea"/>
              </a:rPr>
              <a:t>偶函数</a:t>
            </a:r>
            <a:r>
              <a:rPr lang="zh-CN" altLang="en-US" sz="2800"/>
              <a:t>性质</a:t>
            </a:r>
            <a:endParaRPr lang="zh-CN" altLang="en-US" sz="2800"/>
          </a:p>
          <a:p>
            <a:pPr marL="0" indent="0">
              <a:buFontTx/>
              <a:buNone/>
            </a:pPr>
            <a:r>
              <a:rPr lang="zh-CN" altLang="en-US" sz="2800"/>
              <a:t>证明：</a:t>
            </a:r>
            <a:endParaRPr lang="en-US" altLang="zh-CN" sz="2800"/>
          </a:p>
          <a:p>
            <a:pPr marL="0" indent="0">
              <a:spcBef>
                <a:spcPct val="0"/>
              </a:spcBef>
              <a:buFontTx/>
              <a:buNone/>
            </a:pPr>
            <a:endParaRPr lang="en-US" altLang="zh-CN" sz="2800"/>
          </a:p>
          <a:p>
            <a:pPr marL="0" indent="0">
              <a:spcBef>
                <a:spcPct val="0"/>
              </a:spcBef>
              <a:buFontTx/>
              <a:buNone/>
            </a:pPr>
            <a:endParaRPr lang="en-US" altLang="zh-CN" sz="2800"/>
          </a:p>
          <a:p>
            <a:pPr marL="0" indent="0">
              <a:spcBef>
                <a:spcPct val="0"/>
              </a:spcBef>
              <a:buFontTx/>
              <a:buNone/>
            </a:pPr>
            <a:r>
              <a:rPr lang="zh-CN" altLang="en-US" sz="2800"/>
              <a:t>令             ，则</a:t>
            </a:r>
            <a:endParaRPr lang="en-US" altLang="zh-CN" sz="2800"/>
          </a:p>
          <a:p>
            <a:pPr marL="0" indent="0">
              <a:spcBef>
                <a:spcPct val="0"/>
              </a:spcBef>
              <a:buFontTx/>
              <a:buNone/>
            </a:pPr>
            <a:endParaRPr lang="en-US" altLang="zh-CN" sz="2800"/>
          </a:p>
          <a:p>
            <a:pPr marL="0" indent="0">
              <a:spcBef>
                <a:spcPct val="0"/>
              </a:spcBef>
              <a:buFontTx/>
              <a:buNone/>
            </a:pPr>
            <a:endParaRPr lang="en-US" altLang="zh-CN" sz="2800"/>
          </a:p>
          <a:p>
            <a:pPr marL="0" indent="0">
              <a:buFontTx/>
              <a:buNone/>
            </a:pPr>
            <a:endParaRPr lang="zh-CN" altLang="en-US" sz="2800"/>
          </a:p>
        </p:txBody>
      </p:sp>
      <p:sp>
        <p:nvSpPr>
          <p:cNvPr id="30723"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aphicFrame>
        <p:nvGraphicFramePr>
          <p:cNvPr id="30724" name="Object 21"/>
          <p:cNvGraphicFramePr>
            <a:graphicFrameLocks noChangeAspect="1"/>
          </p:cNvGraphicFramePr>
          <p:nvPr/>
        </p:nvGraphicFramePr>
        <p:xfrm>
          <a:off x="2339658" y="3076258"/>
          <a:ext cx="4210050" cy="704850"/>
        </p:xfrm>
        <a:graphic>
          <a:graphicData uri="http://schemas.openxmlformats.org/presentationml/2006/ole">
            <mc:AlternateContent xmlns:mc="http://schemas.openxmlformats.org/markup-compatibility/2006">
              <mc:Choice xmlns:v="urn:schemas-microsoft-com:vml" Requires="v">
                <p:oleObj spid="_x0000_s30748" name="Equation" r:id="rId1" imgW="2603500" imgH="431800" progId="Equation.DSMT4">
                  <p:embed/>
                </p:oleObj>
              </mc:Choice>
              <mc:Fallback>
                <p:oleObj name="Equation" r:id="rId1" imgW="2603500" imgH="431800" progId="Equation.DSMT4">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658" y="3076258"/>
                        <a:ext cx="42100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5" name="Object 21"/>
          <p:cNvGraphicFramePr>
            <a:graphicFrameLocks noChangeAspect="1"/>
          </p:cNvGraphicFramePr>
          <p:nvPr/>
        </p:nvGraphicFramePr>
        <p:xfrm>
          <a:off x="1115378" y="4005263"/>
          <a:ext cx="985837" cy="290512"/>
        </p:xfrm>
        <a:graphic>
          <a:graphicData uri="http://schemas.openxmlformats.org/presentationml/2006/ole">
            <mc:AlternateContent xmlns:mc="http://schemas.openxmlformats.org/markup-compatibility/2006">
              <mc:Choice xmlns:v="urn:schemas-microsoft-com:vml" Requires="v">
                <p:oleObj spid="_x0000_s30749" name="Equation" r:id="rId3" imgW="609600" imgH="177800" progId="Equation.DSMT4">
                  <p:embed/>
                </p:oleObj>
              </mc:Choice>
              <mc:Fallback>
                <p:oleObj name="Equation" r:id="rId3" imgW="609600" imgH="177800"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378" y="4005263"/>
                        <a:ext cx="985837"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6" name="Object 21"/>
          <p:cNvGraphicFramePr>
            <a:graphicFrameLocks noChangeAspect="1"/>
          </p:cNvGraphicFramePr>
          <p:nvPr/>
        </p:nvGraphicFramePr>
        <p:xfrm>
          <a:off x="2051685" y="4725353"/>
          <a:ext cx="4929188" cy="704850"/>
        </p:xfrm>
        <a:graphic>
          <a:graphicData uri="http://schemas.openxmlformats.org/presentationml/2006/ole">
            <mc:AlternateContent xmlns:mc="http://schemas.openxmlformats.org/markup-compatibility/2006">
              <mc:Choice xmlns:v="urn:schemas-microsoft-com:vml" Requires="v">
                <p:oleObj spid="_x0000_s30750" name="Equation" r:id="rId5" imgW="3048000" imgH="431800" progId="Equation.DSMT4">
                  <p:embed/>
                </p:oleObj>
              </mc:Choice>
              <mc:Fallback>
                <p:oleObj name="Equation" r:id="rId5" imgW="3048000" imgH="43180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685" y="4725353"/>
                        <a:ext cx="492918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a:solidFill>
                  <a:schemeClr val="accent2"/>
                </a:solidFill>
              </a:rPr>
              <a:t> </a:t>
            </a:r>
            <a:br>
              <a:rPr lang="en-US" altLang="zh-CN">
                <a:solidFill>
                  <a:schemeClr val="accent2"/>
                </a:solidFill>
              </a:rPr>
            </a:br>
            <a:r>
              <a:rPr lang="en-US" altLang="zh-CN">
                <a:solidFill>
                  <a:schemeClr val="accent2"/>
                </a:solidFill>
              </a:rPr>
              <a:t> </a:t>
            </a:r>
            <a:br>
              <a:rPr lang="en-US" altLang="zh-CN">
                <a:solidFill>
                  <a:schemeClr val="accent2"/>
                </a:solidFill>
              </a:rPr>
            </a:br>
            <a:r>
              <a:rPr lang="en-US" altLang="zh-CN">
                <a:solidFill>
                  <a:schemeClr val="accent2"/>
                </a:solidFill>
              </a:rPr>
              <a:t> </a:t>
            </a:r>
            <a:br>
              <a:rPr lang="en-US" altLang="zh-CN">
                <a:solidFill>
                  <a:schemeClr val="accent2"/>
                </a:solidFill>
              </a:rPr>
            </a:br>
            <a:endParaRPr lang="zh-CN" altLang="en-US">
              <a:solidFill>
                <a:schemeClr val="accent2"/>
              </a:solidFill>
            </a:endParaRPr>
          </a:p>
        </p:txBody>
      </p:sp>
      <p:graphicFrame>
        <p:nvGraphicFramePr>
          <p:cNvPr id="32771" name="Object 3"/>
          <p:cNvGraphicFramePr>
            <a:graphicFrameLocks noChangeAspect="1"/>
          </p:cNvGraphicFramePr>
          <p:nvPr/>
        </p:nvGraphicFramePr>
        <p:xfrm>
          <a:off x="2654300" y="1836738"/>
          <a:ext cx="3879850" cy="1304925"/>
        </p:xfrm>
        <a:graphic>
          <a:graphicData uri="http://schemas.openxmlformats.org/presentationml/2006/ole">
            <mc:AlternateContent xmlns:mc="http://schemas.openxmlformats.org/markup-compatibility/2006">
              <mc:Choice xmlns:v="urn:schemas-microsoft-com:vml" Requires="v">
                <p:oleObj spid="_x0000_s32828" name="Picture2" r:id="rId1" imgW="2733675" imgH="923925" progId="Word.Picture.8">
                  <p:embed/>
                </p:oleObj>
              </mc:Choice>
              <mc:Fallback>
                <p:oleObj name="Picture2" r:id="rId1" imgW="2733675" imgH="923925"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300" y="1836738"/>
                        <a:ext cx="3879850" cy="130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2" name="Text Box 4"/>
          <p:cNvSpPr txBox="1">
            <a:spLocks noChangeArrowheads="1"/>
          </p:cNvSpPr>
          <p:nvPr/>
        </p:nvSpPr>
        <p:spPr bwMode="auto">
          <a:xfrm>
            <a:off x="539750" y="850900"/>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rPr>
              <a:t>浊音自相关函数波形</a:t>
            </a:r>
            <a:endParaRPr kumimoji="1" lang="zh-CN" altLang="en-US" sz="2800" b="1">
              <a:solidFill>
                <a:schemeClr val="tx2"/>
              </a:solidFill>
              <a:latin typeface="Times New Roman" panose="02020603050405020304" pitchFamily="18" charset="0"/>
            </a:endParaRPr>
          </a:p>
        </p:txBody>
      </p:sp>
      <p:sp>
        <p:nvSpPr>
          <p:cNvPr id="32773" name="Text Box 5"/>
          <p:cNvSpPr txBox="1">
            <a:spLocks noChangeArrowheads="1"/>
          </p:cNvSpPr>
          <p:nvPr/>
        </p:nvSpPr>
        <p:spPr bwMode="auto">
          <a:xfrm>
            <a:off x="539115" y="3476625"/>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rPr>
              <a:t>清音自相关函数波形</a:t>
            </a:r>
            <a:endParaRPr kumimoji="1" lang="zh-CN" altLang="en-US" sz="2800" b="1">
              <a:solidFill>
                <a:schemeClr val="tx2"/>
              </a:solidFill>
              <a:latin typeface="Times New Roman" panose="02020603050405020304" pitchFamily="18" charset="0"/>
            </a:endParaRPr>
          </a:p>
        </p:txBody>
      </p:sp>
      <p:graphicFrame>
        <p:nvGraphicFramePr>
          <p:cNvPr id="32774" name="Object 7"/>
          <p:cNvGraphicFramePr>
            <a:graphicFrameLocks noChangeAspect="1"/>
          </p:cNvGraphicFramePr>
          <p:nvPr/>
        </p:nvGraphicFramePr>
        <p:xfrm>
          <a:off x="2616200" y="4186238"/>
          <a:ext cx="3995738" cy="1406525"/>
        </p:xfrm>
        <a:graphic>
          <a:graphicData uri="http://schemas.openxmlformats.org/presentationml/2006/ole">
            <mc:AlternateContent xmlns:mc="http://schemas.openxmlformats.org/markup-compatibility/2006">
              <mc:Choice xmlns:v="urn:schemas-microsoft-com:vml" Requires="v">
                <p:oleObj spid="_x0000_s32829" name="Picture2" r:id="rId3" imgW="2733675" imgH="1028700" progId="Word.Picture.8">
                  <p:embed/>
                </p:oleObj>
              </mc:Choice>
              <mc:Fallback>
                <p:oleObj name="Picture2" r:id="rId3" imgW="2733675" imgH="10287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0" y="4186238"/>
                        <a:ext cx="3995738"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下箭头 1"/>
          <p:cNvSpPr>
            <a:spLocks noChangeArrowheads="1"/>
          </p:cNvSpPr>
          <p:nvPr/>
        </p:nvSpPr>
        <p:spPr bwMode="auto">
          <a:xfrm rot="2700000">
            <a:off x="3798888" y="1639888"/>
            <a:ext cx="103187" cy="503237"/>
          </a:xfrm>
          <a:prstGeom prst="downArrow">
            <a:avLst>
              <a:gd name="adj1" fmla="val 50000"/>
              <a:gd name="adj2" fmla="val 50237"/>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 name="Text Box 4"/>
          <p:cNvSpPr txBox="1">
            <a:spLocks noChangeArrowheads="1"/>
          </p:cNvSpPr>
          <p:nvPr/>
        </p:nvSpPr>
        <p:spPr bwMode="auto">
          <a:xfrm>
            <a:off x="4060825" y="1328738"/>
            <a:ext cx="1114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chemeClr val="tx1"/>
                </a:solidFill>
                <a:latin typeface="Times New Roman" panose="02020603050405020304" pitchFamily="18" charset="0"/>
              </a:rPr>
              <a:t>基频位置</a:t>
            </a:r>
            <a:endParaRPr kumimoji="1" lang="zh-CN" altLang="en-US" sz="1800" b="1">
              <a:solidFill>
                <a:schemeClr val="tx1"/>
              </a:solidFill>
              <a:latin typeface="Times New Roman" panose="02020603050405020304" pitchFamily="18" charset="0"/>
            </a:endParaRPr>
          </a:p>
        </p:txBody>
      </p:sp>
      <p:sp>
        <p:nvSpPr>
          <p:cNvPr id="32777" name="文本框 2"/>
          <p:cNvSpPr txBox="1">
            <a:spLocks noChangeArrowheads="1"/>
          </p:cNvSpPr>
          <p:nvPr/>
        </p:nvSpPr>
        <p:spPr bwMode="auto">
          <a:xfrm>
            <a:off x="4572000" y="3049588"/>
            <a:ext cx="261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200">
                <a:latin typeface="Times New Roman" panose="02020603050405020304" pitchFamily="18" charset="0"/>
                <a:cs typeface="Times New Roman" panose="02020603050405020304" pitchFamily="18" charset="0"/>
              </a:rPr>
              <a:t>k</a:t>
            </a:r>
            <a:endParaRPr lang="zh-CN" altLang="en-US" sz="1200">
              <a:latin typeface="Times New Roman" panose="02020603050405020304" pitchFamily="18" charset="0"/>
              <a:cs typeface="Times New Roman" panose="02020603050405020304" pitchFamily="18" charset="0"/>
            </a:endParaRPr>
          </a:p>
        </p:txBody>
      </p:sp>
      <p:sp>
        <p:nvSpPr>
          <p:cNvPr id="10" name="下箭头 9"/>
          <p:cNvSpPr>
            <a:spLocks noChangeArrowheads="1"/>
          </p:cNvSpPr>
          <p:nvPr/>
        </p:nvSpPr>
        <p:spPr bwMode="auto">
          <a:xfrm rot="-3720000">
            <a:off x="2386013" y="1962150"/>
            <a:ext cx="109537" cy="493713"/>
          </a:xfrm>
          <a:prstGeom prst="downArrow">
            <a:avLst>
              <a:gd name="adj1" fmla="val 50000"/>
              <a:gd name="adj2" fmla="val 49914"/>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 name="Text Box 4"/>
          <p:cNvSpPr txBox="1">
            <a:spLocks noChangeArrowheads="1"/>
          </p:cNvSpPr>
          <p:nvPr/>
        </p:nvSpPr>
        <p:spPr bwMode="auto">
          <a:xfrm>
            <a:off x="849313" y="176371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chemeClr val="tx1"/>
                </a:solidFill>
                <a:latin typeface="Times New Roman" panose="02020603050405020304" pitchFamily="18" charset="0"/>
              </a:rPr>
              <a:t>规整自相关</a:t>
            </a:r>
            <a:endParaRPr kumimoji="1" lang="zh-CN" altLang="en-US" sz="1800" b="1">
              <a:solidFill>
                <a:schemeClr val="tx1"/>
              </a:solidFill>
              <a:latin typeface="Times New Roman" panose="02020603050405020304" pitchFamily="18" charset="0"/>
            </a:endParaRPr>
          </a:p>
        </p:txBody>
      </p:sp>
      <p:graphicFrame>
        <p:nvGraphicFramePr>
          <p:cNvPr id="12" name="Object 8"/>
          <p:cNvGraphicFramePr>
            <a:graphicFrameLocks noChangeAspect="1"/>
          </p:cNvGraphicFramePr>
          <p:nvPr/>
        </p:nvGraphicFramePr>
        <p:xfrm>
          <a:off x="1221105" y="2127250"/>
          <a:ext cx="641985" cy="347980"/>
        </p:xfrm>
        <a:graphic>
          <a:graphicData uri="http://schemas.openxmlformats.org/presentationml/2006/ole">
            <mc:AlternateContent xmlns:mc="http://schemas.openxmlformats.org/markup-compatibility/2006">
              <mc:Choice xmlns:v="urn:schemas-microsoft-com:vml" Requires="v">
                <p:oleObj spid="_x0000_s32830" name="Equation" r:id="rId5" imgW="647700" imgH="355600" progId="Equation.DSMT4">
                  <p:embed/>
                </p:oleObj>
              </mc:Choice>
              <mc:Fallback>
                <p:oleObj name="Equation" r:id="rId5" imgW="647700" imgH="355600" progId="Equation.DSMT4">
                  <p:embed/>
                  <p:pic>
                    <p:nvPicPr>
                      <p:cNvPr id="0" name="Object 8"/>
                      <p:cNvPicPr>
                        <a:picLocks noChangeAspect="1" noChangeArrowheads="1"/>
                      </p:cNvPicPr>
                      <p:nvPr/>
                    </p:nvPicPr>
                    <p:blipFill>
                      <a:blip r:embed="rId6"/>
                      <a:srcRect/>
                      <a:stretch>
                        <a:fillRect/>
                      </a:stretch>
                    </p:blipFill>
                    <p:spPr bwMode="auto">
                      <a:xfrm>
                        <a:off x="1221105" y="2127250"/>
                        <a:ext cx="641985" cy="347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8"/>
          <p:cNvGraphicFramePr>
            <a:graphicFrameLocks noChangeAspect="1"/>
          </p:cNvGraphicFramePr>
          <p:nvPr/>
        </p:nvGraphicFramePr>
        <p:xfrm>
          <a:off x="5103581" y="1319885"/>
          <a:ext cx="188595" cy="324485"/>
        </p:xfrm>
        <a:graphic>
          <a:graphicData uri="http://schemas.openxmlformats.org/presentationml/2006/ole">
            <mc:AlternateContent xmlns:mc="http://schemas.openxmlformats.org/markup-compatibility/2006">
              <mc:Choice xmlns:v="urn:schemas-microsoft-com:vml" Requires="v">
                <p:oleObj spid="_x0000_s32831" name="Equation" r:id="rId7" imgW="127000" imgH="215900" progId="Equation.DSMT4">
                  <p:embed/>
                </p:oleObj>
              </mc:Choice>
              <mc:Fallback>
                <p:oleObj name="Equation" r:id="rId7" imgW="127000" imgH="215900" progId="Equation.DSMT4">
                  <p:embed/>
                  <p:pic>
                    <p:nvPicPr>
                      <p:cNvPr id="0" name="Object 8"/>
                      <p:cNvPicPr>
                        <a:picLocks noChangeAspect="1" noChangeArrowheads="1"/>
                      </p:cNvPicPr>
                      <p:nvPr/>
                    </p:nvPicPr>
                    <p:blipFill>
                      <a:blip r:embed="rId8"/>
                      <a:srcRect/>
                      <a:stretch>
                        <a:fillRect/>
                      </a:stretch>
                    </p:blipFill>
                    <p:spPr bwMode="auto">
                      <a:xfrm>
                        <a:off x="5103581" y="1319885"/>
                        <a:ext cx="188595" cy="324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8"/>
          <p:cNvGraphicFramePr>
            <a:graphicFrameLocks noChangeAspect="1"/>
          </p:cNvGraphicFramePr>
          <p:nvPr/>
        </p:nvGraphicFramePr>
        <p:xfrm>
          <a:off x="6916738" y="2270125"/>
          <a:ext cx="898525" cy="354013"/>
        </p:xfrm>
        <a:graphic>
          <a:graphicData uri="http://schemas.openxmlformats.org/presentationml/2006/ole">
            <mc:AlternateContent xmlns:mc="http://schemas.openxmlformats.org/markup-compatibility/2006">
              <mc:Choice xmlns:v="urn:schemas-microsoft-com:vml" Requires="v">
                <p:oleObj spid="_x0000_s32832" name="Equation" r:id="rId9" imgW="635000" imgH="254000" progId="Equation.DSMT4">
                  <p:embed/>
                </p:oleObj>
              </mc:Choice>
              <mc:Fallback>
                <p:oleObj name="Equation" r:id="rId9" imgW="635000" imgH="2540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16738" y="2270125"/>
                        <a:ext cx="89852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下箭头 14"/>
          <p:cNvSpPr>
            <a:spLocks noChangeArrowheads="1"/>
          </p:cNvSpPr>
          <p:nvPr/>
        </p:nvSpPr>
        <p:spPr bwMode="auto">
          <a:xfrm rot="2700000">
            <a:off x="7624763" y="1824038"/>
            <a:ext cx="103187" cy="503237"/>
          </a:xfrm>
          <a:prstGeom prst="downArrow">
            <a:avLst>
              <a:gd name="adj1" fmla="val 50000"/>
              <a:gd name="adj2" fmla="val 50237"/>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 name="Text Box 4"/>
          <p:cNvSpPr txBox="1">
            <a:spLocks noChangeArrowheads="1"/>
          </p:cNvSpPr>
          <p:nvPr/>
        </p:nvSpPr>
        <p:spPr bwMode="auto">
          <a:xfrm>
            <a:off x="7884160" y="1512888"/>
            <a:ext cx="1114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chemeClr val="tx1"/>
                </a:solidFill>
                <a:latin typeface="Times New Roman" panose="02020603050405020304" pitchFamily="18" charset="0"/>
              </a:rPr>
              <a:t>采样频率</a:t>
            </a:r>
            <a:endParaRPr kumimoji="1" lang="zh-CN" altLang="en-US" sz="1800" b="1">
              <a:solidFill>
                <a:schemeClr val="tx1"/>
              </a:solidFill>
              <a:latin typeface="Times New Roman" panose="02020603050405020304" pitchFamily="18" charset="0"/>
            </a:endParaRPr>
          </a:p>
        </p:txBody>
      </p:sp>
      <p:graphicFrame>
        <p:nvGraphicFramePr>
          <p:cNvPr id="19" name="Object 8"/>
          <p:cNvGraphicFramePr>
            <a:graphicFrameLocks noChangeAspect="1"/>
          </p:cNvGraphicFramePr>
          <p:nvPr/>
        </p:nvGraphicFramePr>
        <p:xfrm>
          <a:off x="6985000" y="4508500"/>
          <a:ext cx="1382713" cy="552450"/>
        </p:xfrm>
        <a:graphic>
          <a:graphicData uri="http://schemas.openxmlformats.org/presentationml/2006/ole">
            <mc:AlternateContent xmlns:mc="http://schemas.openxmlformats.org/markup-compatibility/2006">
              <mc:Choice xmlns:v="urn:schemas-microsoft-com:vml" Requires="v">
                <p:oleObj spid="_x0000_s32833" name="Equation" r:id="rId11" imgW="977265" imgH="393700" progId="Equation.DSMT4">
                  <p:embed/>
                </p:oleObj>
              </mc:Choice>
              <mc:Fallback>
                <p:oleObj name="Equation" r:id="rId11" imgW="977265" imgH="3937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5000" y="4508500"/>
                        <a:ext cx="138271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par>
                                <p:cTn id="12" presetID="22" presetClass="entr" presetSubtype="1"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500"/>
                                        <p:tgtEl>
                                          <p:spTgt spid="9"/>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par>
                                <p:cTn id="24" presetID="22" presetClass="entr" presetSubtype="1"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up)">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up)">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9" grpId="0"/>
      <p:bldP spid="10" grpId="0" bldLvl="0" animBg="1"/>
      <p:bldP spid="11" grpId="0"/>
      <p:bldP spid="15" grpId="0" bldLvl="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323215" y="549275"/>
            <a:ext cx="8682355" cy="592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000" rIns="180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2"/>
              </a:buClr>
              <a:buFont typeface="Wingdings" panose="05000000000000000000" pitchFamily="2" charset="2"/>
              <a:buChar char="q"/>
            </a:pPr>
            <a:r>
              <a:rPr kumimoji="1" lang="zh-CN" altLang="en-US" sz="2800" b="1" dirty="0">
                <a:solidFill>
                  <a:schemeClr val="tx2"/>
                </a:solidFill>
                <a:latin typeface="华文新魏" panose="02010800040101010101" pitchFamily="2" charset="-122"/>
                <a:ea typeface="华文新魏" panose="02010800040101010101" pitchFamily="2" charset="-122"/>
              </a:rPr>
              <a:t>基音周期检测</a:t>
            </a:r>
            <a:r>
              <a:rPr kumimoji="1" lang="en-US" altLang="zh-CN" sz="2800" b="1" dirty="0">
                <a:solidFill>
                  <a:schemeClr val="tx2"/>
                </a:solidFill>
                <a:latin typeface="华文新魏" panose="02010800040101010101" pitchFamily="2" charset="-122"/>
                <a:ea typeface="华文新魏" panose="02010800040101010101" pitchFamily="2" charset="-122"/>
              </a:rPr>
              <a:t>---</a:t>
            </a:r>
            <a:r>
              <a:rPr kumimoji="1" lang="zh-CN" altLang="en-US" sz="2800" b="1" dirty="0">
                <a:solidFill>
                  <a:schemeClr val="tx2"/>
                </a:solidFill>
                <a:latin typeface="华文新魏" panose="02010800040101010101" pitchFamily="2" charset="-122"/>
                <a:ea typeface="华文新魏" panose="02010800040101010101" pitchFamily="2" charset="-122"/>
              </a:rPr>
              <a:t>短时自相关函数特征的应用示例</a:t>
            </a:r>
            <a:endParaRPr kumimoji="1" lang="en-US" altLang="zh-CN" sz="2800" b="1" dirty="0">
              <a:solidFill>
                <a:schemeClr val="tx2"/>
              </a:solidFill>
              <a:latin typeface="华文新魏" panose="02010800040101010101" pitchFamily="2" charset="-122"/>
              <a:ea typeface="华文新魏" panose="02010800040101010101" pitchFamily="2" charset="-122"/>
            </a:endParaRPr>
          </a:p>
          <a:p>
            <a:pPr eaLnBrk="1" hangingPunct="1">
              <a:lnSpc>
                <a:spcPct val="120000"/>
              </a:lnSpc>
              <a:spcBef>
                <a:spcPct val="35000"/>
              </a:spcBef>
              <a:buClr>
                <a:schemeClr val="accent2"/>
              </a:buClr>
              <a:buSzPct val="80000"/>
              <a:buFont typeface="Wingdings" panose="05000000000000000000" pitchFamily="2" charset="2"/>
              <a:buChar char="ü"/>
            </a:pPr>
            <a:r>
              <a:rPr kumimoji="1" lang="en-US" altLang="zh-CN" sz="2800" dirty="0">
                <a:solidFill>
                  <a:schemeClr val="tx2"/>
                </a:solidFill>
                <a:latin typeface="宋体" panose="02010600030101010101" pitchFamily="2" charset="-122"/>
              </a:rPr>
              <a:t> </a:t>
            </a:r>
            <a:r>
              <a:rPr kumimoji="1" lang="zh-CN" altLang="en-US" sz="2800" dirty="0">
                <a:solidFill>
                  <a:schemeClr val="tx2"/>
                </a:solidFill>
                <a:latin typeface="宋体" panose="02010600030101010101" pitchFamily="2" charset="-122"/>
              </a:rPr>
              <a:t>基音</a:t>
            </a:r>
            <a:r>
              <a:rPr kumimoji="1" lang="zh-CN" altLang="en-US" sz="2800" dirty="0">
                <a:solidFill>
                  <a:schemeClr val="tx2"/>
                </a:solidFill>
                <a:latin typeface="宋体" panose="02010600030101010101" pitchFamily="2" charset="-122"/>
              </a:rPr>
              <a:t>周期是指发浊音时声带振动所引起的周期性，它只是准周期性的。  </a:t>
            </a:r>
            <a:endParaRPr kumimoji="1" lang="zh-CN" altLang="en-US" sz="2800" dirty="0">
              <a:solidFill>
                <a:schemeClr val="tx2"/>
              </a:solidFill>
              <a:latin typeface="宋体" panose="02010600030101010101" pitchFamily="2" charset="-122"/>
            </a:endParaRPr>
          </a:p>
          <a:p>
            <a:pPr eaLnBrk="1" hangingPunct="1">
              <a:lnSpc>
                <a:spcPct val="120000"/>
              </a:lnSpc>
              <a:spcBef>
                <a:spcPct val="35000"/>
              </a:spcBef>
              <a:buClr>
                <a:schemeClr val="accent2"/>
              </a:buClr>
              <a:buSzPct val="80000"/>
              <a:buFont typeface="Wingdings" panose="05000000000000000000" pitchFamily="2" charset="2"/>
              <a:buChar char="ü"/>
            </a:pPr>
            <a:r>
              <a:rPr kumimoji="1" lang="en-US" altLang="zh-CN" sz="2800" dirty="0">
                <a:solidFill>
                  <a:schemeClr val="tx2"/>
                </a:solidFill>
                <a:latin typeface="宋体" panose="02010600030101010101" pitchFamily="2" charset="-122"/>
              </a:rPr>
              <a:t> </a:t>
            </a:r>
            <a:r>
              <a:rPr kumimoji="1" lang="zh-CN" altLang="en-US" sz="2800" dirty="0">
                <a:solidFill>
                  <a:schemeClr val="tx2"/>
                </a:solidFill>
                <a:latin typeface="宋体" panose="02010600030101010101" pitchFamily="2" charset="-122"/>
              </a:rPr>
              <a:t>在语音编解码器、语音识别、语音</a:t>
            </a:r>
            <a:r>
              <a:rPr kumimoji="1" lang="zh-CN" altLang="en-US" sz="2800" dirty="0">
                <a:solidFill>
                  <a:schemeClr val="tx2"/>
                </a:solidFill>
                <a:latin typeface="宋体" panose="02010600030101010101" pitchFamily="2" charset="-122"/>
              </a:rPr>
              <a:t>合成，以及生理缺陷人的辅助系统等许多领域都是重要的一环。</a:t>
            </a:r>
            <a:endParaRPr kumimoji="1" lang="zh-CN" altLang="en-US" sz="2800" dirty="0">
              <a:solidFill>
                <a:schemeClr val="tx2"/>
              </a:solidFill>
              <a:latin typeface="宋体" panose="02010600030101010101" pitchFamily="2" charset="-122"/>
            </a:endParaRPr>
          </a:p>
          <a:p>
            <a:pPr eaLnBrk="1" hangingPunct="1">
              <a:lnSpc>
                <a:spcPct val="120000"/>
              </a:lnSpc>
              <a:spcBef>
                <a:spcPct val="35000"/>
              </a:spcBef>
              <a:buClr>
                <a:schemeClr val="accent2"/>
              </a:buClr>
              <a:buSzPct val="80000"/>
              <a:buFont typeface="Wingdings" panose="05000000000000000000" pitchFamily="2" charset="2"/>
              <a:buChar char="ü"/>
            </a:pPr>
            <a:r>
              <a:rPr kumimoji="1" lang="en-US" altLang="zh-CN" sz="2800" dirty="0">
                <a:solidFill>
                  <a:schemeClr val="tx2"/>
                </a:solidFill>
                <a:latin typeface="宋体" panose="02010600030101010101" pitchFamily="2" charset="-122"/>
              </a:rPr>
              <a:t> </a:t>
            </a:r>
            <a:r>
              <a:rPr kumimoji="1" lang="zh-CN" altLang="en-US" sz="2800" dirty="0">
                <a:solidFill>
                  <a:schemeClr val="tx2"/>
                </a:solidFill>
                <a:latin typeface="宋体" panose="02010600030101010101" pitchFamily="2" charset="-122"/>
              </a:rPr>
              <a:t>浊音信号的自相关函数在基音周期的整数倍位置上出现峰值，</a:t>
            </a:r>
            <a:r>
              <a:rPr kumimoji="1" lang="zh-CN" altLang="en-US" sz="2800" dirty="0">
                <a:solidFill>
                  <a:schemeClr val="tx2"/>
                </a:solidFill>
                <a:latin typeface="宋体" panose="02010600030101010101" pitchFamily="2" charset="-122"/>
                <a:sym typeface="+mn-ea"/>
              </a:rPr>
              <a:t>峰—峰值之间对应的就是基音周期</a:t>
            </a:r>
            <a:r>
              <a:rPr kumimoji="1" lang="zh-CN" altLang="en-US" sz="2800" dirty="0">
                <a:solidFill>
                  <a:schemeClr val="tx2"/>
                </a:solidFill>
                <a:latin typeface="宋体" panose="02010600030101010101" pitchFamily="2" charset="-122"/>
              </a:rPr>
              <a:t>。</a:t>
            </a:r>
            <a:endParaRPr kumimoji="1" lang="zh-CN" altLang="en-US" sz="2800" dirty="0">
              <a:solidFill>
                <a:schemeClr val="tx2"/>
              </a:solidFill>
              <a:latin typeface="宋体" panose="02010600030101010101" pitchFamily="2" charset="-122"/>
            </a:endParaRPr>
          </a:p>
          <a:p>
            <a:pPr eaLnBrk="1" hangingPunct="1">
              <a:lnSpc>
                <a:spcPct val="120000"/>
              </a:lnSpc>
              <a:spcBef>
                <a:spcPct val="35000"/>
              </a:spcBef>
              <a:buClr>
                <a:schemeClr val="accent2"/>
              </a:buClr>
              <a:buSzPct val="80000"/>
              <a:buFont typeface="Wingdings" panose="05000000000000000000" pitchFamily="2" charset="2"/>
              <a:buChar char="ü"/>
            </a:pPr>
            <a:r>
              <a:rPr kumimoji="1" lang="en-US" altLang="zh-CN" sz="2800" dirty="0">
                <a:solidFill>
                  <a:schemeClr val="tx2"/>
                </a:solidFill>
                <a:latin typeface="宋体" panose="02010600030101010101" pitchFamily="2" charset="-122"/>
                <a:sym typeface="+mn-ea"/>
              </a:rPr>
              <a:t> </a:t>
            </a:r>
            <a:r>
              <a:rPr kumimoji="1" lang="zh-CN" altLang="en-US" sz="2800" dirty="0">
                <a:solidFill>
                  <a:schemeClr val="tx2"/>
                </a:solidFill>
                <a:latin typeface="宋体" panose="02010600030101010101" pitchFamily="2" charset="-122"/>
                <a:sym typeface="+mn-ea"/>
              </a:rPr>
              <a:t>而清音的自相关函数没有明显的峰值出现 </a:t>
            </a:r>
            <a:r>
              <a:rPr kumimoji="1" lang="zh-CN" altLang="en-US" sz="2800" dirty="0">
                <a:solidFill>
                  <a:schemeClr val="tx2"/>
                </a:solidFill>
                <a:latin typeface="宋体" panose="02010600030101010101" pitchFamily="2" charset="-122"/>
              </a:rPr>
              <a:t>。</a:t>
            </a:r>
            <a:endParaRPr kumimoji="1" lang="en-US" altLang="zh-CN" sz="2800" dirty="0">
              <a:solidFill>
                <a:schemeClr val="tx2"/>
              </a:solidFill>
              <a:latin typeface="宋体" panose="02010600030101010101" pitchFamily="2" charset="-122"/>
            </a:endParaRPr>
          </a:p>
          <a:p>
            <a:pPr eaLnBrk="1" hangingPunct="1">
              <a:lnSpc>
                <a:spcPct val="120000"/>
              </a:lnSpc>
              <a:spcBef>
                <a:spcPct val="35000"/>
              </a:spcBef>
              <a:buClr>
                <a:schemeClr val="accent2"/>
              </a:buClr>
              <a:buSzPct val="80000"/>
              <a:buFont typeface="Wingdings" panose="05000000000000000000" pitchFamily="2" charset="2"/>
              <a:buChar char="ü"/>
            </a:pPr>
            <a:r>
              <a:rPr kumimoji="1" lang="zh-CN" altLang="en-US" sz="2800" b="1" dirty="0">
                <a:solidFill>
                  <a:srgbClr val="0070C0"/>
                </a:solidFill>
                <a:latin typeface="黑体" panose="02010609060101010101" pitchFamily="49" charset="-122"/>
                <a:ea typeface="黑体" panose="02010609060101010101" pitchFamily="49" charset="-122"/>
                <a:cs typeface="Times New Roman" panose="02020603050405020304" pitchFamily="18" charset="0"/>
              </a:rPr>
              <a:t>检测算法</a:t>
            </a:r>
            <a:r>
              <a:rPr kumimoji="1" lang="zh-CN" altLang="en-US" sz="2800" dirty="0">
                <a:solidFill>
                  <a:schemeClr val="tx2"/>
                </a:solidFill>
                <a:latin typeface="Times New Roman" panose="02020603050405020304" pitchFamily="18" charset="0"/>
                <a:cs typeface="Times New Roman" panose="02020603050405020304" pitchFamily="18" charset="0"/>
              </a:rPr>
              <a:t>：在限定区间内，</a:t>
            </a:r>
            <a:r>
              <a:rPr kumimoji="1" lang="zh-CN" altLang="en-US" sz="2800" dirty="0">
                <a:solidFill>
                  <a:schemeClr val="tx2"/>
                </a:solidFill>
                <a:latin typeface="Times New Roman" panose="02020603050405020304" pitchFamily="18" charset="0"/>
                <a:cs typeface="Times New Roman" panose="02020603050405020304" pitchFamily="18" charset="0"/>
              </a:rPr>
              <a:t>找到最大峰值出现的位置。</a:t>
            </a:r>
            <a:endParaRPr kumimoji="1" lang="zh-CN" altLang="en-US" sz="2800" dirty="0">
              <a:solidFill>
                <a:schemeClr val="tx2"/>
              </a:solidFill>
              <a:latin typeface="Times New Roman" panose="02020603050405020304" pitchFamily="18" charset="0"/>
              <a:cs typeface="Times New Roman" panose="02020603050405020304" pitchFamily="18" charset="0"/>
            </a:endParaRPr>
          </a:p>
          <a:p>
            <a:pPr eaLnBrk="1" hangingPunct="1">
              <a:buClr>
                <a:schemeClr val="accent2"/>
              </a:buClr>
              <a:buSzPct val="80000"/>
              <a:buFont typeface="Wingdings" panose="05000000000000000000" pitchFamily="2" charset="2"/>
              <a:buChar char="ü"/>
            </a:pPr>
            <a:endParaRPr kumimoji="1" lang="zh-CN" altLang="en-US" sz="2800" dirty="0">
              <a:solidFill>
                <a:schemeClr val="tx2"/>
              </a:solidFill>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4978">
                                            <p:txEl>
                                              <p:pRg st="1" end="1"/>
                                            </p:txEl>
                                          </p:spTgt>
                                        </p:tgtEl>
                                        <p:attrNameLst>
                                          <p:attrName>style.visibility</p:attrName>
                                        </p:attrNameLst>
                                      </p:cBhvr>
                                      <p:to>
                                        <p:strVal val="visible"/>
                                      </p:to>
                                    </p:set>
                                    <p:animEffect transition="in" filter="wipe(up)">
                                      <p:cBhvr>
                                        <p:cTn id="7" dur="500"/>
                                        <p:tgtEl>
                                          <p:spTgt spid="25497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4978">
                                            <p:txEl>
                                              <p:pRg st="2" end="2"/>
                                            </p:txEl>
                                          </p:spTgt>
                                        </p:tgtEl>
                                        <p:attrNameLst>
                                          <p:attrName>style.visibility</p:attrName>
                                        </p:attrNameLst>
                                      </p:cBhvr>
                                      <p:to>
                                        <p:strVal val="visible"/>
                                      </p:to>
                                    </p:set>
                                    <p:animEffect transition="in" filter="wipe(up)">
                                      <p:cBhvr>
                                        <p:cTn id="12" dur="500"/>
                                        <p:tgtEl>
                                          <p:spTgt spid="25497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4978">
                                            <p:txEl>
                                              <p:pRg st="3" end="3"/>
                                            </p:txEl>
                                          </p:spTgt>
                                        </p:tgtEl>
                                        <p:attrNameLst>
                                          <p:attrName>style.visibility</p:attrName>
                                        </p:attrNameLst>
                                      </p:cBhvr>
                                      <p:to>
                                        <p:strVal val="visible"/>
                                      </p:to>
                                    </p:set>
                                    <p:animEffect transition="in" filter="wipe(up)">
                                      <p:cBhvr>
                                        <p:cTn id="17" dur="500"/>
                                        <p:tgtEl>
                                          <p:spTgt spid="25497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4978">
                                            <p:txEl>
                                              <p:pRg st="4" end="4"/>
                                            </p:txEl>
                                          </p:spTgt>
                                        </p:tgtEl>
                                        <p:attrNameLst>
                                          <p:attrName>style.visibility</p:attrName>
                                        </p:attrNameLst>
                                      </p:cBhvr>
                                      <p:to>
                                        <p:strVal val="visible"/>
                                      </p:to>
                                    </p:set>
                                    <p:animEffect transition="in" filter="wipe(up)">
                                      <p:cBhvr>
                                        <p:cTn id="22" dur="500"/>
                                        <p:tgtEl>
                                          <p:spTgt spid="25497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4978">
                                            <p:txEl>
                                              <p:pRg st="5" end="5"/>
                                            </p:txEl>
                                          </p:spTgt>
                                        </p:tgtEl>
                                        <p:attrNameLst>
                                          <p:attrName>style.visibility</p:attrName>
                                        </p:attrNameLst>
                                      </p:cBhvr>
                                      <p:to>
                                        <p:strVal val="visible"/>
                                      </p:to>
                                    </p:set>
                                    <p:animEffect transition="in" filter="wipe(up)">
                                      <p:cBhvr>
                                        <p:cTn id="27" dur="500"/>
                                        <p:tgtEl>
                                          <p:spTgt spid="25497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11188" y="2852738"/>
            <a:ext cx="8229600" cy="1143000"/>
          </a:xfrm>
        </p:spPr>
        <p:txBody>
          <a:bodyPr/>
          <a:lstStyle/>
          <a:p>
            <a:pPr eaLnBrk="1" hangingPunct="1"/>
            <a:r>
              <a:rPr lang="zh-CN" altLang="en-US" sz="5400">
                <a:solidFill>
                  <a:schemeClr val="hlink"/>
                </a:solidFill>
                <a:ea typeface="隶书" panose="02010509060101010101" pitchFamily="49" charset="-122"/>
              </a:rPr>
              <a:t>特征的频域分析方法</a:t>
            </a:r>
            <a:endParaRPr lang="en-US" altLang="zh-CN" sz="5400">
              <a:solidFill>
                <a:schemeClr val="hlink"/>
              </a:solidFill>
              <a:ea typeface="隶书" panose="020105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73411" name="Rectangle 3"/>
          <p:cNvSpPr>
            <a:spLocks noGrp="1" noChangeArrowheads="1"/>
          </p:cNvSpPr>
          <p:nvPr>
            <p:ph type="body" idx="1"/>
          </p:nvPr>
        </p:nvSpPr>
        <p:spPr>
          <a:xfrm>
            <a:off x="539750" y="1484313"/>
            <a:ext cx="8208963" cy="2819400"/>
          </a:xfrm>
        </p:spPr>
        <p:txBody>
          <a:bodyPr/>
          <a:lstStyle/>
          <a:p>
            <a:pPr marL="294005" indent="-457200" eaLnBrk="1" hangingPunct="1">
              <a:buFont typeface="Wingdings" panose="05000000000000000000" charset="0"/>
              <a:buChar char="u"/>
              <a:defRPr/>
            </a:pPr>
            <a:r>
              <a:rPr lang="zh-CN" altLang="en-US" sz="2800" dirty="0">
                <a:solidFill>
                  <a:schemeClr val="tx2"/>
                </a:solidFill>
                <a:latin typeface="宋体" panose="02010600030101010101" pitchFamily="2" charset="-122"/>
              </a:rPr>
              <a:t>语音的</a:t>
            </a:r>
            <a:r>
              <a:rPr lang="zh-CN" altLang="en-US" sz="2800" b="1" dirty="0">
                <a:solidFill>
                  <a:srgbClr val="0070C0"/>
                </a:solidFill>
                <a:latin typeface="宋体" panose="02010600030101010101" pitchFamily="2" charset="-122"/>
              </a:rPr>
              <a:t>生成</a:t>
            </a:r>
            <a:r>
              <a:rPr lang="zh-CN" altLang="en-US" sz="2800" dirty="0">
                <a:solidFill>
                  <a:schemeClr val="tx2"/>
                </a:solidFill>
                <a:latin typeface="宋体" panose="02010600030101010101" pitchFamily="2" charset="-122"/>
              </a:rPr>
              <a:t>和</a:t>
            </a:r>
            <a:r>
              <a:rPr lang="zh-CN" altLang="en-US" sz="2800" b="1" dirty="0">
                <a:solidFill>
                  <a:srgbClr val="0070C0"/>
                </a:solidFill>
                <a:latin typeface="宋体" panose="02010600030101010101" pitchFamily="2" charset="-122"/>
              </a:rPr>
              <a:t>感知</a:t>
            </a:r>
            <a:r>
              <a:rPr lang="zh-CN" altLang="en-US" sz="2800" dirty="0">
                <a:solidFill>
                  <a:schemeClr val="tx2"/>
                </a:solidFill>
                <a:latin typeface="宋体" panose="02010600030101010101" pitchFamily="2" charset="-122"/>
              </a:rPr>
              <a:t>过程都与</a:t>
            </a:r>
            <a:r>
              <a:rPr lang="zh-CN" altLang="en-US" sz="2800" b="1" dirty="0">
                <a:solidFill>
                  <a:srgbClr val="0070C0"/>
                </a:solidFill>
                <a:latin typeface="宋体" panose="02010600030101010101" pitchFamily="2" charset="-122"/>
              </a:rPr>
              <a:t>频率分析</a:t>
            </a:r>
            <a:r>
              <a:rPr lang="zh-CN" altLang="en-US" sz="2800" dirty="0">
                <a:solidFill>
                  <a:schemeClr val="tx2"/>
                </a:solidFill>
                <a:latin typeface="宋体" panose="02010600030101010101" pitchFamily="2" charset="-122"/>
              </a:rPr>
              <a:t>有关。</a:t>
            </a:r>
            <a:endParaRPr lang="zh-CN" altLang="en-US" sz="2800" dirty="0">
              <a:solidFill>
                <a:schemeClr val="tx2"/>
              </a:solidFill>
              <a:latin typeface="宋体" panose="02010600030101010101" pitchFamily="2" charset="-122"/>
            </a:endParaRPr>
          </a:p>
          <a:p>
            <a:pPr marL="294005" indent="-457200" eaLnBrk="1" hangingPunct="1">
              <a:buFont typeface="Wingdings" panose="05000000000000000000" charset="0"/>
              <a:buChar char="u"/>
              <a:defRPr/>
            </a:pPr>
            <a:r>
              <a:rPr lang="zh-CN" altLang="en-US" sz="2800" dirty="0">
                <a:solidFill>
                  <a:schemeClr val="tx2"/>
                </a:solidFill>
                <a:latin typeface="宋体" panose="02010600030101010101" pitchFamily="2" charset="-122"/>
              </a:rPr>
              <a:t>对语音信号进行</a:t>
            </a:r>
            <a:r>
              <a:rPr lang="zh-CN" altLang="en-US" sz="2800" b="1" dirty="0">
                <a:solidFill>
                  <a:srgbClr val="0070C0"/>
                </a:solidFill>
                <a:latin typeface="宋体" panose="02010600030101010101" pitchFamily="2" charset="-122"/>
              </a:rPr>
              <a:t>频谱分析</a:t>
            </a:r>
            <a:r>
              <a:rPr lang="zh-CN" altLang="en-US" sz="2800" dirty="0">
                <a:solidFill>
                  <a:schemeClr val="tx2"/>
                </a:solidFill>
                <a:latin typeface="宋体" panose="02010600030101010101" pitchFamily="2" charset="-122"/>
              </a:rPr>
              <a:t>，是认识语音信号和处理语音信号的重要方法。</a:t>
            </a:r>
            <a:endParaRPr lang="zh-CN" altLang="en-US" sz="2800" dirty="0">
              <a:solidFill>
                <a:schemeClr val="tx2"/>
              </a:solidFill>
              <a:latin typeface="宋体" panose="02010600030101010101" pitchFamily="2" charset="-122"/>
            </a:endParaRPr>
          </a:p>
          <a:p>
            <a:pPr marL="294005" indent="-457200" eaLnBrk="1" latinLnBrk="0" hangingPunct="1">
              <a:spcBef>
                <a:spcPts val="600"/>
              </a:spcBef>
              <a:buFont typeface="Wingdings" panose="05000000000000000000" charset="0"/>
              <a:buChar char="u"/>
              <a:defRPr/>
            </a:pPr>
            <a:r>
              <a:rPr lang="zh-CN" altLang="en-US" b="1" dirty="0">
                <a:solidFill>
                  <a:srgbClr val="0070C0"/>
                </a:solidFill>
                <a:latin typeface="Times New Roman" panose="02020603050405020304" pitchFamily="18" charset="0"/>
              </a:rPr>
              <a:t>滤波器组方法</a:t>
            </a:r>
            <a:r>
              <a:rPr lang="zh-CN" altLang="en-US" b="1" dirty="0">
                <a:solidFill>
                  <a:schemeClr val="tx2"/>
                </a:solidFill>
                <a:latin typeface="Times New Roman" panose="02020603050405020304" pitchFamily="18" charset="0"/>
              </a:rPr>
              <a:t> （早期</a:t>
            </a:r>
            <a:r>
              <a:rPr lang="zh-CN" altLang="en-US" b="1" dirty="0">
                <a:solidFill>
                  <a:schemeClr val="tx2"/>
                </a:solidFill>
                <a:latin typeface="Times New Roman" panose="02020603050405020304" pitchFamily="18" charset="0"/>
              </a:rPr>
              <a:t>方法）</a:t>
            </a:r>
            <a:endParaRPr lang="zh-CN" altLang="en-US" b="1" dirty="0">
              <a:solidFill>
                <a:schemeClr val="tx2"/>
              </a:solidFill>
              <a:latin typeface="Times New Roman" panose="02020603050405020304" pitchFamily="18" charset="0"/>
            </a:endParaRPr>
          </a:p>
          <a:p>
            <a:pPr eaLnBrk="1" hangingPunct="1">
              <a:buFontTx/>
              <a:buNone/>
              <a:defRPr/>
            </a:pPr>
            <a:endParaRPr lang="zh-CN" altLang="en-US" b="1" dirty="0">
              <a:solidFill>
                <a:schemeClr val="tx2"/>
              </a:solidFill>
              <a:latin typeface="Times New Roman" panose="02020603050405020304" pitchFamily="18" charset="0"/>
            </a:endParaRPr>
          </a:p>
          <a:p>
            <a:pPr eaLnBrk="1" hangingPunct="1">
              <a:buFontTx/>
              <a:buNone/>
              <a:defRPr/>
            </a:pPr>
            <a:endParaRPr lang="en-US" altLang="zh-CN" b="1" dirty="0">
              <a:solidFill>
                <a:schemeClr val="tx2"/>
              </a:solidFill>
              <a:latin typeface="Times New Roman" panose="02020603050405020304" pitchFamily="18" charset="0"/>
            </a:endParaRPr>
          </a:p>
        </p:txBody>
      </p:sp>
      <p:sp>
        <p:nvSpPr>
          <p:cNvPr id="37892" name="Rectangle 4"/>
          <p:cNvSpPr>
            <a:spLocks noChangeArrowheads="1"/>
          </p:cNvSpPr>
          <p:nvPr/>
        </p:nvSpPr>
        <p:spPr bwMode="auto">
          <a:xfrm>
            <a:off x="228600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73413" name="Object 5"/>
          <p:cNvGraphicFramePr>
            <a:graphicFrameLocks noChangeAspect="1"/>
          </p:cNvGraphicFramePr>
          <p:nvPr/>
        </p:nvGraphicFramePr>
        <p:xfrm>
          <a:off x="2358390" y="3789045"/>
          <a:ext cx="4572000" cy="2514600"/>
        </p:xfrm>
        <a:graphic>
          <a:graphicData uri="http://schemas.openxmlformats.org/presentationml/2006/ole">
            <mc:AlternateContent xmlns:mc="http://schemas.openxmlformats.org/markup-compatibility/2006">
              <mc:Choice xmlns:v="urn:schemas-microsoft-com:vml" Requires="v">
                <p:oleObj spid="_x0000_s37901" name="" r:id="rId1" imgW="4572000" imgH="2515870" progId="Word.Picture.8">
                  <p:embed/>
                </p:oleObj>
              </mc:Choice>
              <mc:Fallback>
                <p:oleObj name="" r:id="rId1" imgW="4572000" imgH="2515870" progId="Word.Picture.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8390" y="3789045"/>
                        <a:ext cx="4572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下箭头 14"/>
          <p:cNvSpPr>
            <a:spLocks noChangeArrowheads="1"/>
          </p:cNvSpPr>
          <p:nvPr/>
        </p:nvSpPr>
        <p:spPr bwMode="auto">
          <a:xfrm rot="15000000" flipH="1">
            <a:off x="3510598" y="6056313"/>
            <a:ext cx="103187" cy="503237"/>
          </a:xfrm>
          <a:prstGeom prst="downArrow">
            <a:avLst>
              <a:gd name="adj1" fmla="val 50000"/>
              <a:gd name="adj2" fmla="val 50237"/>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 name="Text Box 4"/>
          <p:cNvSpPr txBox="1">
            <a:spLocks noChangeArrowheads="1"/>
          </p:cNvSpPr>
          <p:nvPr/>
        </p:nvSpPr>
        <p:spPr bwMode="auto">
          <a:xfrm>
            <a:off x="1691640" y="6237605"/>
            <a:ext cx="1362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rgbClr val="0070C0"/>
                </a:solidFill>
                <a:latin typeface="Times New Roman" panose="02020603050405020304" pitchFamily="18" charset="0"/>
              </a:rPr>
              <a:t>带通滤波器</a:t>
            </a:r>
            <a:endParaRPr kumimoji="1" lang="zh-CN" altLang="en-US" sz="1800" b="1">
              <a:solidFill>
                <a:srgbClr val="0070C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wipe(up)">
                                      <p:cBhvr>
                                        <p:cTn id="7" dur="500"/>
                                        <p:tgtEl>
                                          <p:spTgt spid="273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3411">
                                            <p:txEl>
                                              <p:pRg st="1" end="1"/>
                                            </p:txEl>
                                          </p:spTgt>
                                        </p:tgtEl>
                                        <p:attrNameLst>
                                          <p:attrName>style.visibility</p:attrName>
                                        </p:attrNameLst>
                                      </p:cBhvr>
                                      <p:to>
                                        <p:strVal val="visible"/>
                                      </p:to>
                                    </p:set>
                                    <p:animEffect transition="in" filter="wipe(up)">
                                      <p:cBhvr>
                                        <p:cTn id="12" dur="500"/>
                                        <p:tgtEl>
                                          <p:spTgt spid="273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73411">
                                            <p:txEl>
                                              <p:pRg st="2" end="2"/>
                                            </p:txEl>
                                          </p:spTgt>
                                        </p:tgtEl>
                                        <p:attrNameLst>
                                          <p:attrName>style.visibility</p:attrName>
                                        </p:attrNameLst>
                                      </p:cBhvr>
                                      <p:to>
                                        <p:strVal val="visible"/>
                                      </p:to>
                                    </p:set>
                                    <p:animEffect transition="in" filter="wipe(up)">
                                      <p:cBhvr>
                                        <p:cTn id="17" dur="500"/>
                                        <p:tgtEl>
                                          <p:spTgt spid="273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3413"/>
                                        </p:tgtEl>
                                        <p:attrNameLst>
                                          <p:attrName>style.visibility</p:attrName>
                                        </p:attrNameLst>
                                      </p:cBhvr>
                                      <p:to>
                                        <p:strVal val="visible"/>
                                      </p:to>
                                    </p:set>
                                    <p:animEffect transition="in" filter="wipe(up)">
                                      <p:cBhvr>
                                        <p:cTn id="22" dur="500"/>
                                        <p:tgtEl>
                                          <p:spTgt spid="2734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P spid="15" grpId="0" bldLvl="0" animBg="1"/>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341313"/>
            <a:ext cx="8229600" cy="1143000"/>
          </a:xfrm>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9939" name="Rectangle 3"/>
          <p:cNvSpPr>
            <a:spLocks noChangeArrowheads="1"/>
          </p:cNvSpPr>
          <p:nvPr/>
        </p:nvSpPr>
        <p:spPr bwMode="auto">
          <a:xfrm>
            <a:off x="1938338" y="1638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9940" name="Object 4"/>
          <p:cNvGraphicFramePr>
            <a:graphicFrameLocks noChangeAspect="1"/>
          </p:cNvGraphicFramePr>
          <p:nvPr/>
        </p:nvGraphicFramePr>
        <p:xfrm>
          <a:off x="2438400" y="1981200"/>
          <a:ext cx="4648200" cy="1981200"/>
        </p:xfrm>
        <a:graphic>
          <a:graphicData uri="http://schemas.openxmlformats.org/presentationml/2006/ole">
            <mc:AlternateContent xmlns:mc="http://schemas.openxmlformats.org/markup-compatibility/2006">
              <mc:Choice xmlns:v="urn:schemas-microsoft-com:vml" Requires="v">
                <p:oleObj spid="_x0000_s39961" name="" r:id="rId1" imgW="7115175" imgH="2676525" progId="Paint.Picture">
                  <p:embed/>
                </p:oleObj>
              </mc:Choice>
              <mc:Fallback>
                <p:oleObj name="" r:id="rId1" imgW="7115175" imgH="26765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981200"/>
                        <a:ext cx="4648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1" name="Object 5"/>
          <p:cNvGraphicFramePr>
            <a:graphicFrameLocks noChangeAspect="1"/>
          </p:cNvGraphicFramePr>
          <p:nvPr/>
        </p:nvGraphicFramePr>
        <p:xfrm>
          <a:off x="2438400" y="4343400"/>
          <a:ext cx="4610100" cy="1943100"/>
        </p:xfrm>
        <a:graphic>
          <a:graphicData uri="http://schemas.openxmlformats.org/presentationml/2006/ole">
            <mc:AlternateContent xmlns:mc="http://schemas.openxmlformats.org/markup-compatibility/2006">
              <mc:Choice xmlns:v="urn:schemas-microsoft-com:vml" Requires="v">
                <p:oleObj spid="_x0000_s39962" name="" r:id="rId3" imgW="7124700" imgH="2628900" progId="Paint.Picture">
                  <p:embed/>
                </p:oleObj>
              </mc:Choice>
              <mc:Fallback>
                <p:oleObj name="" r:id="rId3" imgW="7124700" imgH="2628900"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343400"/>
                        <a:ext cx="46101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Text Box 6"/>
          <p:cNvSpPr txBox="1">
            <a:spLocks noChangeArrowheads="1"/>
          </p:cNvSpPr>
          <p:nvPr/>
        </p:nvSpPr>
        <p:spPr bwMode="auto">
          <a:xfrm>
            <a:off x="69215" y="2419985"/>
            <a:ext cx="23164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solidFill>
                  <a:schemeClr val="tx2"/>
                </a:solidFill>
                <a:latin typeface="Times New Roman" panose="02020603050405020304" pitchFamily="18" charset="0"/>
              </a:rPr>
              <a:t>“</a:t>
            </a:r>
            <a:r>
              <a:rPr kumimoji="1" lang="zh-CN" altLang="en-US" sz="2400">
                <a:solidFill>
                  <a:schemeClr val="tx2"/>
                </a:solidFill>
                <a:latin typeface="宋体" panose="02010600030101010101" pitchFamily="2" charset="-122"/>
              </a:rPr>
              <a:t>开始</a:t>
            </a:r>
            <a:r>
              <a:rPr kumimoji="1" lang="zh-CN" altLang="en-US" sz="2400">
                <a:solidFill>
                  <a:schemeClr val="tx2"/>
                </a:solidFill>
                <a:latin typeface="Times New Roman" panose="02020603050405020304" pitchFamily="18" charset="0"/>
              </a:rPr>
              <a:t>”</a:t>
            </a:r>
            <a:r>
              <a:rPr kumimoji="1" lang="zh-CN" altLang="en-US" sz="2400">
                <a:solidFill>
                  <a:schemeClr val="tx2"/>
                </a:solidFill>
                <a:latin typeface="宋体" panose="02010600030101010101" pitchFamily="2" charset="-122"/>
              </a:rPr>
              <a:t>语音的</a:t>
            </a:r>
            <a:endParaRPr kumimoji="1" lang="zh-CN" altLang="en-US" sz="2400">
              <a:solidFill>
                <a:schemeClr val="tx2"/>
              </a:solidFill>
              <a:latin typeface="宋体" panose="02010600030101010101" pitchFamily="2" charset="-122"/>
            </a:endParaRPr>
          </a:p>
          <a:p>
            <a:pPr eaLnBrk="1" hangingPunct="1">
              <a:spcBef>
                <a:spcPct val="0"/>
              </a:spcBef>
              <a:buFontTx/>
              <a:buNone/>
            </a:pPr>
            <a:r>
              <a:rPr kumimoji="1" lang="zh-CN" altLang="en-US" sz="2400" b="1">
                <a:solidFill>
                  <a:srgbClr val="0070C0"/>
                </a:solidFill>
                <a:latin typeface="宋体" panose="02010600030101010101" pitchFamily="2" charset="-122"/>
              </a:rPr>
              <a:t>宽带语谱图</a:t>
            </a:r>
            <a:r>
              <a:rPr kumimoji="1" lang="zh-CN" altLang="en-US" sz="2400">
                <a:solidFill>
                  <a:schemeClr val="tx2"/>
                </a:solidFill>
              </a:rPr>
              <a:t> </a:t>
            </a:r>
            <a:endParaRPr kumimoji="1" lang="zh-CN" altLang="en-US" sz="2400">
              <a:solidFill>
                <a:schemeClr val="tx2"/>
              </a:solidFill>
            </a:endParaRPr>
          </a:p>
        </p:txBody>
      </p:sp>
      <p:sp>
        <p:nvSpPr>
          <p:cNvPr id="39943" name="Text Box 7"/>
          <p:cNvSpPr txBox="1">
            <a:spLocks noChangeArrowheads="1"/>
          </p:cNvSpPr>
          <p:nvPr/>
        </p:nvSpPr>
        <p:spPr bwMode="auto">
          <a:xfrm>
            <a:off x="121920" y="4653280"/>
            <a:ext cx="23164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a:solidFill>
                  <a:schemeClr val="tx2"/>
                </a:solidFill>
                <a:latin typeface="Times New Roman" panose="02020603050405020304" pitchFamily="18" charset="0"/>
              </a:rPr>
              <a:t>“</a:t>
            </a:r>
            <a:r>
              <a:rPr kumimoji="1" lang="zh-CN" altLang="en-US" sz="2400">
                <a:solidFill>
                  <a:schemeClr val="tx2"/>
                </a:solidFill>
                <a:latin typeface="宋体" panose="02010600030101010101" pitchFamily="2" charset="-122"/>
              </a:rPr>
              <a:t>开始</a:t>
            </a:r>
            <a:r>
              <a:rPr kumimoji="1" lang="zh-CN" altLang="en-US" sz="2400">
                <a:solidFill>
                  <a:schemeClr val="tx2"/>
                </a:solidFill>
                <a:latin typeface="Times New Roman" panose="02020603050405020304" pitchFamily="18" charset="0"/>
              </a:rPr>
              <a:t>”</a:t>
            </a:r>
            <a:r>
              <a:rPr kumimoji="1" lang="zh-CN" altLang="en-US" sz="2400">
                <a:solidFill>
                  <a:schemeClr val="tx2"/>
                </a:solidFill>
                <a:latin typeface="宋体" panose="02010600030101010101" pitchFamily="2" charset="-122"/>
              </a:rPr>
              <a:t>语音的</a:t>
            </a:r>
            <a:endParaRPr kumimoji="1" lang="zh-CN" altLang="en-US" sz="2400">
              <a:solidFill>
                <a:schemeClr val="tx2"/>
              </a:solidFill>
              <a:latin typeface="宋体" panose="02010600030101010101" pitchFamily="2" charset="-122"/>
            </a:endParaRPr>
          </a:p>
          <a:p>
            <a:pPr eaLnBrk="1" hangingPunct="1">
              <a:spcBef>
                <a:spcPct val="0"/>
              </a:spcBef>
              <a:buFontTx/>
              <a:buNone/>
            </a:pPr>
            <a:r>
              <a:rPr kumimoji="1" lang="zh-CN" altLang="en-US" sz="2400" b="1">
                <a:solidFill>
                  <a:srgbClr val="0070C0"/>
                </a:solidFill>
                <a:latin typeface="宋体" panose="02010600030101010101" pitchFamily="2" charset="-122"/>
              </a:rPr>
              <a:t>窄带语谱图</a:t>
            </a:r>
            <a:r>
              <a:rPr kumimoji="1" lang="zh-CN" altLang="en-US" sz="2400">
                <a:solidFill>
                  <a:schemeClr val="tx2"/>
                </a:solidFill>
              </a:rPr>
              <a:t> </a:t>
            </a:r>
            <a:endParaRPr kumimoji="1" lang="zh-CN" altLang="en-US" sz="2400">
              <a:solidFill>
                <a:schemeClr val="tx2"/>
              </a:solidFill>
            </a:endParaRPr>
          </a:p>
        </p:txBody>
      </p:sp>
      <p:sp>
        <p:nvSpPr>
          <p:cNvPr id="39944" name="Text Box 8"/>
          <p:cNvSpPr txBox="1">
            <a:spLocks noChangeArrowheads="1"/>
          </p:cNvSpPr>
          <p:nvPr/>
        </p:nvSpPr>
        <p:spPr bwMode="auto">
          <a:xfrm>
            <a:off x="6756400" y="2487613"/>
            <a:ext cx="224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chemeClr val="tx2"/>
                </a:solidFill>
              </a:rPr>
              <a:t>窗长：6.4</a:t>
            </a:r>
            <a:r>
              <a:rPr kumimoji="1" lang="en-US" altLang="zh-CN" sz="2800">
                <a:solidFill>
                  <a:schemeClr val="tx2"/>
                </a:solidFill>
              </a:rPr>
              <a:t>ms</a:t>
            </a:r>
            <a:endParaRPr kumimoji="1" lang="en-US" altLang="zh-CN" sz="2800">
              <a:solidFill>
                <a:schemeClr val="tx2"/>
              </a:solidFill>
            </a:endParaRPr>
          </a:p>
        </p:txBody>
      </p:sp>
      <p:sp>
        <p:nvSpPr>
          <p:cNvPr id="39945" name="Text Box 9"/>
          <p:cNvSpPr txBox="1">
            <a:spLocks noChangeArrowheads="1"/>
          </p:cNvSpPr>
          <p:nvPr/>
        </p:nvSpPr>
        <p:spPr bwMode="auto">
          <a:xfrm>
            <a:off x="6756400" y="4908550"/>
            <a:ext cx="2441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chemeClr val="tx2"/>
                </a:solidFill>
              </a:rPr>
              <a:t>窗长：51.2</a:t>
            </a:r>
            <a:r>
              <a:rPr kumimoji="1" lang="en-US" altLang="zh-CN" sz="2800">
                <a:solidFill>
                  <a:schemeClr val="tx2"/>
                </a:solidFill>
              </a:rPr>
              <a:t>ms</a:t>
            </a:r>
            <a:endParaRPr kumimoji="1" lang="en-US" altLang="zh-CN" sz="2800">
              <a:solidFill>
                <a:schemeClr val="tx2"/>
              </a:solidFill>
            </a:endParaRPr>
          </a:p>
        </p:txBody>
      </p:sp>
      <p:sp>
        <p:nvSpPr>
          <p:cNvPr id="39946" name="Rectangle 10"/>
          <p:cNvSpPr>
            <a:spLocks noChangeArrowheads="1"/>
          </p:cNvSpPr>
          <p:nvPr/>
        </p:nvSpPr>
        <p:spPr bwMode="auto">
          <a:xfrm>
            <a:off x="179388" y="1409700"/>
            <a:ext cx="24463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800" b="1">
                <a:solidFill>
                  <a:schemeClr val="tx2"/>
                </a:solidFill>
              </a:rPr>
              <a:t> </a:t>
            </a:r>
            <a:r>
              <a:rPr lang="zh-CN" altLang="en-US" b="1">
                <a:solidFill>
                  <a:schemeClr val="tx2"/>
                </a:solidFill>
              </a:rPr>
              <a:t>语谱图方法</a:t>
            </a:r>
            <a:endParaRPr lang="zh-CN" altLang="en-US" b="1">
              <a:solidFill>
                <a:schemeClr val="tx2"/>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41987" name="Rectangle 3"/>
          <p:cNvSpPr>
            <a:spLocks noGrp="1" noChangeArrowheads="1"/>
          </p:cNvSpPr>
          <p:nvPr>
            <p:ph type="body" idx="1"/>
          </p:nvPr>
        </p:nvSpPr>
        <p:spPr/>
        <p:txBody>
          <a:bodyPr/>
          <a:lstStyle/>
          <a:p>
            <a:pPr eaLnBrk="1" hangingPunct="1"/>
            <a:r>
              <a:rPr lang="zh-CN" altLang="en-US" sz="2800" b="1">
                <a:solidFill>
                  <a:schemeClr val="tx2"/>
                </a:solidFill>
              </a:rPr>
              <a:t>语音的产生</a:t>
            </a:r>
            <a:endParaRPr lang="en-US" altLang="zh-CN" sz="2800" b="1">
              <a:solidFill>
                <a:schemeClr val="tx2"/>
              </a:solidFill>
            </a:endParaRPr>
          </a:p>
        </p:txBody>
      </p:sp>
      <p:sp>
        <p:nvSpPr>
          <p:cNvPr id="41988" name="Rectangle 4"/>
          <p:cNvSpPr>
            <a:spLocks noChangeArrowheads="1"/>
          </p:cNvSpPr>
          <p:nvPr/>
        </p:nvSpPr>
        <p:spPr bwMode="auto">
          <a:xfrm>
            <a:off x="2571750" y="1533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41989" name="Object 5"/>
          <p:cNvGraphicFramePr>
            <a:graphicFrameLocks noChangeAspect="1"/>
          </p:cNvGraphicFramePr>
          <p:nvPr/>
        </p:nvGraphicFramePr>
        <p:xfrm>
          <a:off x="2667000" y="2590800"/>
          <a:ext cx="4000500" cy="3790950"/>
        </p:xfrm>
        <a:graphic>
          <a:graphicData uri="http://schemas.openxmlformats.org/presentationml/2006/ole">
            <mc:AlternateContent xmlns:mc="http://schemas.openxmlformats.org/markup-compatibility/2006">
              <mc:Choice xmlns:v="urn:schemas-microsoft-com:vml" Requires="v">
                <p:oleObj spid="_x0000_s41997" name="" r:id="rId1" imgW="4000500" imgH="3787140" progId="Word.Picture.8">
                  <p:embed/>
                </p:oleObj>
              </mc:Choice>
              <mc:Fallback>
                <p:oleObj name="" r:id="rId1" imgW="4000500" imgH="3787140" progId="Word.Picture.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590800"/>
                        <a:ext cx="4000500"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43011" name="Rectangle 3"/>
          <p:cNvSpPr>
            <a:spLocks noChangeArrowheads="1"/>
          </p:cNvSpPr>
          <p:nvPr/>
        </p:nvSpPr>
        <p:spPr bwMode="auto">
          <a:xfrm>
            <a:off x="2171700" y="1733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43012" name="Object 4"/>
          <p:cNvGraphicFramePr>
            <a:graphicFrameLocks noChangeAspect="1"/>
          </p:cNvGraphicFramePr>
          <p:nvPr/>
        </p:nvGraphicFramePr>
        <p:xfrm>
          <a:off x="2209800" y="2209800"/>
          <a:ext cx="4800600" cy="3390900"/>
        </p:xfrm>
        <a:graphic>
          <a:graphicData uri="http://schemas.openxmlformats.org/presentationml/2006/ole">
            <mc:AlternateContent xmlns:mc="http://schemas.openxmlformats.org/markup-compatibility/2006">
              <mc:Choice xmlns:v="urn:schemas-microsoft-com:vml" Requires="v">
                <p:oleObj spid="_x0000_s43021" name="" r:id="rId1" imgW="4800600" imgH="3390900" progId="Word.Picture.8">
                  <p:embed/>
                </p:oleObj>
              </mc:Choice>
              <mc:Fallback>
                <p:oleObj name="" r:id="rId1" imgW="4800600" imgH="3390900" progId="Word.Picture.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09800"/>
                        <a:ext cx="480060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3" name="Text Box 5"/>
          <p:cNvSpPr txBox="1">
            <a:spLocks noChangeArrowheads="1"/>
          </p:cNvSpPr>
          <p:nvPr/>
        </p:nvSpPr>
        <p:spPr bwMode="auto">
          <a:xfrm>
            <a:off x="3352800" y="5756275"/>
            <a:ext cx="271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语音产生的机理图</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44035" name="Group 3"/>
          <p:cNvGrpSpPr/>
          <p:nvPr/>
        </p:nvGrpSpPr>
        <p:grpSpPr bwMode="auto">
          <a:xfrm>
            <a:off x="1143000" y="2514600"/>
            <a:ext cx="6629400" cy="3155950"/>
            <a:chOff x="1056" y="960"/>
            <a:chExt cx="4032" cy="2422"/>
          </a:xfrm>
        </p:grpSpPr>
        <p:pic>
          <p:nvPicPr>
            <p:cNvPr id="44036" name="Picture 4" descr="图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6" y="1066"/>
              <a:ext cx="3864" cy="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 Box 5"/>
            <p:cNvSpPr txBox="1">
              <a:spLocks noChangeArrowheads="1"/>
            </p:cNvSpPr>
            <p:nvPr/>
          </p:nvSpPr>
          <p:spPr bwMode="auto">
            <a:xfrm>
              <a:off x="1056" y="960"/>
              <a:ext cx="403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chemeClr val="accent2"/>
                  </a:solidFill>
                  <a:latin typeface="Times New Roman" panose="02020603050405020304" pitchFamily="18" charset="0"/>
                  <a:ea typeface="黑体" panose="02010609060101010101" pitchFamily="49" charset="-122"/>
                </a:rPr>
                <a:t>          声门脉冲                         声道                 语音信号</a:t>
              </a:r>
              <a:endParaRPr kumimoji="1" lang="zh-CN" altLang="en-US" sz="1800" b="1">
                <a:solidFill>
                  <a:schemeClr val="accent2"/>
                </a:solidFill>
                <a:latin typeface="Times New Roman" panose="02020603050405020304" pitchFamily="18" charset="0"/>
                <a:ea typeface="黑体" panose="02010609060101010101" pitchFamily="49" charset="-122"/>
              </a:endParaRPr>
            </a:p>
          </p:txBody>
        </p:sp>
        <p:sp>
          <p:nvSpPr>
            <p:cNvPr id="44038" name="Text Box 6"/>
            <p:cNvSpPr txBox="1">
              <a:spLocks noChangeArrowheads="1"/>
            </p:cNvSpPr>
            <p:nvPr/>
          </p:nvSpPr>
          <p:spPr bwMode="auto">
            <a:xfrm>
              <a:off x="1056" y="2890"/>
              <a:ext cx="4032"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latin typeface="Times New Roman" panose="02020603050405020304" pitchFamily="18" charset="0"/>
                  <a:ea typeface="黑体" panose="02010609060101010101" pitchFamily="49" charset="-122"/>
                </a:rPr>
                <a:t>           </a:t>
              </a:r>
              <a:r>
                <a:rPr kumimoji="1" lang="zh-CN" altLang="en-US" sz="1800" b="1">
                  <a:solidFill>
                    <a:schemeClr val="accent2"/>
                  </a:solidFill>
                  <a:latin typeface="Times New Roman" panose="02020603050405020304" pitchFamily="18" charset="0"/>
                  <a:ea typeface="黑体" panose="02010609060101010101" pitchFamily="49" charset="-122"/>
                </a:rPr>
                <a:t>激励信号                   声道滤波器                 语音信号 </a:t>
              </a:r>
              <a:endParaRPr kumimoji="1" lang="zh-CN" altLang="en-US" sz="1800" b="1">
                <a:solidFill>
                  <a:schemeClr val="accent2"/>
                </a:solidFill>
                <a:latin typeface="Times New Roman" panose="02020603050405020304" pitchFamily="18" charset="0"/>
                <a:ea typeface="黑体" panose="02010609060101010101" pitchFamily="49" charset="-122"/>
              </a:endParaRPr>
            </a:p>
            <a:p>
              <a:pPr eaLnBrk="1" hangingPunct="1">
                <a:spcBef>
                  <a:spcPct val="0"/>
                </a:spcBef>
                <a:buFontTx/>
                <a:buNone/>
              </a:pPr>
              <a:r>
                <a:rPr kumimoji="1" lang="zh-CN" altLang="en-US" sz="1800" b="1">
                  <a:solidFill>
                    <a:schemeClr val="accent2"/>
                  </a:solidFill>
                  <a:latin typeface="Times New Roman" panose="02020603050405020304" pitchFamily="18" charset="0"/>
                  <a:ea typeface="黑体" panose="02010609060101010101" pitchFamily="49" charset="-122"/>
                </a:rPr>
                <a:t>               频谱                         传递函数                       频谱</a:t>
              </a:r>
              <a:r>
                <a:rPr kumimoji="1" lang="zh-CN" altLang="en-US" sz="1800" b="1">
                  <a:latin typeface="Times New Roman" panose="02020603050405020304" pitchFamily="18" charset="0"/>
                  <a:ea typeface="黑体" panose="02010609060101010101" pitchFamily="49" charset="-122"/>
                </a:rPr>
                <a:t>                                                         </a:t>
              </a:r>
              <a:endParaRPr kumimoji="1" lang="zh-CN" altLang="en-US" sz="1800" b="1">
                <a:latin typeface="Times New Roman" panose="02020603050405020304" pitchFamily="18" charset="0"/>
                <a:ea typeface="黑体" panose="02010609060101010101" pitchFamily="49" charset="-122"/>
              </a:endParaRPr>
            </a:p>
          </p:txBody>
        </p:sp>
      </p:grpSp>
      <p:sp>
        <p:nvSpPr>
          <p:cNvPr id="4" name="矩形标注 3"/>
          <p:cNvSpPr>
            <a:spLocks noChangeArrowheads="1"/>
          </p:cNvSpPr>
          <p:nvPr/>
        </p:nvSpPr>
        <p:spPr bwMode="auto">
          <a:xfrm>
            <a:off x="5353685" y="1340485"/>
            <a:ext cx="3315335" cy="1076325"/>
          </a:xfrm>
          <a:prstGeom prst="wedgeRectCallout">
            <a:avLst>
              <a:gd name="adj1" fmla="val -130022"/>
              <a:gd name="adj2" fmla="val 54867"/>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可以假设声门脉冲为准周期</a:t>
            </a:r>
            <a:r>
              <a:rPr lang="zh-CN" altLang="en-US" sz="1600">
                <a:latin typeface="Times New Roman" panose="02020603050405020304" pitchFamily="18" charset="0"/>
                <a:cs typeface="Times New Roman" panose="02020603050405020304" pitchFamily="18" charset="0"/>
              </a:rPr>
              <a:t>三角波</a:t>
            </a:r>
            <a:endParaRPr lang="zh-CN" altLang="en-US"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b="1">
                <a:solidFill>
                  <a:srgbClr val="C00000"/>
                </a:solidFill>
                <a:latin typeface="Times New Roman" panose="02020603050405020304" pitchFamily="18" charset="0"/>
                <a:cs typeface="Times New Roman" panose="02020603050405020304" pitchFamily="18" charset="0"/>
              </a:rPr>
              <a:t>问</a:t>
            </a:r>
            <a:r>
              <a:rPr lang="zh-CN" altLang="en-US" sz="1600">
                <a:latin typeface="Times New Roman" panose="02020603050405020304" pitchFamily="18" charset="0"/>
                <a:cs typeface="Times New Roman" panose="02020603050405020304" pitchFamily="18" charset="0"/>
              </a:rPr>
              <a:t>：语音和声门波都已知，能否求</a:t>
            </a:r>
            <a:endParaRPr lang="zh-CN" altLang="en-US"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声道系统的单位</a:t>
            </a:r>
            <a:r>
              <a:rPr lang="zh-CN" altLang="en-US" sz="1600">
                <a:latin typeface="Times New Roman" panose="02020603050405020304" pitchFamily="18" charset="0"/>
                <a:cs typeface="Times New Roman" panose="02020603050405020304" pitchFamily="18" charset="0"/>
              </a:rPr>
              <a:t>冲激响应？</a:t>
            </a:r>
            <a:endParaRPr lang="zh-CN" altLang="en-US"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b="1">
                <a:solidFill>
                  <a:srgbClr val="0070C0"/>
                </a:solidFill>
                <a:latin typeface="Times New Roman" panose="02020603050405020304" pitchFamily="18" charset="0"/>
                <a:cs typeface="Times New Roman" panose="02020603050405020304" pitchFamily="18" charset="0"/>
              </a:rPr>
              <a:t>答</a:t>
            </a:r>
            <a:r>
              <a:rPr lang="zh-CN" altLang="en-US" sz="1600">
                <a:latin typeface="Times New Roman" panose="02020603050405020304" pitchFamily="18" charset="0"/>
                <a:cs typeface="Times New Roman" panose="02020603050405020304" pitchFamily="18" charset="0"/>
              </a:rPr>
              <a:t>：同态解</a:t>
            </a:r>
            <a:r>
              <a:rPr lang="zh-CN" altLang="en-US" sz="1600">
                <a:latin typeface="Times New Roman" panose="02020603050405020304" pitchFamily="18" charset="0"/>
                <a:cs typeface="Times New Roman" panose="02020603050405020304" pitchFamily="18" charset="0"/>
              </a:rPr>
              <a:t>卷</a:t>
            </a:r>
            <a:endParaRPr lang="zh-CN" altLang="en-US" sz="160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81603" name="Rectangle 3"/>
          <p:cNvSpPr>
            <a:spLocks noGrp="1" noChangeArrowheads="1"/>
          </p:cNvSpPr>
          <p:nvPr>
            <p:ph type="body" idx="1"/>
          </p:nvPr>
        </p:nvSpPr>
        <p:spPr>
          <a:xfrm>
            <a:off x="685800" y="1752600"/>
            <a:ext cx="7989888" cy="2286000"/>
          </a:xfrm>
          <a:noFill/>
        </p:spPr>
        <p:txBody>
          <a:bodyPr lIns="36000" rIns="36000"/>
          <a:lstStyle/>
          <a:p>
            <a:pPr eaLnBrk="1" hangingPunct="1"/>
            <a:r>
              <a:rPr lang="zh-CN" altLang="en-US" b="1">
                <a:solidFill>
                  <a:schemeClr val="tx2"/>
                </a:solidFill>
                <a:latin typeface="宋体" panose="02010600030101010101" pitchFamily="2" charset="-122"/>
              </a:rPr>
              <a:t>同态解卷（</a:t>
            </a:r>
            <a:r>
              <a:rPr lang="zh-CN" altLang="en-US" b="1">
                <a:solidFill>
                  <a:schemeClr val="tx2"/>
                </a:solidFill>
                <a:latin typeface="宋体" panose="02010600030101010101" pitchFamily="2" charset="-122"/>
              </a:rPr>
              <a:t>卷积同态信号处理方法）</a:t>
            </a:r>
            <a:r>
              <a:rPr lang="zh-CN" altLang="en-US" b="1">
                <a:solidFill>
                  <a:schemeClr val="tx2"/>
                </a:solidFill>
              </a:rPr>
              <a:t> </a:t>
            </a:r>
            <a:endParaRPr lang="zh-CN" altLang="en-US" b="1">
              <a:solidFill>
                <a:schemeClr val="tx2"/>
              </a:solidFill>
            </a:endParaRPr>
          </a:p>
          <a:p>
            <a:pPr eaLnBrk="1" hangingPunct="1">
              <a:buFontTx/>
              <a:buNone/>
            </a:pPr>
            <a:r>
              <a:rPr lang="zh-CN" altLang="en-US" sz="2800">
                <a:solidFill>
                  <a:schemeClr val="tx2"/>
                </a:solidFill>
                <a:latin typeface="宋体" panose="02010600030101010101" pitchFamily="2" charset="-122"/>
              </a:rPr>
              <a:t>目的：乘积性组合信号或</a:t>
            </a:r>
            <a:r>
              <a:rPr lang="zh-CN" altLang="en-US" sz="2800">
                <a:solidFill>
                  <a:srgbClr val="0070C0"/>
                </a:solidFill>
                <a:latin typeface="宋体" panose="02010600030101010101" pitchFamily="2" charset="-122"/>
              </a:rPr>
              <a:t>卷积性组合信号</a:t>
            </a:r>
            <a:r>
              <a:rPr lang="zh-CN" altLang="en-US" sz="2800">
                <a:solidFill>
                  <a:schemeClr val="tx2"/>
                </a:solidFill>
                <a:latin typeface="宋体" panose="02010600030101010101" pitchFamily="2" charset="-122"/>
              </a:rPr>
              <a:t>转化为</a:t>
            </a:r>
            <a:r>
              <a:rPr lang="zh-CN" altLang="en-US" sz="2800">
                <a:solidFill>
                  <a:srgbClr val="0070C0"/>
                </a:solidFill>
                <a:latin typeface="宋体" panose="02010600030101010101" pitchFamily="2" charset="-122"/>
              </a:rPr>
              <a:t>加性信号</a:t>
            </a:r>
            <a:r>
              <a:rPr lang="zh-CN" altLang="en-US" sz="2800">
                <a:solidFill>
                  <a:schemeClr val="tx2"/>
                </a:solidFill>
                <a:latin typeface="宋体" panose="02010600030101010101" pitchFamily="2" charset="-122"/>
              </a:rPr>
              <a:t>。将非线性问题转化为线性问题来处理。</a:t>
            </a:r>
            <a:endParaRPr lang="zh-CN" altLang="en-US" sz="2800">
              <a:solidFill>
                <a:schemeClr val="tx2"/>
              </a:solidFill>
              <a:latin typeface="宋体" panose="02010600030101010101" pitchFamily="2" charset="-122"/>
            </a:endParaRPr>
          </a:p>
          <a:p>
            <a:pPr eaLnBrk="1" hangingPunct="1">
              <a:buFontTx/>
              <a:buNone/>
            </a:pPr>
            <a:endParaRPr lang="zh-CN" altLang="en-US" b="1">
              <a:solidFill>
                <a:schemeClr val="tx2"/>
              </a:solidFill>
            </a:endParaRPr>
          </a:p>
        </p:txBody>
      </p:sp>
      <p:sp>
        <p:nvSpPr>
          <p:cNvPr id="281604" name="Rectangle 4"/>
          <p:cNvSpPr>
            <a:spLocks noChangeArrowheads="1"/>
          </p:cNvSpPr>
          <p:nvPr/>
        </p:nvSpPr>
        <p:spPr bwMode="auto">
          <a:xfrm>
            <a:off x="25669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81605" name="Rectangle 5"/>
          <p:cNvSpPr>
            <a:spLocks noChangeArrowheads="1"/>
          </p:cNvSpPr>
          <p:nvPr/>
        </p:nvSpPr>
        <p:spPr bwMode="auto">
          <a:xfrm>
            <a:off x="3038475"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6"/>
          <p:cNvGrpSpPr/>
          <p:nvPr/>
        </p:nvGrpSpPr>
        <p:grpSpPr bwMode="auto">
          <a:xfrm>
            <a:off x="2362200" y="3743325"/>
            <a:ext cx="4800600" cy="1163638"/>
            <a:chOff x="1488" y="2467"/>
            <a:chExt cx="3024" cy="733"/>
          </a:xfrm>
        </p:grpSpPr>
        <p:graphicFrame>
          <p:nvGraphicFramePr>
            <p:cNvPr id="45075" name="Object 7"/>
            <p:cNvGraphicFramePr>
              <a:graphicFrameLocks noChangeAspect="1"/>
            </p:cNvGraphicFramePr>
            <p:nvPr/>
          </p:nvGraphicFramePr>
          <p:xfrm>
            <a:off x="1488" y="2467"/>
            <a:ext cx="3024" cy="528"/>
          </p:xfrm>
          <a:graphic>
            <a:graphicData uri="http://schemas.openxmlformats.org/presentationml/2006/ole">
              <mc:AlternateContent xmlns:mc="http://schemas.openxmlformats.org/markup-compatibility/2006">
                <mc:Choice xmlns:v="urn:schemas-microsoft-com:vml" Requires="v">
                  <p:oleObj spid="_x0000_s45091" name="Picture" r:id="rId1" imgW="4007485" imgH="602615" progId="Word.Picture.8">
                    <p:embed/>
                  </p:oleObj>
                </mc:Choice>
                <mc:Fallback>
                  <p:oleObj name="Picture" r:id="rId1" imgW="4007485" imgH="60261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2467"/>
                          <a:ext cx="3024"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76" name="Text Box 8"/>
            <p:cNvSpPr txBox="1">
              <a:spLocks noChangeArrowheads="1"/>
            </p:cNvSpPr>
            <p:nvPr/>
          </p:nvSpPr>
          <p:spPr bwMode="auto">
            <a:xfrm>
              <a:off x="1776" y="2912"/>
              <a:ext cx="19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卷积同态系统示意图</a:t>
              </a:r>
              <a:r>
                <a:rPr kumimoji="1" lang="zh-CN" altLang="en-US" sz="2400" b="1">
                  <a:solidFill>
                    <a:schemeClr val="tx2"/>
                  </a:solidFill>
                </a:rPr>
                <a:t> </a:t>
              </a:r>
              <a:endParaRPr kumimoji="1" lang="zh-CN" altLang="en-US" sz="2400" b="1">
                <a:solidFill>
                  <a:schemeClr val="tx2"/>
                </a:solidFill>
              </a:endParaRPr>
            </a:p>
          </p:txBody>
        </p:sp>
      </p:grpSp>
      <p:grpSp>
        <p:nvGrpSpPr>
          <p:cNvPr id="3" name="Group 9"/>
          <p:cNvGrpSpPr/>
          <p:nvPr/>
        </p:nvGrpSpPr>
        <p:grpSpPr bwMode="auto">
          <a:xfrm>
            <a:off x="2362200" y="5257800"/>
            <a:ext cx="4267200" cy="1371600"/>
            <a:chOff x="1488" y="3312"/>
            <a:chExt cx="2688" cy="864"/>
          </a:xfrm>
        </p:grpSpPr>
        <p:graphicFrame>
          <p:nvGraphicFramePr>
            <p:cNvPr id="45073" name="Object 10"/>
            <p:cNvGraphicFramePr>
              <a:graphicFrameLocks noChangeAspect="1"/>
            </p:cNvGraphicFramePr>
            <p:nvPr/>
          </p:nvGraphicFramePr>
          <p:xfrm>
            <a:off x="1488" y="3312"/>
            <a:ext cx="2688" cy="776"/>
          </p:xfrm>
          <a:graphic>
            <a:graphicData uri="http://schemas.openxmlformats.org/presentationml/2006/ole">
              <mc:AlternateContent xmlns:mc="http://schemas.openxmlformats.org/markup-compatibility/2006">
                <mc:Choice xmlns:v="urn:schemas-microsoft-com:vml" Requires="v">
                  <p:oleObj spid="_x0000_s45092" name="" r:id="rId3" imgW="3067685" imgH="890270" progId="Word.Picture.8">
                    <p:embed/>
                  </p:oleObj>
                </mc:Choice>
                <mc:Fallback>
                  <p:oleObj name="" r:id="rId3" imgW="3067685" imgH="890270" progId="Word.Picture.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3312"/>
                          <a:ext cx="2688"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74" name="Text Box 11"/>
            <p:cNvSpPr txBox="1">
              <a:spLocks noChangeArrowheads="1"/>
            </p:cNvSpPr>
            <p:nvPr/>
          </p:nvSpPr>
          <p:spPr bwMode="auto">
            <a:xfrm>
              <a:off x="1584" y="3888"/>
              <a:ext cx="2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卷积同态系统分解示意图 </a:t>
              </a:r>
              <a:endParaRPr kumimoji="1" lang="zh-CN" altLang="en-US" sz="2400" b="1">
                <a:solidFill>
                  <a:schemeClr val="tx2"/>
                </a:solidFill>
                <a:latin typeface="宋体" panose="02010600030101010101" pitchFamily="2" charset="-122"/>
              </a:endParaRPr>
            </a:p>
          </p:txBody>
        </p:sp>
      </p:grpSp>
      <p:sp>
        <p:nvSpPr>
          <p:cNvPr id="12" name="下箭头 11"/>
          <p:cNvSpPr>
            <a:spLocks noChangeArrowheads="1"/>
          </p:cNvSpPr>
          <p:nvPr/>
        </p:nvSpPr>
        <p:spPr bwMode="auto">
          <a:xfrm rot="-3720000">
            <a:off x="3430588" y="5087937"/>
            <a:ext cx="109538" cy="493713"/>
          </a:xfrm>
          <a:prstGeom prst="downArrow">
            <a:avLst>
              <a:gd name="adj1" fmla="val 50000"/>
              <a:gd name="adj2" fmla="val 49913"/>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3" name="Text Box 4"/>
          <p:cNvSpPr txBox="1">
            <a:spLocks noChangeArrowheads="1"/>
          </p:cNvSpPr>
          <p:nvPr/>
        </p:nvSpPr>
        <p:spPr bwMode="auto">
          <a:xfrm>
            <a:off x="2312988" y="4972050"/>
            <a:ext cx="1012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600" b="1">
                <a:solidFill>
                  <a:srgbClr val="FF0000"/>
                </a:solidFill>
                <a:latin typeface="Times New Roman" panose="02020603050405020304" pitchFamily="18" charset="0"/>
              </a:rPr>
              <a:t>加性信号</a:t>
            </a:r>
            <a:endParaRPr kumimoji="1" lang="zh-CN" altLang="en-US" sz="1600" b="1">
              <a:solidFill>
                <a:srgbClr val="FF0000"/>
              </a:solidFill>
              <a:latin typeface="Times New Roman" panose="02020603050405020304" pitchFamily="18" charset="0"/>
            </a:endParaRPr>
          </a:p>
        </p:txBody>
      </p:sp>
      <p:sp>
        <p:nvSpPr>
          <p:cNvPr id="14" name="下箭头 13"/>
          <p:cNvSpPr>
            <a:spLocks noChangeArrowheads="1"/>
          </p:cNvSpPr>
          <p:nvPr/>
        </p:nvSpPr>
        <p:spPr bwMode="auto">
          <a:xfrm rot="-6000000">
            <a:off x="2620169" y="5749132"/>
            <a:ext cx="84137" cy="495300"/>
          </a:xfrm>
          <a:prstGeom prst="downArrow">
            <a:avLst>
              <a:gd name="adj1" fmla="val 50000"/>
              <a:gd name="adj2" fmla="val 50501"/>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 name="Text Box 4"/>
          <p:cNvSpPr txBox="1">
            <a:spLocks noChangeArrowheads="1"/>
          </p:cNvSpPr>
          <p:nvPr/>
        </p:nvSpPr>
        <p:spPr bwMode="auto">
          <a:xfrm>
            <a:off x="1427163" y="6022975"/>
            <a:ext cx="10112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600" b="1">
                <a:solidFill>
                  <a:srgbClr val="FF0000"/>
                </a:solidFill>
                <a:latin typeface="Times New Roman" panose="02020603050405020304" pitchFamily="18" charset="0"/>
              </a:rPr>
              <a:t>特征系统</a:t>
            </a:r>
            <a:endParaRPr kumimoji="1" lang="zh-CN" altLang="en-US" sz="1600" b="1">
              <a:solidFill>
                <a:srgbClr val="FF0000"/>
              </a:solidFill>
              <a:latin typeface="Times New Roman" panose="02020603050405020304" pitchFamily="18" charset="0"/>
            </a:endParaRPr>
          </a:p>
        </p:txBody>
      </p:sp>
      <p:sp>
        <p:nvSpPr>
          <p:cNvPr id="16" name="下箭头 15"/>
          <p:cNvSpPr>
            <a:spLocks noChangeArrowheads="1"/>
          </p:cNvSpPr>
          <p:nvPr/>
        </p:nvSpPr>
        <p:spPr bwMode="auto">
          <a:xfrm>
            <a:off x="4392613" y="5229225"/>
            <a:ext cx="107950" cy="287338"/>
          </a:xfrm>
          <a:prstGeom prst="downArrow">
            <a:avLst>
              <a:gd name="adj1" fmla="val 50000"/>
              <a:gd name="adj2" fmla="val 50142"/>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 name="Text Box 4"/>
          <p:cNvSpPr txBox="1">
            <a:spLocks noChangeArrowheads="1"/>
          </p:cNvSpPr>
          <p:nvPr/>
        </p:nvSpPr>
        <p:spPr bwMode="auto">
          <a:xfrm>
            <a:off x="3965575" y="4911725"/>
            <a:ext cx="10112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600" b="1">
                <a:solidFill>
                  <a:srgbClr val="FF0000"/>
                </a:solidFill>
                <a:latin typeface="Times New Roman" panose="02020603050405020304" pitchFamily="18" charset="0"/>
              </a:rPr>
              <a:t>线性操作</a:t>
            </a:r>
            <a:endParaRPr kumimoji="1" lang="zh-CN" altLang="en-US" sz="1600" b="1">
              <a:solidFill>
                <a:srgbClr val="FF0000"/>
              </a:solidFill>
              <a:latin typeface="Times New Roman" panose="02020603050405020304" pitchFamily="18" charset="0"/>
            </a:endParaRPr>
          </a:p>
        </p:txBody>
      </p:sp>
      <p:sp>
        <p:nvSpPr>
          <p:cNvPr id="18" name="下箭头 17"/>
          <p:cNvSpPr>
            <a:spLocks noChangeArrowheads="1"/>
          </p:cNvSpPr>
          <p:nvPr/>
        </p:nvSpPr>
        <p:spPr bwMode="auto">
          <a:xfrm>
            <a:off x="5589588" y="5229225"/>
            <a:ext cx="107950" cy="287338"/>
          </a:xfrm>
          <a:prstGeom prst="downArrow">
            <a:avLst>
              <a:gd name="adj1" fmla="val 50000"/>
              <a:gd name="adj2" fmla="val 50142"/>
            </a:avLst>
          </a:prstGeom>
          <a:solidFill>
            <a:srgbClr val="FF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9" name="Text Box 4"/>
          <p:cNvSpPr txBox="1">
            <a:spLocks noChangeArrowheads="1"/>
          </p:cNvSpPr>
          <p:nvPr/>
        </p:nvSpPr>
        <p:spPr bwMode="auto">
          <a:xfrm>
            <a:off x="5003800" y="4911725"/>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600" b="1">
                <a:solidFill>
                  <a:srgbClr val="FF0000"/>
                </a:solidFill>
                <a:latin typeface="Times New Roman" panose="02020603050405020304" pitchFamily="18" charset="0"/>
              </a:rPr>
              <a:t>反特征系统</a:t>
            </a:r>
            <a:endParaRPr kumimoji="1" lang="zh-CN" altLang="en-US" sz="1600" b="1">
              <a:solidFill>
                <a:srgbClr val="FF0000"/>
              </a:solidFill>
              <a:latin typeface="Times New Roman" panose="02020603050405020304" pitchFamily="18" charset="0"/>
            </a:endParaRPr>
          </a:p>
        </p:txBody>
      </p:sp>
      <p:sp>
        <p:nvSpPr>
          <p:cNvPr id="4" name="矩形标注 3"/>
          <p:cNvSpPr>
            <a:spLocks noChangeArrowheads="1"/>
          </p:cNvSpPr>
          <p:nvPr/>
        </p:nvSpPr>
        <p:spPr bwMode="auto">
          <a:xfrm>
            <a:off x="7092950" y="4329113"/>
            <a:ext cx="1746250" cy="395287"/>
          </a:xfrm>
          <a:prstGeom prst="wedgeRectCallout">
            <a:avLst>
              <a:gd name="adj1" fmla="val -157954"/>
              <a:gd name="adj2" fmla="val -94722"/>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  </a:t>
            </a:r>
            <a:r>
              <a:rPr lang="zh-CN" altLang="en-US" sz="1600"/>
              <a:t>如让</a:t>
            </a:r>
            <a:r>
              <a:rPr lang="en-US" altLang="zh-CN" sz="1600" i="1">
                <a:latin typeface="Times New Roman" panose="02020603050405020304" pitchFamily="18" charset="0"/>
                <a:cs typeface="Times New Roman" panose="02020603050405020304" pitchFamily="18" charset="0"/>
              </a:rPr>
              <a:t>y</a:t>
            </a:r>
            <a:r>
              <a:rPr lang="en-US" altLang="zh-CN" sz="1600">
                <a:latin typeface="Times New Roman" panose="02020603050405020304" pitchFamily="18" charset="0"/>
                <a:cs typeface="Times New Roman" panose="02020603050405020304" pitchFamily="18" charset="0"/>
              </a:rPr>
              <a:t>(</a:t>
            </a:r>
            <a:r>
              <a:rPr lang="en-US" altLang="zh-CN" sz="1600" i="1">
                <a:latin typeface="Times New Roman" panose="02020603050405020304" pitchFamily="18" charset="0"/>
                <a:cs typeface="Times New Roman" panose="02020603050405020304" pitchFamily="18" charset="0"/>
              </a:rPr>
              <a:t>n</a:t>
            </a:r>
            <a:r>
              <a:rPr lang="en-US" altLang="zh-CN" sz="1600">
                <a:latin typeface="Times New Roman" panose="02020603050405020304" pitchFamily="18" charset="0"/>
                <a:cs typeface="Times New Roman" panose="02020603050405020304" pitchFamily="18" charset="0"/>
              </a:rPr>
              <a:t>)=</a:t>
            </a:r>
            <a:r>
              <a:rPr lang="en-US" altLang="zh-CN" sz="1600" i="1">
                <a:latin typeface="Times New Roman" panose="02020603050405020304" pitchFamily="18" charset="0"/>
                <a:cs typeface="Times New Roman" panose="02020603050405020304" pitchFamily="18" charset="0"/>
              </a:rPr>
              <a:t>h</a:t>
            </a:r>
            <a:r>
              <a:rPr lang="en-US" altLang="zh-CN" sz="1600">
                <a:latin typeface="Times New Roman" panose="02020603050405020304" pitchFamily="18" charset="0"/>
                <a:cs typeface="Times New Roman" panose="02020603050405020304" pitchFamily="18" charset="0"/>
              </a:rPr>
              <a:t>(</a:t>
            </a:r>
            <a:r>
              <a:rPr lang="en-US" altLang="zh-CN" sz="1600" i="1">
                <a:latin typeface="Times New Roman" panose="02020603050405020304" pitchFamily="18" charset="0"/>
                <a:cs typeface="Times New Roman" panose="02020603050405020304" pitchFamily="18" charset="0"/>
              </a:rPr>
              <a:t>n</a:t>
            </a:r>
            <a:r>
              <a:rPr lang="en-US" altLang="zh-CN" sz="160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1603">
                                            <p:txEl>
                                              <p:pRg st="1" end="1"/>
                                            </p:txEl>
                                          </p:spTgt>
                                        </p:tgtEl>
                                        <p:attrNameLst>
                                          <p:attrName>style.visibility</p:attrName>
                                        </p:attrNameLst>
                                      </p:cBhvr>
                                      <p:to>
                                        <p:strVal val="visible"/>
                                      </p:to>
                                    </p:set>
                                    <p:animEffect transition="in" filter="wipe(up)">
                                      <p:cBhvr>
                                        <p:cTn id="7" dur="500"/>
                                        <p:tgtEl>
                                          <p:spTgt spid="2816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nodePh="1">
                                  <p:stCondLst>
                                    <p:cond delay="0"/>
                                  </p:stCondLst>
                                  <p:endCondLst>
                                    <p:cond evt="begin" delay="0">
                                      <p:tn val="10"/>
                                    </p:cond>
                                  </p:endCondLst>
                                  <p:childTnLst>
                                    <p:set>
                                      <p:cBhvr>
                                        <p:cTn id="11" dur="1" fill="hold">
                                          <p:stCondLst>
                                            <p:cond delay="0"/>
                                          </p:stCondLst>
                                        </p:cTn>
                                        <p:tgtEl>
                                          <p:spTgt spid="281605"/>
                                        </p:tgtEl>
                                        <p:attrNameLst>
                                          <p:attrName>style.visibility</p:attrName>
                                        </p:attrNameLst>
                                      </p:cBhvr>
                                      <p:to>
                                        <p:strVal val="visible"/>
                                      </p:to>
                                    </p:set>
                                    <p:animEffect transition="in" filter="wipe(up)">
                                      <p:cBhvr>
                                        <p:cTn id="12" dur="500"/>
                                        <p:tgtEl>
                                          <p:spTgt spid="2816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up)">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up)">
                                      <p:cBhvr>
                                        <p:cTn id="41" dur="500"/>
                                        <p:tgtEl>
                                          <p:spTgt spid="13"/>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up)">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up)">
                                      <p:cBhvr>
                                        <p:cTn id="50" dur="500"/>
                                        <p:tgtEl>
                                          <p:spTgt spid="17"/>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up)">
                                      <p:cBhvr>
                                        <p:cTn id="59" dur="500"/>
                                        <p:tgtEl>
                                          <p:spTgt spid="19"/>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up)">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autoUpdateAnimBg="0" build="p"/>
      <p:bldP spid="281605" grpId="0" animBg="1"/>
      <p:bldP spid="12" grpId="0" bldLvl="0" animBg="1"/>
      <p:bldP spid="13" grpId="0"/>
      <p:bldP spid="14" grpId="0" bldLvl="0" animBg="1"/>
      <p:bldP spid="15" grpId="0"/>
      <p:bldP spid="16" grpId="0" bldLvl="0" animBg="1"/>
      <p:bldP spid="17" grpId="0"/>
      <p:bldP spid="18" grpId="0" bldLvl="0" animBg="1"/>
      <p:bldP spid="19" grpId="0"/>
      <p:bldP spid="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83651" name="Rectangle 3"/>
          <p:cNvSpPr>
            <a:spLocks noGrp="1" noChangeArrowheads="1"/>
          </p:cNvSpPr>
          <p:nvPr>
            <p:ph type="body" idx="1"/>
          </p:nvPr>
        </p:nvSpPr>
        <p:spPr>
          <a:xfrm>
            <a:off x="685800" y="1828800"/>
            <a:ext cx="7772400" cy="533400"/>
          </a:xfrm>
        </p:spPr>
        <p:txBody>
          <a:bodyPr/>
          <a:lstStyle/>
          <a:p>
            <a:pPr eaLnBrk="1" hangingPunct="1"/>
            <a:r>
              <a:rPr lang="zh-CN" altLang="en-US" sz="2800" b="1">
                <a:solidFill>
                  <a:schemeClr val="tx2"/>
                </a:solidFill>
                <a:latin typeface="Times New Roman" panose="02020603050405020304" pitchFamily="18" charset="0"/>
                <a:cs typeface="Times New Roman" panose="02020603050405020304" pitchFamily="18" charset="0"/>
              </a:rPr>
              <a:t> </a:t>
            </a:r>
            <a:r>
              <a:rPr lang="zh-CN" altLang="en-US" sz="2800" b="1">
                <a:solidFill>
                  <a:schemeClr val="tx2"/>
                </a:solidFill>
                <a:latin typeface="宋体" panose="02010600030101010101" pitchFamily="2" charset="-122"/>
              </a:rPr>
              <a:t>特征系统</a:t>
            </a:r>
            <a:r>
              <a:rPr lang="zh-CN" altLang="en-US" sz="2800" b="1">
                <a:solidFill>
                  <a:schemeClr val="tx2"/>
                </a:solidFill>
              </a:rPr>
              <a:t> </a:t>
            </a:r>
            <a:r>
              <a:rPr lang="en-US" altLang="zh-CN" sz="2800" b="1">
                <a:solidFill>
                  <a:schemeClr val="tx2"/>
                </a:solidFill>
              </a:rPr>
              <a:t>D*</a:t>
            </a:r>
            <a:endParaRPr lang="en-US" altLang="zh-CN" sz="2800" b="1">
              <a:solidFill>
                <a:schemeClr val="tx2"/>
              </a:solidFill>
            </a:endParaRPr>
          </a:p>
        </p:txBody>
      </p:sp>
      <p:sp>
        <p:nvSpPr>
          <p:cNvPr id="47108" name="Rectangle 4"/>
          <p:cNvSpPr>
            <a:spLocks noChangeArrowheads="1"/>
          </p:cNvSpPr>
          <p:nvPr/>
        </p:nvSpPr>
        <p:spPr bwMode="auto">
          <a:xfrm>
            <a:off x="2228850" y="1752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09" name="Rectangle 5"/>
          <p:cNvSpPr>
            <a:spLocks noChangeArrowheads="1"/>
          </p:cNvSpPr>
          <p:nvPr/>
        </p:nvSpPr>
        <p:spPr bwMode="auto">
          <a:xfrm>
            <a:off x="3038475" y="2938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83654" name="Object 6"/>
          <p:cNvGraphicFramePr>
            <a:graphicFrameLocks noChangeAspect="1"/>
          </p:cNvGraphicFramePr>
          <p:nvPr/>
        </p:nvGraphicFramePr>
        <p:xfrm>
          <a:off x="2438400" y="2590800"/>
          <a:ext cx="3895725" cy="1246188"/>
        </p:xfrm>
        <a:graphic>
          <a:graphicData uri="http://schemas.openxmlformats.org/presentationml/2006/ole">
            <mc:AlternateContent xmlns:mc="http://schemas.openxmlformats.org/markup-compatibility/2006">
              <mc:Choice xmlns:v="urn:schemas-microsoft-com:vml" Requires="v">
                <p:oleObj spid="_x0000_s47152" name="" r:id="rId1" imgW="3067685" imgH="984250" progId="Word.Picture.8">
                  <p:embed/>
                </p:oleObj>
              </mc:Choice>
              <mc:Fallback>
                <p:oleObj name="" r:id="rId1" imgW="3067685" imgH="984250" progId="Word.Picture.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590800"/>
                        <a:ext cx="3895725"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1" name="Rectangle 7"/>
          <p:cNvSpPr>
            <a:spLocks noChangeArrowheads="1"/>
          </p:cNvSpPr>
          <p:nvPr/>
        </p:nvSpPr>
        <p:spPr bwMode="auto">
          <a:xfrm>
            <a:off x="3652838"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12" name="Rectangle 8"/>
          <p:cNvSpPr>
            <a:spLocks noChangeArrowheads="1"/>
          </p:cNvSpPr>
          <p:nvPr/>
        </p:nvSpPr>
        <p:spPr bwMode="auto">
          <a:xfrm>
            <a:off x="2957513"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7113" name="Rectangle 9"/>
          <p:cNvSpPr>
            <a:spLocks noChangeArrowheads="1"/>
          </p:cNvSpPr>
          <p:nvPr/>
        </p:nvSpPr>
        <p:spPr bwMode="auto">
          <a:xfrm>
            <a:off x="302418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10"/>
          <p:cNvGrpSpPr/>
          <p:nvPr/>
        </p:nvGrpSpPr>
        <p:grpSpPr bwMode="auto">
          <a:xfrm>
            <a:off x="762000" y="3733800"/>
            <a:ext cx="7772400" cy="850900"/>
            <a:chOff x="480" y="2352"/>
            <a:chExt cx="4896" cy="536"/>
          </a:xfrm>
        </p:grpSpPr>
        <p:graphicFrame>
          <p:nvGraphicFramePr>
            <p:cNvPr id="47122" name="Object 11"/>
            <p:cNvGraphicFramePr>
              <a:graphicFrameLocks noChangeAspect="1"/>
            </p:cNvGraphicFramePr>
            <p:nvPr/>
          </p:nvGraphicFramePr>
          <p:xfrm>
            <a:off x="1728" y="2640"/>
            <a:ext cx="2276" cy="248"/>
          </p:xfrm>
          <a:graphic>
            <a:graphicData uri="http://schemas.openxmlformats.org/presentationml/2006/ole">
              <mc:AlternateContent xmlns:mc="http://schemas.openxmlformats.org/markup-compatibility/2006">
                <mc:Choice xmlns:v="urn:schemas-microsoft-com:vml" Requires="v">
                  <p:oleObj spid="_x0000_s47153" name="Equation" r:id="rId3" imgW="1841500" imgH="203200" progId="Equation.DSMT4">
                    <p:embed/>
                  </p:oleObj>
                </mc:Choice>
                <mc:Fallback>
                  <p:oleObj name="Equation" r:id="rId3" imgW="1841500" imgH="2032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 y="2640"/>
                          <a:ext cx="227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3" name="Rectangle 12"/>
            <p:cNvSpPr>
              <a:spLocks noChangeArrowheads="1"/>
            </p:cNvSpPr>
            <p:nvPr/>
          </p:nvSpPr>
          <p:spPr bwMode="auto">
            <a:xfrm>
              <a:off x="480" y="2352"/>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400" b="1">
                  <a:solidFill>
                    <a:schemeClr val="tx2"/>
                  </a:solidFill>
                  <a:latin typeface="宋体" panose="02010600030101010101" pitchFamily="2" charset="-122"/>
                </a:rPr>
                <a:t>第一步是对信号进行</a:t>
              </a:r>
              <a:r>
                <a:rPr kumimoji="1" lang="en-US" altLang="zh-CN" sz="2400" b="1">
                  <a:solidFill>
                    <a:schemeClr val="tx2"/>
                  </a:solidFill>
                  <a:latin typeface="宋体" panose="02010600030101010101" pitchFamily="2" charset="-122"/>
                </a:rPr>
                <a:t>Z</a:t>
              </a:r>
              <a:r>
                <a:rPr kumimoji="1" lang="zh-CN" altLang="en-US" sz="2400" b="1">
                  <a:solidFill>
                    <a:schemeClr val="tx2"/>
                  </a:solidFill>
                  <a:latin typeface="宋体" panose="02010600030101010101" pitchFamily="2" charset="-122"/>
                </a:rPr>
                <a:t>变换，将卷积信号转变为乘积信号</a:t>
              </a:r>
              <a:r>
                <a:rPr kumimoji="1" lang="zh-CN" altLang="en-US" sz="2400" b="1">
                  <a:solidFill>
                    <a:schemeClr val="tx2"/>
                  </a:solidFill>
                </a:rPr>
                <a:t> </a:t>
              </a:r>
              <a:endParaRPr kumimoji="1" lang="en-US" altLang="zh-CN" sz="2400" b="1">
                <a:solidFill>
                  <a:schemeClr val="tx2"/>
                </a:solidFill>
              </a:endParaRPr>
            </a:p>
          </p:txBody>
        </p:sp>
      </p:grpSp>
      <p:grpSp>
        <p:nvGrpSpPr>
          <p:cNvPr id="3" name="Group 13"/>
          <p:cNvGrpSpPr/>
          <p:nvPr/>
        </p:nvGrpSpPr>
        <p:grpSpPr bwMode="auto">
          <a:xfrm>
            <a:off x="762000" y="4572000"/>
            <a:ext cx="7772400" cy="838200"/>
            <a:chOff x="480" y="2880"/>
            <a:chExt cx="4896" cy="528"/>
          </a:xfrm>
        </p:grpSpPr>
        <p:graphicFrame>
          <p:nvGraphicFramePr>
            <p:cNvPr id="47120" name="Object 14"/>
            <p:cNvGraphicFramePr>
              <a:graphicFrameLocks noChangeAspect="1"/>
            </p:cNvGraphicFramePr>
            <p:nvPr/>
          </p:nvGraphicFramePr>
          <p:xfrm>
            <a:off x="1158" y="3158"/>
            <a:ext cx="3416" cy="250"/>
          </p:xfrm>
          <a:graphic>
            <a:graphicData uri="http://schemas.openxmlformats.org/presentationml/2006/ole">
              <mc:AlternateContent xmlns:mc="http://schemas.openxmlformats.org/markup-compatibility/2006">
                <mc:Choice xmlns:v="urn:schemas-microsoft-com:vml" Requires="v">
                  <p:oleObj spid="_x0000_s47154" name="Equation" r:id="rId5" imgW="3251200" imgH="241300" progId="Equation.DSMT4">
                    <p:embed/>
                  </p:oleObj>
                </mc:Choice>
                <mc:Fallback>
                  <p:oleObj name="Equation" r:id="rId5" imgW="3251200" imgH="2413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8" y="3158"/>
                          <a:ext cx="34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1" name="Rectangle 15"/>
            <p:cNvSpPr>
              <a:spLocks noChangeArrowheads="1"/>
            </p:cNvSpPr>
            <p:nvPr/>
          </p:nvSpPr>
          <p:spPr bwMode="auto">
            <a:xfrm>
              <a:off x="480" y="2880"/>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400" b="1">
                  <a:solidFill>
                    <a:schemeClr val="tx2"/>
                  </a:solidFill>
                  <a:latin typeface="宋体" panose="02010600030101010101" pitchFamily="2" charset="-122"/>
                </a:rPr>
                <a:t>第二步是进行对数运算，将乘积信号变为加性信号 </a:t>
              </a:r>
              <a:endParaRPr kumimoji="1" lang="en-US" altLang="zh-CN" sz="2400" b="1">
                <a:solidFill>
                  <a:schemeClr val="tx2"/>
                </a:solidFill>
                <a:latin typeface="宋体" panose="02010600030101010101" pitchFamily="2" charset="-122"/>
              </a:endParaRPr>
            </a:p>
          </p:txBody>
        </p:sp>
      </p:grpSp>
      <p:grpSp>
        <p:nvGrpSpPr>
          <p:cNvPr id="4" name="Group 16"/>
          <p:cNvGrpSpPr/>
          <p:nvPr/>
        </p:nvGrpSpPr>
        <p:grpSpPr bwMode="auto">
          <a:xfrm>
            <a:off x="762000" y="5410200"/>
            <a:ext cx="7772400" cy="854075"/>
            <a:chOff x="480" y="3408"/>
            <a:chExt cx="4896" cy="538"/>
          </a:xfrm>
        </p:grpSpPr>
        <p:graphicFrame>
          <p:nvGraphicFramePr>
            <p:cNvPr id="47118" name="Object 17"/>
            <p:cNvGraphicFramePr>
              <a:graphicFrameLocks noChangeAspect="1"/>
            </p:cNvGraphicFramePr>
            <p:nvPr/>
          </p:nvGraphicFramePr>
          <p:xfrm>
            <a:off x="1309" y="3696"/>
            <a:ext cx="3223" cy="250"/>
          </p:xfrm>
          <a:graphic>
            <a:graphicData uri="http://schemas.openxmlformats.org/presentationml/2006/ole">
              <mc:AlternateContent xmlns:mc="http://schemas.openxmlformats.org/markup-compatibility/2006">
                <mc:Choice xmlns:v="urn:schemas-microsoft-com:vml" Requires="v">
                  <p:oleObj spid="_x0000_s47155" name="Equation" r:id="rId7" imgW="3073400" imgH="241300" progId="Equation.DSMT4">
                    <p:embed/>
                  </p:oleObj>
                </mc:Choice>
                <mc:Fallback>
                  <p:oleObj name="Equation" r:id="rId7" imgW="3073400" imgH="241300" progId="Equation.DSMT4">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9" y="3696"/>
                          <a:ext cx="3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9" name="Rectangle 18"/>
            <p:cNvSpPr>
              <a:spLocks noChangeArrowheads="1"/>
            </p:cNvSpPr>
            <p:nvPr/>
          </p:nvSpPr>
          <p:spPr bwMode="auto">
            <a:xfrm>
              <a:off x="480" y="3408"/>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400" b="1">
                  <a:solidFill>
                    <a:schemeClr val="tx2"/>
                  </a:solidFill>
                  <a:latin typeface="宋体" panose="02010600030101010101" pitchFamily="2" charset="-122"/>
                </a:rPr>
                <a:t>第三步进行反</a:t>
              </a:r>
              <a:r>
                <a:rPr kumimoji="1" lang="en-US" altLang="zh-CN" sz="2400" b="1">
                  <a:solidFill>
                    <a:schemeClr val="tx2"/>
                  </a:solidFill>
                  <a:latin typeface="宋体" panose="02010600030101010101" pitchFamily="2" charset="-122"/>
                </a:rPr>
                <a:t>Z</a:t>
              </a:r>
              <a:r>
                <a:rPr kumimoji="1" lang="zh-CN" altLang="en-US" sz="2400" b="1">
                  <a:solidFill>
                    <a:schemeClr val="tx2"/>
                  </a:solidFill>
                  <a:latin typeface="宋体" panose="02010600030101010101" pitchFamily="2" charset="-122"/>
                </a:rPr>
                <a:t>变换运算,变回时域信号 </a:t>
              </a:r>
              <a:endParaRPr kumimoji="1" lang="en-US" altLang="zh-CN" sz="2400" b="1">
                <a:solidFill>
                  <a:schemeClr val="tx2"/>
                </a:solidFill>
                <a:latin typeface="宋体" panose="02010600030101010101" pitchFamily="2" charset="-122"/>
              </a:endParaRPr>
            </a:p>
          </p:txBody>
        </p:sp>
      </p:grpSp>
      <p:sp>
        <p:nvSpPr>
          <p:cNvPr id="19" name="矩形标注 18"/>
          <p:cNvSpPr>
            <a:spLocks noChangeArrowheads="1"/>
          </p:cNvSpPr>
          <p:nvPr/>
        </p:nvSpPr>
        <p:spPr bwMode="auto">
          <a:xfrm>
            <a:off x="7237413" y="5430838"/>
            <a:ext cx="1747837" cy="873125"/>
          </a:xfrm>
          <a:prstGeom prst="wedgeRectCallout">
            <a:avLst>
              <a:gd name="adj1" fmla="val -57194"/>
              <a:gd name="adj2" fmla="val 17963"/>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a:latin typeface="Times New Roman" panose="02020603050405020304" pitchFamily="18" charset="0"/>
                <a:cs typeface="Times New Roman" panose="02020603050405020304" pitchFamily="18" charset="0"/>
              </a:rPr>
              <a:t>e</a:t>
            </a:r>
            <a:r>
              <a:rPr lang="en-US" altLang="zh-CN" sz="1600">
                <a:latin typeface="Times New Roman" panose="02020603050405020304" pitchFamily="18" charset="0"/>
                <a:cs typeface="Times New Roman" panose="02020603050405020304" pitchFamily="18" charset="0"/>
              </a:rPr>
              <a:t>(</a:t>
            </a:r>
            <a:r>
              <a:rPr lang="en-US" altLang="zh-CN" sz="1600" i="1">
                <a:latin typeface="Times New Roman" panose="02020603050405020304" pitchFamily="18" charset="0"/>
                <a:cs typeface="Times New Roman" panose="02020603050405020304" pitchFamily="18" charset="0"/>
              </a:rPr>
              <a:t>n</a:t>
            </a:r>
            <a:r>
              <a:rPr lang="en-US" altLang="zh-CN" sz="1600">
                <a:latin typeface="Times New Roman" panose="02020603050405020304" pitchFamily="18" charset="0"/>
                <a:cs typeface="Times New Roman" panose="02020603050405020304" pitchFamily="18" charset="0"/>
              </a:rPr>
              <a:t>)</a:t>
            </a:r>
            <a:r>
              <a:rPr lang="zh-CN" altLang="en-US" sz="1600">
                <a:latin typeface="Times New Roman" panose="02020603050405020304" pitchFamily="18" charset="0"/>
                <a:cs typeface="Times New Roman" panose="02020603050405020304" pitchFamily="18" charset="0"/>
              </a:rPr>
              <a:t>已知的条件下</a:t>
            </a:r>
            <a:endParaRPr lang="en-US" altLang="zh-CN"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很容易通过线性运</a:t>
            </a:r>
            <a:endParaRPr lang="en-US" altLang="zh-CN"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算得到</a:t>
            </a:r>
            <a:r>
              <a:rPr lang="en-US" altLang="zh-CN" sz="1600" i="1">
                <a:latin typeface="Times New Roman" panose="02020603050405020304" pitchFamily="18" charset="0"/>
                <a:cs typeface="Times New Roman" panose="02020603050405020304" pitchFamily="18" charset="0"/>
              </a:rPr>
              <a:t>h</a:t>
            </a:r>
            <a:r>
              <a:rPr lang="en-US" altLang="zh-CN" sz="1600">
                <a:latin typeface="Times New Roman" panose="02020603050405020304" pitchFamily="18" charset="0"/>
                <a:cs typeface="Times New Roman" panose="02020603050405020304" pitchFamily="18" charset="0"/>
              </a:rPr>
              <a:t>(</a:t>
            </a:r>
            <a:r>
              <a:rPr lang="en-US" altLang="zh-CN" sz="1600" i="1">
                <a:latin typeface="Times New Roman" panose="02020603050405020304" pitchFamily="18" charset="0"/>
                <a:cs typeface="Times New Roman" panose="02020603050405020304" pitchFamily="18" charset="0"/>
              </a:rPr>
              <a:t>n</a:t>
            </a:r>
            <a:r>
              <a:rPr lang="en-US" altLang="zh-CN" sz="1600">
                <a:latin typeface="Times New Roman" panose="02020603050405020304" pitchFamily="18" charset="0"/>
                <a:cs typeface="Times New Roman" panose="02020603050405020304" pitchFamily="18" charset="0"/>
              </a:rPr>
              <a:t>)</a:t>
            </a:r>
            <a:endParaRPr lang="en-US" altLang="zh-CN" sz="1600">
              <a:latin typeface="Times New Roman" panose="02020603050405020304" pitchFamily="18" charset="0"/>
              <a:cs typeface="Times New Roman" panose="02020603050405020304" pitchFamily="18" charset="0"/>
            </a:endParaRPr>
          </a:p>
          <a:p>
            <a:pPr eaLnBrk="1" hangingPunct="1">
              <a:spcBef>
                <a:spcPct val="0"/>
              </a:spcBef>
              <a:buFontTx/>
              <a:buNone/>
            </a:pPr>
            <a:endParaRPr lang="zh-CN" altLang="en-US" sz="160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3651">
                                            <p:txEl>
                                              <p:pRg st="0" end="0"/>
                                            </p:txEl>
                                          </p:spTgt>
                                        </p:tgtEl>
                                        <p:attrNameLst>
                                          <p:attrName>style.visibility</p:attrName>
                                        </p:attrNameLst>
                                      </p:cBhvr>
                                      <p:to>
                                        <p:strVal val="visible"/>
                                      </p:to>
                                    </p:set>
                                    <p:animEffect transition="in" filter="wipe(up)">
                                      <p:cBhvr>
                                        <p:cTn id="7" dur="500"/>
                                        <p:tgtEl>
                                          <p:spTgt spid="283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3654"/>
                                        </p:tgtEl>
                                        <p:attrNameLst>
                                          <p:attrName>style.visibility</p:attrName>
                                        </p:attrNameLst>
                                      </p:cBhvr>
                                      <p:to>
                                        <p:strVal val="visible"/>
                                      </p:to>
                                    </p:set>
                                    <p:animEffect transition="in" filter="wipe(up)">
                                      <p:cBhvr>
                                        <p:cTn id="12" dur="500"/>
                                        <p:tgtEl>
                                          <p:spTgt spid="2836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autoUpdateAnimBg="0" build="p"/>
      <p:bldP spid="19"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85699" name="Rectangle 3"/>
          <p:cNvSpPr>
            <a:spLocks noGrp="1" noChangeArrowheads="1"/>
          </p:cNvSpPr>
          <p:nvPr>
            <p:ph type="body" idx="1"/>
          </p:nvPr>
        </p:nvSpPr>
        <p:spPr>
          <a:xfrm>
            <a:off x="685800" y="1828800"/>
            <a:ext cx="7772400" cy="533400"/>
          </a:xfrm>
          <a:noFill/>
        </p:spPr>
        <p:txBody>
          <a:bodyPr/>
          <a:lstStyle/>
          <a:p>
            <a:pPr eaLnBrk="1" hangingPunct="1"/>
            <a:r>
              <a:rPr lang="zh-CN" altLang="en-US" sz="2800" b="1">
                <a:solidFill>
                  <a:schemeClr val="tx2"/>
                </a:solidFill>
                <a:latin typeface="Times New Roman" panose="02020603050405020304" pitchFamily="18" charset="0"/>
                <a:cs typeface="Times New Roman" panose="02020603050405020304" pitchFamily="18" charset="0"/>
              </a:rPr>
              <a:t> </a:t>
            </a:r>
            <a:r>
              <a:rPr lang="zh-CN" altLang="en-US" sz="2800" b="1">
                <a:solidFill>
                  <a:schemeClr val="tx2"/>
                </a:solidFill>
                <a:latin typeface="Times New Roman" panose="02020603050405020304" pitchFamily="18" charset="0"/>
              </a:rPr>
              <a:t>反</a:t>
            </a:r>
            <a:r>
              <a:rPr lang="zh-CN" altLang="en-US" sz="2800" b="1">
                <a:solidFill>
                  <a:schemeClr val="tx2"/>
                </a:solidFill>
                <a:latin typeface="宋体" panose="02010600030101010101" pitchFamily="2" charset="-122"/>
              </a:rPr>
              <a:t>特征系统</a:t>
            </a:r>
            <a:r>
              <a:rPr lang="zh-CN" altLang="en-US" sz="2800" b="1">
                <a:solidFill>
                  <a:schemeClr val="tx2"/>
                </a:solidFill>
              </a:rPr>
              <a:t> </a:t>
            </a:r>
            <a:r>
              <a:rPr lang="en-US" altLang="zh-CN" sz="2800" b="1">
                <a:solidFill>
                  <a:schemeClr val="tx2"/>
                </a:solidFill>
              </a:rPr>
              <a:t>D*</a:t>
            </a:r>
            <a:r>
              <a:rPr lang="en-US" altLang="zh-CN" sz="2800" b="1" baseline="30000">
                <a:solidFill>
                  <a:schemeClr val="tx2"/>
                </a:solidFill>
              </a:rPr>
              <a:t>-1</a:t>
            </a:r>
            <a:r>
              <a:rPr lang="en-US" altLang="zh-CN" sz="2800" b="1">
                <a:solidFill>
                  <a:schemeClr val="tx2"/>
                </a:solidFill>
              </a:rPr>
              <a:t>：</a:t>
            </a:r>
            <a:r>
              <a:rPr lang="zh-CN" altLang="en-US" sz="2800" b="1">
                <a:solidFill>
                  <a:schemeClr val="tx2"/>
                </a:solidFill>
                <a:latin typeface="宋体" panose="02010600030101010101" pitchFamily="2" charset="-122"/>
              </a:rPr>
              <a:t>它是特征系统的反运算。</a:t>
            </a:r>
            <a:r>
              <a:rPr lang="zh-CN" altLang="en-US" sz="2800" b="1">
                <a:solidFill>
                  <a:schemeClr val="tx2"/>
                </a:solidFill>
              </a:rPr>
              <a:t> </a:t>
            </a:r>
            <a:endParaRPr lang="en-US" altLang="zh-CN" sz="2800" b="1">
              <a:solidFill>
                <a:schemeClr val="tx2"/>
              </a:solidFill>
            </a:endParaRPr>
          </a:p>
        </p:txBody>
      </p:sp>
      <p:sp>
        <p:nvSpPr>
          <p:cNvPr id="49156" name="Rectangle 4"/>
          <p:cNvSpPr>
            <a:spLocks noChangeArrowheads="1"/>
          </p:cNvSpPr>
          <p:nvPr/>
        </p:nvSpPr>
        <p:spPr bwMode="auto">
          <a:xfrm>
            <a:off x="2995613" y="2962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85701" name="Object 5"/>
          <p:cNvGraphicFramePr>
            <a:graphicFrameLocks noChangeAspect="1"/>
          </p:cNvGraphicFramePr>
          <p:nvPr/>
        </p:nvGraphicFramePr>
        <p:xfrm>
          <a:off x="2667000" y="2667000"/>
          <a:ext cx="3657600" cy="1082675"/>
        </p:xfrm>
        <a:graphic>
          <a:graphicData uri="http://schemas.openxmlformats.org/presentationml/2006/ole">
            <mc:AlternateContent xmlns:mc="http://schemas.openxmlformats.org/markup-compatibility/2006">
              <mc:Choice xmlns:v="urn:schemas-microsoft-com:vml" Requires="v">
                <p:oleObj spid="_x0000_s49177" name="" r:id="rId1" imgW="3153410" imgH="934085" progId="Word.Picture.8">
                  <p:embed/>
                </p:oleObj>
              </mc:Choice>
              <mc:Fallback>
                <p:oleObj name="" r:id="rId1" imgW="3153410" imgH="934085" progId="Word.Picture.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667000"/>
                        <a:ext cx="36576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6"/>
          <p:cNvGrpSpPr/>
          <p:nvPr/>
        </p:nvGrpSpPr>
        <p:grpSpPr bwMode="auto">
          <a:xfrm>
            <a:off x="762000" y="4038600"/>
            <a:ext cx="7772400" cy="2166938"/>
            <a:chOff x="480" y="2544"/>
            <a:chExt cx="4896" cy="1365"/>
          </a:xfrm>
        </p:grpSpPr>
        <p:grpSp>
          <p:nvGrpSpPr>
            <p:cNvPr id="49159" name="Group 7"/>
            <p:cNvGrpSpPr/>
            <p:nvPr/>
          </p:nvGrpSpPr>
          <p:grpSpPr bwMode="auto">
            <a:xfrm>
              <a:off x="480" y="2544"/>
              <a:ext cx="4896" cy="930"/>
              <a:chOff x="480" y="2544"/>
              <a:chExt cx="4896" cy="930"/>
            </a:xfrm>
          </p:grpSpPr>
          <p:sp>
            <p:nvSpPr>
              <p:cNvPr id="49161" name="Rectangle 8"/>
              <p:cNvSpPr>
                <a:spLocks noChangeArrowheads="1"/>
              </p:cNvSpPr>
              <p:nvPr/>
            </p:nvSpPr>
            <p:spPr bwMode="auto">
              <a:xfrm>
                <a:off x="480" y="2544"/>
                <a:ext cx="4896"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3"/>
                  </a:buBlip>
                </a:pPr>
                <a:r>
                  <a:rPr kumimoji="1" lang="zh-CN" altLang="en-US" sz="2800" b="1">
                    <a:solidFill>
                      <a:srgbClr val="0070C0"/>
                    </a:solidFill>
                    <a:latin typeface="黑体" panose="02010609060101010101" pitchFamily="49" charset="-122"/>
                    <a:ea typeface="黑体" panose="02010609060101010101" pitchFamily="49" charset="-122"/>
                  </a:rPr>
                  <a:t>复倒谱</a:t>
                </a:r>
                <a:r>
                  <a:rPr kumimoji="1" lang="zh-CN" altLang="en-US" sz="2800" b="1">
                    <a:solidFill>
                      <a:schemeClr val="tx2"/>
                    </a:solidFill>
                    <a:latin typeface="Times New Roman" panose="02020603050405020304" pitchFamily="18" charset="0"/>
                  </a:rPr>
                  <a:t>(</a:t>
                </a:r>
                <a:r>
                  <a:rPr kumimoji="1" lang="en-US" altLang="zh-CN" sz="2800" b="1">
                    <a:solidFill>
                      <a:schemeClr val="tx2"/>
                    </a:solidFill>
                    <a:latin typeface="Times New Roman" panose="02020603050405020304" pitchFamily="18" charset="0"/>
                  </a:rPr>
                  <a:t>Complex Cepstrum):</a:t>
                </a:r>
                <a:r>
                  <a:rPr kumimoji="1" lang="zh-CN" altLang="en-US" sz="2800" b="1">
                    <a:solidFill>
                      <a:schemeClr val="tx2"/>
                    </a:solidFill>
                    <a:latin typeface="Times New Roman" panose="02020603050405020304" pitchFamily="18" charset="0"/>
                  </a:rPr>
                  <a:t>将特征系统的输出称为复倒谱或对数复倒谱。</a:t>
                </a:r>
                <a:endParaRPr kumimoji="1" lang="zh-CN" altLang="en-US" sz="2800" b="1">
                  <a:solidFill>
                    <a:schemeClr val="tx2"/>
                  </a:solidFill>
                </a:endParaRPr>
              </a:p>
            </p:txBody>
          </p:sp>
          <p:graphicFrame>
            <p:nvGraphicFramePr>
              <p:cNvPr id="49162" name="Object 9"/>
              <p:cNvGraphicFramePr>
                <a:graphicFrameLocks noChangeAspect="1"/>
              </p:cNvGraphicFramePr>
              <p:nvPr/>
            </p:nvGraphicFramePr>
            <p:xfrm>
              <a:off x="1872" y="3216"/>
              <a:ext cx="1723" cy="258"/>
            </p:xfrm>
            <a:graphic>
              <a:graphicData uri="http://schemas.openxmlformats.org/presentationml/2006/ole">
                <mc:AlternateContent xmlns:mc="http://schemas.openxmlformats.org/markup-compatibility/2006">
                  <mc:Choice xmlns:v="urn:schemas-microsoft-com:vml" Requires="v">
                    <p:oleObj spid="_x0000_s49178" name="Equation" r:id="rId4" imgW="1524000" imgH="228600" progId="Equation.3">
                      <p:embed/>
                    </p:oleObj>
                  </mc:Choice>
                  <mc:Fallback>
                    <p:oleObj name="Equation" r:id="rId4" imgW="1524000" imgH="2286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3216"/>
                            <a:ext cx="172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9160" name="Text Box 10"/>
            <p:cNvSpPr txBox="1">
              <a:spLocks noChangeArrowheads="1"/>
            </p:cNvSpPr>
            <p:nvPr/>
          </p:nvSpPr>
          <p:spPr bwMode="auto">
            <a:xfrm>
              <a:off x="720" y="3580"/>
              <a:ext cx="259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rPr>
                <a:t>其所在域称之为</a:t>
              </a:r>
              <a:r>
                <a:rPr kumimoji="1" lang="zh-CN" altLang="en-US" sz="2800" b="1">
                  <a:solidFill>
                    <a:srgbClr val="0070C0"/>
                  </a:solidFill>
                  <a:latin typeface="黑体" panose="02010609060101010101" pitchFamily="49" charset="-122"/>
                  <a:ea typeface="黑体" panose="02010609060101010101" pitchFamily="49" charset="-122"/>
                </a:rPr>
                <a:t>倒谱域</a:t>
              </a:r>
              <a:r>
                <a:rPr kumimoji="1" lang="zh-CN" altLang="en-US" sz="2800" b="1">
                  <a:solidFill>
                    <a:schemeClr val="tx2"/>
                  </a:solidFill>
                </a:rPr>
                <a:t>。</a:t>
              </a:r>
              <a:endParaRPr kumimoji="1" lang="en-US" altLang="zh-CN" sz="2800" b="1">
                <a:solidFill>
                  <a:schemeClr val="tx2"/>
                </a:solidFill>
              </a:endParaRPr>
            </a:p>
          </p:txBody>
        </p:sp>
      </p:grpSp>
      <p:sp>
        <p:nvSpPr>
          <p:cNvPr id="4" name="矩形标注 3"/>
          <p:cNvSpPr>
            <a:spLocks noChangeArrowheads="1"/>
          </p:cNvSpPr>
          <p:nvPr/>
        </p:nvSpPr>
        <p:spPr bwMode="auto">
          <a:xfrm>
            <a:off x="5435600" y="5514975"/>
            <a:ext cx="3315335" cy="894715"/>
          </a:xfrm>
          <a:prstGeom prst="wedgeRectCallout">
            <a:avLst>
              <a:gd name="adj1" fmla="val -28988"/>
              <a:gd name="adj2" fmla="val -303797"/>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squar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假定声门波已知的思路</a:t>
            </a:r>
            <a:r>
              <a:rPr lang="zh-CN" altLang="en-US" sz="1600">
                <a:latin typeface="Times New Roman" panose="02020603050405020304" pitchFamily="18" charset="0"/>
                <a:cs typeface="Times New Roman" panose="02020603050405020304" pitchFamily="18" charset="0"/>
              </a:rPr>
              <a:t>并不成功</a:t>
            </a:r>
            <a:endParaRPr lang="zh-CN" altLang="en-US" sz="1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1600" b="1">
                <a:solidFill>
                  <a:srgbClr val="0070C0"/>
                </a:solidFill>
                <a:latin typeface="Times New Roman" panose="02020603050405020304" pitchFamily="18" charset="0"/>
                <a:cs typeface="Times New Roman" panose="02020603050405020304" pitchFamily="18" charset="0"/>
              </a:rPr>
              <a:t>倒谱变换能显著提高语音特征的鲁棒性</a:t>
            </a:r>
            <a:endParaRPr lang="zh-CN" altLang="en-US" sz="1600" b="1">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animEffect transition="in" filter="wipe(up)">
                                      <p:cBhvr>
                                        <p:cTn id="7" dur="500"/>
                                        <p:tgtEl>
                                          <p:spTgt spid="285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5701"/>
                                        </p:tgtEl>
                                        <p:attrNameLst>
                                          <p:attrName>style.visibility</p:attrName>
                                        </p:attrNameLst>
                                      </p:cBhvr>
                                      <p:to>
                                        <p:strVal val="visible"/>
                                      </p:to>
                                    </p:set>
                                    <p:animEffect transition="in" filter="wipe(up)">
                                      <p:cBhvr>
                                        <p:cTn id="12" dur="500"/>
                                        <p:tgtEl>
                                          <p:spTgt spid="2857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autoUpdateAnimBg="0" build="p"/>
      <p:bldP spid="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51203" name="Rectangle 3"/>
          <p:cNvSpPr>
            <a:spLocks noGrp="1" noChangeArrowheads="1"/>
          </p:cNvSpPr>
          <p:nvPr>
            <p:ph type="body" idx="1"/>
          </p:nvPr>
        </p:nvSpPr>
        <p:spPr>
          <a:xfrm>
            <a:off x="457200" y="1600200"/>
            <a:ext cx="3711575" cy="587375"/>
          </a:xfrm>
          <a:noFill/>
        </p:spPr>
        <p:txBody>
          <a:bodyPr/>
          <a:lstStyle/>
          <a:p>
            <a:pPr eaLnBrk="1" hangingPunct="1"/>
            <a:r>
              <a:rPr lang="zh-CN" altLang="en-US" sz="2800" b="1">
                <a:solidFill>
                  <a:srgbClr val="0070C0"/>
                </a:solidFill>
                <a:latin typeface="黑体" panose="02010609060101010101" pitchFamily="49" charset="-122"/>
                <a:ea typeface="黑体" panose="02010609060101010101" pitchFamily="49" charset="-122"/>
              </a:rPr>
              <a:t>倒谱</a:t>
            </a:r>
            <a:r>
              <a:rPr lang="zh-CN" altLang="en-US" sz="2800" b="1">
                <a:solidFill>
                  <a:schemeClr val="tx2"/>
                </a:solidFill>
              </a:rPr>
              <a:t>：仅对</a:t>
            </a:r>
            <a:endParaRPr lang="zh-CN" altLang="en-US" sz="2800" b="1">
              <a:solidFill>
                <a:schemeClr val="tx2"/>
              </a:solidFill>
            </a:endParaRPr>
          </a:p>
        </p:txBody>
      </p:sp>
      <p:grpSp>
        <p:nvGrpSpPr>
          <p:cNvPr id="51204" name="Group 4"/>
          <p:cNvGrpSpPr/>
          <p:nvPr/>
        </p:nvGrpSpPr>
        <p:grpSpPr bwMode="auto">
          <a:xfrm>
            <a:off x="2725738" y="1547813"/>
            <a:ext cx="4732337" cy="1211262"/>
            <a:chOff x="1717" y="975"/>
            <a:chExt cx="2981" cy="763"/>
          </a:xfrm>
        </p:grpSpPr>
        <p:graphicFrame>
          <p:nvGraphicFramePr>
            <p:cNvPr id="51207" name="Object 5"/>
            <p:cNvGraphicFramePr>
              <a:graphicFrameLocks noChangeAspect="1"/>
            </p:cNvGraphicFramePr>
            <p:nvPr/>
          </p:nvGraphicFramePr>
          <p:xfrm>
            <a:off x="1784" y="1071"/>
            <a:ext cx="370" cy="211"/>
          </p:xfrm>
          <a:graphic>
            <a:graphicData uri="http://schemas.openxmlformats.org/presentationml/2006/ole">
              <mc:AlternateContent xmlns:mc="http://schemas.openxmlformats.org/markup-compatibility/2006">
                <mc:Choice xmlns:v="urn:schemas-microsoft-com:vml" Requires="v">
                  <p:oleObj spid="_x0000_s51225" name="Equation" r:id="rId1" imgW="355600" imgH="203200" progId="Equation.3">
                    <p:embed/>
                  </p:oleObj>
                </mc:Choice>
                <mc:Fallback>
                  <p:oleObj name="Equation" r:id="rId1" imgW="355600" imgH="203200" progId="Equation.3">
                    <p:embed/>
                    <p:pic>
                      <p:nvPicPr>
                        <p:cNvPr id="0" name="Object 5"/>
                        <p:cNvPicPr>
                          <a:picLocks noChangeAspect="1" noChangeArrowheads="1"/>
                        </p:cNvPicPr>
                        <p:nvPr/>
                      </p:nvPicPr>
                      <p:blipFill>
                        <a:blip r:embed="rId2"/>
                        <a:srcRect/>
                        <a:stretch>
                          <a:fillRect/>
                        </a:stretch>
                      </p:blipFill>
                      <p:spPr bwMode="auto">
                        <a:xfrm>
                          <a:off x="1784" y="1071"/>
                          <a:ext cx="370"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08" name="Group 6"/>
            <p:cNvGrpSpPr/>
            <p:nvPr/>
          </p:nvGrpSpPr>
          <p:grpSpPr bwMode="auto">
            <a:xfrm>
              <a:off x="1717" y="975"/>
              <a:ext cx="2981" cy="763"/>
              <a:chOff x="1717" y="975"/>
              <a:chExt cx="2981" cy="763"/>
            </a:xfrm>
          </p:grpSpPr>
          <p:sp>
            <p:nvSpPr>
              <p:cNvPr id="51209" name="Text Box 7"/>
              <p:cNvSpPr txBox="1">
                <a:spLocks noChangeArrowheads="1"/>
              </p:cNvSpPr>
              <p:nvPr/>
            </p:nvSpPr>
            <p:spPr bwMode="auto">
              <a:xfrm>
                <a:off x="2154" y="975"/>
                <a:ext cx="254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rPr>
                  <a:t>的</a:t>
                </a:r>
                <a:r>
                  <a:rPr kumimoji="1" lang="zh-CN" altLang="en-US" sz="2800" b="1">
                    <a:solidFill>
                      <a:schemeClr val="tx2"/>
                    </a:solidFill>
                  </a:rPr>
                  <a:t>幅度作逆</a:t>
                </a:r>
                <a:r>
                  <a:rPr kumimoji="1" lang="en-US" altLang="zh-CN" sz="2800" b="1">
                    <a:solidFill>
                      <a:schemeClr val="tx2"/>
                    </a:solidFill>
                  </a:rPr>
                  <a:t>Z</a:t>
                </a:r>
                <a:r>
                  <a:rPr kumimoji="1" lang="zh-CN" altLang="en-US" sz="2800" b="1">
                    <a:solidFill>
                      <a:schemeClr val="tx2"/>
                    </a:solidFill>
                  </a:rPr>
                  <a:t>变换</a:t>
                </a:r>
                <a:endParaRPr kumimoji="1" lang="zh-CN" altLang="en-US" sz="2800" b="1">
                  <a:solidFill>
                    <a:schemeClr val="tx2"/>
                  </a:solidFill>
                </a:endParaRPr>
              </a:p>
            </p:txBody>
          </p:sp>
          <p:graphicFrame>
            <p:nvGraphicFramePr>
              <p:cNvPr id="51210" name="Object 8"/>
              <p:cNvGraphicFramePr>
                <a:graphicFrameLocks noChangeAspect="1"/>
              </p:cNvGraphicFramePr>
              <p:nvPr/>
            </p:nvGraphicFramePr>
            <p:xfrm>
              <a:off x="1717" y="1468"/>
              <a:ext cx="1832" cy="270"/>
            </p:xfrm>
            <a:graphic>
              <a:graphicData uri="http://schemas.openxmlformats.org/presentationml/2006/ole">
                <mc:AlternateContent xmlns:mc="http://schemas.openxmlformats.org/markup-compatibility/2006">
                  <mc:Choice xmlns:v="urn:schemas-microsoft-com:vml" Requires="v">
                    <p:oleObj spid="_x0000_s51226" name="Equation" r:id="rId3" imgW="1549400" imgH="228600" progId="Equation.3">
                      <p:embed/>
                    </p:oleObj>
                  </mc:Choice>
                  <mc:Fallback>
                    <p:oleObj name="Equation" r:id="rId3" imgW="154940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 y="1468"/>
                            <a:ext cx="1832"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51205" name="Text Box 9"/>
          <p:cNvSpPr txBox="1">
            <a:spLocks noChangeArrowheads="1"/>
          </p:cNvSpPr>
          <p:nvPr/>
        </p:nvSpPr>
        <p:spPr bwMode="auto">
          <a:xfrm>
            <a:off x="1050925" y="2971800"/>
            <a:ext cx="6256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rPr>
              <a:t>倒谱不能通过逆特征系统还原成自身。</a:t>
            </a:r>
            <a:endParaRPr kumimoji="1" lang="zh-CN" altLang="en-US" sz="2800" b="1">
              <a:solidFill>
                <a:schemeClr val="tx2"/>
              </a:solidFill>
            </a:endParaRPr>
          </a:p>
        </p:txBody>
      </p:sp>
      <p:sp>
        <p:nvSpPr>
          <p:cNvPr id="51206" name="Rectangle 10"/>
          <p:cNvSpPr>
            <a:spLocks noChangeArrowheads="1"/>
          </p:cNvSpPr>
          <p:nvPr/>
        </p:nvSpPr>
        <p:spPr bwMode="auto">
          <a:xfrm>
            <a:off x="685800" y="3886200"/>
            <a:ext cx="7543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5"/>
              </a:buBlip>
            </a:pPr>
            <a:r>
              <a:rPr kumimoji="1" lang="zh-CN" altLang="en-US" sz="2800" b="1">
                <a:solidFill>
                  <a:schemeClr val="tx2"/>
                </a:solidFill>
              </a:rPr>
              <a:t>在绝大多数应用场合，特征系统和逆特征系统中的正反</a:t>
            </a:r>
            <a:r>
              <a:rPr kumimoji="1" lang="en-US" altLang="zh-CN" sz="2800" b="1">
                <a:solidFill>
                  <a:schemeClr val="tx2"/>
                </a:solidFill>
              </a:rPr>
              <a:t>Z</a:t>
            </a:r>
            <a:r>
              <a:rPr kumimoji="1" lang="zh-CN" altLang="en-US" sz="2800" b="1">
                <a:solidFill>
                  <a:schemeClr val="tx2"/>
                </a:solidFill>
              </a:rPr>
              <a:t>变换都可以用</a:t>
            </a:r>
            <a:r>
              <a:rPr kumimoji="1" lang="zh-CN" altLang="en-US" sz="2800" b="1">
                <a:solidFill>
                  <a:srgbClr val="0070C0"/>
                </a:solidFill>
                <a:latin typeface="黑体" panose="02010609060101010101" pitchFamily="49" charset="-122"/>
                <a:ea typeface="黑体" panose="02010609060101010101" pitchFamily="49" charset="-122"/>
              </a:rPr>
              <a:t>正反傅立叶变换</a:t>
            </a:r>
            <a:r>
              <a:rPr kumimoji="1" lang="zh-CN" altLang="en-US" sz="2800" b="1">
                <a:solidFill>
                  <a:schemeClr val="tx2"/>
                </a:solidFill>
              </a:rPr>
              <a:t>（</a:t>
            </a:r>
            <a:r>
              <a:rPr kumimoji="1" lang="en-US" altLang="zh-CN" sz="2800" b="1">
                <a:solidFill>
                  <a:schemeClr val="tx2"/>
                </a:solidFill>
              </a:rPr>
              <a:t>DFT</a:t>
            </a:r>
            <a:r>
              <a:rPr kumimoji="1" lang="zh-CN" altLang="en-US" sz="2800" b="1">
                <a:solidFill>
                  <a:schemeClr val="tx2"/>
                </a:solidFill>
              </a:rPr>
              <a:t>和</a:t>
            </a:r>
            <a:r>
              <a:rPr kumimoji="1" lang="en-US" altLang="zh-CN" sz="2800" b="1">
                <a:solidFill>
                  <a:schemeClr val="tx2"/>
                </a:solidFill>
              </a:rPr>
              <a:t>IDFT）</a:t>
            </a:r>
            <a:r>
              <a:rPr kumimoji="1" lang="zh-CN" altLang="en-US" sz="2800" b="1">
                <a:solidFill>
                  <a:schemeClr val="tx2"/>
                </a:solidFill>
              </a:rPr>
              <a:t>来代替。</a:t>
            </a:r>
            <a:endParaRPr kumimoji="1" lang="zh-CN" altLang="en-US" sz="2800" b="1">
              <a:solidFill>
                <a:schemeClr val="tx2"/>
              </a:solidFil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53251" name="Group 3"/>
          <p:cNvGrpSpPr/>
          <p:nvPr/>
        </p:nvGrpSpPr>
        <p:grpSpPr bwMode="auto">
          <a:xfrm>
            <a:off x="1143000" y="2514600"/>
            <a:ext cx="6629400" cy="3155950"/>
            <a:chOff x="1056" y="960"/>
            <a:chExt cx="4032" cy="2422"/>
          </a:xfrm>
        </p:grpSpPr>
        <p:pic>
          <p:nvPicPr>
            <p:cNvPr id="53253" name="Picture 4" descr="图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6" y="1066"/>
              <a:ext cx="3864" cy="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5"/>
            <p:cNvSpPr txBox="1">
              <a:spLocks noChangeArrowheads="1"/>
            </p:cNvSpPr>
            <p:nvPr/>
          </p:nvSpPr>
          <p:spPr bwMode="auto">
            <a:xfrm>
              <a:off x="1056" y="960"/>
              <a:ext cx="403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solidFill>
                    <a:schemeClr val="accent2"/>
                  </a:solidFill>
                  <a:latin typeface="Times New Roman" panose="02020603050405020304" pitchFamily="18" charset="0"/>
                  <a:ea typeface="黑体" panose="02010609060101010101" pitchFamily="49" charset="-122"/>
                </a:rPr>
                <a:t>          声门脉冲                         声道                 语音信号</a:t>
              </a:r>
              <a:endParaRPr kumimoji="1" lang="zh-CN" altLang="en-US" sz="1800" b="1">
                <a:solidFill>
                  <a:schemeClr val="accent2"/>
                </a:solidFill>
                <a:latin typeface="Times New Roman" panose="02020603050405020304" pitchFamily="18" charset="0"/>
                <a:ea typeface="黑体" panose="02010609060101010101" pitchFamily="49" charset="-122"/>
              </a:endParaRPr>
            </a:p>
          </p:txBody>
        </p:sp>
        <p:sp>
          <p:nvSpPr>
            <p:cNvPr id="53255" name="Text Box 6"/>
            <p:cNvSpPr txBox="1">
              <a:spLocks noChangeArrowheads="1"/>
            </p:cNvSpPr>
            <p:nvPr/>
          </p:nvSpPr>
          <p:spPr bwMode="auto">
            <a:xfrm>
              <a:off x="1056" y="2890"/>
              <a:ext cx="4032"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1800" b="1">
                  <a:latin typeface="Times New Roman" panose="02020603050405020304" pitchFamily="18" charset="0"/>
                  <a:ea typeface="黑体" panose="02010609060101010101" pitchFamily="49" charset="-122"/>
                </a:rPr>
                <a:t>           </a:t>
              </a:r>
              <a:r>
                <a:rPr kumimoji="1" lang="zh-CN" altLang="en-US" sz="1800" b="1">
                  <a:solidFill>
                    <a:schemeClr val="accent2"/>
                  </a:solidFill>
                  <a:latin typeface="Times New Roman" panose="02020603050405020304" pitchFamily="18" charset="0"/>
                  <a:ea typeface="黑体" panose="02010609060101010101" pitchFamily="49" charset="-122"/>
                </a:rPr>
                <a:t>激励信号                   声道滤波器                 语音信号 </a:t>
              </a:r>
              <a:endParaRPr kumimoji="1" lang="zh-CN" altLang="en-US" sz="1800" b="1">
                <a:solidFill>
                  <a:schemeClr val="accent2"/>
                </a:solidFill>
                <a:latin typeface="Times New Roman" panose="02020603050405020304" pitchFamily="18" charset="0"/>
                <a:ea typeface="黑体" panose="02010609060101010101" pitchFamily="49" charset="-122"/>
              </a:endParaRPr>
            </a:p>
            <a:p>
              <a:pPr eaLnBrk="1" hangingPunct="1">
                <a:spcBef>
                  <a:spcPct val="0"/>
                </a:spcBef>
                <a:buFontTx/>
                <a:buNone/>
              </a:pPr>
              <a:r>
                <a:rPr kumimoji="1" lang="zh-CN" altLang="en-US" sz="1800" b="1">
                  <a:solidFill>
                    <a:schemeClr val="accent2"/>
                  </a:solidFill>
                  <a:latin typeface="Times New Roman" panose="02020603050405020304" pitchFamily="18" charset="0"/>
                  <a:ea typeface="黑体" panose="02010609060101010101" pitchFamily="49" charset="-122"/>
                </a:rPr>
                <a:t>               频谱                         传递函数                       频谱</a:t>
              </a:r>
              <a:r>
                <a:rPr kumimoji="1" lang="zh-CN" altLang="en-US" sz="1800" b="1">
                  <a:latin typeface="Times New Roman" panose="02020603050405020304" pitchFamily="18" charset="0"/>
                  <a:ea typeface="黑体" panose="02010609060101010101" pitchFamily="49" charset="-122"/>
                </a:rPr>
                <a:t>                                                         </a:t>
              </a:r>
              <a:endParaRPr kumimoji="1" lang="zh-CN" altLang="en-US" sz="1800" b="1">
                <a:latin typeface="Times New Roman" panose="02020603050405020304" pitchFamily="18" charset="0"/>
                <a:ea typeface="黑体" panose="02010609060101010101" pitchFamily="49" charset="-122"/>
              </a:endParaRPr>
            </a:p>
          </p:txBody>
        </p:sp>
      </p:grpSp>
      <p:sp>
        <p:nvSpPr>
          <p:cNvPr id="53252" name="Rectangle 7"/>
          <p:cNvSpPr>
            <a:spLocks noGrp="1" noChangeArrowheads="1"/>
          </p:cNvSpPr>
          <p:nvPr>
            <p:ph type="body" idx="1"/>
          </p:nvPr>
        </p:nvSpPr>
        <p:spPr>
          <a:xfrm>
            <a:off x="457200" y="1600200"/>
            <a:ext cx="7570788" cy="587375"/>
          </a:xfrm>
          <a:noFill/>
        </p:spPr>
        <p:txBody>
          <a:bodyPr/>
          <a:lstStyle/>
          <a:p>
            <a:pPr eaLnBrk="1" hangingPunct="1"/>
            <a:r>
              <a:rPr lang="zh-CN" altLang="en-US" b="1"/>
              <a:t>为人类的发声过程建立数学模型</a:t>
            </a:r>
            <a:endParaRPr lang="en-US" altLang="zh-CN" b="1"/>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43043" name="Rectangle 3"/>
          <p:cNvSpPr>
            <a:spLocks noGrp="1" noChangeArrowheads="1"/>
          </p:cNvSpPr>
          <p:nvPr>
            <p:ph type="body" idx="1"/>
          </p:nvPr>
        </p:nvSpPr>
        <p:spPr/>
        <p:txBody>
          <a:bodyPr/>
          <a:lstStyle/>
          <a:p>
            <a:pPr eaLnBrk="1" latinLnBrk="0" hangingPunct="1">
              <a:spcBef>
                <a:spcPts val="600"/>
              </a:spcBef>
              <a:spcAft>
                <a:spcPts val="600"/>
              </a:spcAft>
            </a:pPr>
            <a:r>
              <a:rPr lang="zh-CN" altLang="en-US" sz="2400" b="1">
                <a:solidFill>
                  <a:schemeClr val="tx2"/>
                </a:solidFill>
              </a:rPr>
              <a:t>需要对声管的数</a:t>
            </a:r>
            <a:r>
              <a:rPr lang="zh-CN" altLang="en-US" sz="2400" b="1">
                <a:solidFill>
                  <a:schemeClr val="tx2"/>
                </a:solidFill>
              </a:rPr>
              <a:t>学模型进行</a:t>
            </a:r>
            <a:r>
              <a:rPr lang="zh-CN" altLang="en-US" sz="2400" b="1">
                <a:solidFill>
                  <a:schemeClr val="tx2"/>
                </a:solidFill>
              </a:rPr>
              <a:t>简化。</a:t>
            </a:r>
            <a:endParaRPr lang="zh-CN" altLang="en-US" sz="2400" b="1">
              <a:solidFill>
                <a:schemeClr val="tx2"/>
              </a:solidFill>
            </a:endParaRPr>
          </a:p>
          <a:p>
            <a:pPr eaLnBrk="1" latinLnBrk="0" hangingPunct="1">
              <a:spcBef>
                <a:spcPts val="600"/>
              </a:spcBef>
              <a:spcAft>
                <a:spcPts val="600"/>
              </a:spcAft>
            </a:pPr>
            <a:r>
              <a:rPr lang="zh-CN" altLang="en-US" sz="2400" b="1">
                <a:solidFill>
                  <a:schemeClr val="tx2"/>
                </a:solidFill>
              </a:rPr>
              <a:t>在声学上对</a:t>
            </a:r>
            <a:r>
              <a:rPr lang="zh-CN" altLang="en-US" sz="2400" b="1">
                <a:solidFill>
                  <a:srgbClr val="0070C0"/>
                </a:solidFill>
                <a:latin typeface="黑体" panose="02010609060101010101" pitchFamily="49" charset="-122"/>
                <a:ea typeface="黑体" panose="02010609060101010101" pitchFamily="49" charset="-122"/>
              </a:rPr>
              <a:t>均匀的无损耗的管道</a:t>
            </a:r>
            <a:r>
              <a:rPr lang="zh-CN" altLang="en-US" sz="2400" b="1">
                <a:solidFill>
                  <a:schemeClr val="tx2"/>
                </a:solidFill>
              </a:rPr>
              <a:t>的声学特性有非常简单的数学描述。均匀：截面积不变；无损耗：不考虑声波在管内的热损耗、粘滞摩擦损耗和管壁的热传导作用。</a:t>
            </a:r>
            <a:endParaRPr lang="zh-CN" altLang="en-US" sz="2400" b="1">
              <a:solidFill>
                <a:schemeClr val="tx2"/>
              </a:solidFill>
            </a:endParaRPr>
          </a:p>
          <a:p>
            <a:pPr eaLnBrk="1" latinLnBrk="0" hangingPunct="1">
              <a:spcBef>
                <a:spcPts val="600"/>
              </a:spcBef>
              <a:spcAft>
                <a:spcPts val="600"/>
              </a:spcAft>
            </a:pPr>
            <a:r>
              <a:rPr lang="zh-CN" altLang="en-US" sz="2400" b="1">
                <a:solidFill>
                  <a:schemeClr val="tx2"/>
                </a:solidFill>
              </a:rPr>
              <a:t>可以将声道简化成</a:t>
            </a:r>
            <a:r>
              <a:rPr lang="zh-CN" altLang="en-US" sz="2400" b="1">
                <a:solidFill>
                  <a:srgbClr val="0070C0"/>
                </a:solidFill>
                <a:latin typeface="黑体" panose="02010609060101010101" pitchFamily="49" charset="-122"/>
                <a:ea typeface="黑体" panose="02010609060101010101" pitchFamily="49" charset="-122"/>
              </a:rPr>
              <a:t>一些截面积不等的均匀无损声管的级联</a:t>
            </a:r>
            <a:r>
              <a:rPr lang="zh-CN" altLang="en-US" sz="2400" b="1">
                <a:solidFill>
                  <a:schemeClr val="tx2"/>
                </a:solidFill>
              </a:rPr>
              <a:t>。用该模型来逼近真实的声道，称之为声道的时间离散模型。</a:t>
            </a:r>
            <a:endParaRPr lang="zh-CN" altLang="en-US" sz="2400" b="1">
              <a:solidFill>
                <a:schemeClr val="tx2"/>
              </a:solidFill>
            </a:endParaRPr>
          </a:p>
        </p:txBody>
      </p:sp>
      <p:grpSp>
        <p:nvGrpSpPr>
          <p:cNvPr id="2" name="Group 4"/>
          <p:cNvGrpSpPr/>
          <p:nvPr/>
        </p:nvGrpSpPr>
        <p:grpSpPr bwMode="auto">
          <a:xfrm>
            <a:off x="2286000" y="4876800"/>
            <a:ext cx="5105400" cy="1524000"/>
            <a:chOff x="1440" y="3072"/>
            <a:chExt cx="3216" cy="960"/>
          </a:xfrm>
        </p:grpSpPr>
        <p:sp>
          <p:nvSpPr>
            <p:cNvPr id="54277" name="Rectangle 5"/>
            <p:cNvSpPr>
              <a:spLocks noChangeArrowheads="1"/>
            </p:cNvSpPr>
            <p:nvPr/>
          </p:nvSpPr>
          <p:spPr bwMode="auto">
            <a:xfrm>
              <a:off x="1776" y="3384"/>
              <a:ext cx="240" cy="336"/>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78" name="Rectangle 6"/>
            <p:cNvSpPr>
              <a:spLocks noChangeArrowheads="1"/>
            </p:cNvSpPr>
            <p:nvPr/>
          </p:nvSpPr>
          <p:spPr bwMode="auto">
            <a:xfrm>
              <a:off x="2016" y="3264"/>
              <a:ext cx="240" cy="576"/>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79" name="Rectangle 7"/>
            <p:cNvSpPr>
              <a:spLocks noChangeArrowheads="1"/>
            </p:cNvSpPr>
            <p:nvPr/>
          </p:nvSpPr>
          <p:spPr bwMode="auto">
            <a:xfrm>
              <a:off x="2256" y="3168"/>
              <a:ext cx="240" cy="768"/>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0" name="Rectangle 8"/>
            <p:cNvSpPr>
              <a:spLocks noChangeArrowheads="1"/>
            </p:cNvSpPr>
            <p:nvPr/>
          </p:nvSpPr>
          <p:spPr bwMode="auto">
            <a:xfrm>
              <a:off x="2736" y="3168"/>
              <a:ext cx="240" cy="768"/>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1" name="Rectangle 9"/>
            <p:cNvSpPr>
              <a:spLocks noChangeArrowheads="1"/>
            </p:cNvSpPr>
            <p:nvPr/>
          </p:nvSpPr>
          <p:spPr bwMode="auto">
            <a:xfrm>
              <a:off x="2976" y="3312"/>
              <a:ext cx="240" cy="480"/>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2" name="Rectangle 10"/>
            <p:cNvSpPr>
              <a:spLocks noChangeArrowheads="1"/>
            </p:cNvSpPr>
            <p:nvPr/>
          </p:nvSpPr>
          <p:spPr bwMode="auto">
            <a:xfrm>
              <a:off x="3216" y="3240"/>
              <a:ext cx="240" cy="624"/>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3" name="Rectangle 11"/>
            <p:cNvSpPr>
              <a:spLocks noChangeArrowheads="1"/>
            </p:cNvSpPr>
            <p:nvPr/>
          </p:nvSpPr>
          <p:spPr bwMode="auto">
            <a:xfrm>
              <a:off x="3456" y="3312"/>
              <a:ext cx="240" cy="480"/>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4" name="Rectangle 12"/>
            <p:cNvSpPr>
              <a:spLocks noChangeArrowheads="1"/>
            </p:cNvSpPr>
            <p:nvPr/>
          </p:nvSpPr>
          <p:spPr bwMode="auto">
            <a:xfrm>
              <a:off x="3696" y="3384"/>
              <a:ext cx="240" cy="336"/>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5" name="Rectangle 13"/>
            <p:cNvSpPr>
              <a:spLocks noChangeArrowheads="1"/>
            </p:cNvSpPr>
            <p:nvPr/>
          </p:nvSpPr>
          <p:spPr bwMode="auto">
            <a:xfrm>
              <a:off x="2496" y="3072"/>
              <a:ext cx="240" cy="960"/>
            </a:xfrm>
            <a:prstGeom prst="rect">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86" name="Line 14"/>
            <p:cNvSpPr>
              <a:spLocks noChangeShapeType="1"/>
            </p:cNvSpPr>
            <p:nvPr/>
          </p:nvSpPr>
          <p:spPr bwMode="auto">
            <a:xfrm>
              <a:off x="1440" y="3552"/>
              <a:ext cx="3216"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wipe(up)">
                                      <p:cBhvr>
                                        <p:cTn id="7" dur="500"/>
                                        <p:tgtEl>
                                          <p:spTgt spid="343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3043">
                                            <p:txEl>
                                              <p:pRg st="1" end="1"/>
                                            </p:txEl>
                                          </p:spTgt>
                                        </p:tgtEl>
                                        <p:attrNameLst>
                                          <p:attrName>style.visibility</p:attrName>
                                        </p:attrNameLst>
                                      </p:cBhvr>
                                      <p:to>
                                        <p:strVal val="visible"/>
                                      </p:to>
                                    </p:set>
                                    <p:animEffect transition="in" filter="wipe(up)">
                                      <p:cBhvr>
                                        <p:cTn id="12" dur="500"/>
                                        <p:tgtEl>
                                          <p:spTgt spid="3430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3043">
                                            <p:txEl>
                                              <p:pRg st="2" end="2"/>
                                            </p:txEl>
                                          </p:spTgt>
                                        </p:tgtEl>
                                        <p:attrNameLst>
                                          <p:attrName>style.visibility</p:attrName>
                                        </p:attrNameLst>
                                      </p:cBhvr>
                                      <p:to>
                                        <p:strVal val="visible"/>
                                      </p:to>
                                    </p:set>
                                    <p:animEffect transition="in" filter="wipe(up)">
                                      <p:cBhvr>
                                        <p:cTn id="17" dur="500"/>
                                        <p:tgtEl>
                                          <p:spTgt spid="3430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55299" name="Group 3"/>
          <p:cNvGrpSpPr/>
          <p:nvPr/>
        </p:nvGrpSpPr>
        <p:grpSpPr bwMode="auto">
          <a:xfrm>
            <a:off x="822325" y="1720850"/>
            <a:ext cx="7327900" cy="2230438"/>
            <a:chOff x="518" y="1084"/>
            <a:chExt cx="4616" cy="1405"/>
          </a:xfrm>
        </p:grpSpPr>
        <p:sp>
          <p:nvSpPr>
            <p:cNvPr id="55303" name="Text Box 4"/>
            <p:cNvSpPr txBox="1">
              <a:spLocks noChangeArrowheads="1"/>
            </p:cNvSpPr>
            <p:nvPr/>
          </p:nvSpPr>
          <p:spPr bwMode="auto">
            <a:xfrm>
              <a:off x="518" y="1084"/>
              <a:ext cx="46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rPr>
                <a:t>经过推导，该模型系统的传递函数为如下形式</a:t>
              </a:r>
              <a:endParaRPr kumimoji="1" lang="zh-CN" altLang="en-US" sz="2800" b="1">
                <a:solidFill>
                  <a:schemeClr val="tx2"/>
                </a:solidFill>
                <a:latin typeface="Times New Roman" panose="02020603050405020304" pitchFamily="18" charset="0"/>
              </a:endParaRPr>
            </a:p>
          </p:txBody>
        </p:sp>
        <p:graphicFrame>
          <p:nvGraphicFramePr>
            <p:cNvPr id="55304" name="Object 5"/>
            <p:cNvGraphicFramePr>
              <a:graphicFrameLocks noChangeAspect="1"/>
            </p:cNvGraphicFramePr>
            <p:nvPr/>
          </p:nvGraphicFramePr>
          <p:xfrm>
            <a:off x="1784" y="1440"/>
            <a:ext cx="1530" cy="766"/>
          </p:xfrm>
          <a:graphic>
            <a:graphicData uri="http://schemas.openxmlformats.org/presentationml/2006/ole">
              <mc:AlternateContent xmlns:mc="http://schemas.openxmlformats.org/markup-compatibility/2006">
                <mc:Choice xmlns:v="urn:schemas-microsoft-com:vml" Requires="v">
                  <p:oleObj spid="_x0000_s55320" name="Equation" r:id="rId1" imgW="29870400" imgH="14935200" progId="Equation.DSMT4">
                    <p:embed/>
                  </p:oleObj>
                </mc:Choice>
                <mc:Fallback>
                  <p:oleObj name="Equation" r:id="rId1" imgW="29870400" imgH="14935200" progId="Equation.DSMT4">
                    <p:embed/>
                    <p:pic>
                      <p:nvPicPr>
                        <p:cNvPr id="0" name="Object 5"/>
                        <p:cNvPicPr>
                          <a:picLocks noChangeAspect="1" noChangeArrowheads="1"/>
                        </p:cNvPicPr>
                        <p:nvPr/>
                      </p:nvPicPr>
                      <p:blipFill>
                        <a:blip r:embed="rId2"/>
                        <a:srcRect/>
                        <a:stretch>
                          <a:fillRect/>
                        </a:stretch>
                      </p:blipFill>
                      <p:spPr bwMode="auto">
                        <a:xfrm>
                          <a:off x="1784" y="1440"/>
                          <a:ext cx="1530" cy="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5" name="Text Box 6"/>
            <p:cNvSpPr txBox="1">
              <a:spLocks noChangeArrowheads="1"/>
            </p:cNvSpPr>
            <p:nvPr/>
          </p:nvSpPr>
          <p:spPr bwMode="auto">
            <a:xfrm>
              <a:off x="528" y="2160"/>
              <a:ext cx="430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i="1">
                  <a:solidFill>
                    <a:schemeClr val="tx2"/>
                  </a:solidFill>
                  <a:latin typeface="Times New Roman" panose="02020603050405020304" pitchFamily="18" charset="0"/>
                </a:rPr>
                <a:t>P</a:t>
              </a:r>
              <a:r>
                <a:rPr kumimoji="1" lang="zh-CN" altLang="en-US" sz="2800" b="1">
                  <a:solidFill>
                    <a:schemeClr val="tx2"/>
                  </a:solidFill>
                  <a:latin typeface="Times New Roman" panose="02020603050405020304" pitchFamily="18" charset="0"/>
                </a:rPr>
                <a:t>为级联声管的节数，上式为</a:t>
              </a:r>
              <a:r>
                <a:rPr kumimoji="1" lang="zh-CN" altLang="en-US" sz="2800" b="1">
                  <a:solidFill>
                    <a:srgbClr val="0070C0"/>
                  </a:solidFill>
                  <a:latin typeface="Times New Roman" panose="02020603050405020304" pitchFamily="18" charset="0"/>
                </a:rPr>
                <a:t>全极点</a:t>
              </a:r>
              <a:r>
                <a:rPr kumimoji="1" lang="zh-CN" altLang="en-US" sz="2800" b="1">
                  <a:solidFill>
                    <a:schemeClr val="tx2"/>
                  </a:solidFill>
                  <a:latin typeface="Times New Roman" panose="02020603050405020304" pitchFamily="18" charset="0"/>
                </a:rPr>
                <a:t>形式。</a:t>
              </a:r>
              <a:endParaRPr kumimoji="1" lang="zh-CN" altLang="en-US" sz="2800" b="1">
                <a:solidFill>
                  <a:schemeClr val="tx2"/>
                </a:solidFill>
                <a:latin typeface="Times New Roman" panose="02020603050405020304" pitchFamily="18" charset="0"/>
              </a:endParaRPr>
            </a:p>
          </p:txBody>
        </p:sp>
      </p:grpSp>
      <p:grpSp>
        <p:nvGrpSpPr>
          <p:cNvPr id="3" name="Group 7"/>
          <p:cNvGrpSpPr/>
          <p:nvPr/>
        </p:nvGrpSpPr>
        <p:grpSpPr bwMode="auto">
          <a:xfrm>
            <a:off x="1447800" y="4267200"/>
            <a:ext cx="7086600" cy="2209800"/>
            <a:chOff x="912" y="2688"/>
            <a:chExt cx="4464" cy="1392"/>
          </a:xfrm>
        </p:grpSpPr>
        <p:sp>
          <p:nvSpPr>
            <p:cNvPr id="55301" name="Rectangle 8"/>
            <p:cNvSpPr>
              <a:spLocks noChangeArrowheads="1"/>
            </p:cNvSpPr>
            <p:nvPr/>
          </p:nvSpPr>
          <p:spPr bwMode="auto">
            <a:xfrm>
              <a:off x="2928" y="3792"/>
              <a:ext cx="2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语音信号产生系统模型</a:t>
              </a:r>
              <a:endParaRPr kumimoji="1" lang="zh-CN" altLang="en-US" sz="2400" b="1">
                <a:solidFill>
                  <a:schemeClr val="tx2"/>
                </a:solidFill>
              </a:endParaRPr>
            </a:p>
          </p:txBody>
        </p:sp>
        <p:graphicFrame>
          <p:nvGraphicFramePr>
            <p:cNvPr id="55302" name="Object 9"/>
            <p:cNvGraphicFramePr>
              <a:graphicFrameLocks noChangeAspect="1"/>
            </p:cNvGraphicFramePr>
            <p:nvPr/>
          </p:nvGraphicFramePr>
          <p:xfrm>
            <a:off x="912" y="2688"/>
            <a:ext cx="3741" cy="1247"/>
          </p:xfrm>
          <a:graphic>
            <a:graphicData uri="http://schemas.openxmlformats.org/presentationml/2006/ole">
              <mc:AlternateContent xmlns:mc="http://schemas.openxmlformats.org/markup-compatibility/2006">
                <mc:Choice xmlns:v="urn:schemas-microsoft-com:vml" Requires="v">
                  <p:oleObj spid="_x0000_s55321" name="Picture2" r:id="rId3" imgW="5943600" imgH="1981200" progId="Word.Picture.8">
                    <p:embed/>
                  </p:oleObj>
                </mc:Choice>
                <mc:Fallback>
                  <p:oleObj name="Picture2" r:id="rId3" imgW="5943600" imgH="1981200"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2688"/>
                          <a:ext cx="3741" cy="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89795" name="Rectangle 3"/>
          <p:cNvSpPr>
            <a:spLocks noGrp="1" noChangeArrowheads="1"/>
          </p:cNvSpPr>
          <p:nvPr>
            <p:ph type="body" idx="1"/>
          </p:nvPr>
        </p:nvSpPr>
        <p:spPr>
          <a:xfrm>
            <a:off x="685800" y="1600200"/>
            <a:ext cx="7772400" cy="4800600"/>
          </a:xfrm>
        </p:spPr>
        <p:txBody>
          <a:bodyPr/>
          <a:lstStyle/>
          <a:p>
            <a:pPr eaLnBrk="1" hangingPunct="1">
              <a:buClr>
                <a:srgbClr val="9900FF"/>
              </a:buClr>
              <a:buFont typeface="Wingdings" panose="05000000000000000000" pitchFamily="2" charset="2"/>
              <a:buChar char="Ø"/>
            </a:pPr>
            <a:r>
              <a:rPr lang="zh-CN" altLang="en-US" sz="2800" b="1">
                <a:solidFill>
                  <a:srgbClr val="0070C0"/>
                </a:solidFill>
                <a:latin typeface="黑体" panose="02010609060101010101" pitchFamily="49" charset="-122"/>
                <a:ea typeface="黑体" panose="02010609060101010101" pitchFamily="49" charset="-122"/>
              </a:rPr>
              <a:t>线性预测</a:t>
            </a:r>
            <a:r>
              <a:rPr lang="zh-CN" altLang="en-US" sz="2800" b="1">
                <a:solidFill>
                  <a:schemeClr val="tx2"/>
                </a:solidFill>
                <a:latin typeface="Times New Roman" panose="02020603050405020304" pitchFamily="18" charset="0"/>
              </a:rPr>
              <a:t>（</a:t>
            </a:r>
            <a:r>
              <a:rPr lang="en-US" altLang="zh-CN" sz="2800" b="1">
                <a:solidFill>
                  <a:schemeClr val="tx2"/>
                </a:solidFill>
                <a:latin typeface="Times New Roman" panose="02020603050405020304" pitchFamily="18" charset="0"/>
                <a:cs typeface="Times New Roman" panose="02020603050405020304" pitchFamily="18" charset="0"/>
              </a:rPr>
              <a:t>Linear Prediction</a:t>
            </a:r>
            <a:r>
              <a:rPr lang="en-US" altLang="zh-CN" sz="2800" b="1">
                <a:solidFill>
                  <a:schemeClr val="tx2"/>
                </a:solidFill>
                <a:latin typeface="Times New Roman" panose="02020603050405020304" pitchFamily="18" charset="0"/>
              </a:rPr>
              <a:t>）</a:t>
            </a:r>
            <a:r>
              <a:rPr lang="zh-CN" altLang="en-US" sz="2800" b="1">
                <a:solidFill>
                  <a:schemeClr val="tx2"/>
                </a:solidFill>
                <a:latin typeface="Times New Roman" panose="02020603050405020304" pitchFamily="18" charset="0"/>
              </a:rPr>
              <a:t>分析</a:t>
            </a:r>
            <a:endParaRPr lang="zh-CN" altLang="en-US" sz="2800" b="1">
              <a:solidFill>
                <a:schemeClr val="tx2"/>
              </a:solidFill>
              <a:latin typeface="Times New Roman" panose="02020603050405020304" pitchFamily="18" charset="0"/>
            </a:endParaRPr>
          </a:p>
          <a:p>
            <a:pPr eaLnBrk="1" hangingPunct="1"/>
            <a:r>
              <a:rPr lang="zh-CN" altLang="en-US" sz="2800" b="1">
                <a:solidFill>
                  <a:schemeClr val="tx2"/>
                </a:solidFill>
                <a:latin typeface="Times New Roman" panose="02020603050405020304" pitchFamily="18" charset="0"/>
              </a:rPr>
              <a:t>根据语音信号的产生模型，语音信号</a:t>
            </a:r>
            <a:r>
              <a:rPr lang="en-US" altLang="zh-CN" sz="2800" b="1" i="1">
                <a:solidFill>
                  <a:schemeClr val="tx2"/>
                </a:solidFill>
                <a:latin typeface="Times New Roman" panose="02020603050405020304" pitchFamily="18" charset="0"/>
              </a:rPr>
              <a:t>x</a:t>
            </a:r>
            <a:r>
              <a:rPr lang="en-US" altLang="zh-CN" sz="2800" b="1">
                <a:solidFill>
                  <a:schemeClr val="tx2"/>
                </a:solidFill>
                <a:latin typeface="Times New Roman" panose="02020603050405020304" pitchFamily="18" charset="0"/>
              </a:rPr>
              <a:t>(</a:t>
            </a:r>
            <a:r>
              <a:rPr lang="en-US" altLang="zh-CN" sz="2800" b="1" i="1">
                <a:solidFill>
                  <a:schemeClr val="tx2"/>
                </a:solidFill>
                <a:latin typeface="Times New Roman" panose="02020603050405020304" pitchFamily="18" charset="0"/>
              </a:rPr>
              <a:t>n</a:t>
            </a:r>
            <a:r>
              <a:rPr lang="en-US" altLang="zh-CN" sz="2800" b="1">
                <a:solidFill>
                  <a:schemeClr val="tx2"/>
                </a:solidFill>
                <a:latin typeface="Times New Roman" panose="02020603050405020304" pitchFamily="18" charset="0"/>
              </a:rPr>
              <a:t>)</a:t>
            </a:r>
            <a:r>
              <a:rPr lang="zh-CN" altLang="en-US" sz="2800" b="1">
                <a:solidFill>
                  <a:schemeClr val="tx2"/>
                </a:solidFill>
                <a:latin typeface="Times New Roman" panose="02020603050405020304" pitchFamily="18" charset="0"/>
              </a:rPr>
              <a:t>可以看作以</a:t>
            </a:r>
            <a:r>
              <a:rPr lang="en-US" altLang="zh-CN" sz="2800" b="1" i="1">
                <a:solidFill>
                  <a:schemeClr val="tx2"/>
                </a:solidFill>
                <a:latin typeface="Times New Roman" panose="02020603050405020304" pitchFamily="18" charset="0"/>
              </a:rPr>
              <a:t>u</a:t>
            </a:r>
            <a:r>
              <a:rPr lang="en-US" altLang="zh-CN" sz="2800" b="1">
                <a:solidFill>
                  <a:schemeClr val="tx2"/>
                </a:solidFill>
                <a:latin typeface="Times New Roman" panose="02020603050405020304" pitchFamily="18" charset="0"/>
              </a:rPr>
              <a:t>(</a:t>
            </a:r>
            <a:r>
              <a:rPr lang="en-US" altLang="zh-CN" sz="2800" b="1" i="1">
                <a:solidFill>
                  <a:schemeClr val="tx2"/>
                </a:solidFill>
                <a:latin typeface="Times New Roman" panose="02020603050405020304" pitchFamily="18" charset="0"/>
              </a:rPr>
              <a:t>n</a:t>
            </a:r>
            <a:r>
              <a:rPr lang="en-US" altLang="zh-CN" sz="2800" b="1">
                <a:solidFill>
                  <a:schemeClr val="tx2"/>
                </a:solidFill>
                <a:latin typeface="Times New Roman" panose="02020603050405020304" pitchFamily="18" charset="0"/>
              </a:rPr>
              <a:t>)</a:t>
            </a:r>
            <a:r>
              <a:rPr lang="zh-CN" altLang="en-US" sz="2800" b="1">
                <a:solidFill>
                  <a:schemeClr val="tx2"/>
                </a:solidFill>
                <a:latin typeface="Times New Roman" panose="02020603050405020304" pitchFamily="18" charset="0"/>
              </a:rPr>
              <a:t>为激励的一个</a:t>
            </a:r>
            <a:r>
              <a:rPr lang="zh-CN" altLang="en-US" sz="2800" b="1">
                <a:solidFill>
                  <a:srgbClr val="0070C0"/>
                </a:solidFill>
                <a:latin typeface="黑体" panose="02010609060101010101" pitchFamily="49" charset="-122"/>
                <a:ea typeface="黑体" panose="02010609060101010101" pitchFamily="49" charset="-122"/>
              </a:rPr>
              <a:t>全极点滤波器</a:t>
            </a:r>
            <a:r>
              <a:rPr lang="zh-CN" altLang="en-US" sz="2800" b="1">
                <a:solidFill>
                  <a:schemeClr val="tx2"/>
                </a:solidFill>
                <a:latin typeface="Times New Roman" panose="02020603050405020304" pitchFamily="18" charset="0"/>
              </a:rPr>
              <a:t>的响应。</a:t>
            </a:r>
            <a:endParaRPr lang="en-US" altLang="zh-CN" sz="2800" b="1">
              <a:solidFill>
                <a:schemeClr val="tx2"/>
              </a:solidFill>
              <a:latin typeface="Times New Roman" panose="02020603050405020304" pitchFamily="18" charset="0"/>
            </a:endParaRPr>
          </a:p>
          <a:p>
            <a:pPr eaLnBrk="1" hangingPunct="1"/>
            <a:endParaRPr lang="zh-CN" altLang="en-US" sz="2800" b="1">
              <a:solidFill>
                <a:schemeClr val="tx2"/>
              </a:solidFill>
              <a:latin typeface="Times New Roman" panose="02020603050405020304" pitchFamily="18" charset="0"/>
            </a:endParaRPr>
          </a:p>
          <a:p>
            <a:pPr eaLnBrk="1" hangingPunct="1">
              <a:buFontTx/>
              <a:buNone/>
            </a:pPr>
            <a:endParaRPr lang="en-US" altLang="zh-CN" sz="2800" b="1">
              <a:solidFill>
                <a:schemeClr val="tx2"/>
              </a:solidFill>
              <a:latin typeface="Times New Roman" panose="02020603050405020304" pitchFamily="18" charset="0"/>
            </a:endParaRPr>
          </a:p>
        </p:txBody>
      </p:sp>
      <p:sp>
        <p:nvSpPr>
          <p:cNvPr id="56324" name="Rectangle 4"/>
          <p:cNvSpPr>
            <a:spLocks noChangeArrowheads="1"/>
          </p:cNvSpPr>
          <p:nvPr/>
        </p:nvSpPr>
        <p:spPr bwMode="auto">
          <a:xfrm>
            <a:off x="3295650" y="2909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89797" name="Object 5"/>
          <p:cNvGraphicFramePr>
            <a:graphicFrameLocks noChangeAspect="1"/>
          </p:cNvGraphicFramePr>
          <p:nvPr/>
        </p:nvGraphicFramePr>
        <p:xfrm>
          <a:off x="914400" y="3463925"/>
          <a:ext cx="3276600" cy="1333500"/>
        </p:xfrm>
        <a:graphic>
          <a:graphicData uri="http://schemas.openxmlformats.org/presentationml/2006/ole">
            <mc:AlternateContent xmlns:mc="http://schemas.openxmlformats.org/markup-compatibility/2006">
              <mc:Choice xmlns:v="urn:schemas-microsoft-com:vml" Requires="v">
                <p:oleObj spid="_x0000_s56345" name="Picture2" r:id="rId1" imgW="2552700" imgH="1037590" progId="Word.Picture.8">
                  <p:embed/>
                </p:oleObj>
              </mc:Choice>
              <mc:Fallback>
                <p:oleObj name="Picture2" r:id="rId1" imgW="2552700" imgH="1037590" progId="Word.Picture.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63925"/>
                        <a:ext cx="32766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6" name="Rectangle 6"/>
          <p:cNvSpPr>
            <a:spLocks noChangeArrowheads="1"/>
          </p:cNvSpPr>
          <p:nvPr/>
        </p:nvSpPr>
        <p:spPr bwMode="auto">
          <a:xfrm>
            <a:off x="3981450" y="3109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89799" name="Object 7"/>
          <p:cNvGraphicFramePr>
            <a:graphicFrameLocks noChangeAspect="1"/>
          </p:cNvGraphicFramePr>
          <p:nvPr/>
        </p:nvGraphicFramePr>
        <p:xfrm>
          <a:off x="4932045" y="3573145"/>
          <a:ext cx="1666875" cy="901700"/>
        </p:xfrm>
        <a:graphic>
          <a:graphicData uri="http://schemas.openxmlformats.org/presentationml/2006/ole">
            <mc:AlternateContent xmlns:mc="http://schemas.openxmlformats.org/markup-compatibility/2006">
              <mc:Choice xmlns:v="urn:schemas-microsoft-com:vml" Requires="v">
                <p:oleObj spid="_x0000_s56346" name="" r:id="rId3" imgW="1180465" imgH="635000" progId="Equation.3">
                  <p:embed/>
                </p:oleObj>
              </mc:Choice>
              <mc:Fallback>
                <p:oleObj name="" r:id="rId3" imgW="1180465" imgH="6350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5" y="3573145"/>
                        <a:ext cx="166687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9800" name="Text Box 8"/>
          <p:cNvSpPr txBox="1">
            <a:spLocks noChangeArrowheads="1"/>
          </p:cNvSpPr>
          <p:nvPr/>
        </p:nvSpPr>
        <p:spPr bwMode="auto">
          <a:xfrm>
            <a:off x="822325" y="5172075"/>
            <a:ext cx="748347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rPr>
              <a:t>问题：如何在</a:t>
            </a:r>
            <a:r>
              <a:rPr kumimoji="1" lang="zh-CN" altLang="en-US" sz="2800" b="1">
                <a:solidFill>
                  <a:schemeClr val="tx2"/>
                </a:solidFill>
                <a:latin typeface="Times New Roman" panose="02020603050405020304" pitchFamily="18" charset="0"/>
              </a:rPr>
              <a:t>仅已知</a:t>
            </a:r>
            <a:r>
              <a:rPr kumimoji="1" lang="en-US" altLang="zh-CN" sz="2800" b="1" i="1">
                <a:solidFill>
                  <a:schemeClr val="tx2"/>
                </a:solidFill>
                <a:latin typeface="Times New Roman" panose="02020603050405020304" pitchFamily="18" charset="0"/>
              </a:rPr>
              <a:t>x</a:t>
            </a:r>
            <a:r>
              <a:rPr kumimoji="1" lang="en-US" altLang="zh-CN" sz="2800" b="1">
                <a:solidFill>
                  <a:schemeClr val="tx2"/>
                </a:solidFill>
                <a:latin typeface="Times New Roman" panose="02020603050405020304" pitchFamily="18" charset="0"/>
              </a:rPr>
              <a:t>(</a:t>
            </a:r>
            <a:r>
              <a:rPr kumimoji="1" lang="en-US" altLang="zh-CN" sz="2800" b="1" i="1">
                <a:solidFill>
                  <a:schemeClr val="tx2"/>
                </a:solidFill>
                <a:latin typeface="Times New Roman" panose="02020603050405020304" pitchFamily="18" charset="0"/>
              </a:rPr>
              <a:t>n</a:t>
            </a:r>
            <a:r>
              <a:rPr kumimoji="1" lang="en-US" altLang="zh-CN" sz="2800" b="1">
                <a:solidFill>
                  <a:schemeClr val="tx2"/>
                </a:solidFill>
                <a:latin typeface="Times New Roman" panose="02020603050405020304" pitchFamily="18" charset="0"/>
              </a:rPr>
              <a:t>)</a:t>
            </a:r>
            <a:r>
              <a:rPr kumimoji="1" lang="zh-CN" altLang="en-US" sz="2800" b="1">
                <a:solidFill>
                  <a:schemeClr val="tx2"/>
                </a:solidFill>
                <a:latin typeface="Times New Roman" panose="02020603050405020304" pitchFamily="18" charset="0"/>
              </a:rPr>
              <a:t>的条件下，求出系数 </a:t>
            </a:r>
            <a:endParaRPr kumimoji="1" lang="zh-CN" altLang="en-US" sz="2800" b="1">
              <a:solidFill>
                <a:schemeClr val="tx2"/>
              </a:solidFill>
              <a:latin typeface="Times New Roman" panose="02020603050405020304" pitchFamily="18" charset="0"/>
            </a:endParaRPr>
          </a:p>
          <a:p>
            <a:pPr eaLnBrk="1" hangingPunct="1">
              <a:spcBef>
                <a:spcPct val="0"/>
              </a:spcBef>
              <a:buFontTx/>
              <a:buNone/>
            </a:pPr>
            <a:r>
              <a:rPr kumimoji="1" lang="zh-CN" altLang="en-US" sz="2800" b="1">
                <a:solidFill>
                  <a:schemeClr val="tx2"/>
                </a:solidFill>
                <a:latin typeface="Times New Roman" panose="02020603050405020304" pitchFamily="18" charset="0"/>
              </a:rPr>
              <a:t>           {</a:t>
            </a:r>
            <a:r>
              <a:rPr kumimoji="1" lang="en-US" altLang="zh-CN" sz="2800" b="1" i="1">
                <a:solidFill>
                  <a:schemeClr val="tx2"/>
                </a:solidFill>
                <a:latin typeface="Times New Roman" panose="02020603050405020304" pitchFamily="18" charset="0"/>
              </a:rPr>
              <a:t>a</a:t>
            </a:r>
            <a:r>
              <a:rPr kumimoji="1" lang="en-US" altLang="zh-CN" sz="2800" b="1" baseline="-25000">
                <a:solidFill>
                  <a:schemeClr val="tx2"/>
                </a:solidFill>
                <a:latin typeface="Times New Roman" panose="02020603050405020304" pitchFamily="18" charset="0"/>
              </a:rPr>
              <a:t>i</a:t>
            </a:r>
            <a:r>
              <a:rPr kumimoji="1" lang="en-US" altLang="zh-CN" sz="2800" b="1">
                <a:solidFill>
                  <a:schemeClr val="tx2"/>
                </a:solidFill>
                <a:latin typeface="Times New Roman" panose="02020603050405020304" pitchFamily="18" charset="0"/>
              </a:rPr>
              <a:t>} </a:t>
            </a:r>
            <a:r>
              <a:rPr kumimoji="1" lang="en-US" altLang="zh-CN" sz="2800" b="1" i="1">
                <a:solidFill>
                  <a:schemeClr val="tx2"/>
                </a:solidFill>
                <a:latin typeface="Times New Roman" panose="02020603050405020304" pitchFamily="18" charset="0"/>
              </a:rPr>
              <a:t>i</a:t>
            </a:r>
            <a:r>
              <a:rPr kumimoji="1" lang="en-US" altLang="zh-CN" sz="2800" b="1">
                <a:solidFill>
                  <a:schemeClr val="tx2"/>
                </a:solidFill>
                <a:latin typeface="Times New Roman" panose="02020603050405020304" pitchFamily="18" charset="0"/>
              </a:rPr>
              <a:t>=1,…, </a:t>
            </a:r>
            <a:r>
              <a:rPr kumimoji="1" lang="en-US" altLang="zh-CN" sz="2800" b="1" i="1">
                <a:solidFill>
                  <a:schemeClr val="tx2"/>
                </a:solidFill>
                <a:latin typeface="Times New Roman" panose="02020603050405020304" pitchFamily="18" charset="0"/>
              </a:rPr>
              <a:t>p </a:t>
            </a:r>
            <a:r>
              <a:rPr kumimoji="1" lang="en-US" altLang="zh-CN" sz="2800" b="1">
                <a:solidFill>
                  <a:schemeClr val="tx2"/>
                </a:solidFill>
                <a:latin typeface="Times New Roman" panose="02020603050405020304" pitchFamily="18" charset="0"/>
              </a:rPr>
              <a:t>?</a:t>
            </a:r>
            <a:r>
              <a:rPr kumimoji="1" lang="en-US" altLang="zh-CN" sz="2800" b="1" i="1">
                <a:solidFill>
                  <a:schemeClr val="tx2"/>
                </a:solidFill>
                <a:latin typeface="Times New Roman" panose="02020603050405020304" pitchFamily="18" charset="0"/>
              </a:rPr>
              <a:t> </a:t>
            </a:r>
            <a:endParaRPr kumimoji="1" lang="zh-CN" altLang="en-US" sz="2800" b="1">
              <a:solidFill>
                <a:schemeClr val="tx2"/>
              </a:solidFill>
              <a:latin typeface="Times New Roman" panose="02020603050405020304" pitchFamily="18" charset="0"/>
            </a:endParaRPr>
          </a:p>
        </p:txBody>
      </p:sp>
      <p:sp>
        <p:nvSpPr>
          <p:cNvPr id="289801" name="AutoShape 9"/>
          <p:cNvSpPr>
            <a:spLocks noChangeArrowheads="1"/>
          </p:cNvSpPr>
          <p:nvPr/>
        </p:nvSpPr>
        <p:spPr bwMode="auto">
          <a:xfrm>
            <a:off x="6957060" y="3496310"/>
            <a:ext cx="1653540" cy="847090"/>
          </a:xfrm>
          <a:prstGeom prst="leftArrowCallout">
            <a:avLst>
              <a:gd name="adj1" fmla="val 30584"/>
              <a:gd name="adj2" fmla="val 25000"/>
              <a:gd name="adj3" fmla="val 24242"/>
              <a:gd name="adj4" fmla="val 54070"/>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rPr>
              <a:t>AR</a:t>
            </a:r>
            <a:endParaRPr kumimoji="1" lang="en-US" altLang="zh-CN" sz="2800" b="1">
              <a:solidFill>
                <a:schemeClr val="tx2"/>
              </a:solidFill>
            </a:endParaRPr>
          </a:p>
          <a:p>
            <a:pPr algn="ctr" eaLnBrk="1" hangingPunct="1">
              <a:spcBef>
                <a:spcPct val="0"/>
              </a:spcBef>
              <a:buFontTx/>
              <a:buNone/>
            </a:pPr>
            <a:r>
              <a:rPr kumimoji="1" lang="zh-CN" altLang="en-US" sz="2800" b="1">
                <a:solidFill>
                  <a:schemeClr val="tx2"/>
                </a:solidFill>
              </a:rPr>
              <a:t>模型</a:t>
            </a:r>
            <a:endParaRPr kumimoji="1" lang="zh-CN" altLang="en-US" sz="2800" b="1">
              <a:solidFill>
                <a:schemeClr val="tx2"/>
              </a:solidFill>
            </a:endParaRPr>
          </a:p>
        </p:txBody>
      </p:sp>
      <p:sp>
        <p:nvSpPr>
          <p:cNvPr id="289802" name="Text Box 10"/>
          <p:cNvSpPr txBox="1">
            <a:spLocks noChangeArrowheads="1"/>
          </p:cNvSpPr>
          <p:nvPr/>
        </p:nvSpPr>
        <p:spPr bwMode="auto">
          <a:xfrm>
            <a:off x="838200" y="6172200"/>
            <a:ext cx="4827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chemeClr val="tx2"/>
                </a:solidFill>
                <a:latin typeface="Times New Roman" panose="02020603050405020304" pitchFamily="18" charset="0"/>
              </a:rPr>
              <a:t>解答：线性预测分析的方法。</a:t>
            </a:r>
            <a:endParaRPr kumimoji="1" lang="zh-CN" altLang="en-US" sz="2800" b="1">
              <a:solidFill>
                <a:schemeClr val="tx2"/>
              </a:solidFill>
              <a:latin typeface="Times New Roman" panose="02020603050405020304" pitchFamily="18" charset="0"/>
            </a:endParaRPr>
          </a:p>
        </p:txBody>
      </p:sp>
      <p:sp>
        <p:nvSpPr>
          <p:cNvPr id="2" name="文本框 1"/>
          <p:cNvSpPr txBox="1"/>
          <p:nvPr/>
        </p:nvSpPr>
        <p:spPr>
          <a:xfrm>
            <a:off x="7163435" y="3735705"/>
            <a:ext cx="67754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b="1">
                <a:solidFill>
                  <a:srgbClr val="0070C0"/>
                </a:solidFill>
                <a:latin typeface="黑体" panose="02010609060101010101" pitchFamily="49" charset="-122"/>
                <a:ea typeface="黑体" panose="02010609060101010101" pitchFamily="49" charset="-122"/>
              </a:rPr>
              <a:t>假定</a:t>
            </a:r>
            <a:endParaRPr lang="zh-CN" altLang="en-US" sz="1800" b="1">
              <a:solidFill>
                <a:srgbClr val="0070C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wipe(up)">
                                      <p:cBhvr>
                                        <p:cTn id="7" dur="500"/>
                                        <p:tgtEl>
                                          <p:spTgt spid="289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9795">
                                            <p:txEl>
                                              <p:pRg st="1" end="1"/>
                                            </p:txEl>
                                          </p:spTgt>
                                        </p:tgtEl>
                                        <p:attrNameLst>
                                          <p:attrName>style.visibility</p:attrName>
                                        </p:attrNameLst>
                                      </p:cBhvr>
                                      <p:to>
                                        <p:strVal val="visible"/>
                                      </p:to>
                                    </p:set>
                                    <p:animEffect transition="in" filter="wipe(up)">
                                      <p:cBhvr>
                                        <p:cTn id="12" dur="500"/>
                                        <p:tgtEl>
                                          <p:spTgt spid="289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9797"/>
                                        </p:tgtEl>
                                        <p:attrNameLst>
                                          <p:attrName>style.visibility</p:attrName>
                                        </p:attrNameLst>
                                      </p:cBhvr>
                                      <p:to>
                                        <p:strVal val="visible"/>
                                      </p:to>
                                    </p:set>
                                    <p:animEffect transition="in" filter="wipe(up)">
                                      <p:cBhvr>
                                        <p:cTn id="17" dur="500"/>
                                        <p:tgtEl>
                                          <p:spTgt spid="2897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89799"/>
                                        </p:tgtEl>
                                        <p:attrNameLst>
                                          <p:attrName>style.visibility</p:attrName>
                                        </p:attrNameLst>
                                      </p:cBhvr>
                                      <p:to>
                                        <p:strVal val="visible"/>
                                      </p:to>
                                    </p:set>
                                    <p:animEffect transition="in" filter="wipe(up)">
                                      <p:cBhvr>
                                        <p:cTn id="22" dur="500"/>
                                        <p:tgtEl>
                                          <p:spTgt spid="2897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89800"/>
                                        </p:tgtEl>
                                        <p:attrNameLst>
                                          <p:attrName>style.visibility</p:attrName>
                                        </p:attrNameLst>
                                      </p:cBhvr>
                                      <p:to>
                                        <p:strVal val="visible"/>
                                      </p:to>
                                    </p:set>
                                    <p:animEffect transition="in" filter="wipe(up)">
                                      <p:cBhvr>
                                        <p:cTn id="27" dur="500"/>
                                        <p:tgtEl>
                                          <p:spTgt spid="28980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89802"/>
                                        </p:tgtEl>
                                        <p:attrNameLst>
                                          <p:attrName>style.visibility</p:attrName>
                                        </p:attrNameLst>
                                      </p:cBhvr>
                                      <p:to>
                                        <p:strVal val="visible"/>
                                      </p:to>
                                    </p:set>
                                    <p:animEffect transition="in" filter="wipe(up)">
                                      <p:cBhvr>
                                        <p:cTn id="32" dur="500"/>
                                        <p:tgtEl>
                                          <p:spTgt spid="28980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89801"/>
                                        </p:tgtEl>
                                        <p:attrNameLst>
                                          <p:attrName>style.visibility</p:attrName>
                                        </p:attrNameLst>
                                      </p:cBhvr>
                                      <p:to>
                                        <p:strVal val="visible"/>
                                      </p:to>
                                    </p:set>
                                    <p:animEffect transition="in" filter="wipe(up)">
                                      <p:cBhvr>
                                        <p:cTn id="37" dur="500"/>
                                        <p:tgtEl>
                                          <p:spTgt spid="289801"/>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up)">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autoUpdateAnimBg="0" build="p"/>
      <p:bldP spid="289800" grpId="0" autoUpdateAnimBg="0"/>
      <p:bldP spid="289801" grpId="0" bldLvl="0" animBg="1" autoUpdateAnimBg="0"/>
      <p:bldP spid="289802" grpId="0" autoUpdateAnimBg="0"/>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91843" name="Rectangle 3"/>
          <p:cNvSpPr>
            <a:spLocks noGrp="1" noChangeArrowheads="1"/>
          </p:cNvSpPr>
          <p:nvPr>
            <p:ph type="body" idx="1"/>
          </p:nvPr>
        </p:nvSpPr>
        <p:spPr>
          <a:xfrm>
            <a:off x="685800" y="1989138"/>
            <a:ext cx="8001000" cy="4114800"/>
          </a:xfrm>
        </p:spPr>
        <p:txBody>
          <a:bodyPr/>
          <a:lstStyle/>
          <a:p>
            <a:pPr marL="0" indent="0" eaLnBrk="1" hangingPunct="1">
              <a:spcBef>
                <a:spcPct val="0"/>
              </a:spcBef>
              <a:buFontTx/>
              <a:buNone/>
            </a:pPr>
            <a:r>
              <a:rPr lang="zh-CN" altLang="en-US" sz="2400" b="1">
                <a:solidFill>
                  <a:schemeClr val="tx2"/>
                </a:solidFill>
                <a:latin typeface="Times New Roman" panose="02020603050405020304" pitchFamily="18" charset="0"/>
              </a:rPr>
              <a:t>线性预测器：</a:t>
            </a: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r>
              <a:rPr lang="zh-CN" altLang="en-US" sz="2400" b="1">
                <a:solidFill>
                  <a:schemeClr val="tx2"/>
                </a:solidFill>
                <a:latin typeface="Times New Roman" panose="02020603050405020304" pitchFamily="18" charset="0"/>
              </a:rPr>
              <a:t>在</a:t>
            </a:r>
            <a:r>
              <a:rPr lang="en-US" altLang="zh-CN" sz="2400" b="1">
                <a:solidFill>
                  <a:schemeClr val="tx2"/>
                </a:solidFill>
                <a:latin typeface="Times New Roman" panose="02020603050405020304" pitchFamily="18" charset="0"/>
              </a:rPr>
              <a:t>Z</a:t>
            </a:r>
            <a:r>
              <a:rPr lang="zh-CN" altLang="en-US" sz="2400" b="1">
                <a:solidFill>
                  <a:schemeClr val="tx2"/>
                </a:solidFill>
                <a:latin typeface="Times New Roman" panose="02020603050405020304" pitchFamily="18" charset="0"/>
              </a:rPr>
              <a:t>域，是如下乘积关系</a:t>
            </a: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r>
              <a:rPr lang="zh-CN" altLang="en-US" sz="2400" b="1">
                <a:solidFill>
                  <a:schemeClr val="tx2"/>
                </a:solidFill>
                <a:latin typeface="Times New Roman" panose="02020603050405020304" pitchFamily="18" charset="0"/>
              </a:rPr>
              <a:t>反</a:t>
            </a:r>
            <a:r>
              <a:rPr lang="en-US" altLang="zh-CN" sz="2400" b="1">
                <a:solidFill>
                  <a:schemeClr val="tx2"/>
                </a:solidFill>
                <a:latin typeface="Times New Roman" panose="02020603050405020304" pitchFamily="18" charset="0"/>
              </a:rPr>
              <a:t>Z</a:t>
            </a:r>
            <a:r>
              <a:rPr lang="zh-CN" altLang="en-US" sz="2400" b="1">
                <a:solidFill>
                  <a:schemeClr val="tx2"/>
                </a:solidFill>
                <a:latin typeface="Times New Roman" panose="02020603050405020304" pitchFamily="18" charset="0"/>
              </a:rPr>
              <a:t>变换</a:t>
            </a:r>
            <a:r>
              <a:rPr lang="en-US" altLang="zh-CN" sz="2400" b="1">
                <a:solidFill>
                  <a:schemeClr val="tx2"/>
                </a:solidFill>
                <a:latin typeface="Times New Roman" panose="02020603050405020304" pitchFamily="18" charset="0"/>
              </a:rPr>
              <a:t>, </a:t>
            </a:r>
            <a:r>
              <a:rPr lang="zh-CN" altLang="en-US" sz="2400" b="1">
                <a:solidFill>
                  <a:schemeClr val="tx2"/>
                </a:solidFill>
                <a:latin typeface="Times New Roman" panose="02020603050405020304" pitchFamily="18" charset="0"/>
              </a:rPr>
              <a:t>可得到如下时域差分方程：   </a:t>
            </a:r>
            <a:endParaRPr lang="zh-CN" altLang="en-US" sz="2400" b="1">
              <a:solidFill>
                <a:schemeClr val="tx2"/>
              </a:solidFill>
              <a:latin typeface="Times New Roman" panose="02020603050405020304" pitchFamily="18" charset="0"/>
            </a:endParaRPr>
          </a:p>
          <a:p>
            <a:pPr marL="0" indent="0" eaLnBrk="1" hangingPunct="1">
              <a:spcBef>
                <a:spcPct val="0"/>
              </a:spcBef>
              <a:buFontTx/>
              <a:buNone/>
            </a:pPr>
            <a:endParaRPr lang="zh-CN" altLang="en-US" sz="2400" b="1">
              <a:solidFill>
                <a:schemeClr val="tx2"/>
              </a:solidFill>
              <a:latin typeface="Times New Roman" panose="02020603050405020304" pitchFamily="18" charset="0"/>
            </a:endParaRPr>
          </a:p>
        </p:txBody>
      </p:sp>
      <p:sp>
        <p:nvSpPr>
          <p:cNvPr id="58372" name="Rectangle 4"/>
          <p:cNvSpPr>
            <a:spLocks noChangeArrowheads="1"/>
          </p:cNvSpPr>
          <p:nvPr/>
        </p:nvSpPr>
        <p:spPr bwMode="auto">
          <a:xfrm>
            <a:off x="409098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1845" name="Object 5"/>
          <p:cNvGraphicFramePr>
            <a:graphicFrameLocks noChangeAspect="1"/>
          </p:cNvGraphicFramePr>
          <p:nvPr/>
        </p:nvGraphicFramePr>
        <p:xfrm>
          <a:off x="2682875" y="1917700"/>
          <a:ext cx="1457325" cy="647700"/>
        </p:xfrm>
        <a:graphic>
          <a:graphicData uri="http://schemas.openxmlformats.org/presentationml/2006/ole">
            <mc:AlternateContent xmlns:mc="http://schemas.openxmlformats.org/markup-compatibility/2006">
              <mc:Choice xmlns:v="urn:schemas-microsoft-com:vml" Requires="v">
                <p:oleObj spid="_x0000_s58427" name="" r:id="rId1" imgW="965200" imgH="431800" progId="Equation.3">
                  <p:embed/>
                </p:oleObj>
              </mc:Choice>
              <mc:Fallback>
                <p:oleObj name="" r:id="rId1" imgW="9652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75" y="1917700"/>
                        <a:ext cx="14573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1846" name="Text Box 6"/>
          <p:cNvSpPr txBox="1">
            <a:spLocks noChangeArrowheads="1"/>
          </p:cNvSpPr>
          <p:nvPr/>
        </p:nvSpPr>
        <p:spPr bwMode="auto">
          <a:xfrm>
            <a:off x="539750" y="5872480"/>
            <a:ext cx="834263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从时域角度可以理解为，用信号的</a:t>
            </a:r>
            <a:r>
              <a:rPr kumimoji="1" lang="zh-CN" altLang="en-US" sz="2400" b="1">
                <a:solidFill>
                  <a:srgbClr val="0070C0"/>
                </a:solidFill>
                <a:latin typeface="宋体" panose="02010600030101010101" pitchFamily="2" charset="-122"/>
              </a:rPr>
              <a:t>前</a:t>
            </a:r>
            <a:r>
              <a:rPr kumimoji="1" lang="en-US" altLang="zh-CN" sz="2400" b="1" i="1">
                <a:solidFill>
                  <a:srgbClr val="0070C0"/>
                </a:solidFill>
                <a:latin typeface="宋体" panose="02010600030101010101" pitchFamily="2" charset="-122"/>
              </a:rPr>
              <a:t>p</a:t>
            </a:r>
            <a:r>
              <a:rPr kumimoji="1" lang="zh-CN" altLang="en-US" sz="2400" b="1">
                <a:solidFill>
                  <a:srgbClr val="0070C0"/>
                </a:solidFill>
                <a:latin typeface="宋体" panose="02010600030101010101" pitchFamily="2" charset="-122"/>
              </a:rPr>
              <a:t>个样本，</a:t>
            </a:r>
            <a:r>
              <a:rPr kumimoji="1" lang="zh-CN" altLang="en-US" sz="2400" b="1">
                <a:solidFill>
                  <a:schemeClr val="tx2"/>
                </a:solidFill>
                <a:latin typeface="宋体" panose="02010600030101010101" pitchFamily="2" charset="-122"/>
              </a:rPr>
              <a:t>来</a:t>
            </a:r>
            <a:r>
              <a:rPr kumimoji="1" lang="zh-CN" altLang="en-US" sz="2400" b="1">
                <a:solidFill>
                  <a:srgbClr val="0070C0"/>
                </a:solidFill>
                <a:latin typeface="宋体" panose="02010600030101010101" pitchFamily="2" charset="-122"/>
              </a:rPr>
              <a:t>预测当前的样本，</a:t>
            </a:r>
            <a:r>
              <a:rPr kumimoji="1" lang="zh-CN" altLang="en-US" sz="2400" b="1">
                <a:solidFill>
                  <a:schemeClr val="tx2"/>
                </a:solidFill>
                <a:latin typeface="宋体" panose="02010600030101010101" pitchFamily="2" charset="-122"/>
              </a:rPr>
              <a:t>得到</a:t>
            </a:r>
            <a:r>
              <a:rPr kumimoji="1" lang="zh-CN" altLang="en-US" sz="2400" b="1">
                <a:solidFill>
                  <a:schemeClr val="tx2"/>
                </a:solidFill>
                <a:latin typeface="宋体" panose="02010600030101010101" pitchFamily="2" charset="-122"/>
              </a:rPr>
              <a:t>的预测值。</a:t>
            </a:r>
            <a:r>
              <a:rPr kumimoji="1" lang="zh-CN" altLang="en-US" sz="2400" b="1">
                <a:solidFill>
                  <a:schemeClr val="tx2"/>
                </a:solidFill>
              </a:rPr>
              <a:t> </a:t>
            </a:r>
            <a:endParaRPr kumimoji="1" lang="zh-CN" altLang="en-US" sz="2400" b="1">
              <a:solidFill>
                <a:schemeClr val="tx2"/>
              </a:solidFill>
            </a:endParaRPr>
          </a:p>
        </p:txBody>
      </p:sp>
      <p:sp>
        <p:nvSpPr>
          <p:cNvPr id="58375" name="Rectangle 7"/>
          <p:cNvSpPr>
            <a:spLocks noChangeArrowheads="1"/>
          </p:cNvSpPr>
          <p:nvPr/>
        </p:nvSpPr>
        <p:spPr bwMode="auto">
          <a:xfrm>
            <a:off x="397668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56329" name="Object 9"/>
          <p:cNvGraphicFramePr>
            <a:graphicFrameLocks noChangeAspect="1"/>
          </p:cNvGraphicFramePr>
          <p:nvPr/>
        </p:nvGraphicFramePr>
        <p:xfrm>
          <a:off x="3251200" y="3895725"/>
          <a:ext cx="2046288" cy="685800"/>
        </p:xfrm>
        <a:graphic>
          <a:graphicData uri="http://schemas.openxmlformats.org/presentationml/2006/ole">
            <mc:AlternateContent xmlns:mc="http://schemas.openxmlformats.org/markup-compatibility/2006">
              <mc:Choice xmlns:v="urn:schemas-microsoft-com:vml" Requires="v">
                <p:oleObj spid="_x0000_s58428" name="Equation" r:id="rId3" imgW="1282700" imgH="431800" progId="Equation.DSMT4">
                  <p:embed/>
                </p:oleObj>
              </mc:Choice>
              <mc:Fallback>
                <p:oleObj name="Equation" r:id="rId3" imgW="1282700" imgH="4318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3895725"/>
                        <a:ext cx="20462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组合 5"/>
          <p:cNvGrpSpPr/>
          <p:nvPr/>
        </p:nvGrpSpPr>
        <p:grpSpPr bwMode="auto">
          <a:xfrm>
            <a:off x="2022475" y="2636838"/>
            <a:ext cx="4568825" cy="720725"/>
            <a:chOff x="2021943" y="2780928"/>
            <a:chExt cx="4568637" cy="720080"/>
          </a:xfrm>
        </p:grpSpPr>
        <p:sp>
          <p:nvSpPr>
            <p:cNvPr id="58379" name="矩形 2"/>
            <p:cNvSpPr>
              <a:spLocks noChangeArrowheads="1"/>
            </p:cNvSpPr>
            <p:nvPr/>
          </p:nvSpPr>
          <p:spPr bwMode="auto">
            <a:xfrm>
              <a:off x="3491880" y="2780928"/>
              <a:ext cx="1512168" cy="720080"/>
            </a:xfrm>
            <a:prstGeom prst="rect">
              <a:avLst/>
            </a:prstGeom>
            <a:solidFill>
              <a:schemeClr val="accent1"/>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cxnSp>
          <p:nvCxnSpPr>
            <p:cNvPr id="58380" name="直接箭头连接符 4"/>
            <p:cNvCxnSpPr>
              <a:cxnSpLocks noChangeShapeType="1"/>
            </p:cNvCxnSpPr>
            <p:nvPr/>
          </p:nvCxnSpPr>
          <p:spPr bwMode="auto">
            <a:xfrm>
              <a:off x="2555776" y="3140968"/>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58381" name="直接箭头连接符 14"/>
            <p:cNvCxnSpPr>
              <a:cxnSpLocks noChangeShapeType="1"/>
            </p:cNvCxnSpPr>
            <p:nvPr/>
          </p:nvCxnSpPr>
          <p:spPr bwMode="auto">
            <a:xfrm>
              <a:off x="5004048" y="3140968"/>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graphicFrame>
          <p:nvGraphicFramePr>
            <p:cNvPr id="58382" name="Object 5"/>
            <p:cNvGraphicFramePr>
              <a:graphicFrameLocks noChangeAspect="1"/>
            </p:cNvGraphicFramePr>
            <p:nvPr/>
          </p:nvGraphicFramePr>
          <p:xfrm>
            <a:off x="3546723" y="2780928"/>
            <a:ext cx="1457325" cy="647700"/>
          </p:xfrm>
          <a:graphic>
            <a:graphicData uri="http://schemas.openxmlformats.org/presentationml/2006/ole">
              <mc:AlternateContent xmlns:mc="http://schemas.openxmlformats.org/markup-compatibility/2006">
                <mc:Choice xmlns:v="urn:schemas-microsoft-com:vml" Requires="v">
                  <p:oleObj spid="_x0000_s58429" name="" r:id="rId5" imgW="965200" imgH="431800" progId="Equation.3">
                    <p:embed/>
                  </p:oleObj>
                </mc:Choice>
                <mc:Fallback>
                  <p:oleObj name="" r:id="rId5" imgW="9652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6723" y="2780928"/>
                          <a:ext cx="14573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3" name="Object 9"/>
            <p:cNvGraphicFramePr>
              <a:graphicFrameLocks noChangeAspect="1"/>
            </p:cNvGraphicFramePr>
            <p:nvPr/>
          </p:nvGraphicFramePr>
          <p:xfrm>
            <a:off x="6084168" y="2961134"/>
            <a:ext cx="506412" cy="323850"/>
          </p:xfrm>
          <a:graphic>
            <a:graphicData uri="http://schemas.openxmlformats.org/presentationml/2006/ole">
              <mc:AlternateContent xmlns:mc="http://schemas.openxmlformats.org/markup-compatibility/2006">
                <mc:Choice xmlns:v="urn:schemas-microsoft-com:vml" Requires="v">
                  <p:oleObj spid="_x0000_s58430" name="Equation" r:id="rId6" imgW="317500" imgH="203200" progId="Equation.DSMT4">
                    <p:embed/>
                  </p:oleObj>
                </mc:Choice>
                <mc:Fallback>
                  <p:oleObj name="Equation" r:id="rId6" imgW="317500" imgH="2032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4168" y="2961134"/>
                          <a:ext cx="5064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84" name="Object 9"/>
            <p:cNvGraphicFramePr>
              <a:graphicFrameLocks noChangeAspect="1"/>
            </p:cNvGraphicFramePr>
            <p:nvPr/>
          </p:nvGraphicFramePr>
          <p:xfrm>
            <a:off x="2021943" y="2961134"/>
            <a:ext cx="506412" cy="323850"/>
          </p:xfrm>
          <a:graphic>
            <a:graphicData uri="http://schemas.openxmlformats.org/presentationml/2006/ole">
              <mc:AlternateContent xmlns:mc="http://schemas.openxmlformats.org/markup-compatibility/2006">
                <mc:Choice xmlns:v="urn:schemas-microsoft-com:vml" Requires="v">
                  <p:oleObj spid="_x0000_s58431" name="Equation" r:id="rId8" imgW="317500" imgH="203200" progId="Equation.DSMT4">
                    <p:embed/>
                  </p:oleObj>
                </mc:Choice>
                <mc:Fallback>
                  <p:oleObj name="Equation" r:id="rId8" imgW="317500" imgH="2032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1943" y="2961134"/>
                          <a:ext cx="5064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1" name="Object 9"/>
          <p:cNvGraphicFramePr>
            <a:graphicFrameLocks noChangeAspect="1"/>
          </p:cNvGraphicFramePr>
          <p:nvPr/>
        </p:nvGraphicFramePr>
        <p:xfrm>
          <a:off x="3276600" y="5038725"/>
          <a:ext cx="1905000" cy="685800"/>
        </p:xfrm>
        <a:graphic>
          <a:graphicData uri="http://schemas.openxmlformats.org/presentationml/2006/ole">
            <mc:AlternateContent xmlns:mc="http://schemas.openxmlformats.org/markup-compatibility/2006">
              <mc:Choice xmlns:v="urn:schemas-microsoft-com:vml" Requires="v">
                <p:oleObj spid="_x0000_s58432" name="" r:id="rId10" imgW="1193800" imgH="431800" progId="Equation.3">
                  <p:embed/>
                </p:oleObj>
              </mc:Choice>
              <mc:Fallback>
                <p:oleObj name="" r:id="rId10" imgW="1193800" imgH="4318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6600" y="5038725"/>
                        <a:ext cx="1905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wipe(up)">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1845"/>
                                        </p:tgtEl>
                                        <p:attrNameLst>
                                          <p:attrName>style.visibility</p:attrName>
                                        </p:attrNameLst>
                                      </p:cBhvr>
                                      <p:to>
                                        <p:strVal val="visible"/>
                                      </p:to>
                                    </p:set>
                                    <p:animEffect transition="in" filter="wipe(up)">
                                      <p:cBhvr>
                                        <p:cTn id="12" dur="500"/>
                                        <p:tgtEl>
                                          <p:spTgt spid="2918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1843">
                                            <p:txEl>
                                              <p:pRg st="4" end="4"/>
                                            </p:txEl>
                                          </p:spTgt>
                                        </p:tgtEl>
                                        <p:attrNameLst>
                                          <p:attrName>style.visibility</p:attrName>
                                        </p:attrNameLst>
                                      </p:cBhvr>
                                      <p:to>
                                        <p:strVal val="visible"/>
                                      </p:to>
                                    </p:set>
                                    <p:animEffect transition="in" filter="wipe(up)">
                                      <p:cBhvr>
                                        <p:cTn id="22" dur="500"/>
                                        <p:tgtEl>
                                          <p:spTgt spid="29184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6329"/>
                                        </p:tgtEl>
                                        <p:attrNameLst>
                                          <p:attrName>style.visibility</p:attrName>
                                        </p:attrNameLst>
                                      </p:cBhvr>
                                      <p:to>
                                        <p:strVal val="visible"/>
                                      </p:to>
                                    </p:set>
                                    <p:animEffect transition="in" filter="wipe(up)">
                                      <p:cBhvr>
                                        <p:cTn id="27" dur="500"/>
                                        <p:tgtEl>
                                          <p:spTgt spid="563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91843">
                                            <p:txEl>
                                              <p:pRg st="7" end="7"/>
                                            </p:txEl>
                                          </p:spTgt>
                                        </p:tgtEl>
                                        <p:attrNameLst>
                                          <p:attrName>style.visibility</p:attrName>
                                        </p:attrNameLst>
                                      </p:cBhvr>
                                      <p:to>
                                        <p:strVal val="visible"/>
                                      </p:to>
                                    </p:set>
                                    <p:animEffect transition="in" filter="wipe(up)">
                                      <p:cBhvr>
                                        <p:cTn id="32" dur="500"/>
                                        <p:tgtEl>
                                          <p:spTgt spid="29184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up)">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91846"/>
                                        </p:tgtEl>
                                        <p:attrNameLst>
                                          <p:attrName>style.visibility</p:attrName>
                                        </p:attrNameLst>
                                      </p:cBhvr>
                                      <p:to>
                                        <p:strVal val="visible"/>
                                      </p:to>
                                    </p:set>
                                    <p:animEffect transition="in" filter="wipe(up)">
                                      <p:cBhvr>
                                        <p:cTn id="42" dur="500"/>
                                        <p:tgtEl>
                                          <p:spTgt spid="291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autoUpdateAnimBg="0" build="p"/>
      <p:bldP spid="29184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3"/>
          <p:cNvSpPr>
            <a:spLocks noGrp="1" noChangeArrowheads="1"/>
          </p:cNvSpPr>
          <p:nvPr>
            <p:ph type="body" idx="1"/>
          </p:nvPr>
        </p:nvSpPr>
        <p:spPr>
          <a:xfrm>
            <a:off x="611188" y="1731963"/>
            <a:ext cx="8001000" cy="4114800"/>
          </a:xfrm>
        </p:spPr>
        <p:txBody>
          <a:bodyPr/>
          <a:lstStyle/>
          <a:p>
            <a:pPr marL="0" indent="0" eaLnBrk="1" hangingPunct="1">
              <a:spcBef>
                <a:spcPct val="0"/>
              </a:spcBef>
              <a:buFontTx/>
              <a:buNone/>
            </a:pPr>
            <a:r>
              <a:rPr lang="zh-CN" altLang="en-US" sz="2400" b="1">
                <a:solidFill>
                  <a:schemeClr val="tx2"/>
                </a:solidFill>
                <a:latin typeface="Times New Roman" panose="02020603050405020304" pitchFamily="18" charset="0"/>
              </a:rPr>
              <a:t>预测误差</a:t>
            </a: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r>
              <a:rPr lang="zh-CN" altLang="en-US" sz="2400" b="1">
                <a:solidFill>
                  <a:schemeClr val="tx2"/>
                </a:solidFill>
                <a:latin typeface="Times New Roman" panose="02020603050405020304" pitchFamily="18" charset="0"/>
              </a:rPr>
              <a:t>可以如下得到该预测器的预测误差</a:t>
            </a: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r>
              <a:rPr lang="zh-CN" altLang="en-US" sz="2400" b="1">
                <a:solidFill>
                  <a:schemeClr val="tx2"/>
                </a:solidFill>
                <a:latin typeface="Times New Roman" panose="02020603050405020304" pitchFamily="18" charset="0"/>
              </a:rPr>
              <a:t>它的逆滤波器形式：</a:t>
            </a:r>
            <a:endParaRPr lang="en-US" altLang="zh-CN" sz="2400" b="1">
              <a:solidFill>
                <a:schemeClr val="tx2"/>
              </a:solidFill>
              <a:latin typeface="Times New Roman" panose="02020603050405020304" pitchFamily="18" charset="0"/>
            </a:endParaRPr>
          </a:p>
          <a:p>
            <a:pPr marL="0" indent="0" eaLnBrk="1" hangingPunct="1">
              <a:spcBef>
                <a:spcPct val="0"/>
              </a:spcBef>
              <a:buFontTx/>
              <a:buNone/>
            </a:pPr>
            <a:endParaRPr lang="en-US" altLang="zh-CN" sz="2400" b="1">
              <a:solidFill>
                <a:schemeClr val="tx2"/>
              </a:solidFill>
              <a:latin typeface="Times New Roman" panose="02020603050405020304" pitchFamily="18" charset="0"/>
            </a:endParaRPr>
          </a:p>
          <a:p>
            <a:pPr marL="0" indent="0" eaLnBrk="1" hangingPunct="1">
              <a:spcBef>
                <a:spcPct val="0"/>
              </a:spcBef>
              <a:buFontTx/>
              <a:buNone/>
            </a:pPr>
            <a:r>
              <a:rPr lang="zh-CN" altLang="en-US" sz="2400" b="1">
                <a:solidFill>
                  <a:schemeClr val="tx2"/>
                </a:solidFill>
                <a:latin typeface="Times New Roman" panose="02020603050405020304" pitchFamily="18" charset="0"/>
              </a:rPr>
              <a:t>   </a:t>
            </a:r>
            <a:endParaRPr lang="zh-CN" altLang="en-US" sz="2400" b="1">
              <a:solidFill>
                <a:schemeClr val="tx2"/>
              </a:solidFill>
              <a:latin typeface="Times New Roman" panose="02020603050405020304" pitchFamily="18" charset="0"/>
            </a:endParaRPr>
          </a:p>
          <a:p>
            <a:pPr marL="0" indent="0" eaLnBrk="1" hangingPunct="1">
              <a:spcBef>
                <a:spcPct val="0"/>
              </a:spcBef>
              <a:buFontTx/>
              <a:buNone/>
            </a:pPr>
            <a:endParaRPr lang="zh-CN" altLang="en-US" sz="2400" b="1">
              <a:solidFill>
                <a:schemeClr val="tx2"/>
              </a:solidFill>
              <a:latin typeface="Times New Roman" panose="02020603050405020304" pitchFamily="18" charset="0"/>
            </a:endParaRPr>
          </a:p>
        </p:txBody>
      </p:sp>
      <p:sp>
        <p:nvSpPr>
          <p:cNvPr id="60419"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2" name="组合 1"/>
          <p:cNvGrpSpPr/>
          <p:nvPr/>
        </p:nvGrpSpPr>
        <p:grpSpPr bwMode="auto">
          <a:xfrm>
            <a:off x="2124075" y="3608388"/>
            <a:ext cx="4383088" cy="757237"/>
            <a:chOff x="2123728" y="3212976"/>
            <a:chExt cx="4383435" cy="756791"/>
          </a:xfrm>
        </p:grpSpPr>
        <p:grpSp>
          <p:nvGrpSpPr>
            <p:cNvPr id="60433" name="组合 5"/>
            <p:cNvGrpSpPr/>
            <p:nvPr/>
          </p:nvGrpSpPr>
          <p:grpSpPr bwMode="auto">
            <a:xfrm>
              <a:off x="2123728" y="3249687"/>
              <a:ext cx="4383435" cy="720080"/>
              <a:chOff x="2021943" y="2780928"/>
              <a:chExt cx="4559221" cy="720080"/>
            </a:xfrm>
          </p:grpSpPr>
          <p:sp>
            <p:nvSpPr>
              <p:cNvPr id="60435" name="矩形 2"/>
              <p:cNvSpPr>
                <a:spLocks noChangeArrowheads="1"/>
              </p:cNvSpPr>
              <p:nvPr/>
            </p:nvSpPr>
            <p:spPr bwMode="auto">
              <a:xfrm>
                <a:off x="3491880" y="2780928"/>
                <a:ext cx="1512168" cy="720080"/>
              </a:xfrm>
              <a:prstGeom prst="rect">
                <a:avLst/>
              </a:prstGeom>
              <a:solidFill>
                <a:schemeClr val="accent1"/>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cxnSp>
            <p:nvCxnSpPr>
              <p:cNvPr id="60436" name="直接箭头连接符 4"/>
              <p:cNvCxnSpPr>
                <a:cxnSpLocks noChangeShapeType="1"/>
              </p:cNvCxnSpPr>
              <p:nvPr/>
            </p:nvCxnSpPr>
            <p:spPr bwMode="auto">
              <a:xfrm>
                <a:off x="2555776" y="3140968"/>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60437" name="直接箭头连接符 14"/>
              <p:cNvCxnSpPr>
                <a:cxnSpLocks noChangeShapeType="1"/>
              </p:cNvCxnSpPr>
              <p:nvPr/>
            </p:nvCxnSpPr>
            <p:spPr bwMode="auto">
              <a:xfrm>
                <a:off x="5004048" y="3140968"/>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graphicFrame>
            <p:nvGraphicFramePr>
              <p:cNvPr id="60438" name="Object 9"/>
              <p:cNvGraphicFramePr>
                <a:graphicFrameLocks noChangeAspect="1"/>
              </p:cNvGraphicFramePr>
              <p:nvPr/>
            </p:nvGraphicFramePr>
            <p:xfrm>
              <a:off x="6094071" y="2961829"/>
              <a:ext cx="487093" cy="323850"/>
            </p:xfrm>
            <a:graphic>
              <a:graphicData uri="http://schemas.openxmlformats.org/presentationml/2006/ole">
                <mc:AlternateContent xmlns:mc="http://schemas.openxmlformats.org/markup-compatibility/2006">
                  <mc:Choice xmlns:v="urn:schemas-microsoft-com:vml" Requires="v">
                    <p:oleObj spid="_x0000_s60496" name="Equation" r:id="rId1" imgW="304800" imgH="203200" progId="Equation.DSMT4">
                      <p:embed/>
                    </p:oleObj>
                  </mc:Choice>
                  <mc:Fallback>
                    <p:oleObj name="Equation" r:id="rId1" imgW="304800" imgH="20320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4071" y="2961829"/>
                            <a:ext cx="48709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39" name="Object 9"/>
              <p:cNvGraphicFramePr>
                <a:graphicFrameLocks noChangeAspect="1"/>
              </p:cNvGraphicFramePr>
              <p:nvPr/>
            </p:nvGraphicFramePr>
            <p:xfrm>
              <a:off x="2021943" y="2961134"/>
              <a:ext cx="506412" cy="323850"/>
            </p:xfrm>
            <a:graphic>
              <a:graphicData uri="http://schemas.openxmlformats.org/presentationml/2006/ole">
                <mc:AlternateContent xmlns:mc="http://schemas.openxmlformats.org/markup-compatibility/2006">
                  <mc:Choice xmlns:v="urn:schemas-microsoft-com:vml" Requires="v">
                    <p:oleObj spid="_x0000_s60497" name="Equation" r:id="rId3" imgW="317500" imgH="203200" progId="Equation.DSMT4">
                      <p:embed/>
                    </p:oleObj>
                  </mc:Choice>
                  <mc:Fallback>
                    <p:oleObj name="Equation" r:id="rId3" imgW="317500" imgH="2032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1943" y="2961134"/>
                            <a:ext cx="5064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0434" name="Object 9"/>
            <p:cNvGraphicFramePr>
              <a:graphicFrameLocks noChangeAspect="1"/>
            </p:cNvGraphicFramePr>
            <p:nvPr/>
          </p:nvGraphicFramePr>
          <p:xfrm>
            <a:off x="3786338" y="3212976"/>
            <a:ext cx="992187" cy="685800"/>
          </p:xfrm>
          <a:graphic>
            <a:graphicData uri="http://schemas.openxmlformats.org/presentationml/2006/ole">
              <mc:AlternateContent xmlns:mc="http://schemas.openxmlformats.org/markup-compatibility/2006">
                <mc:Choice xmlns:v="urn:schemas-microsoft-com:vml" Requires="v">
                  <p:oleObj spid="_x0000_s60498" name="Equation" r:id="rId5" imgW="622300" imgH="431800" progId="Equation.DSMT4">
                    <p:embed/>
                  </p:oleObj>
                </mc:Choice>
                <mc:Fallback>
                  <p:oleObj name="Equation" r:id="rId5" imgW="622300" imgH="4318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6338" y="3212976"/>
                          <a:ext cx="9921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9" name="Object 5"/>
          <p:cNvGraphicFramePr>
            <a:graphicFrameLocks noChangeAspect="1"/>
          </p:cNvGraphicFramePr>
          <p:nvPr/>
        </p:nvGraphicFramePr>
        <p:xfrm>
          <a:off x="2395538" y="2020888"/>
          <a:ext cx="4191000" cy="749300"/>
        </p:xfrm>
        <a:graphic>
          <a:graphicData uri="http://schemas.openxmlformats.org/presentationml/2006/ole">
            <mc:AlternateContent xmlns:mc="http://schemas.openxmlformats.org/markup-compatibility/2006">
              <mc:Choice xmlns:v="urn:schemas-microsoft-com:vml" Requires="v">
                <p:oleObj spid="_x0000_s60499" name="" r:id="rId7" imgW="2400300" imgH="431800" progId="Equation.3">
                  <p:embed/>
                </p:oleObj>
              </mc:Choice>
              <mc:Fallback>
                <p:oleObj name="" r:id="rId7" imgW="2400300" imgH="431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5538" y="2020888"/>
                        <a:ext cx="4191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组合 6"/>
          <p:cNvGrpSpPr/>
          <p:nvPr/>
        </p:nvGrpSpPr>
        <p:grpSpPr bwMode="auto">
          <a:xfrm>
            <a:off x="6588125" y="3068638"/>
            <a:ext cx="2441575" cy="720725"/>
            <a:chOff x="6588224" y="3068960"/>
            <a:chExt cx="2441412" cy="720080"/>
          </a:xfrm>
        </p:grpSpPr>
        <p:sp>
          <p:nvSpPr>
            <p:cNvPr id="60431" name="矩形标注 19"/>
            <p:cNvSpPr>
              <a:spLocks noChangeArrowheads="1"/>
            </p:cNvSpPr>
            <p:nvPr/>
          </p:nvSpPr>
          <p:spPr bwMode="auto">
            <a:xfrm>
              <a:off x="6588224" y="3068960"/>
              <a:ext cx="2441412" cy="720080"/>
            </a:xfrm>
            <a:prstGeom prst="wedgeRectCallout">
              <a:avLst>
                <a:gd name="adj1" fmla="val -87347"/>
                <a:gd name="adj2" fmla="val -109023"/>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  </a:t>
              </a:r>
              <a:endParaRPr lang="zh-CN" altLang="en-US" sz="1600">
                <a:latin typeface="Times New Roman" panose="02020603050405020304" pitchFamily="18" charset="0"/>
                <a:cs typeface="Times New Roman" panose="02020603050405020304" pitchFamily="18" charset="0"/>
              </a:endParaRPr>
            </a:p>
          </p:txBody>
        </p:sp>
        <p:graphicFrame>
          <p:nvGraphicFramePr>
            <p:cNvPr id="60432" name="Object 9"/>
            <p:cNvGraphicFramePr>
              <a:graphicFrameLocks noChangeAspect="1"/>
            </p:cNvGraphicFramePr>
            <p:nvPr/>
          </p:nvGraphicFramePr>
          <p:xfrm>
            <a:off x="6634180" y="3068960"/>
            <a:ext cx="2349500" cy="685800"/>
          </p:xfrm>
          <a:graphic>
            <a:graphicData uri="http://schemas.openxmlformats.org/presentationml/2006/ole">
              <mc:AlternateContent xmlns:mc="http://schemas.openxmlformats.org/markup-compatibility/2006">
                <mc:Choice xmlns:v="urn:schemas-microsoft-com:vml" Requires="v">
                  <p:oleObj spid="_x0000_s60500" name="Equation" r:id="rId9" imgW="1473200" imgH="431800" progId="Equation.DSMT4">
                    <p:embed/>
                  </p:oleObj>
                </mc:Choice>
                <mc:Fallback>
                  <p:oleObj name="Equation" r:id="rId9" imgW="1473200" imgH="4318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34180" y="3068960"/>
                          <a:ext cx="2349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3" name="组合 22"/>
          <p:cNvGrpSpPr/>
          <p:nvPr/>
        </p:nvGrpSpPr>
        <p:grpSpPr bwMode="auto">
          <a:xfrm>
            <a:off x="2120900" y="5157788"/>
            <a:ext cx="4365625" cy="987425"/>
            <a:chOff x="2098222" y="2991592"/>
            <a:chExt cx="4366144" cy="987425"/>
          </a:xfrm>
        </p:grpSpPr>
        <p:grpSp>
          <p:nvGrpSpPr>
            <p:cNvPr id="60424" name="组合 23"/>
            <p:cNvGrpSpPr/>
            <p:nvPr/>
          </p:nvGrpSpPr>
          <p:grpSpPr bwMode="auto">
            <a:xfrm>
              <a:off x="2098222" y="3003670"/>
              <a:ext cx="4366144" cy="966097"/>
              <a:chOff x="1995414" y="2534911"/>
              <a:chExt cx="4541236" cy="966097"/>
            </a:xfrm>
          </p:grpSpPr>
          <p:sp>
            <p:nvSpPr>
              <p:cNvPr id="60426" name="矩形 25"/>
              <p:cNvSpPr>
                <a:spLocks noChangeArrowheads="1"/>
              </p:cNvSpPr>
              <p:nvPr/>
            </p:nvSpPr>
            <p:spPr bwMode="auto">
              <a:xfrm>
                <a:off x="3491880" y="2534911"/>
                <a:ext cx="1512168" cy="966097"/>
              </a:xfrm>
              <a:prstGeom prst="rect">
                <a:avLst/>
              </a:prstGeom>
              <a:solidFill>
                <a:schemeClr val="accent1"/>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0427" name="Object 9"/>
              <p:cNvGraphicFramePr>
                <a:graphicFrameLocks noChangeAspect="1"/>
              </p:cNvGraphicFramePr>
              <p:nvPr/>
            </p:nvGraphicFramePr>
            <p:xfrm>
              <a:off x="6030238" y="2847055"/>
              <a:ext cx="506412" cy="323850"/>
            </p:xfrm>
            <a:graphic>
              <a:graphicData uri="http://schemas.openxmlformats.org/presentationml/2006/ole">
                <mc:AlternateContent xmlns:mc="http://schemas.openxmlformats.org/markup-compatibility/2006">
                  <mc:Choice xmlns:v="urn:schemas-microsoft-com:vml" Requires="v">
                    <p:oleObj spid="_x0000_s60501" name="Equation" r:id="rId11" imgW="317500" imgH="203200" progId="Equation.DSMT4">
                      <p:embed/>
                    </p:oleObj>
                  </mc:Choice>
                  <mc:Fallback>
                    <p:oleObj name="Equation" r:id="rId11" imgW="317500" imgH="2032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238" y="2847055"/>
                            <a:ext cx="5064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0428" name="直接箭头连接符 30"/>
              <p:cNvCxnSpPr>
                <a:cxnSpLocks noChangeShapeType="1"/>
              </p:cNvCxnSpPr>
              <p:nvPr/>
            </p:nvCxnSpPr>
            <p:spPr bwMode="auto">
              <a:xfrm>
                <a:off x="2532852" y="3004609"/>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60429" name="直接箭头连接符 31"/>
              <p:cNvCxnSpPr>
                <a:cxnSpLocks noChangeShapeType="1"/>
              </p:cNvCxnSpPr>
              <p:nvPr/>
            </p:nvCxnSpPr>
            <p:spPr bwMode="auto">
              <a:xfrm>
                <a:off x="4981124" y="3004609"/>
                <a:ext cx="936104"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graphicFrame>
            <p:nvGraphicFramePr>
              <p:cNvPr id="60430" name="Object 9"/>
              <p:cNvGraphicFramePr>
                <a:graphicFrameLocks noChangeAspect="1"/>
              </p:cNvGraphicFramePr>
              <p:nvPr/>
            </p:nvGraphicFramePr>
            <p:xfrm>
              <a:off x="1995414" y="2842684"/>
              <a:ext cx="487093" cy="323850"/>
            </p:xfrm>
            <a:graphic>
              <a:graphicData uri="http://schemas.openxmlformats.org/presentationml/2006/ole">
                <mc:AlternateContent xmlns:mc="http://schemas.openxmlformats.org/markup-compatibility/2006">
                  <mc:Choice xmlns:v="urn:schemas-microsoft-com:vml" Requires="v">
                    <p:oleObj spid="_x0000_s60502" name="Equation" r:id="rId12" imgW="304800" imgH="203200" progId="Equation.DSMT4">
                      <p:embed/>
                    </p:oleObj>
                  </mc:Choice>
                  <mc:Fallback>
                    <p:oleObj name="Equation" r:id="rId12" imgW="304800" imgH="20320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414" y="2842684"/>
                            <a:ext cx="48709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0425" name="Object 9"/>
            <p:cNvGraphicFramePr>
              <a:graphicFrameLocks noChangeAspect="1"/>
            </p:cNvGraphicFramePr>
            <p:nvPr/>
          </p:nvGraphicFramePr>
          <p:xfrm>
            <a:off x="3756210" y="2991592"/>
            <a:ext cx="1052513" cy="987425"/>
          </p:xfrm>
          <a:graphic>
            <a:graphicData uri="http://schemas.openxmlformats.org/presentationml/2006/ole">
              <mc:AlternateContent xmlns:mc="http://schemas.openxmlformats.org/markup-compatibility/2006">
                <mc:Choice xmlns:v="urn:schemas-microsoft-com:vml" Requires="v">
                  <p:oleObj spid="_x0000_s60503" name="Equation" r:id="rId13" imgW="660400" imgH="622300" progId="Equation.DSMT4">
                    <p:embed/>
                  </p:oleObj>
                </mc:Choice>
                <mc:Fallback>
                  <p:oleObj name="Equation" r:id="rId13" imgW="660400" imgH="6223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6210" y="2991592"/>
                          <a:ext cx="1052513"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wipe(up)">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1843">
                                            <p:txEl>
                                              <p:pRg st="3" end="3"/>
                                            </p:txEl>
                                          </p:spTgt>
                                        </p:tgtEl>
                                        <p:attrNameLst>
                                          <p:attrName>style.visibility</p:attrName>
                                        </p:attrNameLst>
                                      </p:cBhvr>
                                      <p:to>
                                        <p:strVal val="visible"/>
                                      </p:to>
                                    </p:set>
                                    <p:animEffect transition="in" filter="wipe(up)">
                                      <p:cBhvr>
                                        <p:cTn id="22" dur="500"/>
                                        <p:tgtEl>
                                          <p:spTgt spid="291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91843">
                                            <p:txEl>
                                              <p:pRg st="8" end="8"/>
                                            </p:txEl>
                                          </p:spTgt>
                                        </p:tgtEl>
                                        <p:attrNameLst>
                                          <p:attrName>style.visibility</p:attrName>
                                        </p:attrNameLst>
                                      </p:cBhvr>
                                      <p:to>
                                        <p:strVal val="visible"/>
                                      </p:to>
                                    </p:set>
                                    <p:animEffect transition="in" filter="wipe(up)">
                                      <p:cBhvr>
                                        <p:cTn id="32" dur="500"/>
                                        <p:tgtEl>
                                          <p:spTgt spid="29184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up)">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autoUpdateAnimBg="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3" name="Rectangle 3"/>
          <p:cNvSpPr>
            <a:spLocks noGrp="1" noChangeArrowheads="1"/>
          </p:cNvSpPr>
          <p:nvPr>
            <p:ph type="body" idx="1"/>
          </p:nvPr>
        </p:nvSpPr>
        <p:spPr>
          <a:xfrm>
            <a:off x="611188" y="1731963"/>
            <a:ext cx="8001000" cy="4114800"/>
          </a:xfrm>
        </p:spPr>
        <p:txBody>
          <a:bodyPr/>
          <a:lstStyle/>
          <a:p>
            <a:pPr eaLnBrk="1" hangingPunct="1">
              <a:lnSpc>
                <a:spcPct val="150000"/>
              </a:lnSpc>
              <a:spcBef>
                <a:spcPts val="600"/>
              </a:spcBef>
              <a:buFont typeface="Wingdings" panose="05000000000000000000" pitchFamily="2" charset="2"/>
              <a:buChar char="Ø"/>
              <a:defRPr/>
            </a:pPr>
            <a:r>
              <a:rPr lang="zh-CN" altLang="en-US" sz="2400" b="1" dirty="0">
                <a:solidFill>
                  <a:schemeClr val="tx2"/>
                </a:solidFill>
                <a:latin typeface="Times New Roman" panose="02020603050405020304" pitchFamily="18" charset="0"/>
              </a:rPr>
              <a:t>线性预测器与全极点模型</a:t>
            </a:r>
            <a:r>
              <a:rPr lang="zh-CN" altLang="en-US" sz="2400" b="1" dirty="0">
                <a:solidFill>
                  <a:srgbClr val="0070C0"/>
                </a:solidFill>
                <a:latin typeface="黑体" panose="02010609060101010101" pitchFamily="49" charset="-122"/>
                <a:ea typeface="黑体" panose="02010609060101010101" pitchFamily="49" charset="-122"/>
              </a:rPr>
              <a:t>一一对应</a:t>
            </a:r>
            <a:endParaRPr lang="en-US" altLang="zh-CN" sz="2400" b="1" dirty="0">
              <a:solidFill>
                <a:schemeClr val="tx2"/>
              </a:solidFill>
              <a:latin typeface="Times New Roman" panose="02020603050405020304" pitchFamily="18" charset="0"/>
            </a:endParaRPr>
          </a:p>
          <a:p>
            <a:pPr eaLnBrk="1" hangingPunct="1">
              <a:lnSpc>
                <a:spcPct val="150000"/>
              </a:lnSpc>
              <a:spcBef>
                <a:spcPts val="600"/>
              </a:spcBef>
              <a:buFont typeface="Wingdings" panose="05000000000000000000" pitchFamily="2" charset="2"/>
              <a:buChar char="Ø"/>
              <a:defRPr/>
            </a:pPr>
            <a:r>
              <a:rPr lang="en-US" altLang="zh-CN" sz="2400" b="1" dirty="0">
                <a:solidFill>
                  <a:schemeClr val="tx2"/>
                </a:solidFill>
                <a:latin typeface="Times New Roman" panose="02020603050405020304" pitchFamily="18" charset="0"/>
              </a:rPr>
              <a:t>预测器也不容易确定，系数不同就是不同的预测器，有</a:t>
            </a:r>
            <a:r>
              <a:rPr lang="en-US" altLang="zh-CN" sz="2400" b="1" dirty="0">
                <a:solidFill>
                  <a:srgbClr val="0070C0"/>
                </a:solidFill>
                <a:latin typeface="黑体" panose="02010609060101010101" pitchFamily="49" charset="-122"/>
                <a:ea typeface="黑体" panose="02010609060101010101" pitchFamily="49" charset="-122"/>
              </a:rPr>
              <a:t>无穷多的</a:t>
            </a:r>
            <a:r>
              <a:rPr lang="zh-CN" altLang="en-US" sz="2400" b="1" dirty="0">
                <a:solidFill>
                  <a:schemeClr val="tx2"/>
                </a:solidFill>
                <a:latin typeface="Times New Roman" panose="02020603050405020304" pitchFamily="18" charset="0"/>
              </a:rPr>
              <a:t>预测器</a:t>
            </a:r>
            <a:endParaRPr lang="en-US" altLang="zh-CN" sz="2400" b="1" dirty="0">
              <a:solidFill>
                <a:schemeClr val="tx2"/>
              </a:solidFill>
              <a:latin typeface="Times New Roman" panose="02020603050405020304" pitchFamily="18" charset="0"/>
            </a:endParaRPr>
          </a:p>
          <a:p>
            <a:pPr eaLnBrk="1" hangingPunct="1">
              <a:lnSpc>
                <a:spcPct val="150000"/>
              </a:lnSpc>
              <a:spcBef>
                <a:spcPts val="600"/>
              </a:spcBef>
              <a:buFont typeface="Wingdings" panose="05000000000000000000" pitchFamily="2" charset="2"/>
              <a:buChar char="Ø"/>
              <a:defRPr/>
            </a:pPr>
            <a:r>
              <a:rPr lang="zh-CN" altLang="en-US" sz="2400" b="1" dirty="0">
                <a:solidFill>
                  <a:schemeClr val="tx2"/>
                </a:solidFill>
                <a:latin typeface="Times New Roman" panose="02020603050405020304" pitchFamily="18" charset="0"/>
              </a:rPr>
              <a:t>有一个特殊的预测器：</a:t>
            </a:r>
            <a:r>
              <a:rPr lang="zh-CN" altLang="en-US" sz="2400" b="1" dirty="0">
                <a:solidFill>
                  <a:srgbClr val="0070C0"/>
                </a:solidFill>
                <a:latin typeface="黑体" panose="02010609060101010101" pitchFamily="49" charset="-122"/>
                <a:ea typeface="黑体" panose="02010609060101010101" pitchFamily="49" charset="-122"/>
              </a:rPr>
              <a:t>最佳线性预测器</a:t>
            </a:r>
            <a:endParaRPr lang="en-US" altLang="zh-CN" sz="2400" b="1" dirty="0">
              <a:solidFill>
                <a:schemeClr val="tx2"/>
              </a:solidFill>
              <a:latin typeface="Times New Roman" panose="02020603050405020304" pitchFamily="18" charset="0"/>
            </a:endParaRPr>
          </a:p>
          <a:p>
            <a:pPr eaLnBrk="1" hangingPunct="1">
              <a:lnSpc>
                <a:spcPct val="150000"/>
              </a:lnSpc>
              <a:spcBef>
                <a:spcPts val="600"/>
              </a:spcBef>
              <a:buFont typeface="Wingdings" panose="05000000000000000000" pitchFamily="2" charset="2"/>
              <a:buChar char="Ø"/>
              <a:defRPr/>
            </a:pPr>
            <a:r>
              <a:rPr lang="zh-CN" altLang="en-US" sz="2400" b="1" dirty="0">
                <a:solidFill>
                  <a:schemeClr val="tx2"/>
                </a:solidFill>
                <a:latin typeface="Times New Roman" panose="02020603050405020304" pitchFamily="18" charset="0"/>
              </a:rPr>
              <a:t>最佳线性预测器的</a:t>
            </a:r>
            <a:r>
              <a:rPr lang="zh-CN" altLang="en-US" sz="2400" b="1" dirty="0">
                <a:solidFill>
                  <a:srgbClr val="0070C0"/>
                </a:solidFill>
                <a:latin typeface="黑体" panose="02010609060101010101" pitchFamily="49" charset="-122"/>
                <a:ea typeface="黑体" panose="02010609060101010101" pitchFamily="49" charset="-122"/>
              </a:rPr>
              <a:t>预测误差能量最</a:t>
            </a:r>
            <a:r>
              <a:rPr lang="zh-CN" altLang="en-US" sz="2400" b="1" dirty="0">
                <a:solidFill>
                  <a:schemeClr val="tx2"/>
                </a:solidFill>
                <a:latin typeface="Times New Roman" panose="02020603050405020304" pitchFamily="18" charset="0"/>
              </a:rPr>
              <a:t>小</a:t>
            </a:r>
            <a:endParaRPr lang="en-US" altLang="zh-CN" sz="2400" b="1" dirty="0">
              <a:solidFill>
                <a:schemeClr val="tx2"/>
              </a:solidFill>
              <a:latin typeface="Times New Roman" panose="02020603050405020304" pitchFamily="18" charset="0"/>
            </a:endParaRPr>
          </a:p>
          <a:p>
            <a:pPr eaLnBrk="1" hangingPunct="1">
              <a:lnSpc>
                <a:spcPct val="150000"/>
              </a:lnSpc>
              <a:spcBef>
                <a:spcPts val="600"/>
              </a:spcBef>
              <a:buFont typeface="Wingdings" panose="05000000000000000000" pitchFamily="2" charset="2"/>
              <a:buChar char="Ø"/>
              <a:defRPr/>
            </a:pPr>
            <a:r>
              <a:rPr lang="zh-CN" altLang="en-US" sz="2400" b="1" dirty="0">
                <a:solidFill>
                  <a:schemeClr val="tx2"/>
                </a:solidFill>
                <a:latin typeface="Times New Roman" panose="02020603050405020304" pitchFamily="18" charset="0"/>
              </a:rPr>
              <a:t>求最佳线性预测器的过程可以被</a:t>
            </a:r>
            <a:r>
              <a:rPr lang="zh-CN" altLang="en-US" sz="2400" b="1" dirty="0">
                <a:solidFill>
                  <a:schemeClr val="tx2"/>
                </a:solidFill>
                <a:latin typeface="Times New Roman" panose="02020603050405020304" pitchFamily="18" charset="0"/>
              </a:rPr>
              <a:t>称为线性预测分析，或者自回归（</a:t>
            </a:r>
            <a:r>
              <a:rPr lang="en-US" altLang="zh-CN" sz="2400" b="1" dirty="0"/>
              <a:t>A</a:t>
            </a:r>
            <a:r>
              <a:rPr lang="en-US" altLang="zh-CN" sz="2400" dirty="0"/>
              <a:t>uto</a:t>
            </a:r>
            <a:r>
              <a:rPr lang="en-US" altLang="zh-CN" sz="2400" b="1" dirty="0"/>
              <a:t>r</a:t>
            </a:r>
            <a:r>
              <a:rPr lang="en-US" altLang="zh-CN" sz="2400" dirty="0"/>
              <a:t>egressive</a:t>
            </a:r>
            <a:r>
              <a:rPr lang="zh-CN" altLang="en-US" sz="2400" dirty="0"/>
              <a:t>，</a:t>
            </a:r>
            <a:r>
              <a:rPr lang="en-US" altLang="zh-CN" sz="2400" dirty="0"/>
              <a:t>AR</a:t>
            </a:r>
            <a:r>
              <a:rPr lang="zh-CN" altLang="en-US" sz="2400" b="1" dirty="0">
                <a:solidFill>
                  <a:schemeClr val="tx2"/>
                </a:solidFill>
                <a:latin typeface="Times New Roman" panose="02020603050405020304" pitchFamily="18" charset="0"/>
              </a:rPr>
              <a:t>）分析</a:t>
            </a:r>
            <a:endParaRPr lang="zh-CN" altLang="en-US" sz="2400" b="1" dirty="0">
              <a:solidFill>
                <a:schemeClr val="tx2"/>
              </a:solidFill>
              <a:latin typeface="Times New Roman" panose="02020603050405020304" pitchFamily="18" charset="0"/>
            </a:endParaRPr>
          </a:p>
        </p:txBody>
      </p:sp>
      <p:sp>
        <p:nvSpPr>
          <p:cNvPr id="62467"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wipe(up)">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wipe(up)">
                                      <p:cBhvr>
                                        <p:cTn id="12" dur="500"/>
                                        <p:tgtEl>
                                          <p:spTgt spid="291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1843">
                                            <p:txEl>
                                              <p:pRg st="2" end="2"/>
                                            </p:txEl>
                                          </p:spTgt>
                                        </p:tgtEl>
                                        <p:attrNameLst>
                                          <p:attrName>style.visibility</p:attrName>
                                        </p:attrNameLst>
                                      </p:cBhvr>
                                      <p:to>
                                        <p:strVal val="visible"/>
                                      </p:to>
                                    </p:set>
                                    <p:animEffect transition="in" filter="wipe(up)">
                                      <p:cBhvr>
                                        <p:cTn id="17" dur="500"/>
                                        <p:tgtEl>
                                          <p:spTgt spid="291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1843">
                                            <p:txEl>
                                              <p:pRg st="3" end="3"/>
                                            </p:txEl>
                                          </p:spTgt>
                                        </p:tgtEl>
                                        <p:attrNameLst>
                                          <p:attrName>style.visibility</p:attrName>
                                        </p:attrNameLst>
                                      </p:cBhvr>
                                      <p:to>
                                        <p:strVal val="visible"/>
                                      </p:to>
                                    </p:set>
                                    <p:animEffect transition="in" filter="wipe(up)">
                                      <p:cBhvr>
                                        <p:cTn id="22" dur="500"/>
                                        <p:tgtEl>
                                          <p:spTgt spid="291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91843">
                                            <p:txEl>
                                              <p:pRg st="4" end="4"/>
                                            </p:txEl>
                                          </p:spTgt>
                                        </p:tgtEl>
                                        <p:attrNameLst>
                                          <p:attrName>style.visibility</p:attrName>
                                        </p:attrNameLst>
                                      </p:cBhvr>
                                      <p:to>
                                        <p:strVal val="visible"/>
                                      </p:to>
                                    </p:set>
                                    <p:animEffect transition="in" filter="wipe(up)">
                                      <p:cBhvr>
                                        <p:cTn id="27" dur="500"/>
                                        <p:tgtEl>
                                          <p:spTgt spid="291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91843" name="Rectangle 3"/>
          <p:cNvSpPr>
            <a:spLocks noGrp="1" noChangeArrowheads="1"/>
          </p:cNvSpPr>
          <p:nvPr>
            <p:ph type="body" idx="1"/>
          </p:nvPr>
        </p:nvSpPr>
        <p:spPr>
          <a:xfrm>
            <a:off x="611505" y="1557020"/>
            <a:ext cx="8001000" cy="4114800"/>
          </a:xfrm>
        </p:spPr>
        <p:txBody>
          <a:bodyPr/>
          <a:lstStyle/>
          <a:p>
            <a:pPr eaLnBrk="1" hangingPunct="1">
              <a:lnSpc>
                <a:spcPct val="150000"/>
              </a:lnSpc>
              <a:buFont typeface="Wingdings" panose="05000000000000000000" pitchFamily="2" charset="2"/>
              <a:buChar char="Ø"/>
              <a:defRPr/>
            </a:pPr>
            <a:r>
              <a:rPr lang="zh-CN" altLang="en-US" sz="2400" b="1" dirty="0">
                <a:solidFill>
                  <a:schemeClr val="tx2"/>
                </a:solidFill>
                <a:latin typeface="Times New Roman" panose="02020603050405020304" pitchFamily="18" charset="0"/>
              </a:rPr>
              <a:t>思路：在数字信号处理中，</a:t>
            </a:r>
            <a:r>
              <a:rPr lang="zh-CN" altLang="en-US" sz="2400" b="1" dirty="0">
                <a:solidFill>
                  <a:srgbClr val="0070C0"/>
                </a:solidFill>
                <a:latin typeface="Times New Roman" panose="02020603050405020304" pitchFamily="18" charset="0"/>
              </a:rPr>
              <a:t>一个</a:t>
            </a:r>
            <a:r>
              <a:rPr lang="en-US" altLang="zh-CN" sz="2400" b="1" dirty="0">
                <a:solidFill>
                  <a:srgbClr val="0070C0"/>
                </a:solidFill>
                <a:latin typeface="Times New Roman" panose="02020603050405020304" pitchFamily="18" charset="0"/>
              </a:rPr>
              <a:t>AR</a:t>
            </a:r>
            <a:r>
              <a:rPr lang="zh-CN" altLang="en-US" sz="2400" b="1" dirty="0">
                <a:solidFill>
                  <a:srgbClr val="0070C0"/>
                </a:solidFill>
                <a:latin typeface="Times New Roman" panose="02020603050405020304" pitchFamily="18" charset="0"/>
              </a:rPr>
              <a:t>模型</a:t>
            </a:r>
            <a:r>
              <a:rPr lang="zh-CN" altLang="en-US" sz="2400" b="1" dirty="0">
                <a:solidFill>
                  <a:schemeClr val="tx2"/>
                </a:solidFill>
                <a:latin typeface="Times New Roman" panose="02020603050405020304" pitchFamily="18" charset="0"/>
              </a:rPr>
              <a:t>与一个</a:t>
            </a:r>
            <a:r>
              <a:rPr lang="zh-CN" altLang="en-US" sz="2400" b="1" dirty="0">
                <a:solidFill>
                  <a:srgbClr val="0070C0"/>
                </a:solidFill>
                <a:latin typeface="Times New Roman" panose="02020603050405020304" pitchFamily="18" charset="0"/>
              </a:rPr>
              <a:t>最佳的线形预测器</a:t>
            </a:r>
            <a:r>
              <a:rPr lang="zh-CN" altLang="en-US" sz="2400" b="1" dirty="0">
                <a:solidFill>
                  <a:schemeClr val="tx2"/>
                </a:solidFill>
                <a:latin typeface="Times New Roman" panose="02020603050405020304" pitchFamily="18" charset="0"/>
              </a:rPr>
              <a:t>是等价的，也就是说，用</a:t>
            </a:r>
            <a:r>
              <a:rPr lang="en-US" altLang="zh-CN" sz="2400" b="1" dirty="0">
                <a:solidFill>
                  <a:schemeClr val="tx2"/>
                </a:solidFill>
                <a:latin typeface="Times New Roman" panose="02020603050405020304" pitchFamily="18" charset="0"/>
              </a:rPr>
              <a:t>AR</a:t>
            </a:r>
            <a:r>
              <a:rPr lang="zh-CN" altLang="en-US" sz="2400" b="1" dirty="0">
                <a:solidFill>
                  <a:schemeClr val="tx2"/>
                </a:solidFill>
                <a:latin typeface="Times New Roman" panose="02020603050405020304" pitchFamily="18" charset="0"/>
              </a:rPr>
              <a:t>模型的系数</a:t>
            </a:r>
            <a:r>
              <a:rPr lang="en-US" altLang="zh-CN" sz="2400" i="1" dirty="0" err="1">
                <a:solidFill>
                  <a:schemeClr val="tx2"/>
                </a:solidFill>
                <a:latin typeface="Times New Roman" panose="02020603050405020304" pitchFamily="18" charset="0"/>
              </a:rPr>
              <a:t>a</a:t>
            </a:r>
            <a:r>
              <a:rPr lang="en-US" altLang="zh-CN" sz="2400" i="1" baseline="-25000" dirty="0" err="1">
                <a:solidFill>
                  <a:schemeClr val="tx2"/>
                </a:solidFill>
                <a:latin typeface="Times New Roman" panose="02020603050405020304" pitchFamily="18" charset="0"/>
              </a:rPr>
              <a:t>i</a:t>
            </a:r>
            <a:r>
              <a:rPr lang="zh-CN" altLang="en-US" sz="2400" b="1" dirty="0">
                <a:solidFill>
                  <a:schemeClr val="tx2"/>
                </a:solidFill>
                <a:latin typeface="Times New Roman" panose="02020603050405020304" pitchFamily="18" charset="0"/>
              </a:rPr>
              <a:t>构造的预测器必然是最佳预测器，即</a:t>
            </a:r>
            <a:r>
              <a:rPr lang="zh-CN" altLang="en-US" sz="2400" b="1" dirty="0">
                <a:solidFill>
                  <a:schemeClr val="tx2"/>
                </a:solidFill>
                <a:latin typeface="宋体" panose="02010600030101010101" pitchFamily="2" charset="-122"/>
              </a:rPr>
              <a:t>在最小均方意义上</a:t>
            </a:r>
            <a:r>
              <a:rPr lang="zh-CN" altLang="en-US" sz="2400" b="1" dirty="0">
                <a:solidFill>
                  <a:schemeClr val="tx2"/>
                </a:solidFill>
                <a:latin typeface="Times New Roman" panose="02020603050405020304" pitchFamily="18" charset="0"/>
              </a:rPr>
              <a:t> ，预测误差能量最小。因此从</a:t>
            </a:r>
            <a:r>
              <a:rPr lang="en-US" altLang="zh-CN" sz="2400" i="1" dirty="0">
                <a:solidFill>
                  <a:schemeClr val="tx2"/>
                </a:solidFill>
                <a:latin typeface="Times New Roman" panose="02020603050405020304" pitchFamily="18" charset="0"/>
              </a:rPr>
              <a:t>x</a:t>
            </a:r>
            <a:r>
              <a:rPr lang="en-US" altLang="zh-CN" sz="2400" dirty="0">
                <a:solidFill>
                  <a:schemeClr val="tx2"/>
                </a:solidFill>
                <a:latin typeface="Times New Roman" panose="02020603050405020304" pitchFamily="18" charset="0"/>
              </a:rPr>
              <a:t>(</a:t>
            </a:r>
            <a:r>
              <a:rPr lang="en-US" altLang="zh-CN" sz="2400" i="1" dirty="0">
                <a:solidFill>
                  <a:schemeClr val="tx2"/>
                </a:solidFill>
                <a:latin typeface="Times New Roman" panose="02020603050405020304" pitchFamily="18" charset="0"/>
              </a:rPr>
              <a:t>n</a:t>
            </a:r>
            <a:r>
              <a:rPr lang="en-US" altLang="zh-CN" sz="2400" b="1" dirty="0">
                <a:solidFill>
                  <a:schemeClr val="tx2"/>
                </a:solidFill>
                <a:latin typeface="Times New Roman" panose="02020603050405020304" pitchFamily="18" charset="0"/>
              </a:rPr>
              <a:t>)</a:t>
            </a:r>
            <a:r>
              <a:rPr lang="zh-CN" altLang="en-US" sz="2400" b="1" dirty="0">
                <a:solidFill>
                  <a:schemeClr val="tx2"/>
                </a:solidFill>
                <a:latin typeface="Times New Roman" panose="02020603050405020304" pitchFamily="18" charset="0"/>
              </a:rPr>
              <a:t>出发，寻找其最佳预测器，从而得到系数</a:t>
            </a:r>
            <a:r>
              <a:rPr lang="en-US" altLang="zh-CN" sz="2400" i="1" dirty="0" err="1">
                <a:solidFill>
                  <a:schemeClr val="tx2"/>
                </a:solidFill>
                <a:latin typeface="Times New Roman" panose="02020603050405020304" pitchFamily="18" charset="0"/>
              </a:rPr>
              <a:t>a</a:t>
            </a:r>
            <a:r>
              <a:rPr lang="en-US" altLang="zh-CN" sz="2400" i="1" baseline="-25000" dirty="0" err="1">
                <a:solidFill>
                  <a:schemeClr val="tx2"/>
                </a:solidFill>
                <a:latin typeface="Times New Roman" panose="02020603050405020304" pitchFamily="18" charset="0"/>
              </a:rPr>
              <a:t>i</a:t>
            </a:r>
            <a:r>
              <a:rPr lang="en-US" altLang="zh-CN" sz="2400" b="1" baseline="-25000" dirty="0">
                <a:solidFill>
                  <a:schemeClr val="tx2"/>
                </a:solidFill>
                <a:latin typeface="Times New Roman" panose="02020603050405020304" pitchFamily="18" charset="0"/>
              </a:rPr>
              <a:t>。</a:t>
            </a:r>
            <a:endParaRPr lang="en-US" altLang="zh-CN" sz="2400" b="1" baseline="-2500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defRPr/>
            </a:pPr>
            <a:r>
              <a:rPr lang="zh-CN" altLang="en-US" sz="2400" b="1" dirty="0">
                <a:solidFill>
                  <a:schemeClr val="tx2"/>
                </a:solidFill>
                <a:latin typeface="宋体" panose="02010600030101010101" pitchFamily="2" charset="-122"/>
                <a:ea typeface="宋体" panose="02010600030101010101" pitchFamily="2" charset="-122"/>
              </a:rPr>
              <a:t>可以理解为：人类发声时，使用了尽可能小的能量。</a:t>
            </a:r>
            <a:endParaRPr lang="en-US" altLang="zh-CN" sz="2400" b="1" baseline="-2500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defRPr/>
            </a:pPr>
            <a:r>
              <a:rPr lang="zh-CN" altLang="en-US" sz="2400" b="1" dirty="0">
                <a:solidFill>
                  <a:schemeClr val="tx2"/>
                </a:solidFill>
                <a:latin typeface="Times New Roman" panose="02020603050405020304" pitchFamily="18" charset="0"/>
              </a:rPr>
              <a:t>系数被称为</a:t>
            </a:r>
            <a:r>
              <a:rPr lang="zh-CN" altLang="en-US" sz="2400" b="1" dirty="0">
                <a:solidFill>
                  <a:srgbClr val="0070C0"/>
                </a:solidFill>
                <a:latin typeface="Times New Roman" panose="02020603050405020304" pitchFamily="18" charset="0"/>
              </a:rPr>
              <a:t>线性预测系数</a:t>
            </a:r>
            <a:r>
              <a:rPr lang="zh-CN" altLang="en-US" sz="2400" b="1" dirty="0">
                <a:solidFill>
                  <a:schemeClr val="tx2"/>
                </a:solidFill>
                <a:latin typeface="Times New Roman" panose="02020603050405020304" pitchFamily="18" charset="0"/>
              </a:rPr>
              <a:t>或</a:t>
            </a:r>
            <a:r>
              <a:rPr lang="en-US" altLang="zh-CN" sz="2400" b="1" dirty="0">
                <a:solidFill>
                  <a:srgbClr val="0070C0"/>
                </a:solidFill>
                <a:latin typeface="Times New Roman" panose="02020603050405020304" pitchFamily="18" charset="0"/>
              </a:rPr>
              <a:t>LPC</a:t>
            </a:r>
            <a:r>
              <a:rPr lang="zh-CN" altLang="en-US" sz="2400" b="1" dirty="0">
                <a:solidFill>
                  <a:srgbClr val="0070C0"/>
                </a:solidFill>
                <a:latin typeface="Times New Roman" panose="02020603050405020304" pitchFamily="18" charset="0"/>
              </a:rPr>
              <a:t>系数</a:t>
            </a:r>
            <a:r>
              <a:rPr lang="zh-CN" altLang="en-US" sz="2400" b="1" dirty="0">
                <a:solidFill>
                  <a:schemeClr val="tx2"/>
                </a:solidFill>
                <a:latin typeface="Times New Roman" panose="02020603050405020304" pitchFamily="18" charset="0"/>
              </a:rPr>
              <a:t>。</a:t>
            </a:r>
            <a:endParaRPr lang="zh-CN" altLang="en-US" sz="2400" b="1" dirty="0">
              <a:solidFill>
                <a:schemeClr val="tx2"/>
              </a:solidFill>
              <a:latin typeface="Times New Roman" panose="02020603050405020304" pitchFamily="18" charset="0"/>
            </a:endParaRPr>
          </a:p>
          <a:p>
            <a:pPr marL="0" indent="0" eaLnBrk="1" hangingPunct="1">
              <a:buFontTx/>
              <a:buNone/>
              <a:defRPr/>
            </a:pPr>
            <a:endParaRPr lang="zh-CN" altLang="en-US" sz="2400" b="1" dirty="0">
              <a:solidFill>
                <a:schemeClr val="tx2"/>
              </a:solidFill>
              <a:latin typeface="Times New Roman" panose="02020603050405020304" pitchFamily="18" charset="0"/>
            </a:endParaRPr>
          </a:p>
        </p:txBody>
      </p:sp>
      <p:sp>
        <p:nvSpPr>
          <p:cNvPr id="64516" name="Rectangle 4"/>
          <p:cNvSpPr>
            <a:spLocks noChangeArrowheads="1"/>
          </p:cNvSpPr>
          <p:nvPr/>
        </p:nvSpPr>
        <p:spPr bwMode="auto">
          <a:xfrm>
            <a:off x="409098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4517" name="Rectangle 7"/>
          <p:cNvSpPr>
            <a:spLocks noChangeArrowheads="1"/>
          </p:cNvSpPr>
          <p:nvPr/>
        </p:nvSpPr>
        <p:spPr bwMode="auto">
          <a:xfrm>
            <a:off x="397668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wipe(up)">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wipe(up)">
                                      <p:cBhvr>
                                        <p:cTn id="12" dur="500"/>
                                        <p:tgtEl>
                                          <p:spTgt spid="291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1843">
                                            <p:txEl>
                                              <p:pRg st="2" end="2"/>
                                            </p:txEl>
                                          </p:spTgt>
                                        </p:tgtEl>
                                        <p:attrNameLst>
                                          <p:attrName>style.visibility</p:attrName>
                                        </p:attrNameLst>
                                      </p:cBhvr>
                                      <p:to>
                                        <p:strVal val="visible"/>
                                      </p:to>
                                    </p:set>
                                    <p:animEffect transition="in" filter="wipe(up)">
                                      <p:cBhvr>
                                        <p:cTn id="17" dur="500"/>
                                        <p:tgtEl>
                                          <p:spTgt spid="291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93891" name="Rectangle 3"/>
          <p:cNvSpPr>
            <a:spLocks noGrp="1" noChangeArrowheads="1"/>
          </p:cNvSpPr>
          <p:nvPr>
            <p:ph type="body" idx="1"/>
          </p:nvPr>
        </p:nvSpPr>
        <p:spPr>
          <a:xfrm>
            <a:off x="457200" y="1600200"/>
            <a:ext cx="4679950" cy="503238"/>
          </a:xfrm>
        </p:spPr>
        <p:txBody>
          <a:bodyPr/>
          <a:lstStyle/>
          <a:p>
            <a:pPr eaLnBrk="1" hangingPunct="1">
              <a:buFontTx/>
              <a:buNone/>
            </a:pPr>
            <a:r>
              <a:rPr lang="zh-CN" altLang="en-US" sz="2400" b="1">
                <a:solidFill>
                  <a:schemeClr val="tx2"/>
                </a:solidFill>
                <a:latin typeface="宋体" panose="02010600030101010101" pitchFamily="2" charset="-122"/>
              </a:rPr>
              <a:t>预测误差</a:t>
            </a:r>
            <a:r>
              <a:rPr lang="zh-CN" altLang="en-US" sz="2400" b="1">
                <a:solidFill>
                  <a:schemeClr val="tx2"/>
                </a:solidFill>
              </a:rPr>
              <a:t> ：</a:t>
            </a:r>
            <a:endParaRPr lang="en-US" altLang="zh-CN" sz="2400" b="1">
              <a:solidFill>
                <a:schemeClr val="tx2"/>
              </a:solidFill>
            </a:endParaRPr>
          </a:p>
          <a:p>
            <a:pPr eaLnBrk="1" hangingPunct="1">
              <a:buFontTx/>
              <a:buNone/>
            </a:pPr>
            <a:endParaRPr lang="en-US" altLang="zh-CN" sz="2400" b="1">
              <a:solidFill>
                <a:schemeClr val="tx2"/>
              </a:solidFill>
            </a:endParaRPr>
          </a:p>
        </p:txBody>
      </p:sp>
      <p:sp>
        <p:nvSpPr>
          <p:cNvPr id="66564" name="Rectangle 4"/>
          <p:cNvSpPr>
            <a:spLocks noChangeArrowheads="1"/>
          </p:cNvSpPr>
          <p:nvPr/>
        </p:nvSpPr>
        <p:spPr bwMode="auto">
          <a:xfrm>
            <a:off x="337185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3893" name="Object 5"/>
          <p:cNvGraphicFramePr>
            <a:graphicFrameLocks noChangeAspect="1"/>
          </p:cNvGraphicFramePr>
          <p:nvPr/>
        </p:nvGraphicFramePr>
        <p:xfrm>
          <a:off x="2679700" y="2032000"/>
          <a:ext cx="4191000" cy="749300"/>
        </p:xfrm>
        <a:graphic>
          <a:graphicData uri="http://schemas.openxmlformats.org/presentationml/2006/ole">
            <mc:AlternateContent xmlns:mc="http://schemas.openxmlformats.org/markup-compatibility/2006">
              <mc:Choice xmlns:v="urn:schemas-microsoft-com:vml" Requires="v">
                <p:oleObj spid="_x0000_s66606" name="" r:id="rId1" imgW="2400300" imgH="431800" progId="Equation.3">
                  <p:embed/>
                </p:oleObj>
              </mc:Choice>
              <mc:Fallback>
                <p:oleObj name="" r:id="rId1" imgW="24003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9700" y="2032000"/>
                        <a:ext cx="4191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6" name="Rectangle 6"/>
          <p:cNvSpPr>
            <a:spLocks noChangeArrowheads="1"/>
          </p:cNvSpPr>
          <p:nvPr/>
        </p:nvSpPr>
        <p:spPr bwMode="auto">
          <a:xfrm>
            <a:off x="370046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3899" name="Text Box 11"/>
          <p:cNvSpPr txBox="1">
            <a:spLocks noChangeArrowheads="1"/>
          </p:cNvSpPr>
          <p:nvPr/>
        </p:nvSpPr>
        <p:spPr bwMode="auto">
          <a:xfrm>
            <a:off x="500063" y="2789238"/>
            <a:ext cx="287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短时预测均方误差:</a:t>
            </a:r>
            <a:r>
              <a:rPr kumimoji="1" lang="zh-CN" altLang="en-US" sz="2400" b="1">
                <a:solidFill>
                  <a:schemeClr val="tx2"/>
                </a:solidFill>
              </a:rPr>
              <a:t> </a:t>
            </a:r>
            <a:endParaRPr kumimoji="1" lang="zh-CN" altLang="en-US" sz="2400" b="1">
              <a:solidFill>
                <a:schemeClr val="tx2"/>
              </a:solidFill>
            </a:endParaRPr>
          </a:p>
        </p:txBody>
      </p:sp>
      <p:sp>
        <p:nvSpPr>
          <p:cNvPr id="66568" name="Rectangle 12"/>
          <p:cNvSpPr>
            <a:spLocks noChangeArrowheads="1"/>
          </p:cNvSpPr>
          <p:nvPr/>
        </p:nvSpPr>
        <p:spPr bwMode="auto">
          <a:xfrm>
            <a:off x="276225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3901" name="Object 13"/>
          <p:cNvGraphicFramePr>
            <a:graphicFrameLocks noChangeAspect="1"/>
          </p:cNvGraphicFramePr>
          <p:nvPr/>
        </p:nvGraphicFramePr>
        <p:xfrm>
          <a:off x="1907540" y="3262313"/>
          <a:ext cx="5791200" cy="685800"/>
        </p:xfrm>
        <a:graphic>
          <a:graphicData uri="http://schemas.openxmlformats.org/presentationml/2006/ole">
            <mc:AlternateContent xmlns:mc="http://schemas.openxmlformats.org/markup-compatibility/2006">
              <mc:Choice xmlns:v="urn:schemas-microsoft-com:vml" Requires="v">
                <p:oleObj spid="_x0000_s66607" name="" r:id="rId3" imgW="3619500" imgH="431800" progId="Equation.3">
                  <p:embed/>
                </p:oleObj>
              </mc:Choice>
              <mc:Fallback>
                <p:oleObj name="" r:id="rId3" imgW="36195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540" y="3262313"/>
                        <a:ext cx="5791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70" name="Rectangle 14"/>
          <p:cNvSpPr>
            <a:spLocks noChangeArrowheads="1"/>
          </p:cNvSpPr>
          <p:nvPr/>
        </p:nvSpPr>
        <p:spPr bwMode="auto">
          <a:xfrm>
            <a:off x="276225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3903" name="Rectangle 15"/>
          <p:cNvSpPr>
            <a:spLocks noChangeArrowheads="1"/>
          </p:cNvSpPr>
          <p:nvPr/>
        </p:nvSpPr>
        <p:spPr bwMode="auto">
          <a:xfrm>
            <a:off x="533400" y="4343400"/>
            <a:ext cx="3505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5"/>
              </a:buBlip>
            </a:pPr>
            <a:r>
              <a:rPr kumimoji="1" lang="zh-CN" altLang="en-US" sz="2400" b="1">
                <a:solidFill>
                  <a:schemeClr val="tx2"/>
                </a:solidFill>
              </a:rPr>
              <a:t>求解过程</a:t>
            </a:r>
            <a:endParaRPr kumimoji="1" lang="zh-CN" altLang="en-US" sz="2400" b="1">
              <a:solidFill>
                <a:schemeClr val="tx2"/>
              </a:solidFill>
            </a:endParaRPr>
          </a:p>
          <a:p>
            <a:pPr eaLnBrk="1" hangingPunct="1">
              <a:buSzPct val="80000"/>
              <a:buFontTx/>
              <a:buNone/>
            </a:pPr>
            <a:endParaRPr kumimoji="1" lang="zh-CN" altLang="en-US" sz="2400" b="1">
              <a:solidFill>
                <a:schemeClr val="tx2"/>
              </a:solidFill>
            </a:endParaRPr>
          </a:p>
          <a:p>
            <a:pPr eaLnBrk="1" hangingPunct="1">
              <a:buSzPct val="80000"/>
              <a:buFontTx/>
              <a:buNone/>
            </a:pPr>
            <a:r>
              <a:rPr kumimoji="1" lang="zh-CN" altLang="en-US" sz="2400" b="1">
                <a:solidFill>
                  <a:schemeClr val="tx2"/>
                </a:solidFill>
              </a:rPr>
              <a:t>  </a:t>
            </a:r>
            <a:endParaRPr kumimoji="1" lang="zh-CN" altLang="en-US" sz="2400" b="1">
              <a:solidFill>
                <a:schemeClr val="tx2"/>
              </a:solidFill>
            </a:endParaRPr>
          </a:p>
        </p:txBody>
      </p:sp>
      <p:sp>
        <p:nvSpPr>
          <p:cNvPr id="66572" name="Rectangle 16"/>
          <p:cNvSpPr>
            <a:spLocks noChangeArrowheads="1"/>
          </p:cNvSpPr>
          <p:nvPr/>
        </p:nvSpPr>
        <p:spPr bwMode="auto">
          <a:xfrm>
            <a:off x="37099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3905" name="Object 17"/>
          <p:cNvGraphicFramePr>
            <a:graphicFrameLocks noChangeAspect="1"/>
          </p:cNvGraphicFramePr>
          <p:nvPr/>
        </p:nvGraphicFramePr>
        <p:xfrm>
          <a:off x="1447800" y="4938713"/>
          <a:ext cx="2514600" cy="333375"/>
        </p:xfrm>
        <a:graphic>
          <a:graphicData uri="http://schemas.openxmlformats.org/presentationml/2006/ole">
            <mc:AlternateContent xmlns:mc="http://schemas.openxmlformats.org/markup-compatibility/2006">
              <mc:Choice xmlns:v="urn:schemas-microsoft-com:vml" Requires="v">
                <p:oleObj spid="_x0000_s66608" name="" r:id="rId6" imgW="1727200" imgH="228600" progId="Equation.3">
                  <p:embed/>
                </p:oleObj>
              </mc:Choice>
              <mc:Fallback>
                <p:oleObj name="" r:id="rId6" imgW="1727200" imgH="22860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4938713"/>
                        <a:ext cx="2514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3906" name="Text Box 18"/>
          <p:cNvSpPr txBox="1">
            <a:spLocks noChangeArrowheads="1"/>
          </p:cNvSpPr>
          <p:nvPr/>
        </p:nvSpPr>
        <p:spPr bwMode="auto">
          <a:xfrm>
            <a:off x="838200" y="4876800"/>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使</a:t>
            </a:r>
            <a:endParaRPr kumimoji="1" lang="zh-CN" altLang="en-US" sz="2400" b="1">
              <a:solidFill>
                <a:schemeClr val="tx2"/>
              </a:solidFill>
            </a:endParaRPr>
          </a:p>
        </p:txBody>
      </p:sp>
      <p:sp>
        <p:nvSpPr>
          <p:cNvPr id="293907" name="Text Box 19"/>
          <p:cNvSpPr txBox="1">
            <a:spLocks noChangeArrowheads="1"/>
          </p:cNvSpPr>
          <p:nvPr/>
        </p:nvSpPr>
        <p:spPr bwMode="auto">
          <a:xfrm>
            <a:off x="3929063" y="48768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则有：</a:t>
            </a:r>
            <a:endParaRPr kumimoji="1" lang="zh-CN" altLang="en-US" sz="2400" b="1">
              <a:solidFill>
                <a:schemeClr val="tx2"/>
              </a:solidFill>
            </a:endParaRPr>
          </a:p>
        </p:txBody>
      </p:sp>
      <p:sp>
        <p:nvSpPr>
          <p:cNvPr id="66576" name="Rectangle 20"/>
          <p:cNvSpPr>
            <a:spLocks noChangeArrowheads="1"/>
          </p:cNvSpPr>
          <p:nvPr/>
        </p:nvSpPr>
        <p:spPr bwMode="auto">
          <a:xfrm>
            <a:off x="2947988"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3909" name="Object 21"/>
          <p:cNvGraphicFramePr>
            <a:graphicFrameLocks noChangeAspect="1"/>
          </p:cNvGraphicFramePr>
          <p:nvPr/>
        </p:nvGraphicFramePr>
        <p:xfrm>
          <a:off x="2139950" y="5410042"/>
          <a:ext cx="5092700" cy="725805"/>
        </p:xfrm>
        <a:graphic>
          <a:graphicData uri="http://schemas.openxmlformats.org/presentationml/2006/ole">
            <mc:AlternateContent xmlns:mc="http://schemas.openxmlformats.org/markup-compatibility/2006">
              <mc:Choice xmlns:v="urn:schemas-microsoft-com:vml" Requires="v">
                <p:oleObj spid="_x0000_s66609" name="Equation" r:id="rId8" imgW="3148965" imgH="444500" progId="Equation.DSMT4">
                  <p:embed/>
                </p:oleObj>
              </mc:Choice>
              <mc:Fallback>
                <p:oleObj name="Equation" r:id="rId8" imgW="3148965" imgH="444500" progId="Equation.DSMT4">
                  <p:embed/>
                  <p:pic>
                    <p:nvPicPr>
                      <p:cNvPr id="0" name="Object 21"/>
                      <p:cNvPicPr>
                        <a:picLocks noChangeAspect="1" noChangeArrowheads="1"/>
                      </p:cNvPicPr>
                      <p:nvPr/>
                    </p:nvPicPr>
                    <p:blipFill>
                      <a:blip r:embed="rId9"/>
                      <a:srcRect/>
                      <a:stretch>
                        <a:fillRect/>
                      </a:stretch>
                    </p:blipFill>
                    <p:spPr bwMode="auto">
                      <a:xfrm>
                        <a:off x="2139950" y="5410042"/>
                        <a:ext cx="5092700" cy="72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3"/>
          <p:cNvGraphicFramePr>
            <a:graphicFrameLocks noChangeAspect="1"/>
          </p:cNvGraphicFramePr>
          <p:nvPr/>
        </p:nvGraphicFramePr>
        <p:xfrm>
          <a:off x="2670175" y="3948748"/>
          <a:ext cx="4998720" cy="726440"/>
        </p:xfrm>
        <a:graphic>
          <a:graphicData uri="http://schemas.openxmlformats.org/presentationml/2006/ole">
            <mc:AlternateContent xmlns:mc="http://schemas.openxmlformats.org/markup-compatibility/2006">
              <mc:Choice xmlns:v="urn:schemas-microsoft-com:vml" Requires="v">
                <p:oleObj spid="_x0000_s3" name="" r:id="rId10" imgW="3124200" imgH="457200" progId="Equation.3">
                  <p:embed/>
                </p:oleObj>
              </mc:Choice>
              <mc:Fallback>
                <p:oleObj name="" r:id="rId10" imgW="3124200" imgH="457200" progId="Equation.3">
                  <p:embed/>
                  <p:pic>
                    <p:nvPicPr>
                      <p:cNvPr id="0" name="Object 13"/>
                      <p:cNvPicPr>
                        <a:picLocks noChangeAspect="1" noChangeArrowheads="1"/>
                      </p:cNvPicPr>
                      <p:nvPr/>
                    </p:nvPicPr>
                    <p:blipFill>
                      <a:blip r:embed="rId11"/>
                      <a:srcRect/>
                      <a:stretch>
                        <a:fillRect/>
                      </a:stretch>
                    </p:blipFill>
                    <p:spPr bwMode="auto">
                      <a:xfrm>
                        <a:off x="2670175" y="3948748"/>
                        <a:ext cx="4998720" cy="72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3893"/>
                                        </p:tgtEl>
                                        <p:attrNameLst>
                                          <p:attrName>style.visibility</p:attrName>
                                        </p:attrNameLst>
                                      </p:cBhvr>
                                      <p:to>
                                        <p:strVal val="visible"/>
                                      </p:to>
                                    </p:set>
                                    <p:animEffect transition="in" filter="wipe(up)">
                                      <p:cBhvr>
                                        <p:cTn id="7" dur="500"/>
                                        <p:tgtEl>
                                          <p:spTgt spid="29389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3891">
                                            <p:txEl>
                                              <p:pRg st="0" end="0"/>
                                            </p:txEl>
                                          </p:spTgt>
                                        </p:tgtEl>
                                        <p:attrNameLst>
                                          <p:attrName>style.visibility</p:attrName>
                                        </p:attrNameLst>
                                      </p:cBhvr>
                                      <p:to>
                                        <p:strVal val="visible"/>
                                      </p:to>
                                    </p:set>
                                    <p:animEffect transition="in" filter="wipe(up)">
                                      <p:cBhvr>
                                        <p:cTn id="10" dur="500"/>
                                        <p:tgtEl>
                                          <p:spTgt spid="29389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93899"/>
                                        </p:tgtEl>
                                        <p:attrNameLst>
                                          <p:attrName>style.visibility</p:attrName>
                                        </p:attrNameLst>
                                      </p:cBhvr>
                                      <p:to>
                                        <p:strVal val="visible"/>
                                      </p:to>
                                    </p:set>
                                    <p:animEffect transition="in" filter="wipe(up)">
                                      <p:cBhvr>
                                        <p:cTn id="15" dur="500"/>
                                        <p:tgtEl>
                                          <p:spTgt spid="293899"/>
                                        </p:tgtEl>
                                      </p:cBhvr>
                                    </p:animEffect>
                                  </p:childTnLst>
                                </p:cTn>
                              </p:par>
                              <p:par>
                                <p:cTn id="16" presetID="22" presetClass="entr" presetSubtype="1" fill="hold" nodeType="withEffect">
                                  <p:stCondLst>
                                    <p:cond delay="0"/>
                                  </p:stCondLst>
                                  <p:childTnLst>
                                    <p:set>
                                      <p:cBhvr>
                                        <p:cTn id="17" dur="1" fill="hold">
                                          <p:stCondLst>
                                            <p:cond delay="0"/>
                                          </p:stCondLst>
                                        </p:cTn>
                                        <p:tgtEl>
                                          <p:spTgt spid="293901"/>
                                        </p:tgtEl>
                                        <p:attrNameLst>
                                          <p:attrName>style.visibility</p:attrName>
                                        </p:attrNameLst>
                                      </p:cBhvr>
                                      <p:to>
                                        <p:strVal val="visible"/>
                                      </p:to>
                                    </p:set>
                                    <p:animEffect transition="in" filter="wipe(up)">
                                      <p:cBhvr>
                                        <p:cTn id="18" dur="500"/>
                                        <p:tgtEl>
                                          <p:spTgt spid="293901"/>
                                        </p:tgtEl>
                                      </p:cBhvr>
                                    </p:animEffect>
                                  </p:childTnLst>
                                </p:cTn>
                              </p:par>
                              <p:par>
                                <p:cTn id="19" presetID="22" presetClass="entr" presetSubtype="1"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93903"/>
                                        </p:tgtEl>
                                        <p:attrNameLst>
                                          <p:attrName>style.visibility</p:attrName>
                                        </p:attrNameLst>
                                      </p:cBhvr>
                                      <p:to>
                                        <p:strVal val="visible"/>
                                      </p:to>
                                    </p:set>
                                    <p:animEffect transition="in" filter="wipe(up)">
                                      <p:cBhvr>
                                        <p:cTn id="26" dur="500"/>
                                        <p:tgtEl>
                                          <p:spTgt spid="29390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93905"/>
                                        </p:tgtEl>
                                        <p:attrNameLst>
                                          <p:attrName>style.visibility</p:attrName>
                                        </p:attrNameLst>
                                      </p:cBhvr>
                                      <p:to>
                                        <p:strVal val="visible"/>
                                      </p:to>
                                    </p:set>
                                    <p:animEffect transition="in" filter="wipe(up)">
                                      <p:cBhvr>
                                        <p:cTn id="31" dur="500"/>
                                        <p:tgtEl>
                                          <p:spTgt spid="29390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93906"/>
                                        </p:tgtEl>
                                        <p:attrNameLst>
                                          <p:attrName>style.visibility</p:attrName>
                                        </p:attrNameLst>
                                      </p:cBhvr>
                                      <p:to>
                                        <p:strVal val="visible"/>
                                      </p:to>
                                    </p:set>
                                    <p:animEffect transition="in" filter="wipe(up)">
                                      <p:cBhvr>
                                        <p:cTn id="34" dur="500"/>
                                        <p:tgtEl>
                                          <p:spTgt spid="293906"/>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293907"/>
                                        </p:tgtEl>
                                        <p:attrNameLst>
                                          <p:attrName>style.visibility</p:attrName>
                                        </p:attrNameLst>
                                      </p:cBhvr>
                                      <p:to>
                                        <p:strVal val="visible"/>
                                      </p:to>
                                    </p:set>
                                    <p:animEffect transition="in" filter="wipe(up)">
                                      <p:cBhvr>
                                        <p:cTn id="37" dur="500"/>
                                        <p:tgtEl>
                                          <p:spTgt spid="2939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93909"/>
                                        </p:tgtEl>
                                        <p:attrNameLst>
                                          <p:attrName>style.visibility</p:attrName>
                                        </p:attrNameLst>
                                      </p:cBhvr>
                                      <p:to>
                                        <p:strVal val="visible"/>
                                      </p:to>
                                    </p:set>
                                    <p:animEffect transition="in" filter="wipe(up)">
                                      <p:cBhvr>
                                        <p:cTn id="42" dur="500"/>
                                        <p:tgtEl>
                                          <p:spTgt spid="293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uild="p"/>
      <p:bldP spid="293899" grpId="0"/>
      <p:bldP spid="293903" grpId="0"/>
      <p:bldP spid="293906" grpId="0"/>
      <p:bldP spid="293907"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68611" name="Rectangle 3"/>
          <p:cNvSpPr>
            <a:spLocks noGrp="1" noChangeArrowheads="1"/>
          </p:cNvSpPr>
          <p:nvPr>
            <p:ph type="body" idx="1"/>
          </p:nvPr>
        </p:nvSpPr>
        <p:spPr/>
        <p:txBody>
          <a:bodyPr/>
          <a:lstStyle/>
          <a:p>
            <a:pPr eaLnBrk="1" hangingPunct="1">
              <a:buFontTx/>
              <a:buNone/>
            </a:pPr>
            <a:r>
              <a:rPr lang="zh-CN" altLang="en-US" sz="2400" b="1">
                <a:solidFill>
                  <a:schemeClr val="tx2"/>
                </a:solidFill>
                <a:latin typeface="Times New Roman" panose="02020603050405020304" pitchFamily="18" charset="0"/>
              </a:rPr>
              <a:t>得到线性方程组</a:t>
            </a:r>
            <a:endParaRPr lang="zh-CN" altLang="en-US" sz="2400" b="1">
              <a:solidFill>
                <a:schemeClr val="tx2"/>
              </a:solidFill>
              <a:latin typeface="Times New Roman" panose="02020603050405020304" pitchFamily="18" charset="0"/>
            </a:endParaRPr>
          </a:p>
        </p:txBody>
      </p:sp>
      <p:sp>
        <p:nvSpPr>
          <p:cNvPr id="68612" name="Rectangle 4"/>
          <p:cNvSpPr>
            <a:spLocks noChangeArrowheads="1"/>
          </p:cNvSpPr>
          <p:nvPr/>
        </p:nvSpPr>
        <p:spPr bwMode="auto">
          <a:xfrm>
            <a:off x="330993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5941" name="Object 5"/>
          <p:cNvGraphicFramePr>
            <a:graphicFrameLocks noChangeAspect="1"/>
          </p:cNvGraphicFramePr>
          <p:nvPr/>
        </p:nvGraphicFramePr>
        <p:xfrm>
          <a:off x="2133600" y="2403475"/>
          <a:ext cx="4240213" cy="720725"/>
        </p:xfrm>
        <a:graphic>
          <a:graphicData uri="http://schemas.openxmlformats.org/presentationml/2006/ole">
            <mc:AlternateContent xmlns:mc="http://schemas.openxmlformats.org/markup-compatibility/2006">
              <mc:Choice xmlns:v="urn:schemas-microsoft-com:vml" Requires="v">
                <p:oleObj spid="_x0000_s68665" name="" r:id="rId1" imgW="2527300" imgH="431800" progId="Equation.3">
                  <p:embed/>
                </p:oleObj>
              </mc:Choice>
              <mc:Fallback>
                <p:oleObj name="" r:id="rId1" imgW="25273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403475"/>
                        <a:ext cx="42402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4" name="Rectangle 6"/>
          <p:cNvSpPr>
            <a:spLocks noChangeArrowheads="1"/>
          </p:cNvSpPr>
          <p:nvPr/>
        </p:nvSpPr>
        <p:spPr bwMode="auto">
          <a:xfrm>
            <a:off x="41767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5943" name="Object 7"/>
          <p:cNvGraphicFramePr>
            <a:graphicFrameLocks noChangeAspect="1"/>
          </p:cNvGraphicFramePr>
          <p:nvPr/>
        </p:nvGraphicFramePr>
        <p:xfrm>
          <a:off x="6781800" y="2555875"/>
          <a:ext cx="1554163" cy="393700"/>
        </p:xfrm>
        <a:graphic>
          <a:graphicData uri="http://schemas.openxmlformats.org/presentationml/2006/ole">
            <mc:AlternateContent xmlns:mc="http://schemas.openxmlformats.org/markup-compatibility/2006">
              <mc:Choice xmlns:v="urn:schemas-microsoft-com:vml" Requires="v">
                <p:oleObj spid="_x0000_s68666" name="" r:id="rId3" imgW="786765" imgH="203200" progId="Equation.3">
                  <p:embed/>
                </p:oleObj>
              </mc:Choice>
              <mc:Fallback>
                <p:oleObj name="" r:id="rId3" imgW="786765" imgH="203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2555875"/>
                        <a:ext cx="15541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6" name="Rectangle 8"/>
          <p:cNvSpPr>
            <a:spLocks noChangeArrowheads="1"/>
          </p:cNvSpPr>
          <p:nvPr/>
        </p:nvSpPr>
        <p:spPr bwMode="auto">
          <a:xfrm>
            <a:off x="371475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8617" name="Rectangle 9"/>
          <p:cNvSpPr>
            <a:spLocks noChangeArrowheads="1"/>
          </p:cNvSpPr>
          <p:nvPr/>
        </p:nvSpPr>
        <p:spPr bwMode="auto">
          <a:xfrm>
            <a:off x="369093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10"/>
          <p:cNvGrpSpPr/>
          <p:nvPr/>
        </p:nvGrpSpPr>
        <p:grpSpPr bwMode="auto">
          <a:xfrm>
            <a:off x="822325" y="3284538"/>
            <a:ext cx="7483475" cy="649287"/>
            <a:chOff x="518" y="1933"/>
            <a:chExt cx="4714" cy="409"/>
          </a:xfrm>
        </p:grpSpPr>
        <p:graphicFrame>
          <p:nvGraphicFramePr>
            <p:cNvPr id="68627" name="Object 11"/>
            <p:cNvGraphicFramePr>
              <a:graphicFrameLocks noChangeAspect="1"/>
            </p:cNvGraphicFramePr>
            <p:nvPr/>
          </p:nvGraphicFramePr>
          <p:xfrm>
            <a:off x="1344" y="1968"/>
            <a:ext cx="1872" cy="374"/>
          </p:xfrm>
          <a:graphic>
            <a:graphicData uri="http://schemas.openxmlformats.org/presentationml/2006/ole">
              <mc:AlternateContent xmlns:mc="http://schemas.openxmlformats.org/markup-compatibility/2006">
                <mc:Choice xmlns:v="urn:schemas-microsoft-com:vml" Requires="v">
                  <p:oleObj spid="_x0000_s68667" name="" r:id="rId5" imgW="1714500" imgH="342900" progId="Equation.3">
                    <p:embed/>
                  </p:oleObj>
                </mc:Choice>
                <mc:Fallback>
                  <p:oleObj name="" r:id="rId5" imgW="1714500" imgH="3429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4" y="1968"/>
                          <a:ext cx="187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28" name="Text Box 12"/>
            <p:cNvSpPr txBox="1">
              <a:spLocks noChangeArrowheads="1"/>
            </p:cNvSpPr>
            <p:nvPr/>
          </p:nvSpPr>
          <p:spPr bwMode="auto">
            <a:xfrm>
              <a:off x="518" y="1933"/>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若定义</a:t>
              </a:r>
              <a:endParaRPr kumimoji="1" lang="zh-CN" altLang="en-US" sz="2400" b="1">
                <a:solidFill>
                  <a:schemeClr val="tx2"/>
                </a:solidFill>
              </a:endParaRPr>
            </a:p>
          </p:txBody>
        </p:sp>
        <p:graphicFrame>
          <p:nvGraphicFramePr>
            <p:cNvPr id="68629" name="Object 13"/>
            <p:cNvGraphicFramePr>
              <a:graphicFrameLocks noChangeAspect="1"/>
            </p:cNvGraphicFramePr>
            <p:nvPr/>
          </p:nvGraphicFramePr>
          <p:xfrm>
            <a:off x="3456" y="2016"/>
            <a:ext cx="1776" cy="221"/>
          </p:xfrm>
          <a:graphic>
            <a:graphicData uri="http://schemas.openxmlformats.org/presentationml/2006/ole">
              <mc:AlternateContent xmlns:mc="http://schemas.openxmlformats.org/markup-compatibility/2006">
                <mc:Choice xmlns:v="urn:schemas-microsoft-com:vml" Requires="v">
                  <p:oleObj spid="_x0000_s68668" name="" r:id="rId7" imgW="1764665" imgH="215900" progId="Equation.3">
                    <p:embed/>
                  </p:oleObj>
                </mc:Choice>
                <mc:Fallback>
                  <p:oleObj name="" r:id="rId7" imgW="1764665" imgH="2159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6" y="2016"/>
                          <a:ext cx="177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8619" name="Rectangle 14"/>
          <p:cNvSpPr>
            <a:spLocks noChangeArrowheads="1"/>
          </p:cNvSpPr>
          <p:nvPr/>
        </p:nvSpPr>
        <p:spPr bwMode="auto">
          <a:xfrm>
            <a:off x="391953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15"/>
          <p:cNvGrpSpPr/>
          <p:nvPr/>
        </p:nvGrpSpPr>
        <p:grpSpPr bwMode="auto">
          <a:xfrm>
            <a:off x="822325" y="4005263"/>
            <a:ext cx="5349875" cy="700087"/>
            <a:chOff x="518" y="2256"/>
            <a:chExt cx="3370" cy="441"/>
          </a:xfrm>
        </p:grpSpPr>
        <p:graphicFrame>
          <p:nvGraphicFramePr>
            <p:cNvPr id="68625" name="Object 16"/>
            <p:cNvGraphicFramePr>
              <a:graphicFrameLocks noChangeAspect="1"/>
            </p:cNvGraphicFramePr>
            <p:nvPr/>
          </p:nvGraphicFramePr>
          <p:xfrm>
            <a:off x="2544" y="2256"/>
            <a:ext cx="1344" cy="441"/>
          </p:xfrm>
          <a:graphic>
            <a:graphicData uri="http://schemas.openxmlformats.org/presentationml/2006/ole">
              <mc:AlternateContent xmlns:mc="http://schemas.openxmlformats.org/markup-compatibility/2006">
                <mc:Choice xmlns:v="urn:schemas-microsoft-com:vml" Requires="v">
                  <p:oleObj spid="_x0000_s68669" name="" r:id="rId9" imgW="1307465" imgH="431800" progId="Equation.3">
                    <p:embed/>
                  </p:oleObj>
                </mc:Choice>
                <mc:Fallback>
                  <p:oleObj name="" r:id="rId9" imgW="1307465" imgH="4318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4" y="2256"/>
                          <a:ext cx="1344"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26" name="Text Box 17"/>
            <p:cNvSpPr txBox="1">
              <a:spLocks noChangeArrowheads="1"/>
            </p:cNvSpPr>
            <p:nvPr/>
          </p:nvSpPr>
          <p:spPr bwMode="auto">
            <a:xfrm>
              <a:off x="518" y="2352"/>
              <a:ext cx="20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则方程组可简写为</a:t>
              </a:r>
              <a:endParaRPr kumimoji="1" lang="zh-CN" altLang="en-US" sz="2400" b="1">
                <a:solidFill>
                  <a:schemeClr val="tx2"/>
                </a:solidFill>
              </a:endParaRPr>
            </a:p>
          </p:txBody>
        </p:sp>
      </p:grpSp>
      <p:sp>
        <p:nvSpPr>
          <p:cNvPr id="295954" name="AutoShape 18"/>
          <p:cNvSpPr>
            <a:spLocks noChangeArrowheads="1"/>
          </p:cNvSpPr>
          <p:nvPr/>
        </p:nvSpPr>
        <p:spPr bwMode="auto">
          <a:xfrm>
            <a:off x="6172200" y="4476750"/>
            <a:ext cx="2819400" cy="609600"/>
          </a:xfrm>
          <a:prstGeom prst="wedgeRoundRectCallout">
            <a:avLst>
              <a:gd name="adj1" fmla="val -57375"/>
              <a:gd name="adj2" fmla="val -61718"/>
              <a:gd name="adj3" fmla="val 16667"/>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b="1">
                <a:solidFill>
                  <a:schemeClr val="tx2"/>
                </a:solidFill>
                <a:latin typeface="宋体" panose="02010600030101010101" pitchFamily="2" charset="-122"/>
              </a:rPr>
              <a:t>一个由</a:t>
            </a:r>
            <a:r>
              <a:rPr kumimoji="1" lang="en-US" altLang="zh-CN" sz="1800" b="1">
                <a:solidFill>
                  <a:schemeClr val="tx2"/>
                </a:solidFill>
                <a:latin typeface="宋体" panose="02010600030101010101" pitchFamily="2" charset="-122"/>
              </a:rPr>
              <a:t>p</a:t>
            </a:r>
            <a:r>
              <a:rPr kumimoji="1" lang="zh-CN" altLang="en-US" sz="1800" b="1">
                <a:solidFill>
                  <a:schemeClr val="tx2"/>
                </a:solidFill>
                <a:latin typeface="宋体" panose="02010600030101010101" pitchFamily="2" charset="-122"/>
              </a:rPr>
              <a:t>个方程组成的有</a:t>
            </a:r>
            <a:r>
              <a:rPr kumimoji="1" lang="en-US" altLang="zh-CN" sz="1800" b="1">
                <a:solidFill>
                  <a:schemeClr val="tx2"/>
                </a:solidFill>
                <a:latin typeface="宋体" panose="02010600030101010101" pitchFamily="2" charset="-122"/>
              </a:rPr>
              <a:t>p</a:t>
            </a:r>
            <a:r>
              <a:rPr kumimoji="1" lang="zh-CN" altLang="en-US" sz="1800" b="1">
                <a:solidFill>
                  <a:schemeClr val="tx2"/>
                </a:solidFill>
                <a:latin typeface="宋体" panose="02010600030101010101" pitchFamily="2" charset="-122"/>
              </a:rPr>
              <a:t>个未知数的线性方程组</a:t>
            </a:r>
            <a:r>
              <a:rPr kumimoji="1" lang="zh-CN" altLang="en-US" sz="1800" b="1">
                <a:solidFill>
                  <a:schemeClr val="tx2"/>
                </a:solidFill>
              </a:rPr>
              <a:t> </a:t>
            </a:r>
            <a:endParaRPr kumimoji="1" lang="zh-CN" altLang="en-US" sz="1800" b="1">
              <a:solidFill>
                <a:schemeClr val="tx2"/>
              </a:solidFill>
            </a:endParaRPr>
          </a:p>
        </p:txBody>
      </p:sp>
      <p:sp>
        <p:nvSpPr>
          <p:cNvPr id="68622" name="Text Box 19"/>
          <p:cNvSpPr txBox="1">
            <a:spLocks noChangeArrowheads="1"/>
          </p:cNvSpPr>
          <p:nvPr/>
        </p:nvSpPr>
        <p:spPr bwMode="auto">
          <a:xfrm>
            <a:off x="822325" y="50736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800" b="1">
              <a:solidFill>
                <a:schemeClr val="tx2"/>
              </a:solidFill>
            </a:endParaRPr>
          </a:p>
        </p:txBody>
      </p:sp>
      <p:sp>
        <p:nvSpPr>
          <p:cNvPr id="68623" name="Rectangle 20"/>
          <p:cNvSpPr>
            <a:spLocks noChangeArrowheads="1"/>
          </p:cNvSpPr>
          <p:nvPr/>
        </p:nvSpPr>
        <p:spPr bwMode="auto">
          <a:xfrm>
            <a:off x="3738563"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5960" name="Text Box 24"/>
          <p:cNvSpPr txBox="1">
            <a:spLocks noChangeArrowheads="1"/>
          </p:cNvSpPr>
          <p:nvPr/>
        </p:nvSpPr>
        <p:spPr bwMode="auto">
          <a:xfrm>
            <a:off x="822325" y="5029200"/>
            <a:ext cx="385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求解方程，可得到</a:t>
            </a:r>
            <a:r>
              <a:rPr kumimoji="1" lang="en-US" altLang="zh-CN" sz="2400" b="1">
                <a:solidFill>
                  <a:schemeClr val="tx2"/>
                </a:solidFill>
              </a:rPr>
              <a:t>LPC</a:t>
            </a:r>
            <a:r>
              <a:rPr kumimoji="1" lang="zh-CN" altLang="en-US" sz="2400" b="1">
                <a:solidFill>
                  <a:schemeClr val="tx2"/>
                </a:solidFill>
              </a:rPr>
              <a:t>系数</a:t>
            </a:r>
            <a:endParaRPr kumimoji="1" lang="zh-CN" altLang="en-US" sz="2400" b="1">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5941"/>
                                        </p:tgtEl>
                                        <p:attrNameLst>
                                          <p:attrName>style.visibility</p:attrName>
                                        </p:attrNameLst>
                                      </p:cBhvr>
                                      <p:to>
                                        <p:strVal val="visible"/>
                                      </p:to>
                                    </p:set>
                                    <p:animEffect transition="in" filter="wipe(up)">
                                      <p:cBhvr>
                                        <p:cTn id="7" dur="500"/>
                                        <p:tgtEl>
                                          <p:spTgt spid="2959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5943"/>
                                        </p:tgtEl>
                                        <p:attrNameLst>
                                          <p:attrName>style.visibility</p:attrName>
                                        </p:attrNameLst>
                                      </p:cBhvr>
                                      <p:to>
                                        <p:strVal val="visible"/>
                                      </p:to>
                                    </p:set>
                                    <p:animEffect transition="in" filter="wipe(up)">
                                      <p:cBhvr>
                                        <p:cTn id="12" dur="500"/>
                                        <p:tgtEl>
                                          <p:spTgt spid="2959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95954"/>
                                        </p:tgtEl>
                                        <p:attrNameLst>
                                          <p:attrName>style.visibility</p:attrName>
                                        </p:attrNameLst>
                                      </p:cBhvr>
                                      <p:to>
                                        <p:strVal val="visible"/>
                                      </p:to>
                                    </p:set>
                                    <p:animEffect transition="in" filter="wipe(up)">
                                      <p:cBhvr>
                                        <p:cTn id="27" dur="500"/>
                                        <p:tgtEl>
                                          <p:spTgt spid="2959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95960"/>
                                        </p:tgtEl>
                                        <p:attrNameLst>
                                          <p:attrName>style.visibility</p:attrName>
                                        </p:attrNameLst>
                                      </p:cBhvr>
                                      <p:to>
                                        <p:strVal val="visible"/>
                                      </p:to>
                                    </p:set>
                                    <p:animEffect transition="in" filter="wipe(up)">
                                      <p:cBhvr>
                                        <p:cTn id="32" dur="500"/>
                                        <p:tgtEl>
                                          <p:spTgt spid="295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4" grpId="0" bldLvl="0" animBg="1" autoUpdateAnimBg="0"/>
      <p:bldP spid="29596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297987" name="Rectangle 3"/>
          <p:cNvSpPr>
            <a:spLocks noGrp="1" noChangeArrowheads="1"/>
          </p:cNvSpPr>
          <p:nvPr>
            <p:ph type="body" idx="1"/>
          </p:nvPr>
        </p:nvSpPr>
        <p:spPr>
          <a:xfrm>
            <a:off x="762000" y="1981200"/>
            <a:ext cx="7772400" cy="457200"/>
          </a:xfrm>
        </p:spPr>
        <p:txBody>
          <a:bodyPr/>
          <a:lstStyle/>
          <a:p>
            <a:pPr eaLnBrk="1" hangingPunct="1">
              <a:buFontTx/>
              <a:buNone/>
            </a:pPr>
            <a:r>
              <a:rPr lang="zh-CN" altLang="en-US" sz="2400" b="1">
                <a:solidFill>
                  <a:schemeClr val="tx2"/>
                </a:solidFill>
                <a:latin typeface="宋体" panose="02010600030101010101" pitchFamily="2" charset="-122"/>
              </a:rPr>
              <a:t>要构造信号的</a:t>
            </a:r>
            <a:r>
              <a:rPr lang="en-US" altLang="zh-CN" sz="2400" b="1">
                <a:solidFill>
                  <a:schemeClr val="tx2"/>
                </a:solidFill>
                <a:latin typeface="Times New Roman" panose="02020603050405020304" pitchFamily="18" charset="0"/>
              </a:rPr>
              <a:t>AR</a:t>
            </a:r>
            <a:r>
              <a:rPr lang="zh-CN" altLang="en-US" sz="2400" b="1">
                <a:solidFill>
                  <a:schemeClr val="tx2"/>
                </a:solidFill>
                <a:latin typeface="宋体" panose="02010600030101010101" pitchFamily="2" charset="-122"/>
              </a:rPr>
              <a:t>模型，还应估算增益因子</a:t>
            </a:r>
            <a:r>
              <a:rPr lang="zh-CN" altLang="en-US" sz="2400" b="1">
                <a:solidFill>
                  <a:schemeClr val="tx2"/>
                </a:solidFill>
                <a:latin typeface="Times New Roman" panose="02020603050405020304" pitchFamily="18" charset="0"/>
              </a:rPr>
              <a:t> </a:t>
            </a:r>
            <a:endParaRPr lang="en-US" altLang="zh-CN" sz="2400" b="1">
              <a:solidFill>
                <a:schemeClr val="tx2"/>
              </a:solidFill>
              <a:latin typeface="Times New Roman" panose="02020603050405020304" pitchFamily="18" charset="0"/>
            </a:endParaRPr>
          </a:p>
        </p:txBody>
      </p:sp>
      <p:sp>
        <p:nvSpPr>
          <p:cNvPr id="70660" name="Rectangle 4"/>
          <p:cNvSpPr>
            <a:spLocks noChangeArrowheads="1"/>
          </p:cNvSpPr>
          <p:nvPr/>
        </p:nvSpPr>
        <p:spPr bwMode="auto">
          <a:xfrm>
            <a:off x="370046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5"/>
          <p:cNvGrpSpPr/>
          <p:nvPr/>
        </p:nvGrpSpPr>
        <p:grpSpPr bwMode="auto">
          <a:xfrm>
            <a:off x="822325" y="2565400"/>
            <a:ext cx="6721475" cy="711200"/>
            <a:chOff x="518" y="1616"/>
            <a:chExt cx="4234" cy="448"/>
          </a:xfrm>
        </p:grpSpPr>
        <p:graphicFrame>
          <p:nvGraphicFramePr>
            <p:cNvPr id="70673" name="Object 6"/>
            <p:cNvGraphicFramePr>
              <a:graphicFrameLocks noChangeAspect="1"/>
            </p:cNvGraphicFramePr>
            <p:nvPr/>
          </p:nvGraphicFramePr>
          <p:xfrm>
            <a:off x="2928" y="1616"/>
            <a:ext cx="1824" cy="448"/>
          </p:xfrm>
          <a:graphic>
            <a:graphicData uri="http://schemas.openxmlformats.org/presentationml/2006/ole">
              <mc:AlternateContent xmlns:mc="http://schemas.openxmlformats.org/markup-compatibility/2006">
                <mc:Choice xmlns:v="urn:schemas-microsoft-com:vml" Requires="v">
                  <p:oleObj spid="_x0000_s70703" name="" r:id="rId1" imgW="1739900" imgH="431800" progId="Equation.3">
                    <p:embed/>
                  </p:oleObj>
                </mc:Choice>
                <mc:Fallback>
                  <p:oleObj name="" r:id="rId1" imgW="1739900"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 y="1616"/>
                          <a:ext cx="182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74" name="Text Box 7"/>
            <p:cNvSpPr txBox="1">
              <a:spLocks noChangeArrowheads="1"/>
            </p:cNvSpPr>
            <p:nvPr/>
          </p:nvSpPr>
          <p:spPr bwMode="auto">
            <a:xfrm>
              <a:off x="518" y="1657"/>
              <a:ext cx="21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rPr>
                <a:t>AR</a:t>
              </a:r>
              <a:r>
                <a:rPr kumimoji="1" lang="zh-CN" altLang="en-US" sz="2400" b="1">
                  <a:solidFill>
                    <a:schemeClr val="tx2"/>
                  </a:solidFill>
                </a:rPr>
                <a:t>模型的差分方程形式</a:t>
              </a:r>
              <a:endParaRPr kumimoji="1" lang="zh-CN" altLang="en-US" sz="2400" b="1">
                <a:solidFill>
                  <a:schemeClr val="tx2"/>
                </a:solidFill>
              </a:endParaRPr>
            </a:p>
          </p:txBody>
        </p:sp>
      </p:grpSp>
      <p:sp>
        <p:nvSpPr>
          <p:cNvPr id="70662" name="Rectangle 8"/>
          <p:cNvSpPr>
            <a:spLocks noChangeArrowheads="1"/>
          </p:cNvSpPr>
          <p:nvPr/>
        </p:nvSpPr>
        <p:spPr bwMode="auto">
          <a:xfrm>
            <a:off x="352425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9"/>
          <p:cNvGrpSpPr/>
          <p:nvPr/>
        </p:nvGrpSpPr>
        <p:grpSpPr bwMode="auto">
          <a:xfrm>
            <a:off x="808038" y="3257550"/>
            <a:ext cx="6545262" cy="657225"/>
            <a:chOff x="509" y="2052"/>
            <a:chExt cx="4123" cy="414"/>
          </a:xfrm>
        </p:grpSpPr>
        <p:sp>
          <p:nvSpPr>
            <p:cNvPr id="70671" name="Text Box 10"/>
            <p:cNvSpPr txBox="1">
              <a:spLocks noChangeArrowheads="1"/>
            </p:cNvSpPr>
            <p:nvPr/>
          </p:nvSpPr>
          <p:spPr bwMode="auto">
            <a:xfrm>
              <a:off x="509" y="2052"/>
              <a:ext cx="1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因此可计算预测误差</a:t>
              </a:r>
              <a:endParaRPr kumimoji="1" lang="zh-CN" altLang="en-US" sz="2400" b="1">
                <a:solidFill>
                  <a:schemeClr val="tx2"/>
                </a:solidFill>
              </a:endParaRPr>
            </a:p>
          </p:txBody>
        </p:sp>
        <p:graphicFrame>
          <p:nvGraphicFramePr>
            <p:cNvPr id="70672" name="Object 11"/>
            <p:cNvGraphicFramePr>
              <a:graphicFrameLocks noChangeAspect="1"/>
            </p:cNvGraphicFramePr>
            <p:nvPr/>
          </p:nvGraphicFramePr>
          <p:xfrm>
            <a:off x="2999" y="2160"/>
            <a:ext cx="1633" cy="306"/>
          </p:xfrm>
          <a:graphic>
            <a:graphicData uri="http://schemas.openxmlformats.org/presentationml/2006/ole">
              <mc:AlternateContent xmlns:mc="http://schemas.openxmlformats.org/markup-compatibility/2006">
                <mc:Choice xmlns:v="urn:schemas-microsoft-com:vml" Requires="v">
                  <p:oleObj spid="_x0000_s70704" name="Equation" r:id="rId3" imgW="1828800" imgH="342900" progId="Equation.DSMT4">
                    <p:embed/>
                  </p:oleObj>
                </mc:Choice>
                <mc:Fallback>
                  <p:oleObj name="Equation" r:id="rId3" imgW="1828800" imgH="3429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9" y="2160"/>
                          <a:ext cx="163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4" name="Rectangle 12"/>
          <p:cNvSpPr>
            <a:spLocks noChangeArrowheads="1"/>
          </p:cNvSpPr>
          <p:nvPr/>
        </p:nvSpPr>
        <p:spPr bwMode="auto">
          <a:xfrm>
            <a:off x="403860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7997" name="Object 13"/>
          <p:cNvGraphicFramePr>
            <a:graphicFrameLocks noChangeAspect="1"/>
          </p:cNvGraphicFramePr>
          <p:nvPr/>
        </p:nvGraphicFramePr>
        <p:xfrm>
          <a:off x="4784725" y="4067175"/>
          <a:ext cx="1371600" cy="441325"/>
        </p:xfrm>
        <a:graphic>
          <a:graphicData uri="http://schemas.openxmlformats.org/presentationml/2006/ole">
            <mc:AlternateContent xmlns:mc="http://schemas.openxmlformats.org/markup-compatibility/2006">
              <mc:Choice xmlns:v="urn:schemas-microsoft-com:vml" Requires="v">
                <p:oleObj spid="_x0000_s70705" name="" r:id="rId5" imgW="1066800" imgH="342900" progId="Equation.3">
                  <p:embed/>
                </p:oleObj>
              </mc:Choice>
              <mc:Fallback>
                <p:oleObj name="" r:id="rId5" imgW="1066800" imgH="3429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4725" y="4067175"/>
                        <a:ext cx="1371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998" name="Text Box 14"/>
          <p:cNvSpPr txBox="1">
            <a:spLocks noChangeArrowheads="1"/>
          </p:cNvSpPr>
          <p:nvPr/>
        </p:nvSpPr>
        <p:spPr bwMode="auto">
          <a:xfrm>
            <a:off x="762000" y="3933825"/>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rPr>
              <a:t>且</a:t>
            </a:r>
            <a:endParaRPr kumimoji="1" lang="zh-CN" altLang="en-US" sz="2400" b="1">
              <a:solidFill>
                <a:schemeClr val="tx2"/>
              </a:solidFill>
            </a:endParaRPr>
          </a:p>
        </p:txBody>
      </p:sp>
      <p:sp>
        <p:nvSpPr>
          <p:cNvPr id="70667" name="Rectangle 15"/>
          <p:cNvSpPr>
            <a:spLocks noChangeArrowheads="1"/>
          </p:cNvSpPr>
          <p:nvPr/>
        </p:nvSpPr>
        <p:spPr bwMode="auto">
          <a:xfrm>
            <a:off x="4291013"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4" name="Group 16"/>
          <p:cNvGrpSpPr/>
          <p:nvPr/>
        </p:nvGrpSpPr>
        <p:grpSpPr bwMode="auto">
          <a:xfrm>
            <a:off x="762000" y="4627563"/>
            <a:ext cx="7086600" cy="457200"/>
            <a:chOff x="480" y="2845"/>
            <a:chExt cx="4464" cy="288"/>
          </a:xfrm>
        </p:grpSpPr>
        <p:sp>
          <p:nvSpPr>
            <p:cNvPr id="70669" name="Text Box 17"/>
            <p:cNvSpPr txBox="1">
              <a:spLocks noChangeArrowheads="1"/>
            </p:cNvSpPr>
            <p:nvPr/>
          </p:nvSpPr>
          <p:spPr bwMode="auto">
            <a:xfrm>
              <a:off x="480" y="2845"/>
              <a:ext cx="39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激励信号</a:t>
              </a:r>
              <a:r>
                <a:rPr kumimoji="1" lang="en-US" altLang="zh-CN" sz="2400" b="1" i="1">
                  <a:solidFill>
                    <a:schemeClr val="tx2"/>
                  </a:solidFill>
                  <a:latin typeface="Times New Roman" panose="02020603050405020304" pitchFamily="18" charset="0"/>
                </a:rPr>
                <a:t>u</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n</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总能量可以认为近似为</a:t>
              </a:r>
              <a:r>
                <a:rPr kumimoji="1" lang="zh-CN" altLang="en-US"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rPr>
                <a:t>因此有</a:t>
              </a:r>
              <a:r>
                <a:rPr kumimoji="1" lang="en-US" altLang="zh-CN" sz="2400" b="1">
                  <a:solidFill>
                    <a:schemeClr val="tx2"/>
                  </a:solidFill>
                  <a:latin typeface="Times New Roman" panose="02020603050405020304" pitchFamily="18" charset="0"/>
                </a:rPr>
                <a:t> </a:t>
              </a:r>
              <a:endParaRPr kumimoji="1" lang="en-US" altLang="zh-CN" sz="2400" b="1">
                <a:solidFill>
                  <a:schemeClr val="tx2"/>
                </a:solidFill>
                <a:latin typeface="Times New Roman" panose="02020603050405020304" pitchFamily="18" charset="0"/>
              </a:endParaRPr>
            </a:p>
          </p:txBody>
        </p:sp>
        <p:graphicFrame>
          <p:nvGraphicFramePr>
            <p:cNvPr id="70670" name="Object 18"/>
            <p:cNvGraphicFramePr>
              <a:graphicFrameLocks noChangeAspect="1"/>
            </p:cNvGraphicFramePr>
            <p:nvPr/>
          </p:nvGraphicFramePr>
          <p:xfrm>
            <a:off x="4464" y="2880"/>
            <a:ext cx="480" cy="220"/>
          </p:xfrm>
          <a:graphic>
            <a:graphicData uri="http://schemas.openxmlformats.org/presentationml/2006/ole">
              <mc:AlternateContent xmlns:mc="http://schemas.openxmlformats.org/markup-compatibility/2006">
                <mc:Choice xmlns:v="urn:schemas-microsoft-com:vml" Requires="v">
                  <p:oleObj spid="_x0000_s70706" name="" r:id="rId7" imgW="558800" imgH="254000" progId="Equation.3">
                    <p:embed/>
                  </p:oleObj>
                </mc:Choice>
                <mc:Fallback>
                  <p:oleObj name="" r:id="rId7" imgW="558800" imgH="2540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4" y="2880"/>
                          <a:ext cx="48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animEffect transition="in" filter="wipe(up)">
                                      <p:cBhvr>
                                        <p:cTn id="7" dur="500"/>
                                        <p:tgtEl>
                                          <p:spTgt spid="297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7998"/>
                                        </p:tgtEl>
                                        <p:attrNameLst>
                                          <p:attrName>style.visibility</p:attrName>
                                        </p:attrNameLst>
                                      </p:cBhvr>
                                      <p:to>
                                        <p:strVal val="visible"/>
                                      </p:to>
                                    </p:set>
                                    <p:animEffect transition="in" filter="wipe(up)">
                                      <p:cBhvr>
                                        <p:cTn id="22" dur="500"/>
                                        <p:tgtEl>
                                          <p:spTgt spid="297998"/>
                                        </p:tgtEl>
                                      </p:cBhvr>
                                    </p:animEffect>
                                  </p:childTnLst>
                                </p:cTn>
                              </p:par>
                              <p:par>
                                <p:cTn id="23" presetID="22" presetClass="entr" presetSubtype="1" fill="hold" nodeType="withEffect">
                                  <p:stCondLst>
                                    <p:cond delay="0"/>
                                  </p:stCondLst>
                                  <p:childTnLst>
                                    <p:set>
                                      <p:cBhvr>
                                        <p:cTn id="24" dur="1" fill="hold">
                                          <p:stCondLst>
                                            <p:cond delay="0"/>
                                          </p:stCondLst>
                                        </p:cTn>
                                        <p:tgtEl>
                                          <p:spTgt spid="297997"/>
                                        </p:tgtEl>
                                        <p:attrNameLst>
                                          <p:attrName>style.visibility</p:attrName>
                                        </p:attrNameLst>
                                      </p:cBhvr>
                                      <p:to>
                                        <p:strVal val="visible"/>
                                      </p:to>
                                    </p:set>
                                    <p:animEffect transition="in" filter="wipe(up)">
                                      <p:cBhvr>
                                        <p:cTn id="25" dur="500"/>
                                        <p:tgtEl>
                                          <p:spTgt spid="29799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autoUpdateAnimBg="0" build="p"/>
      <p:bldP spid="29799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5719445" y="4725035"/>
            <a:ext cx="989965" cy="935990"/>
          </a:xfrm>
          <a:prstGeom prst="ellipse">
            <a:avLst/>
          </a:prstGeom>
          <a:solidFill>
            <a:schemeClr val="bg1"/>
          </a:solidFill>
          <a:ln w="9525" cap="flat" cmpd="sng" algn="ctr">
            <a:solidFill>
              <a:srgbClr val="C00000"/>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270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72707" name="Rectangle 3"/>
          <p:cNvSpPr>
            <a:spLocks noGrp="1" noChangeArrowheads="1"/>
          </p:cNvSpPr>
          <p:nvPr>
            <p:ph type="body" idx="1"/>
          </p:nvPr>
        </p:nvSpPr>
        <p:spPr/>
        <p:txBody>
          <a:bodyPr/>
          <a:lstStyle/>
          <a:p>
            <a:pPr eaLnBrk="1" hangingPunct="1"/>
            <a:r>
              <a:rPr lang="zh-CN" altLang="en-US" sz="2400" b="1">
                <a:solidFill>
                  <a:schemeClr val="tx2"/>
                </a:solidFill>
                <a:latin typeface="Times New Roman" panose="02020603050405020304" pitchFamily="18" charset="0"/>
              </a:rPr>
              <a:t>求</a:t>
            </a:r>
            <a:r>
              <a:rPr lang="en-US" altLang="zh-CN" sz="2400" b="1">
                <a:solidFill>
                  <a:schemeClr val="tx2"/>
                </a:solidFill>
                <a:latin typeface="Times New Roman" panose="02020603050405020304" pitchFamily="18" charset="0"/>
              </a:rPr>
              <a:t>LPC</a:t>
            </a:r>
            <a:r>
              <a:rPr lang="zh-CN" altLang="en-US" sz="2400" b="1">
                <a:solidFill>
                  <a:schemeClr val="tx2"/>
                </a:solidFill>
                <a:latin typeface="Times New Roman" panose="02020603050405020304" pitchFamily="18" charset="0"/>
              </a:rPr>
              <a:t>系数需考虑两个因素</a:t>
            </a:r>
            <a:endParaRPr lang="zh-CN" altLang="en-US" sz="2400" b="1">
              <a:solidFill>
                <a:schemeClr val="tx2"/>
              </a:solidFill>
              <a:latin typeface="Times New Roman" panose="02020603050405020304" pitchFamily="18" charset="0"/>
            </a:endParaRPr>
          </a:p>
          <a:p>
            <a:pPr eaLnBrk="1" hangingPunct="1">
              <a:lnSpc>
                <a:spcPct val="150000"/>
              </a:lnSpc>
              <a:buFontTx/>
              <a:buNone/>
            </a:pPr>
            <a:r>
              <a:rPr lang="zh-CN" altLang="en-US" sz="2400" b="1">
                <a:solidFill>
                  <a:schemeClr val="tx2"/>
                </a:solidFill>
                <a:latin typeface="Times New Roman" panose="02020603050405020304" pitchFamily="18" charset="0"/>
              </a:rPr>
              <a:t>    （1）</a:t>
            </a:r>
            <a:r>
              <a:rPr lang="zh-CN" altLang="en-US" sz="2400" b="1">
                <a:gradFill>
                  <a:gsLst>
                    <a:gs pos="0">
                      <a:srgbClr val="007BD3"/>
                    </a:gs>
                    <a:gs pos="100000">
                      <a:srgbClr val="034373"/>
                    </a:gs>
                  </a:gsLst>
                  <a:lin scaled="0"/>
                </a:gradFill>
                <a:latin typeface="Times New Roman" panose="02020603050405020304" pitchFamily="18" charset="0"/>
              </a:rPr>
              <a:t>模型阶数</a:t>
            </a:r>
            <a:r>
              <a:rPr lang="zh-CN" altLang="en-US" sz="2400" b="1">
                <a:solidFill>
                  <a:schemeClr val="tx2"/>
                </a:solidFill>
                <a:latin typeface="Times New Roman" panose="02020603050405020304" pitchFamily="18" charset="0"/>
              </a:rPr>
              <a:t>的选择               </a:t>
            </a:r>
            <a:r>
              <a:rPr lang="en-US" altLang="zh-CN" sz="2400" b="1">
                <a:solidFill>
                  <a:schemeClr val="tx2"/>
                </a:solidFill>
                <a:latin typeface="Times New Roman" panose="02020603050405020304" pitchFamily="18" charset="0"/>
              </a:rPr>
              <a:t>,  </a:t>
            </a:r>
            <a:r>
              <a:rPr lang="en-US" altLang="zh-CN" sz="2400" i="1">
                <a:solidFill>
                  <a:schemeClr val="tx2"/>
                </a:solidFill>
                <a:latin typeface="Times New Roman" panose="02020603050405020304" pitchFamily="18" charset="0"/>
              </a:rPr>
              <a:t>D</a:t>
            </a:r>
            <a:r>
              <a:rPr lang="en-US" altLang="zh-CN" sz="2400" b="1">
                <a:solidFill>
                  <a:schemeClr val="tx2"/>
                </a:solidFill>
                <a:latin typeface="Times New Roman" panose="02020603050405020304" pitchFamily="18" charset="0"/>
              </a:rPr>
              <a:t> </a:t>
            </a:r>
            <a:r>
              <a:rPr lang="zh-CN" altLang="en-US" sz="2400" b="1">
                <a:solidFill>
                  <a:schemeClr val="tx2"/>
                </a:solidFill>
                <a:latin typeface="Times New Roman" panose="02020603050405020304" pitchFamily="18" charset="0"/>
              </a:rPr>
              <a:t>是共振峰的个数</a:t>
            </a:r>
            <a:endParaRPr lang="zh-CN" altLang="en-US" sz="2400" b="1">
              <a:solidFill>
                <a:schemeClr val="tx2"/>
              </a:solidFill>
              <a:latin typeface="Times New Roman" panose="02020603050405020304" pitchFamily="18" charset="0"/>
            </a:endParaRPr>
          </a:p>
          <a:p>
            <a:pPr eaLnBrk="1" hangingPunct="1">
              <a:lnSpc>
                <a:spcPct val="150000"/>
              </a:lnSpc>
              <a:buFontTx/>
              <a:buNone/>
            </a:pPr>
            <a:r>
              <a:rPr lang="zh-CN" altLang="en-US" sz="2400" b="1">
                <a:solidFill>
                  <a:schemeClr val="tx2"/>
                </a:solidFill>
                <a:latin typeface="Times New Roman" panose="02020603050405020304" pitchFamily="18" charset="0"/>
              </a:rPr>
              <a:t>    （2）考虑</a:t>
            </a:r>
            <a:r>
              <a:rPr lang="zh-CN" altLang="en-US" sz="2400" b="1">
                <a:solidFill>
                  <a:srgbClr val="0070C0"/>
                </a:solidFill>
                <a:latin typeface="Times New Roman" panose="02020603050405020304" pitchFamily="18" charset="0"/>
              </a:rPr>
              <a:t>口唇的高频衰减特性</a:t>
            </a:r>
            <a:r>
              <a:rPr lang="zh-CN" altLang="en-US" sz="2400" b="1">
                <a:solidFill>
                  <a:schemeClr val="tx2"/>
                </a:solidFill>
                <a:latin typeface="Times New Roman" panose="02020603050405020304" pitchFamily="18" charset="0"/>
              </a:rPr>
              <a:t>，在线性预测分析之前，需要通过</a:t>
            </a:r>
            <a:r>
              <a:rPr lang="zh-CN" altLang="en-US" sz="2400" b="1">
                <a:gradFill>
                  <a:gsLst>
                    <a:gs pos="0">
                      <a:srgbClr val="007BD3"/>
                    </a:gs>
                    <a:gs pos="100000">
                      <a:srgbClr val="034373"/>
                    </a:gs>
                  </a:gsLst>
                  <a:lin scaled="0"/>
                </a:gradFill>
                <a:latin typeface="Times New Roman" panose="02020603050405020304" pitchFamily="18" charset="0"/>
              </a:rPr>
              <a:t>预加重</a:t>
            </a:r>
            <a:r>
              <a:rPr lang="zh-CN" altLang="en-US" sz="2400" b="1">
                <a:solidFill>
                  <a:schemeClr val="tx2"/>
                </a:solidFill>
                <a:latin typeface="Times New Roman" panose="02020603050405020304" pitchFamily="18" charset="0"/>
              </a:rPr>
              <a:t>进行高频提升 </a:t>
            </a:r>
            <a:endParaRPr lang="zh-CN" altLang="en-US" sz="2400" b="1">
              <a:solidFill>
                <a:schemeClr val="tx2"/>
              </a:solidFill>
              <a:latin typeface="Times New Roman" panose="02020603050405020304" pitchFamily="18" charset="0"/>
            </a:endParaRPr>
          </a:p>
        </p:txBody>
      </p:sp>
      <p:sp>
        <p:nvSpPr>
          <p:cNvPr id="72708" name="Rectangle 4"/>
          <p:cNvSpPr>
            <a:spLocks noChangeArrowheads="1"/>
          </p:cNvSpPr>
          <p:nvPr/>
        </p:nvSpPr>
        <p:spPr bwMode="auto">
          <a:xfrm>
            <a:off x="42291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2709" name="Object 5"/>
          <p:cNvGraphicFramePr>
            <a:graphicFrameLocks noChangeAspect="1"/>
          </p:cNvGraphicFramePr>
          <p:nvPr/>
        </p:nvGraphicFramePr>
        <p:xfrm>
          <a:off x="3851275" y="2265363"/>
          <a:ext cx="1028700" cy="300037"/>
        </p:xfrm>
        <a:graphic>
          <a:graphicData uri="http://schemas.openxmlformats.org/presentationml/2006/ole">
            <mc:AlternateContent xmlns:mc="http://schemas.openxmlformats.org/markup-compatibility/2006">
              <mc:Choice xmlns:v="urn:schemas-microsoft-com:vml" Requires="v">
                <p:oleObj spid="_x0000_s72726" name="" r:id="rId1" imgW="685800" imgH="203200" progId="Equation.3">
                  <p:embed/>
                </p:oleObj>
              </mc:Choice>
              <mc:Fallback>
                <p:oleObj name="" r:id="rId1" imgW="685800" imgH="203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2265363"/>
                        <a:ext cx="102870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10" name="Rectangle 6"/>
          <p:cNvSpPr>
            <a:spLocks noChangeArrowheads="1"/>
          </p:cNvSpPr>
          <p:nvPr/>
        </p:nvSpPr>
        <p:spPr bwMode="auto">
          <a:xfrm>
            <a:off x="43291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2711" name="Object 7"/>
          <p:cNvGraphicFramePr>
            <a:graphicFrameLocks noChangeAspect="1"/>
          </p:cNvGraphicFramePr>
          <p:nvPr/>
        </p:nvGraphicFramePr>
        <p:xfrm>
          <a:off x="4948238" y="3429318"/>
          <a:ext cx="776287" cy="319087"/>
        </p:xfrm>
        <a:graphic>
          <a:graphicData uri="http://schemas.openxmlformats.org/presentationml/2006/ole">
            <mc:AlternateContent xmlns:mc="http://schemas.openxmlformats.org/markup-compatibility/2006">
              <mc:Choice xmlns:v="urn:schemas-microsoft-com:vml" Requires="v">
                <p:oleObj spid="_x0000_s72727" name="" r:id="rId3" imgW="482600" imgH="203200" progId="Equation.3">
                  <p:embed/>
                </p:oleObj>
              </mc:Choice>
              <mc:Fallback>
                <p:oleObj name="" r:id="rId3" imgW="482600" imgH="203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238" y="3429318"/>
                        <a:ext cx="776287"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7"/>
          <p:cNvGrpSpPr/>
          <p:nvPr/>
        </p:nvGrpSpPr>
        <p:grpSpPr bwMode="auto">
          <a:xfrm>
            <a:off x="1396365" y="4140200"/>
            <a:ext cx="7092950" cy="2216150"/>
            <a:chOff x="908" y="2684"/>
            <a:chExt cx="4468" cy="1396"/>
          </a:xfrm>
        </p:grpSpPr>
        <p:sp>
          <p:nvSpPr>
            <p:cNvPr id="55301" name="Rectangle 8"/>
            <p:cNvSpPr>
              <a:spLocks noChangeArrowheads="1"/>
            </p:cNvSpPr>
            <p:nvPr/>
          </p:nvSpPr>
          <p:spPr bwMode="auto">
            <a:xfrm>
              <a:off x="2928" y="3792"/>
              <a:ext cx="2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语音信号产生系统模型</a:t>
              </a:r>
              <a:endParaRPr kumimoji="1" lang="zh-CN" altLang="en-US" sz="2400" b="1">
                <a:solidFill>
                  <a:schemeClr val="tx2"/>
                </a:solidFill>
              </a:endParaRPr>
            </a:p>
          </p:txBody>
        </p:sp>
        <p:graphicFrame>
          <p:nvGraphicFramePr>
            <p:cNvPr id="55302" name="Object 9"/>
            <p:cNvGraphicFramePr>
              <a:graphicFrameLocks noChangeAspect="1"/>
            </p:cNvGraphicFramePr>
            <p:nvPr/>
          </p:nvGraphicFramePr>
          <p:xfrm>
            <a:off x="908" y="2684"/>
            <a:ext cx="3749" cy="1255"/>
          </p:xfrm>
          <a:graphic>
            <a:graphicData uri="http://schemas.openxmlformats.org/presentationml/2006/ole">
              <mc:AlternateContent xmlns:mc="http://schemas.openxmlformats.org/markup-compatibility/2006">
                <mc:Choice xmlns:v="urn:schemas-microsoft-com:vml" Requires="v">
                  <p:oleObj spid="_x0000_s55321" name="Picture2" r:id="rId5" imgW="5956300" imgH="1993900" progId="Word.Picture.8">
                    <p:embed/>
                  </p:oleObj>
                </mc:Choice>
                <mc:Fallback>
                  <p:oleObj name="Picture2" r:id="rId5" imgW="5956300" imgH="1993900" progId="Word.Picture.8">
                    <p:embed/>
                    <p:pic>
                      <p:nvPicPr>
                        <p:cNvPr id="0" name="Object 9"/>
                        <p:cNvPicPr>
                          <a:picLocks noChangeAspect="1" noChangeArrowheads="1"/>
                        </p:cNvPicPr>
                        <p:nvPr/>
                      </p:nvPicPr>
                      <p:blipFill>
                        <a:blip r:embed="rId6"/>
                        <a:srcRect/>
                        <a:stretch>
                          <a:fillRect/>
                        </a:stretch>
                      </p:blipFill>
                      <p:spPr bwMode="auto">
                        <a:xfrm>
                          <a:off x="908" y="2684"/>
                          <a:ext cx="3749" cy="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74755" name="Rectangle 3"/>
          <p:cNvSpPr>
            <a:spLocks noGrp="1" noChangeArrowheads="1"/>
          </p:cNvSpPr>
          <p:nvPr>
            <p:ph type="body" idx="1"/>
          </p:nvPr>
        </p:nvSpPr>
        <p:spPr>
          <a:xfrm>
            <a:off x="457200" y="1600200"/>
            <a:ext cx="8229600" cy="587375"/>
          </a:xfrm>
        </p:spPr>
        <p:txBody>
          <a:bodyPr/>
          <a:lstStyle/>
          <a:p>
            <a:pPr eaLnBrk="1" hangingPunct="1"/>
            <a:r>
              <a:rPr lang="zh-CN" altLang="en-US" sz="2400" b="1">
                <a:solidFill>
                  <a:srgbClr val="0070C0"/>
                </a:solidFill>
                <a:latin typeface="黑体" panose="02010609060101010101" pitchFamily="49" charset="-122"/>
                <a:ea typeface="黑体" panose="02010609060101010101" pitchFamily="49" charset="-122"/>
              </a:rPr>
              <a:t>自相关法</a:t>
            </a:r>
            <a:endParaRPr lang="zh-CN" altLang="en-US" sz="2400" b="1">
              <a:solidFill>
                <a:srgbClr val="0070C0"/>
              </a:solidFill>
              <a:latin typeface="黑体" panose="02010609060101010101" pitchFamily="49" charset="-122"/>
              <a:ea typeface="黑体" panose="02010609060101010101" pitchFamily="49" charset="-122"/>
            </a:endParaRPr>
          </a:p>
        </p:txBody>
      </p:sp>
      <p:sp>
        <p:nvSpPr>
          <p:cNvPr id="74756" name="Rectangle 4"/>
          <p:cNvSpPr>
            <a:spLocks noChangeArrowheads="1"/>
          </p:cNvSpPr>
          <p:nvPr/>
        </p:nvSpPr>
        <p:spPr bwMode="auto">
          <a:xfrm>
            <a:off x="371475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5"/>
          <p:cNvGrpSpPr/>
          <p:nvPr/>
        </p:nvGrpSpPr>
        <p:grpSpPr bwMode="auto">
          <a:xfrm>
            <a:off x="738188" y="2427288"/>
            <a:ext cx="8151812" cy="549275"/>
            <a:chOff x="465" y="1529"/>
            <a:chExt cx="5135" cy="346"/>
          </a:xfrm>
        </p:grpSpPr>
        <p:graphicFrame>
          <p:nvGraphicFramePr>
            <p:cNvPr id="74773" name="Object 6"/>
            <p:cNvGraphicFramePr>
              <a:graphicFrameLocks noChangeAspect="1"/>
            </p:cNvGraphicFramePr>
            <p:nvPr/>
          </p:nvGraphicFramePr>
          <p:xfrm>
            <a:off x="1461" y="1529"/>
            <a:ext cx="1732" cy="346"/>
          </p:xfrm>
          <a:graphic>
            <a:graphicData uri="http://schemas.openxmlformats.org/presentationml/2006/ole">
              <mc:AlternateContent xmlns:mc="http://schemas.openxmlformats.org/markup-compatibility/2006">
                <mc:Choice xmlns:v="urn:schemas-microsoft-com:vml" Requires="v">
                  <p:oleObj spid="_x0000_s74818" name="" r:id="rId1" imgW="1714500" imgH="342900" progId="Equation.3">
                    <p:embed/>
                  </p:oleObj>
                </mc:Choice>
                <mc:Fallback>
                  <p:oleObj name="" r:id="rId1" imgW="1714500" imgH="3429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1" y="1529"/>
                          <a:ext cx="17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74" name="Text Box 7"/>
            <p:cNvSpPr txBox="1">
              <a:spLocks noChangeArrowheads="1"/>
            </p:cNvSpPr>
            <p:nvPr/>
          </p:nvSpPr>
          <p:spPr bwMode="auto">
            <a:xfrm>
              <a:off x="465" y="1544"/>
              <a:ext cx="9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None/>
              </a:pPr>
              <a:r>
                <a:rPr kumimoji="1" lang="zh-CN" altLang="en-US" sz="2400" b="1">
                  <a:solidFill>
                    <a:schemeClr val="tx2"/>
                  </a:solidFill>
                </a:rPr>
                <a:t> 我们定义</a:t>
              </a:r>
              <a:endParaRPr kumimoji="1" lang="zh-CN" altLang="en-US" sz="2400" b="1">
                <a:solidFill>
                  <a:schemeClr val="tx2"/>
                </a:solidFill>
                <a:latin typeface="Times New Roman" panose="02020603050405020304" pitchFamily="18" charset="0"/>
              </a:endParaRPr>
            </a:p>
          </p:txBody>
        </p:sp>
        <p:sp>
          <p:nvSpPr>
            <p:cNvPr id="74775" name="Text Box 8"/>
            <p:cNvSpPr txBox="1">
              <a:spLocks noChangeArrowheads="1"/>
            </p:cNvSpPr>
            <p:nvPr/>
          </p:nvSpPr>
          <p:spPr bwMode="auto">
            <a:xfrm>
              <a:off x="3168" y="1544"/>
              <a:ext cx="2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时，未将求和范围具体化。</a:t>
              </a:r>
              <a:endParaRPr kumimoji="1" lang="zh-CN" altLang="en-US" sz="2400" b="1">
                <a:solidFill>
                  <a:schemeClr val="tx2"/>
                </a:solidFill>
                <a:latin typeface="Times New Roman" panose="02020603050405020304" pitchFamily="18" charset="0"/>
              </a:endParaRPr>
            </a:p>
          </p:txBody>
        </p:sp>
      </p:grpSp>
      <p:sp>
        <p:nvSpPr>
          <p:cNvPr id="302089" name="Text Box 9"/>
          <p:cNvSpPr txBox="1">
            <a:spLocks noChangeArrowheads="1"/>
          </p:cNvSpPr>
          <p:nvPr/>
        </p:nvSpPr>
        <p:spPr bwMode="auto">
          <a:xfrm>
            <a:off x="838200" y="2860675"/>
            <a:ext cx="7788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一种较直接的方法是，认为语音段外的数据全为零，只计算范围</a:t>
            </a:r>
            <a:r>
              <a:rPr kumimoji="1" lang="en-US" altLang="zh-CN" sz="2400" b="1" i="1">
                <a:solidFill>
                  <a:schemeClr val="tx2"/>
                </a:solidFill>
                <a:latin typeface="Times New Roman" panose="02020603050405020304" pitchFamily="18" charset="0"/>
              </a:rPr>
              <a:t>n</a:t>
            </a:r>
            <a:r>
              <a:rPr kumimoji="1" lang="zh-CN" altLang="en-US" sz="2400" b="1">
                <a:solidFill>
                  <a:schemeClr val="tx2"/>
                </a:solidFill>
                <a:latin typeface="宋体" panose="02010600030101010101" pitchFamily="2" charset="-122"/>
              </a:rPr>
              <a:t>以内（</a:t>
            </a:r>
            <a:r>
              <a:rPr kumimoji="1" lang="zh-CN" altLang="en-US" sz="2400" b="1">
                <a:solidFill>
                  <a:schemeClr val="tx2"/>
                </a:solidFill>
                <a:latin typeface="Times New Roman" panose="02020603050405020304" pitchFamily="18" charset="0"/>
              </a:rPr>
              <a:t>0</a:t>
            </a:r>
            <a:r>
              <a:rPr kumimoji="1" lang="zh-CN" altLang="en-US" sz="2400" b="1">
                <a:solidFill>
                  <a:schemeClr val="tx2"/>
                </a:solidFill>
                <a:latin typeface="宋体" panose="02010600030101010101" pitchFamily="2" charset="-122"/>
              </a:rPr>
              <a:t>≤</a:t>
            </a:r>
            <a:r>
              <a:rPr kumimoji="1" lang="en-US" altLang="zh-CN" sz="2400" b="1" i="1">
                <a:solidFill>
                  <a:schemeClr val="tx2"/>
                </a:solidFill>
                <a:latin typeface="Times New Roman" panose="02020603050405020304" pitchFamily="18" charset="0"/>
              </a:rPr>
              <a:t>n</a:t>
            </a:r>
            <a:r>
              <a:rPr kumimoji="1" lang="en-US" altLang="zh-CN" sz="2400" b="1">
                <a:solidFill>
                  <a:schemeClr val="tx2"/>
                </a:solidFill>
                <a:latin typeface="宋体" panose="02010600030101010101" pitchFamily="2" charset="-122"/>
              </a:rPr>
              <a:t>≤</a:t>
            </a:r>
            <a:r>
              <a:rPr kumimoji="1" lang="en-US" altLang="zh-CN" sz="2400" b="1" i="1">
                <a:solidFill>
                  <a:schemeClr val="tx2"/>
                </a:solidFill>
                <a:latin typeface="Times New Roman" panose="02020603050405020304" pitchFamily="18" charset="0"/>
              </a:rPr>
              <a:t>N</a:t>
            </a:r>
            <a:r>
              <a:rPr kumimoji="1" lang="en-US" altLang="zh-CN" sz="2400" b="1">
                <a:solidFill>
                  <a:schemeClr val="tx2"/>
                </a:solidFill>
                <a:latin typeface="宋体" panose="02010600030101010101" pitchFamily="2" charset="-122"/>
              </a:rPr>
              <a:t>）</a:t>
            </a:r>
            <a:r>
              <a:rPr kumimoji="1" lang="zh-CN" altLang="en-US" sz="2400" b="1">
                <a:solidFill>
                  <a:schemeClr val="tx2"/>
                </a:solidFill>
                <a:latin typeface="宋体" panose="02010600030101010101" pitchFamily="2" charset="-122"/>
              </a:rPr>
              <a:t>的语音数据。</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sp>
        <p:nvSpPr>
          <p:cNvPr id="74759" name="Rectangle 10"/>
          <p:cNvSpPr>
            <a:spLocks noChangeArrowheads="1"/>
          </p:cNvSpPr>
          <p:nvPr/>
        </p:nvSpPr>
        <p:spPr bwMode="auto">
          <a:xfrm>
            <a:off x="358616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60" name="Rectangle 11"/>
          <p:cNvSpPr>
            <a:spLocks noChangeArrowheads="1"/>
          </p:cNvSpPr>
          <p:nvPr/>
        </p:nvSpPr>
        <p:spPr bwMode="auto">
          <a:xfrm>
            <a:off x="402431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12"/>
          <p:cNvGrpSpPr/>
          <p:nvPr/>
        </p:nvGrpSpPr>
        <p:grpSpPr bwMode="auto">
          <a:xfrm>
            <a:off x="1752600" y="4002088"/>
            <a:ext cx="5105400" cy="665162"/>
            <a:chOff x="1104" y="2521"/>
            <a:chExt cx="3216" cy="419"/>
          </a:xfrm>
        </p:grpSpPr>
        <p:graphicFrame>
          <p:nvGraphicFramePr>
            <p:cNvPr id="74771" name="Object 13"/>
            <p:cNvGraphicFramePr>
              <a:graphicFrameLocks noChangeAspect="1"/>
            </p:cNvGraphicFramePr>
            <p:nvPr/>
          </p:nvGraphicFramePr>
          <p:xfrm>
            <a:off x="1104" y="2521"/>
            <a:ext cx="1925" cy="419"/>
          </p:xfrm>
          <a:graphic>
            <a:graphicData uri="http://schemas.openxmlformats.org/presentationml/2006/ole">
              <mc:AlternateContent xmlns:mc="http://schemas.openxmlformats.org/markup-compatibility/2006">
                <mc:Choice xmlns:v="urn:schemas-microsoft-com:vml" Requires="v">
                  <p:oleObj spid="_x0000_s74819" name="" r:id="rId3" imgW="1968500" imgH="431800" progId="Equation.3">
                    <p:embed/>
                  </p:oleObj>
                </mc:Choice>
                <mc:Fallback>
                  <p:oleObj name="" r:id="rId3" imgW="19685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2521"/>
                          <a:ext cx="1925"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72" name="Object 14"/>
            <p:cNvGraphicFramePr>
              <a:graphicFrameLocks noChangeAspect="1"/>
            </p:cNvGraphicFramePr>
            <p:nvPr/>
          </p:nvGraphicFramePr>
          <p:xfrm>
            <a:off x="3360" y="2544"/>
            <a:ext cx="960" cy="376"/>
          </p:xfrm>
          <a:graphic>
            <a:graphicData uri="http://schemas.openxmlformats.org/presentationml/2006/ole">
              <mc:AlternateContent xmlns:mc="http://schemas.openxmlformats.org/markup-compatibility/2006">
                <mc:Choice xmlns:v="urn:schemas-microsoft-com:vml" Requires="v">
                  <p:oleObj spid="_x0000_s74820" name="" r:id="rId5" imgW="1091565" imgH="431800" progId="Equation.3">
                    <p:embed/>
                  </p:oleObj>
                </mc:Choice>
                <mc:Fallback>
                  <p:oleObj name="" r:id="rId5" imgW="1091565" imgH="4318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0" y="2544"/>
                          <a:ext cx="96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4762" name="Rectangle 15"/>
          <p:cNvSpPr>
            <a:spLocks noChangeArrowheads="1"/>
          </p:cNvSpPr>
          <p:nvPr/>
        </p:nvSpPr>
        <p:spPr bwMode="auto">
          <a:xfrm>
            <a:off x="351948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4" name="Group 16"/>
          <p:cNvGrpSpPr/>
          <p:nvPr/>
        </p:nvGrpSpPr>
        <p:grpSpPr bwMode="auto">
          <a:xfrm>
            <a:off x="974725" y="4668838"/>
            <a:ext cx="5807075" cy="1179512"/>
            <a:chOff x="614" y="2941"/>
            <a:chExt cx="3658" cy="743"/>
          </a:xfrm>
        </p:grpSpPr>
        <p:sp>
          <p:nvSpPr>
            <p:cNvPr id="74768" name="Text Box 17"/>
            <p:cNvSpPr txBox="1">
              <a:spLocks noChangeArrowheads="1"/>
            </p:cNvSpPr>
            <p:nvPr/>
          </p:nvSpPr>
          <p:spPr bwMode="auto">
            <a:xfrm>
              <a:off x="614" y="2941"/>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或</a:t>
              </a:r>
              <a:endParaRPr kumimoji="1" lang="zh-CN" altLang="en-US" sz="2400" b="1">
                <a:solidFill>
                  <a:schemeClr val="tx2"/>
                </a:solidFill>
                <a:latin typeface="Times New Roman" panose="02020603050405020304" pitchFamily="18" charset="0"/>
              </a:endParaRPr>
            </a:p>
          </p:txBody>
        </p:sp>
        <p:graphicFrame>
          <p:nvGraphicFramePr>
            <p:cNvPr id="74769" name="Object 18"/>
            <p:cNvGraphicFramePr>
              <a:graphicFrameLocks noChangeAspect="1"/>
            </p:cNvGraphicFramePr>
            <p:nvPr/>
          </p:nvGraphicFramePr>
          <p:xfrm>
            <a:off x="1104" y="3264"/>
            <a:ext cx="2065" cy="420"/>
          </p:xfrm>
          <a:graphic>
            <a:graphicData uri="http://schemas.openxmlformats.org/presentationml/2006/ole">
              <mc:AlternateContent xmlns:mc="http://schemas.openxmlformats.org/markup-compatibility/2006">
                <mc:Choice xmlns:v="urn:schemas-microsoft-com:vml" Requires="v">
                  <p:oleObj spid="_x0000_s74821" name="" r:id="rId7" imgW="2108200" imgH="431800" progId="Equation.3">
                    <p:embed/>
                  </p:oleObj>
                </mc:Choice>
                <mc:Fallback>
                  <p:oleObj name="" r:id="rId7" imgW="2108200" imgH="4318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 y="3264"/>
                          <a:ext cx="2065"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70" name="Object 19"/>
            <p:cNvGraphicFramePr>
              <a:graphicFrameLocks noChangeAspect="1"/>
            </p:cNvGraphicFramePr>
            <p:nvPr/>
          </p:nvGraphicFramePr>
          <p:xfrm>
            <a:off x="3312" y="3264"/>
            <a:ext cx="960" cy="376"/>
          </p:xfrm>
          <a:graphic>
            <a:graphicData uri="http://schemas.openxmlformats.org/presentationml/2006/ole">
              <mc:AlternateContent xmlns:mc="http://schemas.openxmlformats.org/markup-compatibility/2006">
                <mc:Choice xmlns:v="urn:schemas-microsoft-com:vml" Requires="v">
                  <p:oleObj spid="_x0000_s74822" name="" r:id="rId9" imgW="1091565" imgH="431800" progId="Equation.3">
                    <p:embed/>
                  </p:oleObj>
                </mc:Choice>
                <mc:Fallback>
                  <p:oleObj name="" r:id="rId9" imgW="1091565" imgH="4318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2" y="3264"/>
                          <a:ext cx="96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4764" name="Rectangle 20"/>
          <p:cNvSpPr>
            <a:spLocks noChangeArrowheads="1"/>
          </p:cNvSpPr>
          <p:nvPr/>
        </p:nvSpPr>
        <p:spPr bwMode="auto">
          <a:xfrm>
            <a:off x="438150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5" name="Group 21"/>
          <p:cNvGrpSpPr/>
          <p:nvPr/>
        </p:nvGrpSpPr>
        <p:grpSpPr bwMode="auto">
          <a:xfrm>
            <a:off x="1020763" y="6061075"/>
            <a:ext cx="3887787" cy="457200"/>
            <a:chOff x="643" y="3818"/>
            <a:chExt cx="2449" cy="288"/>
          </a:xfrm>
        </p:grpSpPr>
        <p:graphicFrame>
          <p:nvGraphicFramePr>
            <p:cNvPr id="74766" name="Object 22"/>
            <p:cNvGraphicFramePr>
              <a:graphicFrameLocks noChangeAspect="1"/>
            </p:cNvGraphicFramePr>
            <p:nvPr/>
          </p:nvGraphicFramePr>
          <p:xfrm>
            <a:off x="643" y="3840"/>
            <a:ext cx="413" cy="248"/>
          </p:xfrm>
          <a:graphic>
            <a:graphicData uri="http://schemas.openxmlformats.org/presentationml/2006/ole">
              <mc:AlternateContent xmlns:mc="http://schemas.openxmlformats.org/markup-compatibility/2006">
                <mc:Choice xmlns:v="urn:schemas-microsoft-com:vml" Requires="v">
                  <p:oleObj spid="_x0000_s74823" name="" r:id="rId10" imgW="381000" imgH="228600" progId="Equation.3">
                    <p:embed/>
                  </p:oleObj>
                </mc:Choice>
                <mc:Fallback>
                  <p:oleObj name="" r:id="rId10" imgW="381000" imgH="22860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3" y="3840"/>
                          <a:ext cx="41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7" name="Text Box 23"/>
            <p:cNvSpPr txBox="1">
              <a:spLocks noChangeArrowheads="1"/>
            </p:cNvSpPr>
            <p:nvPr/>
          </p:nvSpPr>
          <p:spPr bwMode="auto">
            <a:xfrm>
              <a:off x="998" y="3818"/>
              <a:ext cx="20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为加窗后的语音数据。</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2089"/>
                                        </p:tgtEl>
                                        <p:attrNameLst>
                                          <p:attrName>style.visibility</p:attrName>
                                        </p:attrNameLst>
                                      </p:cBhvr>
                                      <p:to>
                                        <p:strVal val="visible"/>
                                      </p:to>
                                    </p:set>
                                    <p:animEffect transition="in" filter="wipe(up)">
                                      <p:cBhvr>
                                        <p:cTn id="12" dur="500"/>
                                        <p:tgtEl>
                                          <p:spTgt spid="3020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76803" name="Rectangle 3"/>
          <p:cNvSpPr>
            <a:spLocks noGrp="1" noChangeArrowheads="1"/>
          </p:cNvSpPr>
          <p:nvPr>
            <p:ph type="body" idx="1"/>
          </p:nvPr>
        </p:nvSpPr>
        <p:spPr/>
        <p:txBody>
          <a:bodyPr/>
          <a:lstStyle/>
          <a:p>
            <a:pPr eaLnBrk="1" hangingPunct="1">
              <a:buFontTx/>
              <a:buNone/>
            </a:pPr>
            <a:r>
              <a:rPr lang="en-US" altLang="zh-CN" sz="2400" b="1">
                <a:solidFill>
                  <a:schemeClr val="tx2"/>
                </a:solidFill>
              </a:rPr>
              <a:t>  </a:t>
            </a:r>
            <a:r>
              <a:rPr lang="zh-CN" altLang="en-US" sz="2400" b="1">
                <a:solidFill>
                  <a:schemeClr val="tx2"/>
                </a:solidFill>
              </a:rPr>
              <a:t>由于短时自相关函数可以表示为：</a:t>
            </a:r>
            <a:endParaRPr lang="zh-CN" altLang="en-US" sz="2400" b="1">
              <a:solidFill>
                <a:schemeClr val="tx2"/>
              </a:solidFill>
            </a:endParaRPr>
          </a:p>
        </p:txBody>
      </p:sp>
      <p:sp>
        <p:nvSpPr>
          <p:cNvPr id="76804" name="Rectangle 4"/>
          <p:cNvSpPr>
            <a:spLocks noChangeArrowheads="1"/>
          </p:cNvSpPr>
          <p:nvPr/>
        </p:nvSpPr>
        <p:spPr bwMode="auto">
          <a:xfrm>
            <a:off x="371475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04133" name="Object 5"/>
          <p:cNvGraphicFramePr>
            <a:graphicFrameLocks noChangeAspect="1"/>
          </p:cNvGraphicFramePr>
          <p:nvPr/>
        </p:nvGraphicFramePr>
        <p:xfrm>
          <a:off x="2586355" y="2371090"/>
          <a:ext cx="2590800" cy="647700"/>
        </p:xfrm>
        <a:graphic>
          <a:graphicData uri="http://schemas.openxmlformats.org/presentationml/2006/ole">
            <mc:AlternateContent xmlns:mc="http://schemas.openxmlformats.org/markup-compatibility/2006">
              <mc:Choice xmlns:v="urn:schemas-microsoft-com:vml" Requires="v">
                <p:oleObj spid="_x0000_s76873" name="" r:id="rId1" imgW="1714500" imgH="431800" progId="Equation.3">
                  <p:embed/>
                </p:oleObj>
              </mc:Choice>
              <mc:Fallback>
                <p:oleObj name="" r:id="rId1" imgW="17145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355" y="2371090"/>
                        <a:ext cx="2590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6" name="Rectangle 6"/>
          <p:cNvSpPr>
            <a:spLocks noChangeArrowheads="1"/>
          </p:cNvSpPr>
          <p:nvPr/>
        </p:nvSpPr>
        <p:spPr bwMode="auto">
          <a:xfrm>
            <a:off x="4081463"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7"/>
          <p:cNvGrpSpPr/>
          <p:nvPr/>
        </p:nvGrpSpPr>
        <p:grpSpPr bwMode="auto">
          <a:xfrm>
            <a:off x="646113" y="3048000"/>
            <a:ext cx="2554287" cy="457200"/>
            <a:chOff x="470" y="1920"/>
            <a:chExt cx="1609" cy="288"/>
          </a:xfrm>
        </p:grpSpPr>
        <p:sp>
          <p:nvSpPr>
            <p:cNvPr id="76822" name="Text Box 8"/>
            <p:cNvSpPr txBox="1">
              <a:spLocks noChangeArrowheads="1"/>
            </p:cNvSpPr>
            <p:nvPr/>
          </p:nvSpPr>
          <p:spPr bwMode="auto">
            <a:xfrm>
              <a:off x="470" y="1920"/>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且有</a:t>
              </a:r>
              <a:endParaRPr kumimoji="1" lang="zh-CN" altLang="en-US" sz="2400" b="1">
                <a:solidFill>
                  <a:schemeClr val="tx2"/>
                </a:solidFill>
                <a:latin typeface="Times New Roman" panose="02020603050405020304" pitchFamily="18" charset="0"/>
              </a:endParaRPr>
            </a:p>
          </p:txBody>
        </p:sp>
        <p:graphicFrame>
          <p:nvGraphicFramePr>
            <p:cNvPr id="76823" name="Object 9"/>
            <p:cNvGraphicFramePr>
              <a:graphicFrameLocks noChangeAspect="1"/>
            </p:cNvGraphicFramePr>
            <p:nvPr/>
          </p:nvGraphicFramePr>
          <p:xfrm>
            <a:off x="1152" y="1979"/>
            <a:ext cx="927" cy="216"/>
          </p:xfrm>
          <a:graphic>
            <a:graphicData uri="http://schemas.openxmlformats.org/presentationml/2006/ole">
              <mc:AlternateContent xmlns:mc="http://schemas.openxmlformats.org/markup-compatibility/2006">
                <mc:Choice xmlns:v="urn:schemas-microsoft-com:vml" Requires="v">
                  <p:oleObj spid="_x0000_s76874" name="" r:id="rId3" imgW="977900" imgH="228600" progId="Equation.3">
                    <p:embed/>
                  </p:oleObj>
                </mc:Choice>
                <mc:Fallback>
                  <p:oleObj name="" r:id="rId3" imgW="977900" imgH="228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1979"/>
                          <a:ext cx="92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6808" name="Rectangle 10"/>
          <p:cNvSpPr>
            <a:spLocks noChangeArrowheads="1"/>
          </p:cNvSpPr>
          <p:nvPr/>
        </p:nvSpPr>
        <p:spPr bwMode="auto">
          <a:xfrm>
            <a:off x="361950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09" name="Rectangle 11"/>
          <p:cNvSpPr>
            <a:spLocks noChangeArrowheads="1"/>
          </p:cNvSpPr>
          <p:nvPr/>
        </p:nvSpPr>
        <p:spPr bwMode="auto">
          <a:xfrm>
            <a:off x="402431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12"/>
          <p:cNvGrpSpPr/>
          <p:nvPr/>
        </p:nvGrpSpPr>
        <p:grpSpPr bwMode="auto">
          <a:xfrm>
            <a:off x="685800" y="3525838"/>
            <a:ext cx="6532563" cy="1160462"/>
            <a:chOff x="432" y="2221"/>
            <a:chExt cx="4115" cy="731"/>
          </a:xfrm>
        </p:grpSpPr>
        <p:sp>
          <p:nvSpPr>
            <p:cNvPr id="76817" name="Text Box 13"/>
            <p:cNvSpPr txBox="1">
              <a:spLocks noChangeArrowheads="1"/>
            </p:cNvSpPr>
            <p:nvPr/>
          </p:nvSpPr>
          <p:spPr bwMode="auto">
            <a:xfrm>
              <a:off x="432" y="2221"/>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则</a:t>
              </a:r>
              <a:endParaRPr kumimoji="1" lang="zh-CN" altLang="en-US" sz="2400" b="1">
                <a:solidFill>
                  <a:schemeClr val="tx2"/>
                </a:solidFill>
                <a:latin typeface="Times New Roman" panose="02020603050405020304" pitchFamily="18" charset="0"/>
              </a:endParaRPr>
            </a:p>
          </p:txBody>
        </p:sp>
        <p:graphicFrame>
          <p:nvGraphicFramePr>
            <p:cNvPr id="76818" name="Object 14"/>
            <p:cNvGraphicFramePr>
              <a:graphicFrameLocks noChangeAspect="1"/>
            </p:cNvGraphicFramePr>
            <p:nvPr/>
          </p:nvGraphicFramePr>
          <p:xfrm>
            <a:off x="778" y="2306"/>
            <a:ext cx="426" cy="190"/>
          </p:xfrm>
          <a:graphic>
            <a:graphicData uri="http://schemas.openxmlformats.org/presentationml/2006/ole">
              <mc:AlternateContent xmlns:mc="http://schemas.openxmlformats.org/markup-compatibility/2006">
                <mc:Choice xmlns:v="urn:schemas-microsoft-com:vml" Requires="v">
                  <p:oleObj spid="_x0000_s76875" name="" r:id="rId5" imgW="444500" imgH="203200" progId="Equation.3">
                    <p:embed/>
                  </p:oleObj>
                </mc:Choice>
                <mc:Fallback>
                  <p:oleObj name="" r:id="rId5" imgW="444500" imgH="2032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8" y="2306"/>
                          <a:ext cx="42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9" name="Text Box 15"/>
            <p:cNvSpPr txBox="1">
              <a:spLocks noChangeArrowheads="1"/>
            </p:cNvSpPr>
            <p:nvPr/>
          </p:nvSpPr>
          <p:spPr bwMode="auto">
            <a:xfrm>
              <a:off x="1200" y="2221"/>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可以表示为</a:t>
              </a:r>
              <a:endParaRPr kumimoji="1" lang="zh-CN" altLang="en-US" sz="2400" b="1">
                <a:solidFill>
                  <a:schemeClr val="tx2"/>
                </a:solidFill>
                <a:latin typeface="宋体" panose="02010600030101010101" pitchFamily="2" charset="-122"/>
              </a:endParaRPr>
            </a:p>
          </p:txBody>
        </p:sp>
        <p:graphicFrame>
          <p:nvGraphicFramePr>
            <p:cNvPr id="76820" name="Object 16"/>
            <p:cNvGraphicFramePr>
              <a:graphicFrameLocks noChangeAspect="1"/>
            </p:cNvGraphicFramePr>
            <p:nvPr/>
          </p:nvGraphicFramePr>
          <p:xfrm>
            <a:off x="1536" y="2640"/>
            <a:ext cx="1800" cy="216"/>
          </p:xfrm>
          <a:graphic>
            <a:graphicData uri="http://schemas.openxmlformats.org/presentationml/2006/ole">
              <mc:AlternateContent xmlns:mc="http://schemas.openxmlformats.org/markup-compatibility/2006">
                <mc:Choice xmlns:v="urn:schemas-microsoft-com:vml" Requires="v">
                  <p:oleObj spid="_x0000_s76876" name="" r:id="rId7" imgW="1905000" imgH="228600" progId="Equation.3">
                    <p:embed/>
                  </p:oleObj>
                </mc:Choice>
                <mc:Fallback>
                  <p:oleObj name="" r:id="rId7" imgW="1905000" imgH="2286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 y="2640"/>
                          <a:ext cx="180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21" name="Object 17"/>
            <p:cNvGraphicFramePr>
              <a:graphicFrameLocks noChangeAspect="1"/>
            </p:cNvGraphicFramePr>
            <p:nvPr/>
          </p:nvGraphicFramePr>
          <p:xfrm>
            <a:off x="3504" y="2544"/>
            <a:ext cx="1043" cy="408"/>
          </p:xfrm>
          <a:graphic>
            <a:graphicData uri="http://schemas.openxmlformats.org/presentationml/2006/ole">
              <mc:AlternateContent xmlns:mc="http://schemas.openxmlformats.org/markup-compatibility/2006">
                <mc:Choice xmlns:v="urn:schemas-microsoft-com:vml" Requires="v">
                  <p:oleObj spid="_x0000_s76877" name="" r:id="rId9" imgW="1091565" imgH="431800" progId="Equation.3">
                    <p:embed/>
                  </p:oleObj>
                </mc:Choice>
                <mc:Fallback>
                  <p:oleObj name="" r:id="rId9" imgW="1091565" imgH="431800"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4" y="2544"/>
                          <a:ext cx="104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6811" name="Rectangle 18"/>
          <p:cNvSpPr>
            <a:spLocks noChangeArrowheads="1"/>
          </p:cNvSpPr>
          <p:nvPr/>
        </p:nvSpPr>
        <p:spPr bwMode="auto">
          <a:xfrm>
            <a:off x="384333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812" name="Rectangle 19"/>
          <p:cNvSpPr>
            <a:spLocks noChangeArrowheads="1"/>
          </p:cNvSpPr>
          <p:nvPr/>
        </p:nvSpPr>
        <p:spPr bwMode="auto">
          <a:xfrm>
            <a:off x="41767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4" name="Group 20"/>
          <p:cNvGrpSpPr/>
          <p:nvPr/>
        </p:nvGrpSpPr>
        <p:grpSpPr bwMode="auto">
          <a:xfrm>
            <a:off x="685800" y="4724400"/>
            <a:ext cx="6002338" cy="1143000"/>
            <a:chOff x="432" y="2976"/>
            <a:chExt cx="3781" cy="720"/>
          </a:xfrm>
        </p:grpSpPr>
        <p:sp>
          <p:nvSpPr>
            <p:cNvPr id="76814" name="Text Box 21"/>
            <p:cNvSpPr txBox="1">
              <a:spLocks noChangeArrowheads="1"/>
            </p:cNvSpPr>
            <p:nvPr/>
          </p:nvSpPr>
          <p:spPr bwMode="auto">
            <a:xfrm>
              <a:off x="432" y="2976"/>
              <a:ext cx="31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求解</a:t>
              </a:r>
              <a:r>
                <a:rPr kumimoji="1" lang="en-US" altLang="zh-CN" sz="2400" b="1">
                  <a:solidFill>
                    <a:schemeClr val="tx2"/>
                  </a:solidFill>
                  <a:latin typeface="宋体" panose="02010600030101010101" pitchFamily="2" charset="-122"/>
                </a:rPr>
                <a:t>LPC</a:t>
              </a:r>
              <a:r>
                <a:rPr kumimoji="1" lang="zh-CN" altLang="en-US" sz="2400" b="1">
                  <a:solidFill>
                    <a:schemeClr val="tx2"/>
                  </a:solidFill>
                  <a:latin typeface="宋体" panose="02010600030101010101" pitchFamily="2" charset="-122"/>
                </a:rPr>
                <a:t>系数的方程组就可以写为：</a:t>
              </a:r>
              <a:endParaRPr kumimoji="1" lang="zh-CN" altLang="en-US" sz="2400" b="1">
                <a:solidFill>
                  <a:schemeClr val="tx2"/>
                </a:solidFill>
                <a:latin typeface="宋体" panose="02010600030101010101" pitchFamily="2" charset="-122"/>
              </a:endParaRPr>
            </a:p>
          </p:txBody>
        </p:sp>
        <p:graphicFrame>
          <p:nvGraphicFramePr>
            <p:cNvPr id="76815" name="Object 22"/>
            <p:cNvGraphicFramePr>
              <a:graphicFrameLocks noChangeAspect="1"/>
            </p:cNvGraphicFramePr>
            <p:nvPr/>
          </p:nvGraphicFramePr>
          <p:xfrm>
            <a:off x="1584" y="3287"/>
            <a:ext cx="1390" cy="409"/>
          </p:xfrm>
          <a:graphic>
            <a:graphicData uri="http://schemas.openxmlformats.org/presentationml/2006/ole">
              <mc:AlternateContent xmlns:mc="http://schemas.openxmlformats.org/markup-compatibility/2006">
                <mc:Choice xmlns:v="urn:schemas-microsoft-com:vml" Requires="v">
                  <p:oleObj spid="_x0000_s76878" name="" r:id="rId11" imgW="1459865" imgH="431800" progId="Equation.3">
                    <p:embed/>
                  </p:oleObj>
                </mc:Choice>
                <mc:Fallback>
                  <p:oleObj name="" r:id="rId11" imgW="1459865" imgH="4318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4" y="3287"/>
                          <a:ext cx="1390"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6" name="Object 23"/>
            <p:cNvGraphicFramePr>
              <a:graphicFrameLocks noChangeAspect="1"/>
            </p:cNvGraphicFramePr>
            <p:nvPr/>
          </p:nvGraphicFramePr>
          <p:xfrm>
            <a:off x="3456" y="3408"/>
            <a:ext cx="757" cy="191"/>
          </p:xfrm>
          <a:graphic>
            <a:graphicData uri="http://schemas.openxmlformats.org/presentationml/2006/ole">
              <mc:AlternateContent xmlns:mc="http://schemas.openxmlformats.org/markup-compatibility/2006">
                <mc:Choice xmlns:v="urn:schemas-microsoft-com:vml" Requires="v">
                  <p:oleObj spid="_x0000_s76879" name="" r:id="rId13" imgW="786765" imgH="203200" progId="Equation.3">
                    <p:embed/>
                  </p:oleObj>
                </mc:Choice>
                <mc:Fallback>
                  <p:oleObj name="" r:id="rId13" imgW="786765" imgH="20320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6" y="3408"/>
                          <a:ext cx="75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4133"/>
                                        </p:tgtEl>
                                        <p:attrNameLst>
                                          <p:attrName>style.visibility</p:attrName>
                                        </p:attrNameLst>
                                      </p:cBhvr>
                                      <p:to>
                                        <p:strVal val="visible"/>
                                      </p:to>
                                    </p:set>
                                    <p:animEffect transition="in" filter="wipe(up)">
                                      <p:cBhvr>
                                        <p:cTn id="7" dur="500"/>
                                        <p:tgtEl>
                                          <p:spTgt spid="3041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78851" name="Rectangle 3"/>
          <p:cNvSpPr>
            <a:spLocks noChangeArrowheads="1"/>
          </p:cNvSpPr>
          <p:nvPr/>
        </p:nvSpPr>
        <p:spPr bwMode="auto">
          <a:xfrm>
            <a:off x="249555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4"/>
          <p:cNvGrpSpPr/>
          <p:nvPr/>
        </p:nvGrpSpPr>
        <p:grpSpPr bwMode="auto">
          <a:xfrm>
            <a:off x="762000" y="1752600"/>
            <a:ext cx="6838950" cy="2662238"/>
            <a:chOff x="480" y="1104"/>
            <a:chExt cx="4308" cy="1677"/>
          </a:xfrm>
        </p:grpSpPr>
        <p:graphicFrame>
          <p:nvGraphicFramePr>
            <p:cNvPr id="78856" name="Object 5"/>
            <p:cNvGraphicFramePr>
              <a:graphicFrameLocks noChangeAspect="1"/>
            </p:cNvGraphicFramePr>
            <p:nvPr/>
          </p:nvGraphicFramePr>
          <p:xfrm>
            <a:off x="864" y="1440"/>
            <a:ext cx="3924" cy="1341"/>
          </p:xfrm>
          <a:graphic>
            <a:graphicData uri="http://schemas.openxmlformats.org/presentationml/2006/ole">
              <mc:AlternateContent xmlns:mc="http://schemas.openxmlformats.org/markup-compatibility/2006">
                <mc:Choice xmlns:v="urn:schemas-microsoft-com:vml" Requires="v">
                  <p:oleObj spid="_x0000_s78865" name="" r:id="rId1" imgW="4152900" imgH="1422400" progId="Equation.DSMT4">
                    <p:embed/>
                  </p:oleObj>
                </mc:Choice>
                <mc:Fallback>
                  <p:oleObj name="" r:id="rId1" imgW="4152900" imgH="14224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1440"/>
                          <a:ext cx="3924" cy="1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7" name="Text Box 6"/>
            <p:cNvSpPr txBox="1">
              <a:spLocks noChangeArrowheads="1"/>
            </p:cNvSpPr>
            <p:nvPr/>
          </p:nvSpPr>
          <p:spPr bwMode="auto">
            <a:xfrm>
              <a:off x="480" y="1104"/>
              <a:ext cx="19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将其转换成矩阵形式 </a:t>
              </a:r>
              <a:endParaRPr kumimoji="1" lang="zh-CN" altLang="en-US" sz="2400" b="1">
                <a:solidFill>
                  <a:schemeClr val="tx2"/>
                </a:solidFill>
                <a:latin typeface="宋体" panose="02010600030101010101" pitchFamily="2" charset="-122"/>
              </a:endParaRPr>
            </a:p>
          </p:txBody>
        </p:sp>
      </p:grpSp>
      <p:sp>
        <p:nvSpPr>
          <p:cNvPr id="306183" name="Text Box 7"/>
          <p:cNvSpPr txBox="1">
            <a:spLocks noChangeArrowheads="1"/>
          </p:cNvSpPr>
          <p:nvPr/>
        </p:nvSpPr>
        <p:spPr bwMode="auto">
          <a:xfrm>
            <a:off x="654050" y="4511675"/>
            <a:ext cx="780415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这种方程为</a:t>
            </a:r>
            <a:r>
              <a:rPr kumimoji="1" lang="en-US" altLang="zh-CN" sz="2400" b="1">
                <a:solidFill>
                  <a:srgbClr val="0070C0"/>
                </a:solidFill>
                <a:latin typeface="Times New Roman" panose="02020603050405020304" pitchFamily="18" charset="0"/>
                <a:cs typeface="Times New Roman" panose="02020603050405020304" pitchFamily="18" charset="0"/>
              </a:rPr>
              <a:t>Yule-Walker</a:t>
            </a:r>
            <a:r>
              <a:rPr kumimoji="1" lang="zh-CN" altLang="en-US" sz="2400" b="1">
                <a:solidFill>
                  <a:srgbClr val="0070C0"/>
                </a:solidFill>
                <a:latin typeface="宋体" panose="02010600030101010101" pitchFamily="2" charset="-122"/>
              </a:rPr>
              <a:t>方程</a:t>
            </a:r>
            <a:r>
              <a:rPr kumimoji="1" lang="zh-CN" altLang="en-US" sz="2400" b="1">
                <a:solidFill>
                  <a:schemeClr val="tx2"/>
                </a:solidFill>
                <a:latin typeface="宋体" panose="02010600030101010101" pitchFamily="2" charset="-122"/>
              </a:rPr>
              <a:t> ,其系数矩阵被称为</a:t>
            </a:r>
            <a:r>
              <a:rPr kumimoji="1" lang="zh-CN" altLang="en-US" sz="2400" b="1">
                <a:solidFill>
                  <a:srgbClr val="0070C0"/>
                </a:solidFill>
                <a:latin typeface="宋体" panose="02010600030101010101" pitchFamily="2" charset="-122"/>
              </a:rPr>
              <a:t>托布里兹(</a:t>
            </a:r>
            <a:r>
              <a:rPr kumimoji="1" lang="en-US" altLang="zh-CN" sz="2400" b="1">
                <a:solidFill>
                  <a:srgbClr val="0070C0"/>
                </a:solidFill>
                <a:latin typeface="Times New Roman" panose="02020603050405020304" pitchFamily="18" charset="0"/>
                <a:cs typeface="Times New Roman" panose="02020603050405020304" pitchFamily="18" charset="0"/>
              </a:rPr>
              <a:t>Toeplitz</a:t>
            </a:r>
            <a:r>
              <a:rPr kumimoji="1" lang="en-US" altLang="zh-CN" sz="2400" b="1">
                <a:solidFill>
                  <a:srgbClr val="0070C0"/>
                </a:solidFill>
                <a:latin typeface="宋体" panose="02010600030101010101" pitchFamily="2" charset="-122"/>
              </a:rPr>
              <a:t>)</a:t>
            </a:r>
            <a:r>
              <a:rPr kumimoji="1" lang="zh-CN" altLang="en-US" sz="2400" b="1">
                <a:solidFill>
                  <a:srgbClr val="0070C0"/>
                </a:solidFill>
                <a:latin typeface="宋体" panose="02010600030101010101" pitchFamily="2" charset="-122"/>
              </a:rPr>
              <a:t>矩阵</a:t>
            </a:r>
            <a:r>
              <a:rPr kumimoji="1" lang="zh-CN" altLang="en-US" sz="2400" b="1">
                <a:solidFill>
                  <a:schemeClr val="tx2"/>
                </a:solidFill>
                <a:latin typeface="宋体" panose="02010600030101010101" pitchFamily="2" charset="-122"/>
              </a:rPr>
              <a:t>。具有如下性质：  </a:t>
            </a:r>
            <a:endParaRPr kumimoji="1" lang="zh-CN" altLang="en-US" sz="2400" b="1">
              <a:solidFill>
                <a:schemeClr val="tx2"/>
              </a:solidFill>
              <a:latin typeface="宋体" panose="02010600030101010101" pitchFamily="2" charset="-122"/>
            </a:endParaRPr>
          </a:p>
        </p:txBody>
      </p:sp>
      <p:sp>
        <p:nvSpPr>
          <p:cNvPr id="306184" name="Text Box 8"/>
          <p:cNvSpPr txBox="1">
            <a:spLocks noChangeArrowheads="1"/>
          </p:cNvSpPr>
          <p:nvPr/>
        </p:nvSpPr>
        <p:spPr bwMode="auto">
          <a:xfrm>
            <a:off x="609600" y="5334000"/>
            <a:ext cx="3705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宋体" panose="02010600030101010101" pitchFamily="2" charset="-122"/>
              </a:rPr>
              <a:t>（1）</a:t>
            </a:r>
            <a:r>
              <a:rPr kumimoji="1" lang="en-US" altLang="zh-CN" sz="2400" b="1" i="1">
                <a:solidFill>
                  <a:schemeClr val="tx2"/>
                </a:solidFill>
                <a:latin typeface="宋体" panose="02010600030101010101" pitchFamily="2" charset="-122"/>
              </a:rPr>
              <a:t>p</a:t>
            </a:r>
            <a:r>
              <a:rPr kumimoji="1" lang="en-US" altLang="zh-CN" sz="2400" b="1">
                <a:solidFill>
                  <a:schemeClr val="tx2"/>
                </a:solidFill>
                <a:latin typeface="宋体" panose="02010600030101010101" pitchFamily="2" charset="-122"/>
                <a:cs typeface="Times New Roman" panose="02020603050405020304" pitchFamily="18" charset="0"/>
              </a:rPr>
              <a:t>×</a:t>
            </a:r>
            <a:r>
              <a:rPr kumimoji="1" lang="en-US" altLang="zh-CN" sz="2400" b="1" i="1">
                <a:solidFill>
                  <a:schemeClr val="tx2"/>
                </a:solidFill>
                <a:latin typeface="宋体" panose="02010600030101010101" pitchFamily="2" charset="-122"/>
              </a:rPr>
              <a:t>p </a:t>
            </a:r>
            <a:r>
              <a:rPr kumimoji="1" lang="zh-CN" altLang="en-US" sz="2400" b="1">
                <a:solidFill>
                  <a:schemeClr val="tx2"/>
                </a:solidFill>
                <a:latin typeface="宋体" panose="02010600030101010101" pitchFamily="2" charset="-122"/>
              </a:rPr>
              <a:t>阶的对称阵。 </a:t>
            </a:r>
            <a:endParaRPr kumimoji="1" lang="zh-CN" altLang="en-US" sz="2400" b="1">
              <a:solidFill>
                <a:schemeClr val="tx2"/>
              </a:solidFill>
              <a:latin typeface="宋体" panose="02010600030101010101" pitchFamily="2" charset="-122"/>
            </a:endParaRPr>
          </a:p>
        </p:txBody>
      </p:sp>
      <p:sp>
        <p:nvSpPr>
          <p:cNvPr id="306185" name="Text Box 9"/>
          <p:cNvSpPr txBox="1">
            <a:spLocks noChangeArrowheads="1"/>
          </p:cNvSpPr>
          <p:nvPr/>
        </p:nvSpPr>
        <p:spPr bwMode="auto">
          <a:xfrm>
            <a:off x="609600" y="5694363"/>
            <a:ext cx="7620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宋体" panose="02010600030101010101" pitchFamily="2" charset="-122"/>
              </a:rPr>
              <a:t>（2）</a:t>
            </a:r>
            <a:r>
              <a:rPr kumimoji="1" lang="zh-CN" altLang="en-US" sz="2400" b="1">
                <a:solidFill>
                  <a:schemeClr val="tx2"/>
                </a:solidFill>
                <a:latin typeface="宋体" panose="02010600030101010101" pitchFamily="2" charset="-122"/>
              </a:rPr>
              <a:t>沿着主对角线及任何一条与主对角线平行的斜线上的所有元素都相等 。 </a:t>
            </a:r>
            <a:endParaRPr kumimoji="1" lang="zh-CN" altLang="en-US" sz="2400" b="1">
              <a:solidFill>
                <a:schemeClr val="tx2"/>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6183"/>
                                        </p:tgtEl>
                                        <p:attrNameLst>
                                          <p:attrName>style.visibility</p:attrName>
                                        </p:attrNameLst>
                                      </p:cBhvr>
                                      <p:to>
                                        <p:strVal val="visible"/>
                                      </p:to>
                                    </p:set>
                                    <p:animEffect transition="in" filter="wipe(up)">
                                      <p:cBhvr>
                                        <p:cTn id="12" dur="500"/>
                                        <p:tgtEl>
                                          <p:spTgt spid="3061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6184"/>
                                        </p:tgtEl>
                                        <p:attrNameLst>
                                          <p:attrName>style.visibility</p:attrName>
                                        </p:attrNameLst>
                                      </p:cBhvr>
                                      <p:to>
                                        <p:strVal val="visible"/>
                                      </p:to>
                                    </p:set>
                                    <p:animEffect transition="in" filter="wipe(up)">
                                      <p:cBhvr>
                                        <p:cTn id="17" dur="500"/>
                                        <p:tgtEl>
                                          <p:spTgt spid="30618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06185">
                                            <p:txEl>
                                              <p:pRg st="0" end="0"/>
                                            </p:txEl>
                                          </p:spTgt>
                                        </p:tgtEl>
                                        <p:attrNameLst>
                                          <p:attrName>style.visibility</p:attrName>
                                        </p:attrNameLst>
                                      </p:cBhvr>
                                      <p:to>
                                        <p:strVal val="visible"/>
                                      </p:to>
                                    </p:set>
                                    <p:animEffect transition="in" filter="wipe(up)">
                                      <p:cBhvr>
                                        <p:cTn id="22" dur="500"/>
                                        <p:tgtEl>
                                          <p:spTgt spid="3061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3" grpId="0" autoUpdateAnimBg="0"/>
      <p:bldP spid="306184" grpId="0" autoUpdateAnimBg="0"/>
      <p:bldP spid="306185" grpId="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08227" name="Text Box 3"/>
          <p:cNvSpPr txBox="1">
            <a:spLocks noChangeArrowheads="1"/>
          </p:cNvSpPr>
          <p:nvPr/>
        </p:nvSpPr>
        <p:spPr bwMode="auto">
          <a:xfrm>
            <a:off x="585788" y="2060575"/>
            <a:ext cx="83121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宋体" panose="02010600030101010101" pitchFamily="2" charset="-122"/>
              </a:rPr>
              <a:t>Yule-Walker</a:t>
            </a:r>
            <a:r>
              <a:rPr kumimoji="1" lang="zh-CN" altLang="en-US" sz="2400" b="1">
                <a:solidFill>
                  <a:schemeClr val="tx2"/>
                </a:solidFill>
                <a:latin typeface="宋体" panose="02010600030101010101" pitchFamily="2" charset="-122"/>
              </a:rPr>
              <a:t>方程可以用递推的方式来求解。典型的方法有：</a:t>
            </a:r>
            <a:endParaRPr kumimoji="1" lang="zh-CN" altLang="en-US" sz="2400" b="1">
              <a:solidFill>
                <a:schemeClr val="tx2"/>
              </a:solidFill>
              <a:latin typeface="宋体" panose="02010600030101010101" pitchFamily="2" charset="-122"/>
            </a:endParaRPr>
          </a:p>
          <a:p>
            <a:pPr eaLnBrk="1" hangingPunct="1">
              <a:spcBef>
                <a:spcPct val="0"/>
              </a:spcBef>
              <a:buFontTx/>
              <a:buNone/>
            </a:pPr>
            <a:endParaRPr kumimoji="1" lang="zh-CN" altLang="en-US" sz="2400" b="1">
              <a:solidFill>
                <a:schemeClr val="tx2"/>
              </a:solidFill>
              <a:latin typeface="宋体" panose="02010600030101010101" pitchFamily="2" charset="-122"/>
            </a:endParaRPr>
          </a:p>
          <a:p>
            <a:pPr lvl="1" eaLnBrk="1" hangingPunct="1">
              <a:spcBef>
                <a:spcPct val="0"/>
              </a:spcBef>
              <a:buFont typeface="Wingdings" panose="05000000000000000000" pitchFamily="2" charset="2"/>
              <a:buChar char="Ø"/>
            </a:pPr>
            <a:r>
              <a:rPr kumimoji="1" lang="zh-CN" altLang="en-US" sz="2400" b="1">
                <a:solidFill>
                  <a:schemeClr val="tx2"/>
                </a:solidFill>
                <a:latin typeface="宋体" panose="02010600030101010101" pitchFamily="2" charset="-122"/>
              </a:rPr>
              <a:t> 莱文逊</a:t>
            </a:r>
            <a:r>
              <a:rPr kumimoji="1" lang="zh-CN" altLang="en-US" sz="2400" b="1">
                <a:solidFill>
                  <a:schemeClr val="tx2"/>
                </a:solidFill>
                <a:latin typeface="Times New Roman" panose="02020603050405020304" pitchFamily="18" charset="0"/>
              </a:rPr>
              <a:t>—</a:t>
            </a:r>
            <a:r>
              <a:rPr kumimoji="1" lang="zh-CN" altLang="en-US" sz="2400" b="1">
                <a:solidFill>
                  <a:schemeClr val="tx2"/>
                </a:solidFill>
                <a:latin typeface="宋体" panose="02010600030101010101" pitchFamily="2" charset="-122"/>
              </a:rPr>
              <a:t>杜宾（</a:t>
            </a:r>
            <a:r>
              <a:rPr kumimoji="1" lang="en-US" altLang="zh-CN" sz="2400" b="1">
                <a:solidFill>
                  <a:schemeClr val="tx2"/>
                </a:solidFill>
                <a:latin typeface="宋体" panose="02010600030101010101" pitchFamily="2" charset="-122"/>
              </a:rPr>
              <a:t>Levinson</a:t>
            </a:r>
            <a:r>
              <a:rPr kumimoji="1" lang="en-US" altLang="zh-CN" sz="2400" b="1">
                <a:solidFill>
                  <a:schemeClr val="tx2"/>
                </a:solidFill>
                <a:latin typeface="Times New Roman" panose="02020603050405020304" pitchFamily="18" charset="0"/>
              </a:rPr>
              <a:t>—</a:t>
            </a:r>
            <a:r>
              <a:rPr kumimoji="1" lang="en-US" altLang="zh-CN" sz="2400" b="1">
                <a:solidFill>
                  <a:schemeClr val="tx2"/>
                </a:solidFill>
                <a:latin typeface="宋体" panose="02010600030101010101" pitchFamily="2" charset="-122"/>
              </a:rPr>
              <a:t>Durbin）</a:t>
            </a:r>
            <a:r>
              <a:rPr kumimoji="1" lang="zh-CN" altLang="en-US" sz="2400" b="1">
                <a:solidFill>
                  <a:schemeClr val="tx2"/>
                </a:solidFill>
                <a:latin typeface="宋体" panose="02010600030101010101" pitchFamily="2" charset="-122"/>
              </a:rPr>
              <a:t>递推算法 </a:t>
            </a:r>
            <a:endParaRPr kumimoji="1" lang="zh-CN" altLang="en-US" sz="2400" b="1">
              <a:solidFill>
                <a:schemeClr val="tx2"/>
              </a:solidFill>
              <a:latin typeface="宋体" panose="02010600030101010101" pitchFamily="2" charset="-122"/>
            </a:endParaRPr>
          </a:p>
          <a:p>
            <a:pPr lvl="1" eaLnBrk="1" hangingPunct="1">
              <a:spcBef>
                <a:spcPct val="0"/>
              </a:spcBef>
              <a:buFont typeface="Wingdings" panose="05000000000000000000" pitchFamily="2" charset="2"/>
              <a:buNone/>
            </a:pPr>
            <a:endParaRPr kumimoji="1" lang="zh-CN" altLang="en-US" sz="2400" b="1">
              <a:solidFill>
                <a:schemeClr val="tx2"/>
              </a:solidFill>
              <a:latin typeface="宋体" panose="02010600030101010101" pitchFamily="2" charset="-122"/>
            </a:endParaRPr>
          </a:p>
          <a:p>
            <a:pPr lvl="1" eaLnBrk="1" hangingPunct="1">
              <a:spcBef>
                <a:spcPct val="0"/>
              </a:spcBef>
              <a:buFont typeface="Wingdings" panose="05000000000000000000" pitchFamily="2" charset="2"/>
              <a:buChar char="Ø"/>
            </a:pPr>
            <a:r>
              <a:rPr kumimoji="1" lang="zh-CN" altLang="en-US" sz="2400" b="1">
                <a:solidFill>
                  <a:schemeClr val="tx2"/>
                </a:solidFill>
                <a:latin typeface="宋体" panose="02010600030101010101" pitchFamily="2" charset="-122"/>
              </a:rPr>
              <a:t> 舒尔（</a:t>
            </a:r>
            <a:r>
              <a:rPr kumimoji="1" lang="en-US" altLang="zh-CN" sz="2400" b="1">
                <a:solidFill>
                  <a:schemeClr val="tx2"/>
                </a:solidFill>
                <a:latin typeface="宋体" panose="02010600030101010101" pitchFamily="2" charset="-122"/>
              </a:rPr>
              <a:t>Schur）</a:t>
            </a:r>
            <a:r>
              <a:rPr kumimoji="1" lang="zh-CN" altLang="en-US" sz="2400" b="1">
                <a:solidFill>
                  <a:schemeClr val="tx2"/>
                </a:solidFill>
                <a:latin typeface="宋体" panose="02010600030101010101" pitchFamily="2" charset="-122"/>
              </a:rPr>
              <a:t>递推算法 </a:t>
            </a:r>
            <a:endParaRPr kumimoji="1" lang="zh-CN" altLang="en-US" sz="2400" b="1">
              <a:solidFill>
                <a:schemeClr val="tx2"/>
              </a:solidFill>
              <a:latin typeface="宋体" panose="02010600030101010101" pitchFamily="2" charset="-122"/>
            </a:endParaRPr>
          </a:p>
        </p:txBody>
      </p:sp>
      <p:sp>
        <p:nvSpPr>
          <p:cNvPr id="80900" name="Text Box 4"/>
          <p:cNvSpPr txBox="1">
            <a:spLocks noChangeArrowheads="1"/>
          </p:cNvSpPr>
          <p:nvPr/>
        </p:nvSpPr>
        <p:spPr bwMode="auto">
          <a:xfrm>
            <a:off x="882650" y="3144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b="1">
              <a:solidFill>
                <a:schemeClr val="tx2"/>
              </a:solidFill>
              <a:latin typeface="宋体" panose="02010600030101010101" pitchFamily="2" charset="-122"/>
            </a:endParaRPr>
          </a:p>
        </p:txBody>
      </p:sp>
      <p:sp>
        <p:nvSpPr>
          <p:cNvPr id="80901" name="Rectangle 5"/>
          <p:cNvSpPr>
            <a:spLocks noChangeArrowheads="1"/>
          </p:cNvSpPr>
          <p:nvPr/>
        </p:nvSpPr>
        <p:spPr bwMode="auto">
          <a:xfrm>
            <a:off x="3671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02" name="Rectangle 6"/>
          <p:cNvSpPr>
            <a:spLocks noChangeArrowheads="1"/>
          </p:cNvSpPr>
          <p:nvPr/>
        </p:nvSpPr>
        <p:spPr bwMode="auto">
          <a:xfrm>
            <a:off x="418623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03" name="Rectangle 7"/>
          <p:cNvSpPr>
            <a:spLocks noChangeArrowheads="1"/>
          </p:cNvSpPr>
          <p:nvPr/>
        </p:nvSpPr>
        <p:spPr bwMode="auto">
          <a:xfrm>
            <a:off x="4424363"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04" name="Rectangle 8"/>
          <p:cNvSpPr>
            <a:spLocks noChangeArrowheads="1"/>
          </p:cNvSpPr>
          <p:nvPr/>
        </p:nvSpPr>
        <p:spPr bwMode="auto">
          <a:xfrm>
            <a:off x="3695700" y="3119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wipe(up)">
                                      <p:cBhvr>
                                        <p:cTn id="7" dur="500"/>
                                        <p:tgtEl>
                                          <p:spTgt spid="30822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08227">
                                            <p:txEl>
                                              <p:pRg st="2" end="2"/>
                                            </p:txEl>
                                          </p:spTgt>
                                        </p:tgtEl>
                                        <p:attrNameLst>
                                          <p:attrName>style.visibility</p:attrName>
                                        </p:attrNameLst>
                                      </p:cBhvr>
                                      <p:to>
                                        <p:strVal val="visible"/>
                                      </p:to>
                                    </p:set>
                                    <p:animEffect transition="in" filter="wipe(up)">
                                      <p:cBhvr>
                                        <p:cTn id="10" dur="500"/>
                                        <p:tgtEl>
                                          <p:spTgt spid="308227">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08227">
                                            <p:txEl>
                                              <p:pRg st="4" end="4"/>
                                            </p:txEl>
                                          </p:spTgt>
                                        </p:tgtEl>
                                        <p:attrNameLst>
                                          <p:attrName>style.visibility</p:attrName>
                                        </p:attrNameLst>
                                      </p:cBhvr>
                                      <p:to>
                                        <p:strVal val="visible"/>
                                      </p:to>
                                    </p:set>
                                    <p:animEffect transition="in" filter="wipe(up)">
                                      <p:cBhvr>
                                        <p:cTn id="13" dur="500"/>
                                        <p:tgtEl>
                                          <p:spTgt spid="308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82947" name="Text Box 4"/>
          <p:cNvSpPr txBox="1">
            <a:spLocks noChangeArrowheads="1"/>
          </p:cNvSpPr>
          <p:nvPr/>
        </p:nvSpPr>
        <p:spPr bwMode="auto">
          <a:xfrm>
            <a:off x="882650" y="3144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b="1">
              <a:solidFill>
                <a:schemeClr val="tx2"/>
              </a:solidFill>
              <a:latin typeface="宋体" panose="02010600030101010101" pitchFamily="2" charset="-122"/>
            </a:endParaRPr>
          </a:p>
        </p:txBody>
      </p:sp>
      <p:sp>
        <p:nvSpPr>
          <p:cNvPr id="82948" name="Rectangle 5"/>
          <p:cNvSpPr>
            <a:spLocks noChangeArrowheads="1"/>
          </p:cNvSpPr>
          <p:nvPr/>
        </p:nvSpPr>
        <p:spPr bwMode="auto">
          <a:xfrm>
            <a:off x="3671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49" name="Rectangle 6"/>
          <p:cNvSpPr>
            <a:spLocks noChangeArrowheads="1"/>
          </p:cNvSpPr>
          <p:nvPr/>
        </p:nvSpPr>
        <p:spPr bwMode="auto">
          <a:xfrm>
            <a:off x="418623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50" name="Rectangle 7"/>
          <p:cNvSpPr>
            <a:spLocks noChangeArrowheads="1"/>
          </p:cNvSpPr>
          <p:nvPr/>
        </p:nvSpPr>
        <p:spPr bwMode="auto">
          <a:xfrm>
            <a:off x="4424363"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2951" name="Rectangle 8"/>
          <p:cNvSpPr>
            <a:spLocks noChangeArrowheads="1"/>
          </p:cNvSpPr>
          <p:nvPr/>
        </p:nvSpPr>
        <p:spPr bwMode="auto">
          <a:xfrm>
            <a:off x="3695700" y="3119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08233" name="Text Box 9"/>
          <p:cNvSpPr txBox="1">
            <a:spLocks noChangeArrowheads="1"/>
          </p:cNvSpPr>
          <p:nvPr/>
        </p:nvSpPr>
        <p:spPr bwMode="auto">
          <a:xfrm>
            <a:off x="955675" y="1562100"/>
            <a:ext cx="77724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defRPr/>
            </a:pPr>
            <a:r>
              <a:rPr kumimoji="1" lang="zh-CN" altLang="en-US" sz="2400" b="1" dirty="0">
                <a:solidFill>
                  <a:schemeClr val="tx2"/>
                </a:solidFill>
                <a:latin typeface="Times New Roman" panose="02020603050405020304" pitchFamily="18" charset="0"/>
                <a:cs typeface="Times New Roman" panose="02020603050405020304" pitchFamily="18" charset="0"/>
              </a:rPr>
              <a:t>莱文逊—杜宾</a:t>
            </a:r>
            <a:r>
              <a:rPr kumimoji="1" lang="en-US" altLang="zh-CN" sz="2400" b="1" dirty="0">
                <a:solidFill>
                  <a:schemeClr val="tx2"/>
                </a:solidFill>
                <a:latin typeface="Times New Roman" panose="02020603050405020304" pitchFamily="18" charset="0"/>
                <a:cs typeface="Times New Roman" panose="02020603050405020304" pitchFamily="18" charset="0"/>
              </a:rPr>
              <a:t>(</a:t>
            </a:r>
            <a:r>
              <a:rPr kumimoji="1" lang="en-US" altLang="zh-CN" sz="2400" b="1" dirty="0" err="1">
                <a:solidFill>
                  <a:schemeClr val="tx2"/>
                </a:solidFill>
                <a:latin typeface="Times New Roman" panose="02020603050405020304" pitchFamily="18" charset="0"/>
                <a:cs typeface="Times New Roman" panose="02020603050405020304" pitchFamily="18" charset="0"/>
              </a:rPr>
              <a:t>levinson-durbin</a:t>
            </a:r>
            <a:r>
              <a:rPr kumimoji="1" lang="en-US" altLang="zh-CN" sz="2400" b="1" dirty="0">
                <a:solidFill>
                  <a:schemeClr val="tx2"/>
                </a:solidFill>
                <a:latin typeface="Times New Roman" panose="02020603050405020304" pitchFamily="18" charset="0"/>
                <a:cs typeface="Times New Roman" panose="02020603050405020304" pitchFamily="18" charset="0"/>
              </a:rPr>
              <a:t>)</a:t>
            </a:r>
            <a:r>
              <a:rPr kumimoji="1" lang="zh-CN" altLang="en-US" sz="2400" b="1" dirty="0">
                <a:solidFill>
                  <a:schemeClr val="tx2"/>
                </a:solidFill>
                <a:latin typeface="Times New Roman" panose="02020603050405020304" pitchFamily="18" charset="0"/>
                <a:cs typeface="Times New Roman" panose="02020603050405020304" pitchFamily="18" charset="0"/>
              </a:rPr>
              <a:t>递推算法</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a:p>
            <a:pPr marL="342900" indent="-342900" eaLnBrk="1" hangingPunct="1">
              <a:lnSpc>
                <a:spcPct val="150000"/>
              </a:lnSpc>
              <a:spcBef>
                <a:spcPct val="0"/>
              </a:spcBef>
              <a:buFont typeface="Wingdings" panose="05000000000000000000" pitchFamily="2" charset="2"/>
              <a:buChar char="Ø"/>
              <a:defRPr/>
            </a:pPr>
            <a:r>
              <a:rPr kumimoji="1" lang="zh-CN" altLang="en-US" sz="2400" b="1" dirty="0">
                <a:solidFill>
                  <a:schemeClr val="tx2"/>
                </a:solidFill>
                <a:latin typeface="宋体" panose="02010600030101010101" pitchFamily="2" charset="-122"/>
              </a:rPr>
              <a:t>不直接计算</a:t>
            </a:r>
            <a:r>
              <a:rPr kumimoji="1" lang="en-US" altLang="zh-CN" sz="2400" i="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宋体" panose="02010600030101010101" pitchFamily="2" charset="-122"/>
              </a:rPr>
              <a:t>阶预测器</a:t>
            </a:r>
            <a:endParaRPr kumimoji="1" lang="en-US" altLang="zh-CN" sz="2400" b="1" dirty="0">
              <a:solidFill>
                <a:schemeClr val="tx2"/>
              </a:solidFill>
              <a:latin typeface="宋体" panose="02010600030101010101" pitchFamily="2" charset="-122"/>
            </a:endParaRPr>
          </a:p>
          <a:p>
            <a:pPr marL="342900" indent="-342900" eaLnBrk="1" hangingPunct="1">
              <a:lnSpc>
                <a:spcPct val="150000"/>
              </a:lnSpc>
              <a:spcBef>
                <a:spcPct val="0"/>
              </a:spcBef>
              <a:buFont typeface="Wingdings" panose="05000000000000000000" pitchFamily="2" charset="2"/>
              <a:buChar char="Ø"/>
              <a:defRPr/>
            </a:pPr>
            <a:r>
              <a:rPr kumimoji="1" lang="zh-CN" altLang="en-US" sz="2400" b="1" dirty="0">
                <a:solidFill>
                  <a:schemeClr val="tx2"/>
                </a:solidFill>
                <a:latin typeface="宋体" panose="02010600030101010101" pitchFamily="2" charset="-122"/>
              </a:rPr>
              <a:t>从一阶预测器开始，逐一递推各阶预测器</a:t>
            </a:r>
            <a:endParaRPr kumimoji="1" lang="en-US" altLang="zh-CN" sz="2400" b="1" dirty="0">
              <a:solidFill>
                <a:schemeClr val="tx2"/>
              </a:solidFill>
              <a:latin typeface="宋体" panose="02010600030101010101" pitchFamily="2" charset="-122"/>
            </a:endParaRPr>
          </a:p>
          <a:p>
            <a:pPr marL="342900" indent="-342900" eaLnBrk="1" hangingPunct="1">
              <a:lnSpc>
                <a:spcPct val="150000"/>
              </a:lnSpc>
              <a:spcBef>
                <a:spcPct val="0"/>
              </a:spcBef>
              <a:buFont typeface="Wingdings" panose="05000000000000000000" pitchFamily="2" charset="2"/>
              <a:buChar char="Ø"/>
              <a:defRPr/>
            </a:pPr>
            <a:r>
              <a:rPr kumimoji="1" lang="zh-CN" altLang="en-US" sz="2400" b="1" dirty="0">
                <a:solidFill>
                  <a:schemeClr val="tx2"/>
                </a:solidFill>
                <a:latin typeface="宋体" panose="02010600030101010101" pitchFamily="2" charset="-122"/>
              </a:rPr>
              <a:t>第</a:t>
            </a:r>
            <a:r>
              <a:rPr kumimoji="1" lang="en-US" altLang="zh-CN" sz="2400" i="1" dirty="0" err="1">
                <a:solidFill>
                  <a:schemeClr val="tx2"/>
                </a:solidFill>
                <a:latin typeface="Times New Roman" panose="02020603050405020304" pitchFamily="18" charset="0"/>
                <a:cs typeface="Times New Roman" panose="02020603050405020304" pitchFamily="18" charset="0"/>
              </a:rPr>
              <a:t>i</a:t>
            </a:r>
            <a:r>
              <a:rPr kumimoji="1" lang="zh-CN" altLang="en-US" sz="2400" b="1" dirty="0">
                <a:solidFill>
                  <a:schemeClr val="tx2"/>
                </a:solidFill>
                <a:latin typeface="宋体" panose="02010600030101010101" pitchFamily="2" charset="-122"/>
              </a:rPr>
              <a:t>阶预测器的系数可以用第</a:t>
            </a:r>
            <a:r>
              <a:rPr kumimoji="1" lang="en-US" altLang="zh-CN" sz="2400" i="1" dirty="0">
                <a:solidFill>
                  <a:schemeClr val="tx2"/>
                </a:solidFill>
                <a:latin typeface="Times New Roman" panose="02020603050405020304" pitchFamily="18" charset="0"/>
                <a:cs typeface="Times New Roman" panose="02020603050405020304" pitchFamily="18" charset="0"/>
              </a:rPr>
              <a:t>i</a:t>
            </a:r>
            <a:r>
              <a:rPr kumimoji="1" lang="en-US" altLang="zh-CN" sz="2400" b="1" dirty="0">
                <a:solidFill>
                  <a:schemeClr val="tx2"/>
                </a:solidFill>
                <a:latin typeface="宋体" panose="02010600030101010101" pitchFamily="2" charset="-122"/>
              </a:rPr>
              <a:t>-1</a:t>
            </a:r>
            <a:r>
              <a:rPr kumimoji="1" lang="zh-CN" altLang="en-US" sz="2400" b="1" dirty="0">
                <a:solidFill>
                  <a:schemeClr val="tx2"/>
                </a:solidFill>
                <a:latin typeface="宋体" panose="02010600030101010101" pitchFamily="2" charset="-122"/>
              </a:rPr>
              <a:t>阶预测器的系数递推得到</a:t>
            </a:r>
            <a:endParaRPr kumimoji="1" lang="en-US" altLang="zh-CN" sz="2400" b="1" dirty="0">
              <a:solidFill>
                <a:schemeClr val="tx2"/>
              </a:solidFill>
              <a:latin typeface="宋体" panose="02010600030101010101" pitchFamily="2" charset="-122"/>
            </a:endParaRPr>
          </a:p>
          <a:p>
            <a:pPr marL="342900" indent="-342900" eaLnBrk="1" hangingPunct="1">
              <a:lnSpc>
                <a:spcPct val="150000"/>
              </a:lnSpc>
              <a:spcBef>
                <a:spcPct val="0"/>
              </a:spcBef>
              <a:buFont typeface="Wingdings" panose="05000000000000000000" pitchFamily="2" charset="2"/>
              <a:buChar char="Ø"/>
              <a:defRPr/>
            </a:pPr>
            <a:r>
              <a:rPr kumimoji="1" lang="zh-CN" altLang="en-US" sz="2400" b="1" dirty="0">
                <a:solidFill>
                  <a:schemeClr val="tx2"/>
                </a:solidFill>
                <a:latin typeface="宋体" panose="02010600030101010101" pitchFamily="2" charset="-122"/>
              </a:rPr>
              <a:t>直到递推出</a:t>
            </a:r>
            <a:r>
              <a:rPr kumimoji="1" lang="en-US" altLang="zh-CN" sz="2400" i="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宋体" panose="02010600030101010101" pitchFamily="2" charset="-122"/>
              </a:rPr>
              <a:t>阶预测器的系数</a:t>
            </a:r>
            <a:endParaRPr kumimoji="1" lang="en-US" altLang="zh-CN" sz="2400" b="1" dirty="0">
              <a:solidFill>
                <a:schemeClr val="tx2"/>
              </a:solidFill>
              <a:latin typeface="宋体" panose="02010600030101010101" pitchFamily="2" charset="-122"/>
            </a:endParaRPr>
          </a:p>
          <a:p>
            <a:pPr marL="342900" indent="-342900" eaLnBrk="1" hangingPunct="1">
              <a:lnSpc>
                <a:spcPct val="150000"/>
              </a:lnSpc>
              <a:spcBef>
                <a:spcPct val="0"/>
              </a:spcBef>
              <a:buFont typeface="Wingdings" panose="05000000000000000000" pitchFamily="2" charset="2"/>
              <a:buChar char="Ø"/>
              <a:defRPr/>
            </a:pPr>
            <a:r>
              <a:rPr kumimoji="1" lang="zh-CN" altLang="en-US" sz="2400" b="1" dirty="0">
                <a:solidFill>
                  <a:schemeClr val="tx2"/>
                </a:solidFill>
                <a:latin typeface="宋体" panose="02010600030101010101" pitchFamily="2" charset="-122"/>
              </a:rPr>
              <a:t>用到了</a:t>
            </a:r>
            <a:r>
              <a:rPr kumimoji="1" lang="en-US" altLang="zh-CN" sz="2400" i="1" dirty="0" err="1">
                <a:solidFill>
                  <a:schemeClr val="tx2"/>
                </a:solidFill>
                <a:latin typeface="Times New Roman" panose="02020603050405020304" pitchFamily="18" charset="0"/>
                <a:cs typeface="Times New Roman" panose="02020603050405020304" pitchFamily="18" charset="0"/>
              </a:rPr>
              <a:t>i</a:t>
            </a:r>
            <a:r>
              <a:rPr kumimoji="1" lang="zh-CN" altLang="en-US" sz="2400" b="1" dirty="0">
                <a:solidFill>
                  <a:schemeClr val="tx2"/>
                </a:solidFill>
                <a:latin typeface="宋体" panose="02010600030101010101" pitchFamily="2" charset="-122"/>
              </a:rPr>
              <a:t>阶预测器的预测误差能量   和一个中间系数</a:t>
            </a:r>
            <a:endParaRPr kumimoji="1" lang="en-US" altLang="zh-CN" sz="2400" b="1" dirty="0">
              <a:solidFill>
                <a:schemeClr val="tx2"/>
              </a:solidFill>
              <a:latin typeface="宋体" panose="02010600030101010101" pitchFamily="2" charset="-122"/>
            </a:endParaRPr>
          </a:p>
          <a:p>
            <a:pPr marL="342900" indent="-342900" eaLnBrk="1" hangingPunct="1">
              <a:lnSpc>
                <a:spcPct val="150000"/>
              </a:lnSpc>
              <a:spcBef>
                <a:spcPct val="0"/>
              </a:spcBef>
              <a:buFont typeface="Wingdings" panose="05000000000000000000" pitchFamily="2" charset="2"/>
              <a:buChar char="Ø"/>
              <a:defRPr/>
            </a:pPr>
            <a:endParaRPr kumimoji="1" lang="zh-CN" altLang="en-US" sz="2400" b="1" dirty="0">
              <a:solidFill>
                <a:schemeClr val="tx2"/>
              </a:solidFill>
              <a:latin typeface="宋体" panose="02010600030101010101" pitchFamily="2" charset="-122"/>
            </a:endParaRPr>
          </a:p>
        </p:txBody>
      </p:sp>
      <p:graphicFrame>
        <p:nvGraphicFramePr>
          <p:cNvPr id="10" name="Object 19"/>
          <p:cNvGraphicFramePr>
            <a:graphicFrameLocks noChangeAspect="1"/>
          </p:cNvGraphicFramePr>
          <p:nvPr/>
        </p:nvGraphicFramePr>
        <p:xfrm>
          <a:off x="5867400" y="4867275"/>
          <a:ext cx="384175" cy="284163"/>
        </p:xfrm>
        <a:graphic>
          <a:graphicData uri="http://schemas.openxmlformats.org/presentationml/2006/ole">
            <mc:AlternateContent xmlns:mc="http://schemas.openxmlformats.org/markup-compatibility/2006">
              <mc:Choice xmlns:v="urn:schemas-microsoft-com:vml" Requires="v">
                <p:oleObj spid="_x0000_s82970" name="Equation" r:id="rId1" imgW="254000" imgH="190500" progId="Equation.DSMT4">
                  <p:embed/>
                </p:oleObj>
              </mc:Choice>
              <mc:Fallback>
                <p:oleObj name="Equation" r:id="rId1" imgW="254000" imgH="190500" progId="Equation.DSMT4">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867275"/>
                        <a:ext cx="384175"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nvGraphicFramePr>
        <p:xfrm>
          <a:off x="8394700" y="4868863"/>
          <a:ext cx="209550" cy="341312"/>
        </p:xfrm>
        <a:graphic>
          <a:graphicData uri="http://schemas.openxmlformats.org/presentationml/2006/ole">
            <mc:AlternateContent xmlns:mc="http://schemas.openxmlformats.org/markup-compatibility/2006">
              <mc:Choice xmlns:v="urn:schemas-microsoft-com:vml" Requires="v">
                <p:oleObj spid="_x0000_s82971" name="Equation" r:id="rId3" imgW="139700" imgH="228600" progId="Equation.DSMT4">
                  <p:embed/>
                </p:oleObj>
              </mc:Choice>
              <mc:Fallback>
                <p:oleObj name="Equation" r:id="rId3" imgW="1397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4700" y="4868863"/>
                        <a:ext cx="20955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631825" y="6165850"/>
            <a:ext cx="8116888" cy="400050"/>
          </a:xfrm>
          <a:prstGeom prst="rect">
            <a:avLst/>
          </a:prstGeom>
        </p:spPr>
        <p:txBody>
          <a:bodyPr>
            <a:spAutoFit/>
          </a:bodyPr>
          <a:lstStyle/>
          <a:p>
            <a:pPr algn="just">
              <a:spcAft>
                <a:spcPts val="0"/>
              </a:spcAft>
              <a:defRPr/>
            </a:pPr>
            <a:r>
              <a:rPr lang="zh-CN" altLang="zh-CN" kern="100" dirty="0">
                <a:solidFill>
                  <a:srgbClr val="FF0000"/>
                </a:solidFill>
                <a:cs typeface="Arial" panose="020B0604020202020204" pitchFamily="34" charset="0"/>
              </a:rPr>
              <a:t>张贤达等</a:t>
            </a:r>
            <a:r>
              <a:rPr lang="en-US" altLang="zh-CN" kern="100" dirty="0">
                <a:solidFill>
                  <a:srgbClr val="FF0000"/>
                </a:solidFill>
                <a:cs typeface="Times New Roman" panose="02020603050405020304" pitchFamily="18" charset="0"/>
              </a:rPr>
              <a:t>,</a:t>
            </a:r>
            <a:r>
              <a:rPr lang="zh-CN" altLang="zh-CN" kern="100" dirty="0">
                <a:solidFill>
                  <a:srgbClr val="FF0000"/>
                </a:solidFill>
                <a:cs typeface="Arial" panose="020B0604020202020204" pitchFamily="34" charset="0"/>
              </a:rPr>
              <a:t>《现代信号处理》</a:t>
            </a:r>
            <a:r>
              <a:rPr lang="en-US" altLang="zh-CN" kern="100" dirty="0">
                <a:solidFill>
                  <a:srgbClr val="FF0000"/>
                </a:solidFill>
                <a:cs typeface="Times New Roman" panose="02020603050405020304" pitchFamily="18" charset="0"/>
              </a:rPr>
              <a:t>,</a:t>
            </a:r>
            <a:r>
              <a:rPr lang="zh-CN" altLang="zh-CN" kern="100" dirty="0">
                <a:solidFill>
                  <a:srgbClr val="FF0000"/>
                </a:solidFill>
                <a:cs typeface="Arial" panose="020B0604020202020204" pitchFamily="34" charset="0"/>
              </a:rPr>
              <a:t>清华大学出版社</a:t>
            </a:r>
            <a:endParaRPr lang="zh-CN" altLang="zh-CN" sz="2000" kern="100" dirty="0">
              <a:solidFill>
                <a:srgbClr val="FF0000"/>
              </a:solidFill>
              <a:latin typeface="Calibri" panose="020F0502020204030204" pitchFamily="34"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8233">
                                            <p:txEl>
                                              <p:pRg st="0" end="0"/>
                                            </p:txEl>
                                          </p:spTgt>
                                        </p:tgtEl>
                                        <p:attrNameLst>
                                          <p:attrName>style.visibility</p:attrName>
                                        </p:attrNameLst>
                                      </p:cBhvr>
                                      <p:to>
                                        <p:strVal val="visible"/>
                                      </p:to>
                                    </p:set>
                                    <p:animEffect transition="in" filter="wipe(up)">
                                      <p:cBhvr>
                                        <p:cTn id="7" dur="500"/>
                                        <p:tgtEl>
                                          <p:spTgt spid="3082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8233">
                                            <p:txEl>
                                              <p:pRg st="1" end="1"/>
                                            </p:txEl>
                                          </p:spTgt>
                                        </p:tgtEl>
                                        <p:attrNameLst>
                                          <p:attrName>style.visibility</p:attrName>
                                        </p:attrNameLst>
                                      </p:cBhvr>
                                      <p:to>
                                        <p:strVal val="visible"/>
                                      </p:to>
                                    </p:set>
                                    <p:animEffect transition="in" filter="wipe(up)">
                                      <p:cBhvr>
                                        <p:cTn id="12" dur="500"/>
                                        <p:tgtEl>
                                          <p:spTgt spid="3082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8233">
                                            <p:txEl>
                                              <p:pRg st="2" end="2"/>
                                            </p:txEl>
                                          </p:spTgt>
                                        </p:tgtEl>
                                        <p:attrNameLst>
                                          <p:attrName>style.visibility</p:attrName>
                                        </p:attrNameLst>
                                      </p:cBhvr>
                                      <p:to>
                                        <p:strVal val="visible"/>
                                      </p:to>
                                    </p:set>
                                    <p:animEffect transition="in" filter="wipe(up)">
                                      <p:cBhvr>
                                        <p:cTn id="17" dur="500"/>
                                        <p:tgtEl>
                                          <p:spTgt spid="3082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08233">
                                            <p:txEl>
                                              <p:pRg st="3" end="3"/>
                                            </p:txEl>
                                          </p:spTgt>
                                        </p:tgtEl>
                                        <p:attrNameLst>
                                          <p:attrName>style.visibility</p:attrName>
                                        </p:attrNameLst>
                                      </p:cBhvr>
                                      <p:to>
                                        <p:strVal val="visible"/>
                                      </p:to>
                                    </p:set>
                                    <p:animEffect transition="in" filter="wipe(up)">
                                      <p:cBhvr>
                                        <p:cTn id="22" dur="500"/>
                                        <p:tgtEl>
                                          <p:spTgt spid="30823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08233">
                                            <p:txEl>
                                              <p:pRg st="4" end="4"/>
                                            </p:txEl>
                                          </p:spTgt>
                                        </p:tgtEl>
                                        <p:attrNameLst>
                                          <p:attrName>style.visibility</p:attrName>
                                        </p:attrNameLst>
                                      </p:cBhvr>
                                      <p:to>
                                        <p:strVal val="visible"/>
                                      </p:to>
                                    </p:set>
                                    <p:animEffect transition="in" filter="wipe(up)">
                                      <p:cBhvr>
                                        <p:cTn id="27" dur="500"/>
                                        <p:tgtEl>
                                          <p:spTgt spid="30823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08233">
                                            <p:txEl>
                                              <p:pRg st="5" end="5"/>
                                            </p:txEl>
                                          </p:spTgt>
                                        </p:tgtEl>
                                        <p:attrNameLst>
                                          <p:attrName>style.visibility</p:attrName>
                                        </p:attrNameLst>
                                      </p:cBhvr>
                                      <p:to>
                                        <p:strVal val="visible"/>
                                      </p:to>
                                    </p:set>
                                    <p:animEffect transition="in" filter="wipe(up)">
                                      <p:cBhvr>
                                        <p:cTn id="32" dur="500"/>
                                        <p:tgtEl>
                                          <p:spTgt spid="308233">
                                            <p:txEl>
                                              <p:pRg st="5" end="5"/>
                                            </p:txEl>
                                          </p:spTgt>
                                        </p:tgtEl>
                                      </p:cBhvr>
                                    </p:animEffect>
                                  </p:childTnLst>
                                </p:cTn>
                              </p:par>
                              <p:par>
                                <p:cTn id="33" presetID="22" presetClass="entr" presetSubtype="1"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par>
                                <p:cTn id="36" presetID="22" presetClass="entr" presetSubtype="1"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up)">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down)">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3" grpId="0" bldLvl="2" autoUpdateAnimBg="0" build="p"/>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ext Box 2"/>
          <p:cNvSpPr txBox="1">
            <a:spLocks noChangeArrowheads="1"/>
          </p:cNvSpPr>
          <p:nvPr/>
        </p:nvSpPr>
        <p:spPr bwMode="auto">
          <a:xfrm>
            <a:off x="925513" y="2565400"/>
            <a:ext cx="4783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(3)开始按如下公式进行递推运算 </a:t>
            </a:r>
            <a:endParaRPr kumimoji="1" lang="zh-CN" altLang="en-US" sz="2400" b="1">
              <a:solidFill>
                <a:schemeClr val="tx2"/>
              </a:solidFill>
              <a:latin typeface="宋体" panose="02010600030101010101" pitchFamily="2" charset="-122"/>
            </a:endParaRPr>
          </a:p>
        </p:txBody>
      </p:sp>
      <p:graphicFrame>
        <p:nvGraphicFramePr>
          <p:cNvPr id="310275" name="Object 3"/>
          <p:cNvGraphicFramePr>
            <a:graphicFrameLocks noChangeAspect="1"/>
          </p:cNvGraphicFramePr>
          <p:nvPr/>
        </p:nvGraphicFramePr>
        <p:xfrm>
          <a:off x="2620963" y="3011488"/>
          <a:ext cx="2630487" cy="928687"/>
        </p:xfrm>
        <a:graphic>
          <a:graphicData uri="http://schemas.openxmlformats.org/presentationml/2006/ole">
            <mc:AlternateContent xmlns:mc="http://schemas.openxmlformats.org/markup-compatibility/2006">
              <mc:Choice xmlns:v="urn:schemas-microsoft-com:vml" Requires="v">
                <p:oleObj spid="_x0000_s85070" name="" r:id="rId1" imgW="1752600" imgH="622300" progId="Equation.3">
                  <p:embed/>
                </p:oleObj>
              </mc:Choice>
              <mc:Fallback>
                <p:oleObj name="" r:id="rId1" imgW="1752600" imgH="6223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963" y="3011488"/>
                        <a:ext cx="2630487"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4"/>
          <p:cNvGrpSpPr/>
          <p:nvPr/>
        </p:nvGrpSpPr>
        <p:grpSpPr bwMode="auto">
          <a:xfrm>
            <a:off x="927100" y="1831975"/>
            <a:ext cx="5441950" cy="457200"/>
            <a:chOff x="576" y="2173"/>
            <a:chExt cx="3428" cy="288"/>
          </a:xfrm>
        </p:grpSpPr>
        <p:sp>
          <p:nvSpPr>
            <p:cNvPr id="85012" name="Text Box 5"/>
            <p:cNvSpPr txBox="1">
              <a:spLocks noChangeArrowheads="1"/>
            </p:cNvSpPr>
            <p:nvPr/>
          </p:nvSpPr>
          <p:spPr bwMode="auto">
            <a:xfrm>
              <a:off x="576" y="2173"/>
              <a:ext cx="18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(1)计算自相关系数 </a:t>
              </a:r>
              <a:endParaRPr kumimoji="1" lang="zh-CN" altLang="en-US" sz="2400" b="1">
                <a:solidFill>
                  <a:schemeClr val="tx2"/>
                </a:solidFill>
                <a:latin typeface="宋体" panose="02010600030101010101" pitchFamily="2" charset="-122"/>
              </a:endParaRPr>
            </a:p>
          </p:txBody>
        </p:sp>
        <p:graphicFrame>
          <p:nvGraphicFramePr>
            <p:cNvPr id="85013" name="Object 6"/>
            <p:cNvGraphicFramePr>
              <a:graphicFrameLocks noChangeAspect="1"/>
            </p:cNvGraphicFramePr>
            <p:nvPr/>
          </p:nvGraphicFramePr>
          <p:xfrm>
            <a:off x="2304" y="2232"/>
            <a:ext cx="1700" cy="216"/>
          </p:xfrm>
          <a:graphic>
            <a:graphicData uri="http://schemas.openxmlformats.org/presentationml/2006/ole">
              <mc:AlternateContent xmlns:mc="http://schemas.openxmlformats.org/markup-compatibility/2006">
                <mc:Choice xmlns:v="urn:schemas-microsoft-com:vml" Requires="v">
                  <p:oleObj spid="_x0000_s85071" name="" r:id="rId3" imgW="1803400" imgH="228600" progId="Equation.3">
                    <p:embed/>
                  </p:oleObj>
                </mc:Choice>
                <mc:Fallback>
                  <p:oleObj name="" r:id="rId3" imgW="18034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 y="2232"/>
                          <a:ext cx="170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7"/>
          <p:cNvGrpSpPr/>
          <p:nvPr/>
        </p:nvGrpSpPr>
        <p:grpSpPr bwMode="auto">
          <a:xfrm>
            <a:off x="927100" y="2212975"/>
            <a:ext cx="3178175" cy="457200"/>
            <a:chOff x="576" y="2413"/>
            <a:chExt cx="2002" cy="288"/>
          </a:xfrm>
        </p:grpSpPr>
        <p:sp>
          <p:nvSpPr>
            <p:cNvPr id="85009" name="Text Box 8"/>
            <p:cNvSpPr txBox="1">
              <a:spLocks noChangeArrowheads="1"/>
            </p:cNvSpPr>
            <p:nvPr/>
          </p:nvSpPr>
          <p:spPr bwMode="auto">
            <a:xfrm>
              <a:off x="576" y="2413"/>
              <a:ext cx="7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(2)初值</a:t>
              </a:r>
              <a:endParaRPr kumimoji="1" lang="zh-CN" altLang="en-US" sz="2400" b="1">
                <a:solidFill>
                  <a:schemeClr val="tx2"/>
                </a:solidFill>
                <a:latin typeface="宋体" panose="02010600030101010101" pitchFamily="2" charset="-122"/>
              </a:endParaRPr>
            </a:p>
          </p:txBody>
        </p:sp>
        <p:graphicFrame>
          <p:nvGraphicFramePr>
            <p:cNvPr id="85010" name="Object 9"/>
            <p:cNvGraphicFramePr>
              <a:graphicFrameLocks noChangeAspect="1"/>
            </p:cNvGraphicFramePr>
            <p:nvPr/>
          </p:nvGraphicFramePr>
          <p:xfrm>
            <a:off x="1392" y="2461"/>
            <a:ext cx="735" cy="227"/>
          </p:xfrm>
          <a:graphic>
            <a:graphicData uri="http://schemas.openxmlformats.org/presentationml/2006/ole">
              <mc:AlternateContent xmlns:mc="http://schemas.openxmlformats.org/markup-compatibility/2006">
                <mc:Choice xmlns:v="urn:schemas-microsoft-com:vml" Requires="v">
                  <p:oleObj spid="_x0000_s85072" name="" r:id="rId5" imgW="774065" imgH="241300" progId="Equation.3">
                    <p:embed/>
                  </p:oleObj>
                </mc:Choice>
                <mc:Fallback>
                  <p:oleObj name="" r:id="rId5" imgW="774065" imgH="2413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2461"/>
                          <a:ext cx="73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11" name="Object 10"/>
            <p:cNvGraphicFramePr>
              <a:graphicFrameLocks noChangeAspect="1"/>
            </p:cNvGraphicFramePr>
            <p:nvPr/>
          </p:nvGraphicFramePr>
          <p:xfrm>
            <a:off x="2256" y="2473"/>
            <a:ext cx="322" cy="197"/>
          </p:xfrm>
          <a:graphic>
            <a:graphicData uri="http://schemas.openxmlformats.org/presentationml/2006/ole">
              <mc:AlternateContent xmlns:mc="http://schemas.openxmlformats.org/markup-compatibility/2006">
                <mc:Choice xmlns:v="urn:schemas-microsoft-com:vml" Requires="v">
                  <p:oleObj spid="_x0000_s85073" name="" r:id="rId7" imgW="292100" imgH="177800" progId="Equation.3">
                    <p:embed/>
                  </p:oleObj>
                </mc:Choice>
                <mc:Fallback>
                  <p:oleObj name="" r:id="rId7" imgW="292100" imgH="1778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6" y="2473"/>
                          <a:ext cx="32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4998" name="Rectangle 11"/>
          <p:cNvSpPr>
            <a:spLocks noChangeArrowheads="1"/>
          </p:cNvSpPr>
          <p:nvPr/>
        </p:nvSpPr>
        <p:spPr bwMode="auto">
          <a:xfrm>
            <a:off x="431958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10284" name="Object 12"/>
          <p:cNvGraphicFramePr>
            <a:graphicFrameLocks noChangeAspect="1"/>
          </p:cNvGraphicFramePr>
          <p:nvPr/>
        </p:nvGraphicFramePr>
        <p:xfrm>
          <a:off x="2592388" y="4035425"/>
          <a:ext cx="763587" cy="360363"/>
        </p:xfrm>
        <a:graphic>
          <a:graphicData uri="http://schemas.openxmlformats.org/presentationml/2006/ole">
            <mc:AlternateContent xmlns:mc="http://schemas.openxmlformats.org/markup-compatibility/2006">
              <mc:Choice xmlns:v="urn:schemas-microsoft-com:vml" Requires="v">
                <p:oleObj spid="_x0000_s85074" name="" r:id="rId9" imgW="508000" imgH="241300" progId="Equation.3">
                  <p:embed/>
                </p:oleObj>
              </mc:Choice>
              <mc:Fallback>
                <p:oleObj name="" r:id="rId9" imgW="508000" imgH="2413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2388" y="4035425"/>
                        <a:ext cx="7635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00" name="Rectangle 13"/>
          <p:cNvSpPr>
            <a:spLocks noChangeArrowheads="1"/>
          </p:cNvSpPr>
          <p:nvPr/>
        </p:nvSpPr>
        <p:spPr bwMode="auto">
          <a:xfrm>
            <a:off x="398145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5001" name="Rectangle 14"/>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4" name="Group 15"/>
          <p:cNvGrpSpPr/>
          <p:nvPr/>
        </p:nvGrpSpPr>
        <p:grpSpPr bwMode="auto">
          <a:xfrm>
            <a:off x="2587625" y="4576763"/>
            <a:ext cx="3386138" cy="379412"/>
            <a:chOff x="1630" y="2883"/>
            <a:chExt cx="2133" cy="239"/>
          </a:xfrm>
        </p:grpSpPr>
        <p:graphicFrame>
          <p:nvGraphicFramePr>
            <p:cNvPr id="85007" name="Object 16"/>
            <p:cNvGraphicFramePr>
              <a:graphicFrameLocks noChangeAspect="1"/>
            </p:cNvGraphicFramePr>
            <p:nvPr/>
          </p:nvGraphicFramePr>
          <p:xfrm>
            <a:off x="1630" y="2883"/>
            <a:ext cx="1099" cy="239"/>
          </p:xfrm>
          <a:graphic>
            <a:graphicData uri="http://schemas.openxmlformats.org/presentationml/2006/ole">
              <mc:AlternateContent xmlns:mc="http://schemas.openxmlformats.org/markup-compatibility/2006">
                <mc:Choice xmlns:v="urn:schemas-microsoft-com:vml" Requires="v">
                  <p:oleObj spid="_x0000_s85075" name="" r:id="rId11" imgW="1180465" imgH="254000" progId="Equation.3">
                    <p:embed/>
                  </p:oleObj>
                </mc:Choice>
                <mc:Fallback>
                  <p:oleObj name="" r:id="rId11" imgW="1180465" imgH="2540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0" y="2883"/>
                          <a:ext cx="109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8" name="Object 17"/>
            <p:cNvGraphicFramePr>
              <a:graphicFrameLocks noChangeAspect="1"/>
            </p:cNvGraphicFramePr>
            <p:nvPr/>
          </p:nvGraphicFramePr>
          <p:xfrm>
            <a:off x="3033" y="2920"/>
            <a:ext cx="730" cy="192"/>
          </p:xfrm>
          <a:graphic>
            <a:graphicData uri="http://schemas.openxmlformats.org/presentationml/2006/ole">
              <mc:AlternateContent xmlns:mc="http://schemas.openxmlformats.org/markup-compatibility/2006">
                <mc:Choice xmlns:v="urn:schemas-microsoft-com:vml" Requires="v">
                  <p:oleObj spid="_x0000_s85076" name="" r:id="rId13" imgW="761365" imgH="203200" progId="Equation.DSMT4">
                    <p:embed/>
                  </p:oleObj>
                </mc:Choice>
                <mc:Fallback>
                  <p:oleObj name="" r:id="rId13" imgW="761365" imgH="203200"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33" y="2920"/>
                          <a:ext cx="73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5003" name="Rectangle 18"/>
          <p:cNvSpPr>
            <a:spLocks noChangeArrowheads="1"/>
          </p:cNvSpPr>
          <p:nvPr/>
        </p:nvSpPr>
        <p:spPr bwMode="auto">
          <a:xfrm>
            <a:off x="39814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10291" name="Object 19"/>
          <p:cNvGraphicFramePr>
            <a:graphicFrameLocks noChangeAspect="1"/>
          </p:cNvGraphicFramePr>
          <p:nvPr/>
        </p:nvGraphicFramePr>
        <p:xfrm>
          <a:off x="2573338" y="5138738"/>
          <a:ext cx="1789112" cy="360362"/>
        </p:xfrm>
        <a:graphic>
          <a:graphicData uri="http://schemas.openxmlformats.org/presentationml/2006/ole">
            <mc:AlternateContent xmlns:mc="http://schemas.openxmlformats.org/markup-compatibility/2006">
              <mc:Choice xmlns:v="urn:schemas-microsoft-com:vml" Requires="v">
                <p:oleObj spid="_x0000_s85077" name="Equation" r:id="rId15" imgW="1180465" imgH="241300" progId="Equation.DSMT4">
                  <p:embed/>
                </p:oleObj>
              </mc:Choice>
              <mc:Fallback>
                <p:oleObj name="Equation" r:id="rId15" imgW="1180465" imgH="24130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73338" y="5138738"/>
                        <a:ext cx="17891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0292" name="Text Box 20"/>
          <p:cNvSpPr txBox="1">
            <a:spLocks noChangeArrowheads="1"/>
          </p:cNvSpPr>
          <p:nvPr/>
        </p:nvSpPr>
        <p:spPr bwMode="auto">
          <a:xfrm>
            <a:off x="1027113" y="5581650"/>
            <a:ext cx="7742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Times New Roman" panose="02020603050405020304" pitchFamily="18" charset="0"/>
              </a:rPr>
              <a:t>(4)</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+1。</a:t>
            </a:r>
            <a:r>
              <a:rPr kumimoji="1" lang="zh-CN" altLang="en-US" sz="2400" b="1">
                <a:solidFill>
                  <a:schemeClr val="tx2"/>
                </a:solidFill>
                <a:latin typeface="Times New Roman" panose="02020603050405020304" pitchFamily="18" charset="0"/>
              </a:rPr>
              <a:t>若</a:t>
            </a:r>
            <a:r>
              <a:rPr kumimoji="1" lang="en-US" altLang="zh-CN" sz="2400" b="1" i="1">
                <a:solidFill>
                  <a:schemeClr val="tx2"/>
                </a:solidFill>
                <a:latin typeface="Times New Roman" panose="02020603050405020304" pitchFamily="18" charset="0"/>
              </a:rPr>
              <a:t>i </a:t>
            </a:r>
            <a:r>
              <a:rPr kumimoji="1" lang="en-US" altLang="zh-CN" sz="2400" b="1">
                <a:solidFill>
                  <a:schemeClr val="tx2"/>
                </a:solidFill>
                <a:latin typeface="Times New Roman" panose="02020603050405020304" pitchFamily="18" charset="0"/>
              </a:rPr>
              <a:t>&gt;</a:t>
            </a:r>
            <a:r>
              <a:rPr kumimoji="1" lang="en-US" altLang="zh-CN" sz="2400" b="1" i="1">
                <a:solidFill>
                  <a:schemeClr val="tx2"/>
                </a:solidFill>
                <a:latin typeface="Times New Roman" panose="02020603050405020304" pitchFamily="18" charset="0"/>
              </a:rPr>
              <a:t>p</a:t>
            </a:r>
            <a:r>
              <a:rPr kumimoji="1" lang="zh-CN" altLang="en-US" sz="2400" b="1">
                <a:solidFill>
                  <a:schemeClr val="tx2"/>
                </a:solidFill>
                <a:latin typeface="Times New Roman" panose="02020603050405020304" pitchFamily="18" charset="0"/>
              </a:rPr>
              <a:t>则算法结束退出，否则返回第（3）步， </a:t>
            </a:r>
            <a:endParaRPr kumimoji="1" lang="zh-CN" altLang="en-US" sz="2400" b="1">
              <a:solidFill>
                <a:schemeClr val="tx2"/>
              </a:solidFill>
              <a:latin typeface="Times New Roman" panose="02020603050405020304" pitchFamily="18" charset="0"/>
            </a:endParaRPr>
          </a:p>
        </p:txBody>
      </p:sp>
      <p:sp>
        <p:nvSpPr>
          <p:cNvPr id="85006" name="Rectangle 21"/>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10274"/>
                                        </p:tgtEl>
                                        <p:attrNameLst>
                                          <p:attrName>style.visibility</p:attrName>
                                        </p:attrNameLst>
                                      </p:cBhvr>
                                      <p:to>
                                        <p:strVal val="visible"/>
                                      </p:to>
                                    </p:set>
                                    <p:animEffect transition="in" filter="wipe(up)">
                                      <p:cBhvr>
                                        <p:cTn id="17" dur="500"/>
                                        <p:tgtEl>
                                          <p:spTgt spid="3102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10275"/>
                                        </p:tgtEl>
                                        <p:attrNameLst>
                                          <p:attrName>style.visibility</p:attrName>
                                        </p:attrNameLst>
                                      </p:cBhvr>
                                      <p:to>
                                        <p:strVal val="visible"/>
                                      </p:to>
                                    </p:set>
                                    <p:animEffect transition="in" filter="wipe(up)">
                                      <p:cBhvr>
                                        <p:cTn id="22" dur="500"/>
                                        <p:tgtEl>
                                          <p:spTgt spid="31027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10284"/>
                                        </p:tgtEl>
                                        <p:attrNameLst>
                                          <p:attrName>style.visibility</p:attrName>
                                        </p:attrNameLst>
                                      </p:cBhvr>
                                      <p:to>
                                        <p:strVal val="visible"/>
                                      </p:to>
                                    </p:set>
                                    <p:animEffect transition="in" filter="wipe(up)">
                                      <p:cBhvr>
                                        <p:cTn id="27" dur="500"/>
                                        <p:tgtEl>
                                          <p:spTgt spid="310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10291"/>
                                        </p:tgtEl>
                                        <p:attrNameLst>
                                          <p:attrName>style.visibility</p:attrName>
                                        </p:attrNameLst>
                                      </p:cBhvr>
                                      <p:to>
                                        <p:strVal val="visible"/>
                                      </p:to>
                                    </p:set>
                                    <p:animEffect transition="in" filter="wipe(up)">
                                      <p:cBhvr>
                                        <p:cTn id="37" dur="500"/>
                                        <p:tgtEl>
                                          <p:spTgt spid="31029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10292"/>
                                        </p:tgtEl>
                                        <p:attrNameLst>
                                          <p:attrName>style.visibility</p:attrName>
                                        </p:attrNameLst>
                                      </p:cBhvr>
                                      <p:to>
                                        <p:strVal val="visible"/>
                                      </p:to>
                                    </p:set>
                                    <p:animEffect transition="in" filter="wipe(up)">
                                      <p:cBhvr>
                                        <p:cTn id="42" dur="500"/>
                                        <p:tgtEl>
                                          <p:spTgt spid="310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4" grpId="0" autoUpdateAnimBg="0"/>
      <p:bldP spid="31029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87043" name="Text Box 3"/>
          <p:cNvSpPr txBox="1">
            <a:spLocks noChangeArrowheads="1"/>
          </p:cNvSpPr>
          <p:nvPr/>
        </p:nvSpPr>
        <p:spPr bwMode="auto">
          <a:xfrm>
            <a:off x="693738" y="1751013"/>
            <a:ext cx="417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经过递推计算后,最终解为:  </a:t>
            </a:r>
            <a:endParaRPr kumimoji="1" lang="zh-CN" altLang="en-US" sz="2400" b="1">
              <a:solidFill>
                <a:schemeClr val="tx2"/>
              </a:solidFill>
              <a:latin typeface="宋体" panose="02010600030101010101" pitchFamily="2" charset="-122"/>
            </a:endParaRPr>
          </a:p>
        </p:txBody>
      </p:sp>
      <p:sp>
        <p:nvSpPr>
          <p:cNvPr id="87044" name="Rectangle 4"/>
          <p:cNvSpPr>
            <a:spLocks noChangeArrowheads="1"/>
          </p:cNvSpPr>
          <p:nvPr/>
        </p:nvSpPr>
        <p:spPr bwMode="auto">
          <a:xfrm>
            <a:off x="356235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87045" name="Object 5"/>
          <p:cNvGraphicFramePr>
            <a:graphicFrameLocks noChangeAspect="1"/>
          </p:cNvGraphicFramePr>
          <p:nvPr/>
        </p:nvGraphicFramePr>
        <p:xfrm>
          <a:off x="1697038" y="2355850"/>
          <a:ext cx="2987675" cy="381000"/>
        </p:xfrm>
        <a:graphic>
          <a:graphicData uri="http://schemas.openxmlformats.org/presentationml/2006/ole">
            <mc:AlternateContent xmlns:mc="http://schemas.openxmlformats.org/markup-compatibility/2006">
              <mc:Choice xmlns:v="urn:schemas-microsoft-com:vml" Requires="v">
                <p:oleObj spid="_x0000_s87083" name="" r:id="rId1" imgW="2019300" imgH="254000" progId="Equation.3">
                  <p:embed/>
                </p:oleObj>
              </mc:Choice>
              <mc:Fallback>
                <p:oleObj name="" r:id="rId1" imgW="2019300" imgH="254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038" y="2355850"/>
                        <a:ext cx="29876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6" name="Rectangle 6"/>
          <p:cNvSpPr>
            <a:spLocks noChangeArrowheads="1"/>
          </p:cNvSpPr>
          <p:nvPr/>
        </p:nvSpPr>
        <p:spPr bwMode="auto">
          <a:xfrm>
            <a:off x="4081463"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7047" name="Rectangle 7"/>
          <p:cNvSpPr>
            <a:spLocks noChangeArrowheads="1"/>
          </p:cNvSpPr>
          <p:nvPr/>
        </p:nvSpPr>
        <p:spPr bwMode="auto">
          <a:xfrm>
            <a:off x="4329113"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87048" name="Group 8"/>
          <p:cNvGrpSpPr/>
          <p:nvPr/>
        </p:nvGrpSpPr>
        <p:grpSpPr bwMode="auto">
          <a:xfrm>
            <a:off x="5459413" y="2189163"/>
            <a:ext cx="2147887" cy="666750"/>
            <a:chOff x="1529" y="2019"/>
            <a:chExt cx="1353" cy="420"/>
          </a:xfrm>
        </p:grpSpPr>
        <p:graphicFrame>
          <p:nvGraphicFramePr>
            <p:cNvPr id="87053" name="Object 9"/>
            <p:cNvGraphicFramePr>
              <a:graphicFrameLocks noChangeAspect="1"/>
            </p:cNvGraphicFramePr>
            <p:nvPr/>
          </p:nvGraphicFramePr>
          <p:xfrm>
            <a:off x="1529" y="2019"/>
            <a:ext cx="923" cy="420"/>
          </p:xfrm>
          <a:graphic>
            <a:graphicData uri="http://schemas.openxmlformats.org/presentationml/2006/ole">
              <mc:AlternateContent xmlns:mc="http://schemas.openxmlformats.org/markup-compatibility/2006">
                <mc:Choice xmlns:v="urn:schemas-microsoft-com:vml" Requires="v">
                  <p:oleObj spid="_x0000_s87084" name="" r:id="rId3" imgW="977265" imgH="444500" progId="Equation.3">
                    <p:embed/>
                  </p:oleObj>
                </mc:Choice>
                <mc:Fallback>
                  <p:oleObj name="" r:id="rId3" imgW="977265" imgH="4445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9" y="2019"/>
                          <a:ext cx="92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4" name="Object 10"/>
            <p:cNvGraphicFramePr>
              <a:graphicFrameLocks noChangeAspect="1"/>
            </p:cNvGraphicFramePr>
            <p:nvPr/>
          </p:nvGraphicFramePr>
          <p:xfrm>
            <a:off x="2426" y="2148"/>
            <a:ext cx="456" cy="228"/>
          </p:xfrm>
          <a:graphic>
            <a:graphicData uri="http://schemas.openxmlformats.org/presentationml/2006/ole">
              <mc:AlternateContent xmlns:mc="http://schemas.openxmlformats.org/markup-compatibility/2006">
                <mc:Choice xmlns:v="urn:schemas-microsoft-com:vml" Requires="v">
                  <p:oleObj spid="_x0000_s87085" name="" r:id="rId5" imgW="482600" imgH="241300" progId="Equation.3">
                    <p:embed/>
                  </p:oleObj>
                </mc:Choice>
                <mc:Fallback>
                  <p:oleObj name="" r:id="rId5" imgW="482600" imgH="2413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6" y="2148"/>
                          <a:ext cx="45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7049" name="Text Box 11"/>
          <p:cNvSpPr txBox="1">
            <a:spLocks noChangeArrowheads="1"/>
          </p:cNvSpPr>
          <p:nvPr/>
        </p:nvSpPr>
        <p:spPr bwMode="auto">
          <a:xfrm>
            <a:off x="763588" y="291941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可以推知</a:t>
            </a:r>
            <a:endParaRPr kumimoji="1" lang="zh-CN" altLang="en-US" sz="2400" b="1">
              <a:solidFill>
                <a:schemeClr val="tx2"/>
              </a:solidFill>
              <a:latin typeface="宋体" panose="02010600030101010101" pitchFamily="2" charset="-122"/>
            </a:endParaRPr>
          </a:p>
        </p:txBody>
      </p:sp>
      <p:sp>
        <p:nvSpPr>
          <p:cNvPr id="87050" name="Rectangle 12"/>
          <p:cNvSpPr>
            <a:spLocks noChangeArrowheads="1"/>
          </p:cNvSpPr>
          <p:nvPr/>
        </p:nvSpPr>
        <p:spPr bwMode="auto">
          <a:xfrm>
            <a:off x="365760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87051" name="Object 13"/>
          <p:cNvGraphicFramePr>
            <a:graphicFrameLocks noChangeAspect="1"/>
          </p:cNvGraphicFramePr>
          <p:nvPr/>
        </p:nvGraphicFramePr>
        <p:xfrm>
          <a:off x="2263775" y="3446463"/>
          <a:ext cx="2703513" cy="381000"/>
        </p:xfrm>
        <a:graphic>
          <a:graphicData uri="http://schemas.openxmlformats.org/presentationml/2006/ole">
            <mc:AlternateContent xmlns:mc="http://schemas.openxmlformats.org/markup-compatibility/2006">
              <mc:Choice xmlns:v="urn:schemas-microsoft-com:vml" Requires="v">
                <p:oleObj spid="_x0000_s87086" name="" r:id="rId7" imgW="1828800" imgH="254000" progId="Equation.3">
                  <p:embed/>
                </p:oleObj>
              </mc:Choice>
              <mc:Fallback>
                <p:oleObj name="" r:id="rId7" imgW="1828800" imgH="2540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3775" y="3446463"/>
                        <a:ext cx="27035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52" name="Text Box 14"/>
          <p:cNvSpPr txBox="1">
            <a:spLocks noChangeArrowheads="1"/>
          </p:cNvSpPr>
          <p:nvPr/>
        </p:nvSpPr>
        <p:spPr bwMode="auto">
          <a:xfrm>
            <a:off x="850900" y="3941763"/>
            <a:ext cx="5451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solidFill>
                  <a:schemeClr val="tx2"/>
                </a:solidFill>
                <a:latin typeface="Times New Roman" panose="02020603050405020304" pitchFamily="18" charset="0"/>
              </a:rPr>
              <a:t>k</a:t>
            </a:r>
            <a:r>
              <a:rPr kumimoji="1" lang="en-US" altLang="zh-CN" sz="2400" b="1" baseline="-25000">
                <a:solidFill>
                  <a:schemeClr val="tx2"/>
                </a:solidFill>
                <a:latin typeface="Times New Roman" panose="02020603050405020304" pitchFamily="18" charset="0"/>
              </a:rPr>
              <a:t>i</a:t>
            </a:r>
            <a:r>
              <a:rPr kumimoji="1" lang="zh-CN" altLang="en-US" sz="2400" b="1">
                <a:solidFill>
                  <a:schemeClr val="tx2"/>
                </a:solidFill>
                <a:latin typeface="Times New Roman" panose="02020603050405020304" pitchFamily="18" charset="0"/>
              </a:rPr>
              <a:t>称为反射系数，也称</a:t>
            </a:r>
            <a:r>
              <a:rPr kumimoji="1" lang="en-US" altLang="zh-CN" sz="2400" b="1">
                <a:solidFill>
                  <a:schemeClr val="tx2"/>
                </a:solidFill>
                <a:latin typeface="Times New Roman" panose="02020603050405020304" pitchFamily="18" charset="0"/>
              </a:rPr>
              <a:t>PARCOR</a:t>
            </a:r>
            <a:r>
              <a:rPr kumimoji="1" lang="zh-CN" altLang="en-US" sz="2400" b="1">
                <a:solidFill>
                  <a:schemeClr val="tx2"/>
                </a:solidFill>
                <a:latin typeface="Times New Roman" panose="02020603050405020304" pitchFamily="18" charset="0"/>
              </a:rPr>
              <a:t>系数。 </a:t>
            </a:r>
            <a:endParaRPr kumimoji="1" lang="zh-CN" altLang="en-US" sz="2400" b="1">
              <a:solidFill>
                <a:schemeClr val="tx2"/>
              </a:solidFill>
              <a:latin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89091" name="Rectangle 3"/>
          <p:cNvSpPr>
            <a:spLocks noGrp="1" noChangeArrowheads="1"/>
          </p:cNvSpPr>
          <p:nvPr>
            <p:ph type="body" idx="1"/>
          </p:nvPr>
        </p:nvSpPr>
        <p:spPr>
          <a:xfrm>
            <a:off x="457200" y="1600200"/>
            <a:ext cx="8229600" cy="534988"/>
          </a:xfrm>
        </p:spPr>
        <p:txBody>
          <a:bodyPr/>
          <a:lstStyle/>
          <a:p>
            <a:pPr eaLnBrk="1" hangingPunct="1">
              <a:lnSpc>
                <a:spcPct val="90000"/>
              </a:lnSpc>
            </a:pPr>
            <a:r>
              <a:rPr lang="zh-CN" altLang="en-US" sz="2400" b="1">
                <a:solidFill>
                  <a:srgbClr val="0070C0"/>
                </a:solidFill>
                <a:latin typeface="黑体" panose="02010609060101010101" pitchFamily="49" charset="-122"/>
                <a:ea typeface="黑体" panose="02010609060101010101" pitchFamily="49" charset="-122"/>
              </a:rPr>
              <a:t>协方差法</a:t>
            </a:r>
            <a:r>
              <a:rPr lang="zh-CN" altLang="en-US" sz="2000" b="1">
                <a:solidFill>
                  <a:schemeClr val="tx2"/>
                </a:solidFill>
                <a:latin typeface="Times New Roman" panose="02020603050405020304" pitchFamily="18" charset="0"/>
              </a:rPr>
              <a:t>：</a:t>
            </a:r>
            <a:br>
              <a:rPr lang="zh-CN" altLang="en-US" sz="2000" b="1">
                <a:solidFill>
                  <a:schemeClr val="tx2"/>
                </a:solidFill>
                <a:latin typeface="Times New Roman" panose="02020603050405020304" pitchFamily="18" charset="0"/>
              </a:rPr>
            </a:br>
            <a:endParaRPr lang="zh-CN" altLang="en-US" sz="2000" b="1">
              <a:solidFill>
                <a:schemeClr val="tx2"/>
              </a:solidFill>
              <a:latin typeface="Times New Roman" panose="02020603050405020304" pitchFamily="18" charset="0"/>
            </a:endParaRPr>
          </a:p>
        </p:txBody>
      </p:sp>
      <p:grpSp>
        <p:nvGrpSpPr>
          <p:cNvPr id="2" name="Group 4"/>
          <p:cNvGrpSpPr/>
          <p:nvPr/>
        </p:nvGrpSpPr>
        <p:grpSpPr bwMode="auto">
          <a:xfrm>
            <a:off x="977900" y="2316163"/>
            <a:ext cx="6889750" cy="1100137"/>
            <a:chOff x="616" y="1567"/>
            <a:chExt cx="4340" cy="693"/>
          </a:xfrm>
        </p:grpSpPr>
        <p:sp>
          <p:nvSpPr>
            <p:cNvPr id="89105" name="Text Box 5"/>
            <p:cNvSpPr txBox="1">
              <a:spLocks noChangeArrowheads="1"/>
            </p:cNvSpPr>
            <p:nvPr/>
          </p:nvSpPr>
          <p:spPr bwMode="auto">
            <a:xfrm>
              <a:off x="616" y="1567"/>
              <a:ext cx="17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重新定义求和范围</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aphicFrame>
          <p:nvGraphicFramePr>
            <p:cNvPr id="89106" name="Object 6"/>
            <p:cNvGraphicFramePr>
              <a:graphicFrameLocks noChangeAspect="1"/>
            </p:cNvGraphicFramePr>
            <p:nvPr/>
          </p:nvGraphicFramePr>
          <p:xfrm>
            <a:off x="1308" y="1851"/>
            <a:ext cx="1637" cy="409"/>
          </p:xfrm>
          <a:graphic>
            <a:graphicData uri="http://schemas.openxmlformats.org/presentationml/2006/ole">
              <mc:AlternateContent xmlns:mc="http://schemas.openxmlformats.org/markup-compatibility/2006">
                <mc:Choice xmlns:v="urn:schemas-microsoft-com:vml" Requires="v">
                  <p:oleObj spid="_x0000_s89157" name="" r:id="rId1" imgW="1714500" imgH="431800" progId="Equation.3">
                    <p:embed/>
                  </p:oleObj>
                </mc:Choice>
                <mc:Fallback>
                  <p:oleObj name="" r:id="rId1" imgW="1714500"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 y="1851"/>
                          <a:ext cx="1637"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107" name="Object 7"/>
            <p:cNvGraphicFramePr>
              <a:graphicFrameLocks noChangeAspect="1"/>
            </p:cNvGraphicFramePr>
            <p:nvPr/>
          </p:nvGraphicFramePr>
          <p:xfrm>
            <a:off x="3317" y="1953"/>
            <a:ext cx="1639" cy="204"/>
          </p:xfrm>
          <a:graphic>
            <a:graphicData uri="http://schemas.openxmlformats.org/presentationml/2006/ole">
              <mc:AlternateContent xmlns:mc="http://schemas.openxmlformats.org/markup-compatibility/2006">
                <mc:Choice xmlns:v="urn:schemas-microsoft-com:vml" Requires="v">
                  <p:oleObj spid="_x0000_s89158" name="" r:id="rId3" imgW="1764665" imgH="215900" progId="Equation.3">
                    <p:embed/>
                  </p:oleObj>
                </mc:Choice>
                <mc:Fallback>
                  <p:oleObj name="" r:id="rId3" imgW="1764665" imgH="2159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7" y="1953"/>
                          <a:ext cx="1639"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8"/>
          <p:cNvGrpSpPr/>
          <p:nvPr/>
        </p:nvGrpSpPr>
        <p:grpSpPr bwMode="auto">
          <a:xfrm>
            <a:off x="1014413" y="3257550"/>
            <a:ext cx="1490662" cy="457200"/>
            <a:chOff x="639" y="2214"/>
            <a:chExt cx="939" cy="288"/>
          </a:xfrm>
        </p:grpSpPr>
        <p:graphicFrame>
          <p:nvGraphicFramePr>
            <p:cNvPr id="89103" name="Object 9"/>
            <p:cNvGraphicFramePr>
              <a:graphicFrameLocks noChangeAspect="1"/>
            </p:cNvGraphicFramePr>
            <p:nvPr/>
          </p:nvGraphicFramePr>
          <p:xfrm>
            <a:off x="932" y="2280"/>
            <a:ext cx="646" cy="191"/>
          </p:xfrm>
          <a:graphic>
            <a:graphicData uri="http://schemas.openxmlformats.org/presentationml/2006/ole">
              <mc:AlternateContent xmlns:mc="http://schemas.openxmlformats.org/markup-compatibility/2006">
                <mc:Choice xmlns:v="urn:schemas-microsoft-com:vml" Requires="v">
                  <p:oleObj spid="_x0000_s89159" name="" r:id="rId5" imgW="673100" imgH="203200" progId="Equation.DSMT4">
                    <p:embed/>
                  </p:oleObj>
                </mc:Choice>
                <mc:Fallback>
                  <p:oleObj name="" r:id="rId5" imgW="673100" imgH="2032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2" y="2280"/>
                          <a:ext cx="646"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104" name="Text Box 10"/>
            <p:cNvSpPr txBox="1">
              <a:spLocks noChangeArrowheads="1"/>
            </p:cNvSpPr>
            <p:nvPr/>
          </p:nvSpPr>
          <p:spPr bwMode="auto">
            <a:xfrm>
              <a:off x="639" y="2214"/>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设</a:t>
              </a:r>
              <a:endParaRPr kumimoji="1" lang="zh-CN" altLang="en-US" sz="2400" b="1">
                <a:solidFill>
                  <a:schemeClr val="tx2"/>
                </a:solidFill>
                <a:latin typeface="Times New Roman" panose="02020603050405020304" pitchFamily="18" charset="0"/>
              </a:endParaRPr>
            </a:p>
          </p:txBody>
        </p:sp>
      </p:grpSp>
      <p:grpSp>
        <p:nvGrpSpPr>
          <p:cNvPr id="4" name="Group 11"/>
          <p:cNvGrpSpPr/>
          <p:nvPr/>
        </p:nvGrpSpPr>
        <p:grpSpPr bwMode="auto">
          <a:xfrm>
            <a:off x="2046288" y="3554413"/>
            <a:ext cx="5851525" cy="647700"/>
            <a:chOff x="1289" y="2482"/>
            <a:chExt cx="3686" cy="408"/>
          </a:xfrm>
        </p:grpSpPr>
        <p:graphicFrame>
          <p:nvGraphicFramePr>
            <p:cNvPr id="89101" name="Object 12"/>
            <p:cNvGraphicFramePr>
              <a:graphicFrameLocks noChangeAspect="1"/>
            </p:cNvGraphicFramePr>
            <p:nvPr/>
          </p:nvGraphicFramePr>
          <p:xfrm>
            <a:off x="1289" y="2482"/>
            <a:ext cx="1847" cy="408"/>
          </p:xfrm>
          <a:graphic>
            <a:graphicData uri="http://schemas.openxmlformats.org/presentationml/2006/ole">
              <mc:AlternateContent xmlns:mc="http://schemas.openxmlformats.org/markup-compatibility/2006">
                <mc:Choice xmlns:v="urn:schemas-microsoft-com:vml" Requires="v">
                  <p:oleObj spid="_x0000_s89160" name="" r:id="rId7" imgW="1955800" imgH="431800" progId="Equation.3">
                    <p:embed/>
                  </p:oleObj>
                </mc:Choice>
                <mc:Fallback>
                  <p:oleObj name="" r:id="rId7" imgW="1955800" imgH="4318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9" y="2482"/>
                          <a:ext cx="184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102" name="Object 13"/>
            <p:cNvGraphicFramePr>
              <a:graphicFrameLocks noChangeAspect="1"/>
            </p:cNvGraphicFramePr>
            <p:nvPr/>
          </p:nvGraphicFramePr>
          <p:xfrm>
            <a:off x="3308" y="2584"/>
            <a:ext cx="1667" cy="204"/>
          </p:xfrm>
          <a:graphic>
            <a:graphicData uri="http://schemas.openxmlformats.org/presentationml/2006/ole">
              <mc:AlternateContent xmlns:mc="http://schemas.openxmlformats.org/markup-compatibility/2006">
                <mc:Choice xmlns:v="urn:schemas-microsoft-com:vml" Requires="v">
                  <p:oleObj spid="_x0000_s89161" name="" r:id="rId9" imgW="1764665" imgH="215900" progId="Equation.3">
                    <p:embed/>
                  </p:oleObj>
                </mc:Choice>
                <mc:Fallback>
                  <p:oleObj name="" r:id="rId9" imgW="1764665" imgH="2159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8" y="2584"/>
                          <a:ext cx="166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Group 14"/>
          <p:cNvGrpSpPr/>
          <p:nvPr/>
        </p:nvGrpSpPr>
        <p:grpSpPr bwMode="auto">
          <a:xfrm>
            <a:off x="1054100" y="4141788"/>
            <a:ext cx="7924800" cy="531812"/>
            <a:chOff x="664" y="2708"/>
            <a:chExt cx="4992" cy="335"/>
          </a:xfrm>
        </p:grpSpPr>
        <p:grpSp>
          <p:nvGrpSpPr>
            <p:cNvPr id="89097" name="Group 15"/>
            <p:cNvGrpSpPr/>
            <p:nvPr/>
          </p:nvGrpSpPr>
          <p:grpSpPr bwMode="auto">
            <a:xfrm>
              <a:off x="664" y="2708"/>
              <a:ext cx="2571" cy="288"/>
              <a:chOff x="664" y="2807"/>
              <a:chExt cx="2571" cy="288"/>
            </a:xfrm>
          </p:grpSpPr>
          <p:graphicFrame>
            <p:nvGraphicFramePr>
              <p:cNvPr id="89099" name="Object 16"/>
              <p:cNvGraphicFramePr>
                <a:graphicFrameLocks noChangeAspect="1"/>
              </p:cNvGraphicFramePr>
              <p:nvPr/>
            </p:nvGraphicFramePr>
            <p:xfrm>
              <a:off x="1909" y="2891"/>
              <a:ext cx="1326" cy="193"/>
            </p:xfrm>
            <a:graphic>
              <a:graphicData uri="http://schemas.openxmlformats.org/presentationml/2006/ole">
                <mc:AlternateContent xmlns:mc="http://schemas.openxmlformats.org/markup-compatibility/2006">
                  <mc:Choice xmlns:v="urn:schemas-microsoft-com:vml" Requires="v">
                    <p:oleObj spid="_x0000_s89162" name="" r:id="rId10" imgW="1371600" imgH="203200" progId="Equation.3">
                      <p:embed/>
                    </p:oleObj>
                  </mc:Choice>
                  <mc:Fallback>
                    <p:oleObj name="" r:id="rId10" imgW="1371600" imgH="203200"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9" y="2891"/>
                            <a:ext cx="132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100" name="Text Box 17"/>
              <p:cNvSpPr txBox="1">
                <a:spLocks noChangeArrowheads="1"/>
              </p:cNvSpPr>
              <p:nvPr/>
            </p:nvSpPr>
            <p:spPr bwMode="auto">
              <a:xfrm>
                <a:off x="664" y="2807"/>
                <a:ext cx="12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此时不再满足</a:t>
                </a:r>
                <a:endParaRPr kumimoji="1" lang="zh-CN" altLang="en-US" sz="2400" b="1">
                  <a:solidFill>
                    <a:schemeClr val="tx2"/>
                  </a:solidFill>
                  <a:latin typeface="Times New Roman" panose="02020603050405020304" pitchFamily="18" charset="0"/>
                </a:endParaRPr>
              </a:p>
            </p:txBody>
          </p:sp>
        </p:grpSp>
        <p:sp>
          <p:nvSpPr>
            <p:cNvPr id="89098" name="Text Box 18"/>
            <p:cNvSpPr txBox="1">
              <a:spLocks noChangeArrowheads="1"/>
            </p:cNvSpPr>
            <p:nvPr/>
          </p:nvSpPr>
          <p:spPr bwMode="auto">
            <a:xfrm>
              <a:off x="3176" y="2755"/>
              <a:ext cx="2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,因而系数矩阵变成如下形式</a:t>
              </a:r>
              <a:endParaRPr kumimoji="1" lang="en-US" altLang="zh-CN" sz="2400" b="1">
                <a:solidFill>
                  <a:schemeClr val="tx2"/>
                </a:solidFill>
                <a:latin typeface="Times New Roman" panose="02020603050405020304" pitchFamily="18" charset="0"/>
              </a:endParaRPr>
            </a:p>
          </p:txBody>
        </p:sp>
      </p:grpSp>
      <p:graphicFrame>
        <p:nvGraphicFramePr>
          <p:cNvPr id="314387" name="Object 19"/>
          <p:cNvGraphicFramePr>
            <a:graphicFrameLocks noChangeAspect="1"/>
          </p:cNvGraphicFramePr>
          <p:nvPr/>
        </p:nvGraphicFramePr>
        <p:xfrm>
          <a:off x="1781175" y="4692650"/>
          <a:ext cx="5154613" cy="1893888"/>
        </p:xfrm>
        <a:graphic>
          <a:graphicData uri="http://schemas.openxmlformats.org/presentationml/2006/ole">
            <mc:AlternateContent xmlns:mc="http://schemas.openxmlformats.org/markup-compatibility/2006">
              <mc:Choice xmlns:v="urn:schemas-microsoft-com:vml" Requires="v">
                <p:oleObj spid="_x0000_s89163" name="" r:id="rId12" imgW="3810000" imgH="1397000" progId="Equation.DSMT4">
                  <p:embed/>
                </p:oleObj>
              </mc:Choice>
              <mc:Fallback>
                <p:oleObj name="" r:id="rId12" imgW="3810000" imgH="1397000"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1175" y="4692650"/>
                        <a:ext cx="5154613"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14387"/>
                                        </p:tgtEl>
                                        <p:attrNameLst>
                                          <p:attrName>style.visibility</p:attrName>
                                        </p:attrNameLst>
                                      </p:cBhvr>
                                      <p:to>
                                        <p:strVal val="visible"/>
                                      </p:to>
                                    </p:set>
                                    <p:animEffect transition="in" filter="wipe(up)">
                                      <p:cBhvr>
                                        <p:cTn id="27" dur="500"/>
                                        <p:tgtEl>
                                          <p:spTgt spid="314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16419" name="Text Box 3"/>
          <p:cNvSpPr txBox="1">
            <a:spLocks noChangeArrowheads="1"/>
          </p:cNvSpPr>
          <p:nvPr/>
        </p:nvSpPr>
        <p:spPr bwMode="auto">
          <a:xfrm>
            <a:off x="738188" y="1911350"/>
            <a:ext cx="73993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此时的系数矩阵</a:t>
            </a:r>
            <a:r>
              <a:rPr kumimoji="1" lang="zh-CN" altLang="en-US" sz="2400" b="1">
                <a:solidFill>
                  <a:schemeClr val="tx2"/>
                </a:solidFill>
                <a:latin typeface="宋体" panose="02010600030101010101" pitchFamily="2" charset="-122"/>
              </a:rPr>
              <a:t>不再是一个托布里兹矩阵</a:t>
            </a:r>
            <a:r>
              <a:rPr kumimoji="1" lang="zh-CN" altLang="en-US" sz="2400" b="1">
                <a:solidFill>
                  <a:schemeClr val="tx2"/>
                </a:solidFill>
                <a:latin typeface="Times New Roman" panose="02020603050405020304" pitchFamily="18" charset="0"/>
              </a:rPr>
              <a:t> ，它一般用</a:t>
            </a:r>
            <a:r>
              <a:rPr kumimoji="1" lang="zh-CN" altLang="en-US" sz="2400" b="1">
                <a:solidFill>
                  <a:schemeClr val="tx2"/>
                </a:solidFill>
                <a:latin typeface="宋体" panose="02010600030101010101" pitchFamily="2" charset="-122"/>
              </a:rPr>
              <a:t>乔里斯基（</a:t>
            </a:r>
            <a:r>
              <a:rPr kumimoji="1" lang="en-US" altLang="zh-CN" sz="2400" b="1">
                <a:solidFill>
                  <a:schemeClr val="tx2"/>
                </a:solidFill>
                <a:latin typeface="Times New Roman" panose="02020603050405020304" pitchFamily="18" charset="0"/>
              </a:rPr>
              <a:t>Choleskey</a:t>
            </a:r>
            <a:r>
              <a:rPr kumimoji="1" lang="en-US" altLang="zh-CN" sz="2400" b="1">
                <a:solidFill>
                  <a:schemeClr val="tx2"/>
                </a:solidFill>
                <a:latin typeface="宋体" panose="02010600030101010101" pitchFamily="2" charset="-122"/>
              </a:rPr>
              <a:t>）</a:t>
            </a:r>
            <a:r>
              <a:rPr kumimoji="1" lang="zh-CN" altLang="en-US" sz="2400" b="1">
                <a:solidFill>
                  <a:schemeClr val="tx2"/>
                </a:solidFill>
                <a:latin typeface="宋体" panose="02010600030101010101" pitchFamily="2" charset="-122"/>
              </a:rPr>
              <a:t>分解法来求解。</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sp>
        <p:nvSpPr>
          <p:cNvPr id="316420" name="Rectangle 4"/>
          <p:cNvSpPr>
            <a:spLocks noGrp="1" noChangeArrowheads="1"/>
          </p:cNvSpPr>
          <p:nvPr>
            <p:ph type="body" idx="1"/>
          </p:nvPr>
        </p:nvSpPr>
        <p:spPr>
          <a:xfrm>
            <a:off x="642938" y="2867025"/>
            <a:ext cx="7772400" cy="485775"/>
          </a:xfrm>
          <a:noFill/>
        </p:spPr>
        <p:txBody>
          <a:bodyPr/>
          <a:lstStyle/>
          <a:p>
            <a:pPr eaLnBrk="1" hangingPunct="1">
              <a:lnSpc>
                <a:spcPct val="90000"/>
              </a:lnSpc>
            </a:pPr>
            <a:r>
              <a:rPr lang="zh-CN" altLang="en-US" sz="2400" b="1">
                <a:solidFill>
                  <a:schemeClr val="tx2"/>
                </a:solidFill>
                <a:latin typeface="Times New Roman" panose="02020603050405020304" pitchFamily="18" charset="0"/>
              </a:rPr>
              <a:t>自相关法和协方差法的比较</a:t>
            </a:r>
            <a:br>
              <a:rPr lang="zh-CN" altLang="en-US" sz="2400" b="1">
                <a:solidFill>
                  <a:schemeClr val="tx2"/>
                </a:solidFill>
                <a:latin typeface="Times New Roman" panose="02020603050405020304" pitchFamily="18" charset="0"/>
              </a:rPr>
            </a:br>
            <a:endParaRPr lang="zh-CN" altLang="en-US" sz="2400" b="1">
              <a:solidFill>
                <a:schemeClr val="tx2"/>
              </a:solidFill>
              <a:latin typeface="Times New Roman" panose="02020603050405020304" pitchFamily="18" charset="0"/>
            </a:endParaRPr>
          </a:p>
        </p:txBody>
      </p:sp>
      <p:sp>
        <p:nvSpPr>
          <p:cNvPr id="316421" name="Text Box 5"/>
          <p:cNvSpPr txBox="1">
            <a:spLocks noChangeArrowheads="1"/>
          </p:cNvSpPr>
          <p:nvPr/>
        </p:nvSpPr>
        <p:spPr bwMode="auto">
          <a:xfrm>
            <a:off x="668338" y="3311525"/>
            <a:ext cx="7972425" cy="275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latinLnBrk="0" hangingPunct="1">
              <a:spcBef>
                <a:spcPct val="0"/>
              </a:spcBef>
              <a:spcAft>
                <a:spcPts val="600"/>
              </a:spcAft>
              <a:buFont typeface="Wingdings" panose="05000000000000000000" pitchFamily="2" charset="2"/>
              <a:buChar char="Ø"/>
            </a:pPr>
            <a:r>
              <a:rPr kumimoji="1" lang="zh-CN" altLang="en-US" sz="2400" b="1">
                <a:solidFill>
                  <a:srgbClr val="0070C0"/>
                </a:solidFill>
                <a:latin typeface="黑体" panose="02010609060101010101" pitchFamily="49" charset="-122"/>
                <a:ea typeface="黑体" panose="02010609060101010101" pitchFamily="49" charset="-122"/>
              </a:rPr>
              <a:t>自相关法</a:t>
            </a:r>
            <a:r>
              <a:rPr kumimoji="1" lang="zh-CN" altLang="en-US" sz="2400" b="1">
                <a:solidFill>
                  <a:schemeClr val="tx2"/>
                </a:solidFill>
                <a:latin typeface="宋体" panose="02010600030101010101" pitchFamily="2" charset="-122"/>
              </a:rPr>
              <a:t>必须对语音信号进行加窗处理，规定了信号的长度范围，假定窗外的语音样本值为零，所以自相关法</a:t>
            </a:r>
            <a:r>
              <a:rPr kumimoji="1" lang="zh-CN" altLang="en-US" sz="2400" b="1">
                <a:solidFill>
                  <a:srgbClr val="0070C0"/>
                </a:solidFill>
                <a:latin typeface="宋体" panose="02010600030101010101" pitchFamily="2" charset="-122"/>
              </a:rPr>
              <a:t>误差较大</a:t>
            </a:r>
            <a:r>
              <a:rPr kumimoji="1" lang="zh-CN" altLang="en-US" sz="2400" b="1">
                <a:solidFill>
                  <a:schemeClr val="tx2"/>
                </a:solidFill>
                <a:latin typeface="Times New Roman" panose="02020603050405020304" pitchFamily="18" charset="0"/>
              </a:rPr>
              <a:t>，计算结果精度差，但自相关法</a:t>
            </a:r>
            <a:r>
              <a:rPr kumimoji="1" lang="zh-CN" altLang="en-US" sz="2400" b="1">
                <a:solidFill>
                  <a:srgbClr val="0070C0"/>
                </a:solidFill>
                <a:latin typeface="Times New Roman" panose="02020603050405020304" pitchFamily="18" charset="0"/>
              </a:rPr>
              <a:t>一定有解</a:t>
            </a:r>
            <a:r>
              <a:rPr kumimoji="1" lang="zh-CN" altLang="en-US" sz="2400" b="1">
                <a:solidFill>
                  <a:schemeClr val="tx2"/>
                </a:solidFill>
                <a:latin typeface="Times New Roman" panose="02020603050405020304" pitchFamily="18" charset="0"/>
              </a:rPr>
              <a:t>，</a:t>
            </a:r>
            <a:r>
              <a:rPr kumimoji="1" lang="zh-CN" altLang="en-US" sz="2400" b="1">
                <a:solidFill>
                  <a:srgbClr val="0070C0"/>
                </a:solidFill>
                <a:latin typeface="Times New Roman" panose="02020603050405020304" pitchFamily="18" charset="0"/>
              </a:rPr>
              <a:t>速度快</a:t>
            </a:r>
            <a:r>
              <a:rPr kumimoji="1" lang="zh-CN" altLang="en-US" sz="2400" b="1">
                <a:solidFill>
                  <a:schemeClr val="tx2"/>
                </a:solidFill>
                <a:latin typeface="宋体" panose="02010600030101010101" pitchFamily="2" charset="-122"/>
              </a:rPr>
              <a:t>，能够保证系统的稳定性</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a:p>
            <a:pPr eaLnBrk="1" hangingPunct="1">
              <a:spcBef>
                <a:spcPct val="0"/>
              </a:spcBef>
              <a:buFont typeface="Wingdings" panose="05000000000000000000" pitchFamily="2" charset="2"/>
              <a:buChar char="Ø"/>
            </a:pPr>
            <a:r>
              <a:rPr kumimoji="1" lang="zh-CN" altLang="en-US" sz="2400" b="1">
                <a:solidFill>
                  <a:srgbClr val="0070C0"/>
                </a:solidFill>
                <a:latin typeface="黑体" panose="02010609060101010101" pitchFamily="49" charset="-122"/>
                <a:ea typeface="黑体" panose="02010609060101010101" pitchFamily="49" charset="-122"/>
              </a:rPr>
              <a:t>协方差法</a:t>
            </a:r>
            <a:r>
              <a:rPr kumimoji="1" lang="zh-CN" altLang="en-US" sz="2400" b="1">
                <a:solidFill>
                  <a:schemeClr val="tx2"/>
                </a:solidFill>
                <a:latin typeface="宋体" panose="02010600030101010101" pitchFamily="2" charset="-122"/>
              </a:rPr>
              <a:t>因不需要加窗，所给出的参数估值要比自相关法</a:t>
            </a:r>
            <a:r>
              <a:rPr kumimoji="1" lang="zh-CN" altLang="en-US" sz="2400" b="1">
                <a:solidFill>
                  <a:srgbClr val="0070C0"/>
                </a:solidFill>
                <a:latin typeface="宋体" panose="02010600030101010101" pitchFamily="2" charset="-122"/>
              </a:rPr>
              <a:t>精确</a:t>
            </a:r>
            <a:r>
              <a:rPr kumimoji="1" lang="zh-CN" altLang="en-US" sz="2400" b="1">
                <a:solidFill>
                  <a:schemeClr val="tx2"/>
                </a:solidFill>
                <a:latin typeface="宋体" panose="02010600030101010101" pitchFamily="2" charset="-122"/>
              </a:rPr>
              <a:t>的多，但不如自相关法稳定，另外乔里斯基分解法因</a:t>
            </a:r>
            <a:r>
              <a:rPr kumimoji="1" lang="zh-CN" altLang="en-US" sz="2400" b="1">
                <a:solidFill>
                  <a:srgbClr val="0070C0"/>
                </a:solidFill>
                <a:latin typeface="宋体" panose="02010600030101010101" pitchFamily="2" charset="-122"/>
              </a:rPr>
              <a:t>没有快速算法</a:t>
            </a:r>
            <a:r>
              <a:rPr kumimoji="1" lang="zh-CN" altLang="en-US" sz="2400" b="1">
                <a:solidFill>
                  <a:schemeClr val="tx2"/>
                </a:solidFill>
                <a:latin typeface="宋体" panose="02010600030101010101" pitchFamily="2" charset="-122"/>
              </a:rPr>
              <a:t>，也需要</a:t>
            </a:r>
            <a:r>
              <a:rPr kumimoji="1" lang="zh-CN" altLang="en-US" sz="2400" b="1">
                <a:solidFill>
                  <a:srgbClr val="0070C0"/>
                </a:solidFill>
                <a:latin typeface="宋体" panose="02010600030101010101" pitchFamily="2" charset="-122"/>
              </a:rPr>
              <a:t>较大的计算量</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6419"/>
                                        </p:tgtEl>
                                        <p:attrNameLst>
                                          <p:attrName>style.visibility</p:attrName>
                                        </p:attrNameLst>
                                      </p:cBhvr>
                                      <p:to>
                                        <p:strVal val="visible"/>
                                      </p:to>
                                    </p:set>
                                    <p:animEffect transition="in" filter="wipe(up)">
                                      <p:cBhvr>
                                        <p:cTn id="7" dur="500"/>
                                        <p:tgtEl>
                                          <p:spTgt spid="3164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16420">
                                            <p:txEl>
                                              <p:pRg st="0" end="0"/>
                                            </p:txEl>
                                          </p:spTgt>
                                        </p:tgtEl>
                                        <p:attrNameLst>
                                          <p:attrName>style.visibility</p:attrName>
                                        </p:attrNameLst>
                                      </p:cBhvr>
                                      <p:to>
                                        <p:strVal val="visible"/>
                                      </p:to>
                                    </p:set>
                                    <p:animEffect transition="in" filter="wipe(up)">
                                      <p:cBhvr>
                                        <p:cTn id="12" dur="500"/>
                                        <p:tgtEl>
                                          <p:spTgt spid="3164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16421">
                                            <p:txEl>
                                              <p:pRg st="0" end="0"/>
                                            </p:txEl>
                                          </p:spTgt>
                                        </p:tgtEl>
                                        <p:attrNameLst>
                                          <p:attrName>style.visibility</p:attrName>
                                        </p:attrNameLst>
                                      </p:cBhvr>
                                      <p:to>
                                        <p:strVal val="visible"/>
                                      </p:to>
                                    </p:set>
                                    <p:animEffect transition="in" filter="wipe(up)">
                                      <p:cBhvr>
                                        <p:cTn id="17" dur="500"/>
                                        <p:tgtEl>
                                          <p:spTgt spid="3164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16421">
                                            <p:txEl>
                                              <p:pRg st="1" end="1"/>
                                            </p:txEl>
                                          </p:spTgt>
                                        </p:tgtEl>
                                        <p:attrNameLst>
                                          <p:attrName>style.visibility</p:attrName>
                                        </p:attrNameLst>
                                      </p:cBhvr>
                                      <p:to>
                                        <p:strVal val="visible"/>
                                      </p:to>
                                    </p:set>
                                    <p:animEffect transition="in" filter="wipe(up)">
                                      <p:cBhvr>
                                        <p:cTn id="22" dur="500"/>
                                        <p:tgtEl>
                                          <p:spTgt spid="3164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autoUpdateAnimBg="0"/>
      <p:bldP spid="316420" grpId="0" autoUpdateAnimBg="0" build="p"/>
      <p:bldP spid="316421" grpId="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22563" name="Rectangle 3"/>
          <p:cNvSpPr>
            <a:spLocks noGrp="1" noChangeArrowheads="1"/>
          </p:cNvSpPr>
          <p:nvPr>
            <p:ph type="body" idx="1"/>
          </p:nvPr>
        </p:nvSpPr>
        <p:spPr>
          <a:xfrm>
            <a:off x="457200" y="1600200"/>
            <a:ext cx="8229600" cy="2312988"/>
          </a:xfrm>
        </p:spPr>
        <p:txBody>
          <a:bodyPr/>
          <a:lstStyle/>
          <a:p>
            <a:pPr marL="0" indent="0" eaLnBrk="1" hangingPunct="1">
              <a:spcAft>
                <a:spcPts val="600"/>
              </a:spcAft>
              <a:buFontTx/>
              <a:buNone/>
              <a:defRPr/>
            </a:pPr>
            <a:r>
              <a:rPr lang="en-US" altLang="zh-CN" sz="2400" b="1" dirty="0">
                <a:solidFill>
                  <a:schemeClr val="tx2"/>
                </a:solidFill>
                <a:latin typeface="Times New Roman" panose="02020603050405020304" pitchFamily="18" charset="0"/>
              </a:rPr>
              <a:t>LPC</a:t>
            </a:r>
            <a:r>
              <a:rPr lang="zh-CN" altLang="en-US" sz="2400" b="1" dirty="0">
                <a:solidFill>
                  <a:schemeClr val="tx2"/>
                </a:solidFill>
                <a:latin typeface="Times New Roman" panose="02020603050405020304" pitchFamily="18" charset="0"/>
              </a:rPr>
              <a:t>倒谱系数（</a:t>
            </a:r>
            <a:r>
              <a:rPr lang="en-US" altLang="zh-CN" sz="2400" b="1" dirty="0">
                <a:solidFill>
                  <a:schemeClr val="tx2"/>
                </a:solidFill>
                <a:latin typeface="Times New Roman" panose="02020603050405020304" pitchFamily="18" charset="0"/>
              </a:rPr>
              <a:t>LPCC）</a:t>
            </a:r>
            <a:endParaRPr lang="en-US" altLang="zh-CN" sz="2400" b="1" dirty="0">
              <a:solidFill>
                <a:schemeClr val="tx2"/>
              </a:solidFill>
              <a:latin typeface="Times New Roman" panose="02020603050405020304" pitchFamily="18" charset="0"/>
            </a:endParaRPr>
          </a:p>
          <a:p>
            <a:pPr eaLnBrk="1" hangingPunct="1">
              <a:buFont typeface="Wingdings" panose="05000000000000000000" pitchFamily="2" charset="2"/>
              <a:buChar char="Ø"/>
              <a:defRPr/>
            </a:pPr>
            <a:r>
              <a:rPr lang="zh-CN" altLang="en-US" sz="2400" b="1" dirty="0">
                <a:solidFill>
                  <a:schemeClr val="tx2"/>
                </a:solidFill>
                <a:latin typeface="Times New Roman" panose="02020603050405020304" pitchFamily="18" charset="0"/>
              </a:rPr>
              <a:t> 倒谱是通过对信号进行</a:t>
            </a:r>
            <a:r>
              <a:rPr lang="en-US" altLang="zh-CN" sz="2400" b="1" dirty="0">
                <a:solidFill>
                  <a:schemeClr val="tx2"/>
                </a:solidFill>
                <a:latin typeface="Times New Roman" panose="02020603050405020304" pitchFamily="18" charset="0"/>
              </a:rPr>
              <a:t>Z</a:t>
            </a:r>
            <a:r>
              <a:rPr lang="zh-CN" altLang="en-US" sz="2400" b="1" dirty="0">
                <a:solidFill>
                  <a:schemeClr val="tx2"/>
                </a:solidFill>
                <a:latin typeface="Times New Roman" panose="02020603050405020304" pitchFamily="18" charset="0"/>
              </a:rPr>
              <a:t>变换，取对数，再反</a:t>
            </a:r>
            <a:r>
              <a:rPr lang="en-US" altLang="zh-CN" sz="2400" b="1" dirty="0">
                <a:solidFill>
                  <a:schemeClr val="tx2"/>
                </a:solidFill>
                <a:latin typeface="Times New Roman" panose="02020603050405020304" pitchFamily="18" charset="0"/>
              </a:rPr>
              <a:t>Z</a:t>
            </a:r>
            <a:r>
              <a:rPr lang="zh-CN" altLang="en-US" sz="2400" b="1" dirty="0">
                <a:solidFill>
                  <a:schemeClr val="tx2"/>
                </a:solidFill>
                <a:latin typeface="Times New Roman" panose="02020603050405020304" pitchFamily="18" charset="0"/>
              </a:rPr>
              <a:t>变换来得到的。</a:t>
            </a:r>
            <a:endParaRPr lang="en-US" altLang="zh-CN" sz="2400" b="1" dirty="0">
              <a:solidFill>
                <a:schemeClr val="tx2"/>
              </a:solidFill>
              <a:latin typeface="Times New Roman" panose="02020603050405020304" pitchFamily="18" charset="0"/>
            </a:endParaRPr>
          </a:p>
          <a:p>
            <a:pPr eaLnBrk="1" hangingPunct="1">
              <a:buFont typeface="Wingdings" panose="05000000000000000000" pitchFamily="2" charset="2"/>
              <a:buChar char="Ø"/>
              <a:defRPr/>
            </a:pPr>
            <a:r>
              <a:rPr lang="zh-CN" altLang="en-US" sz="2400" b="1" dirty="0">
                <a:solidFill>
                  <a:schemeClr val="tx2"/>
                </a:solidFill>
                <a:latin typeface="Times New Roman" panose="02020603050405020304" pitchFamily="18" charset="0"/>
              </a:rPr>
              <a:t>求单位</a:t>
            </a:r>
            <a:r>
              <a:rPr kumimoji="1" lang="zh-CN" altLang="en-US" sz="2400" b="1" dirty="0">
                <a:solidFill>
                  <a:schemeClr val="tx2"/>
                </a:solidFill>
                <a:latin typeface="Times New Roman" panose="02020603050405020304" pitchFamily="18" charset="0"/>
              </a:rPr>
              <a:t>冲激响应     </a:t>
            </a:r>
            <a:r>
              <a:rPr lang="zh-CN" altLang="en-US" sz="2400" b="1" dirty="0">
                <a:solidFill>
                  <a:schemeClr val="tx2"/>
                </a:solidFill>
                <a:latin typeface="Times New Roman" panose="02020603050405020304" pitchFamily="18" charset="0"/>
              </a:rPr>
              <a:t>的倒谱</a:t>
            </a:r>
            <a:endParaRPr lang="en-US" altLang="zh-CN" sz="2400" b="1" dirty="0">
              <a:solidFill>
                <a:schemeClr val="tx2"/>
              </a:solidFill>
              <a:latin typeface="Times New Roman" panose="02020603050405020304" pitchFamily="18" charset="0"/>
            </a:endParaRPr>
          </a:p>
          <a:p>
            <a:pPr eaLnBrk="1" hangingPunct="1">
              <a:buFont typeface="Wingdings" panose="05000000000000000000" pitchFamily="2" charset="2"/>
              <a:buChar char="Ø"/>
              <a:defRPr/>
            </a:pPr>
            <a:r>
              <a:rPr lang="zh-CN" altLang="en-US" sz="2400" b="1" dirty="0">
                <a:solidFill>
                  <a:schemeClr val="tx2"/>
                </a:solidFill>
                <a:latin typeface="Times New Roman" panose="02020603050405020304" pitchFamily="18" charset="0"/>
              </a:rPr>
              <a:t>它也反映了信号的谱包络信息，</a:t>
            </a:r>
            <a:r>
              <a:rPr lang="zh-CN" altLang="en-US" sz="2400" b="1" dirty="0">
                <a:solidFill>
                  <a:srgbClr val="0070C0"/>
                </a:solidFill>
                <a:latin typeface="黑体" panose="02010609060101010101" pitchFamily="49" charset="-122"/>
                <a:ea typeface="黑体" panose="02010609060101010101" pitchFamily="49" charset="-122"/>
              </a:rPr>
              <a:t>有快速递推算法</a:t>
            </a:r>
            <a:r>
              <a:rPr lang="zh-CN" altLang="en-US" sz="2400" b="1" dirty="0">
                <a:solidFill>
                  <a:schemeClr val="tx2"/>
                </a:solidFill>
                <a:latin typeface="Times New Roman" panose="02020603050405020304" pitchFamily="18" charset="0"/>
              </a:rPr>
              <a:t>。</a:t>
            </a:r>
            <a:endParaRPr lang="zh-CN" altLang="en-US" sz="2400" b="1" dirty="0">
              <a:solidFill>
                <a:schemeClr val="tx2"/>
              </a:solidFill>
              <a:latin typeface="Times New Roman" panose="02020603050405020304" pitchFamily="18" charset="0"/>
            </a:endParaRPr>
          </a:p>
        </p:txBody>
      </p:sp>
      <p:graphicFrame>
        <p:nvGraphicFramePr>
          <p:cNvPr id="91150" name="Object 6"/>
          <p:cNvGraphicFramePr>
            <a:graphicFrameLocks noChangeAspect="1"/>
          </p:cNvGraphicFramePr>
          <p:nvPr/>
        </p:nvGraphicFramePr>
        <p:xfrm>
          <a:off x="2543493" y="3933825"/>
          <a:ext cx="1814512" cy="949325"/>
        </p:xfrm>
        <a:graphic>
          <a:graphicData uri="http://schemas.openxmlformats.org/presentationml/2006/ole">
            <mc:AlternateContent xmlns:mc="http://schemas.openxmlformats.org/markup-compatibility/2006">
              <mc:Choice xmlns:v="urn:schemas-microsoft-com:vml" Requires="v">
                <p:oleObj spid="_x0000_s93239" name="" r:id="rId1" imgW="1218565" imgH="635000" progId="Equation.3">
                  <p:embed/>
                </p:oleObj>
              </mc:Choice>
              <mc:Fallback>
                <p:oleObj name="" r:id="rId1" imgW="1218565" imgH="635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493" y="3933825"/>
                        <a:ext cx="181451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195" name="Object 14"/>
          <p:cNvGraphicFramePr>
            <a:graphicFrameLocks noChangeAspect="1"/>
          </p:cNvGraphicFramePr>
          <p:nvPr/>
        </p:nvGraphicFramePr>
        <p:xfrm>
          <a:off x="5650865" y="4076700"/>
          <a:ext cx="1569720" cy="360680"/>
        </p:xfrm>
        <a:graphic>
          <a:graphicData uri="http://schemas.openxmlformats.org/presentationml/2006/ole">
            <mc:AlternateContent xmlns:mc="http://schemas.openxmlformats.org/markup-compatibility/2006">
              <mc:Choice xmlns:v="urn:schemas-microsoft-com:vml" Requires="v">
                <p:oleObj spid="_x0000_s93240" name="" r:id="rId3" imgW="1041400" imgH="241300" progId="Equation.3">
                  <p:embed/>
                </p:oleObj>
              </mc:Choice>
              <mc:Fallback>
                <p:oleObj name="" r:id="rId3" imgW="1041400" imgH="241300" progId="Equation.3">
                  <p:embed/>
                  <p:pic>
                    <p:nvPicPr>
                      <p:cNvPr id="0" name="Object 14"/>
                      <p:cNvPicPr>
                        <a:picLocks noChangeAspect="1" noChangeArrowheads="1"/>
                      </p:cNvPicPr>
                      <p:nvPr/>
                    </p:nvPicPr>
                    <p:blipFill>
                      <a:blip r:embed="rId4"/>
                      <a:srcRect/>
                      <a:stretch>
                        <a:fillRect/>
                      </a:stretch>
                    </p:blipFill>
                    <p:spPr bwMode="auto">
                      <a:xfrm>
                        <a:off x="5650865" y="4076700"/>
                        <a:ext cx="1569720" cy="360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4"/>
          <p:cNvGraphicFramePr>
            <a:graphicFrameLocks noChangeAspect="1"/>
          </p:cNvGraphicFramePr>
          <p:nvPr/>
        </p:nvGraphicFramePr>
        <p:xfrm>
          <a:off x="4567238" y="2951163"/>
          <a:ext cx="1836737" cy="360362"/>
        </p:xfrm>
        <a:graphic>
          <a:graphicData uri="http://schemas.openxmlformats.org/presentationml/2006/ole">
            <mc:AlternateContent xmlns:mc="http://schemas.openxmlformats.org/markup-compatibility/2006">
              <mc:Choice xmlns:v="urn:schemas-microsoft-com:vml" Requires="v">
                <p:oleObj spid="_x0000_s93242" name="Equation" r:id="rId5" imgW="29260800" imgH="5791200" progId="Equation.DSMT4">
                  <p:embed/>
                </p:oleObj>
              </mc:Choice>
              <mc:Fallback>
                <p:oleObj name="Equation" r:id="rId5" imgW="29260800" imgH="5791200" progId="Equation.DSMT4">
                  <p:embed/>
                  <p:pic>
                    <p:nvPicPr>
                      <p:cNvPr id="0" name="Object 14"/>
                      <p:cNvPicPr>
                        <a:picLocks noChangeAspect="1" noChangeArrowheads="1"/>
                      </p:cNvPicPr>
                      <p:nvPr/>
                    </p:nvPicPr>
                    <p:blipFill>
                      <a:blip r:embed="rId6"/>
                      <a:srcRect/>
                      <a:stretch>
                        <a:fillRect/>
                      </a:stretch>
                    </p:blipFill>
                    <p:spPr bwMode="auto">
                      <a:xfrm>
                        <a:off x="4567238" y="2951163"/>
                        <a:ext cx="18367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4"/>
          <p:cNvGraphicFramePr>
            <a:graphicFrameLocks noChangeAspect="1"/>
          </p:cNvGraphicFramePr>
          <p:nvPr/>
        </p:nvGraphicFramePr>
        <p:xfrm>
          <a:off x="3014663" y="3030538"/>
          <a:ext cx="477837" cy="303212"/>
        </p:xfrm>
        <a:graphic>
          <a:graphicData uri="http://schemas.openxmlformats.org/presentationml/2006/ole">
            <mc:AlternateContent xmlns:mc="http://schemas.openxmlformats.org/markup-compatibility/2006">
              <mc:Choice xmlns:v="urn:schemas-microsoft-com:vml" Requires="v">
                <p:oleObj spid="_x0000_s93243" name="Equation" r:id="rId7" imgW="317500" imgH="203200" progId="Equation.DSMT4">
                  <p:embed/>
                </p:oleObj>
              </mc:Choice>
              <mc:Fallback>
                <p:oleObj name="Equation" r:id="rId7" imgW="317500" imgH="2032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4663" y="3030538"/>
                        <a:ext cx="477837"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13"/>
          <p:cNvSpPr txBox="1">
            <a:spLocks noChangeArrowheads="1"/>
          </p:cNvSpPr>
          <p:nvPr/>
        </p:nvSpPr>
        <p:spPr bwMode="auto">
          <a:xfrm>
            <a:off x="971550" y="40163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有：</a:t>
            </a:r>
            <a:endParaRPr kumimoji="1" lang="zh-CN" altLang="en-US" sz="2400" b="1">
              <a:solidFill>
                <a:schemeClr val="tx2"/>
              </a:solidFill>
              <a:latin typeface="Times New Roman" panose="02020603050405020304" pitchFamily="18" charset="0"/>
            </a:endParaRPr>
          </a:p>
        </p:txBody>
      </p:sp>
      <p:graphicFrame>
        <p:nvGraphicFramePr>
          <p:cNvPr id="20" name="Object 6"/>
          <p:cNvGraphicFramePr>
            <a:graphicFrameLocks noChangeAspect="1"/>
          </p:cNvGraphicFramePr>
          <p:nvPr/>
        </p:nvGraphicFramePr>
        <p:xfrm>
          <a:off x="3425190" y="5588635"/>
          <a:ext cx="2600325" cy="1200785"/>
        </p:xfrm>
        <a:graphic>
          <a:graphicData uri="http://schemas.openxmlformats.org/presentationml/2006/ole">
            <mc:AlternateContent xmlns:mc="http://schemas.openxmlformats.org/markup-compatibility/2006">
              <mc:Choice xmlns:v="urn:schemas-microsoft-com:vml" Requires="v">
                <p:oleObj spid="_x0000_s93244" name="Equation" r:id="rId9" imgW="1866265" imgH="862965" progId="Equation.DSMT4">
                  <p:embed/>
                </p:oleObj>
              </mc:Choice>
              <mc:Fallback>
                <p:oleObj name="Equation" r:id="rId9" imgW="1866265" imgH="862965"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5190" y="5588635"/>
                        <a:ext cx="2600325" cy="120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组合 5"/>
          <p:cNvGrpSpPr/>
          <p:nvPr/>
        </p:nvGrpSpPr>
        <p:grpSpPr>
          <a:xfrm>
            <a:off x="1118870" y="4869180"/>
            <a:ext cx="6330950" cy="647700"/>
            <a:chOff x="1762" y="7555"/>
            <a:chExt cx="9970" cy="1020"/>
          </a:xfrm>
        </p:grpSpPr>
        <p:graphicFrame>
          <p:nvGraphicFramePr>
            <p:cNvPr id="322576" name="Object 16"/>
            <p:cNvGraphicFramePr>
              <a:graphicFrameLocks noChangeAspect="1"/>
            </p:cNvGraphicFramePr>
            <p:nvPr/>
          </p:nvGraphicFramePr>
          <p:xfrm>
            <a:off x="8990" y="7555"/>
            <a:ext cx="2742" cy="1020"/>
          </p:xfrm>
          <a:graphic>
            <a:graphicData uri="http://schemas.openxmlformats.org/presentationml/2006/ole">
              <mc:AlternateContent xmlns:mc="http://schemas.openxmlformats.org/markup-compatibility/2006">
                <mc:Choice xmlns:v="urn:schemas-microsoft-com:vml" Requires="v">
                  <p:oleObj spid="_x0000_s93241" name="" r:id="rId11" imgW="1155700" imgH="431800" progId="Equation.3">
                    <p:embed/>
                  </p:oleObj>
                </mc:Choice>
                <mc:Fallback>
                  <p:oleObj name="" r:id="rId11" imgW="1155700" imgH="4318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90" y="7555"/>
                          <a:ext cx="2742" cy="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p:cNvGrpSpPr/>
            <p:nvPr/>
          </p:nvGrpSpPr>
          <p:grpSpPr>
            <a:xfrm>
              <a:off x="1762" y="7658"/>
              <a:ext cx="5548" cy="720"/>
              <a:chOff x="1762" y="7658"/>
              <a:chExt cx="5548" cy="720"/>
            </a:xfrm>
          </p:grpSpPr>
          <p:sp>
            <p:nvSpPr>
              <p:cNvPr id="93196" name="Text Box 15"/>
              <p:cNvSpPr txBox="1">
                <a:spLocks noChangeArrowheads="1"/>
              </p:cNvSpPr>
              <p:nvPr/>
            </p:nvSpPr>
            <p:spPr bwMode="auto">
              <a:xfrm>
                <a:off x="2558" y="7658"/>
                <a:ext cx="4753"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可以展开成级数形式</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aphicFrame>
            <p:nvGraphicFramePr>
              <p:cNvPr id="2" name="Object 14"/>
              <p:cNvGraphicFramePr>
                <a:graphicFrameLocks noChangeAspect="1"/>
              </p:cNvGraphicFramePr>
              <p:nvPr/>
            </p:nvGraphicFramePr>
            <p:xfrm>
              <a:off x="1762" y="7750"/>
              <a:ext cx="875" cy="568"/>
            </p:xfrm>
            <a:graphic>
              <a:graphicData uri="http://schemas.openxmlformats.org/presentationml/2006/ole">
                <mc:AlternateContent xmlns:mc="http://schemas.openxmlformats.org/markup-compatibility/2006">
                  <mc:Choice xmlns:v="urn:schemas-microsoft-com:vml" Requires="v">
                    <p:oleObj spid="_x0000_s3" name="" r:id="rId13" imgW="368300" imgH="241300" progId="Equation.3">
                      <p:embed/>
                    </p:oleObj>
                  </mc:Choice>
                  <mc:Fallback>
                    <p:oleObj name="" r:id="rId13" imgW="368300" imgH="241300" progId="Equation.3">
                      <p:embed/>
                      <p:pic>
                        <p:nvPicPr>
                          <p:cNvPr id="0" name="Object 14"/>
                          <p:cNvPicPr>
                            <a:picLocks noChangeAspect="1" noChangeArrowheads="1"/>
                          </p:cNvPicPr>
                          <p:nvPr/>
                        </p:nvPicPr>
                        <p:blipFill>
                          <a:blip r:embed="rId14"/>
                          <a:srcRect/>
                          <a:stretch>
                            <a:fillRect/>
                          </a:stretch>
                        </p:blipFill>
                        <p:spPr bwMode="auto">
                          <a:xfrm>
                            <a:off x="1762" y="7750"/>
                            <a:ext cx="875" cy="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wipe(up)">
                                      <p:cBhvr>
                                        <p:cTn id="7" dur="500"/>
                                        <p:tgtEl>
                                          <p:spTgt spid="322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2563">
                                            <p:txEl>
                                              <p:pRg st="1" end="1"/>
                                            </p:txEl>
                                          </p:spTgt>
                                        </p:tgtEl>
                                        <p:attrNameLst>
                                          <p:attrName>style.visibility</p:attrName>
                                        </p:attrNameLst>
                                      </p:cBhvr>
                                      <p:to>
                                        <p:strVal val="visible"/>
                                      </p:to>
                                    </p:set>
                                    <p:animEffect transition="in" filter="wipe(up)">
                                      <p:cBhvr>
                                        <p:cTn id="12" dur="500"/>
                                        <p:tgtEl>
                                          <p:spTgt spid="322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22563">
                                            <p:txEl>
                                              <p:pRg st="2" end="2"/>
                                            </p:txEl>
                                          </p:spTgt>
                                        </p:tgtEl>
                                        <p:attrNameLst>
                                          <p:attrName>style.visibility</p:attrName>
                                        </p:attrNameLst>
                                      </p:cBhvr>
                                      <p:to>
                                        <p:strVal val="visible"/>
                                      </p:to>
                                    </p:set>
                                    <p:animEffect transition="in" filter="wipe(up)">
                                      <p:cBhvr>
                                        <p:cTn id="17" dur="500"/>
                                        <p:tgtEl>
                                          <p:spTgt spid="322563">
                                            <p:txEl>
                                              <p:pRg st="2" end="2"/>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par>
                                <p:cTn id="21" presetID="22" presetClass="entr" presetSubtype="1"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22563">
                                            <p:txEl>
                                              <p:pRg st="3" end="3"/>
                                            </p:txEl>
                                          </p:spTgt>
                                        </p:tgtEl>
                                        <p:attrNameLst>
                                          <p:attrName>style.visibility</p:attrName>
                                        </p:attrNameLst>
                                      </p:cBhvr>
                                      <p:to>
                                        <p:strVal val="visible"/>
                                      </p:to>
                                    </p:set>
                                    <p:animEffect transition="in" filter="wipe(up)">
                                      <p:cBhvr>
                                        <p:cTn id="28" dur="500"/>
                                        <p:tgtEl>
                                          <p:spTgt spid="32256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up)">
                                      <p:cBhvr>
                                        <p:cTn id="33" dur="500"/>
                                        <p:tgtEl>
                                          <p:spTgt spid="19"/>
                                        </p:tgtEl>
                                      </p:cBhvr>
                                    </p:animEffect>
                                  </p:childTnLst>
                                </p:cTn>
                              </p:par>
                              <p:par>
                                <p:cTn id="34" presetID="22" presetClass="entr" presetSubtype="1" fill="hold" nodeType="withEffect">
                                  <p:stCondLst>
                                    <p:cond delay="0"/>
                                  </p:stCondLst>
                                  <p:childTnLst>
                                    <p:set>
                                      <p:cBhvr>
                                        <p:cTn id="35" dur="1" fill="hold">
                                          <p:stCondLst>
                                            <p:cond delay="0"/>
                                          </p:stCondLst>
                                        </p:cTn>
                                        <p:tgtEl>
                                          <p:spTgt spid="91150"/>
                                        </p:tgtEl>
                                        <p:attrNameLst>
                                          <p:attrName>style.visibility</p:attrName>
                                        </p:attrNameLst>
                                      </p:cBhvr>
                                      <p:to>
                                        <p:strVal val="visible"/>
                                      </p:to>
                                    </p:set>
                                    <p:animEffect transition="in" filter="wipe(up)">
                                      <p:cBhvr>
                                        <p:cTn id="36" dur="500"/>
                                        <p:tgtEl>
                                          <p:spTgt spid="91150"/>
                                        </p:tgtEl>
                                      </p:cBhvr>
                                    </p:animEffect>
                                  </p:childTnLst>
                                </p:cTn>
                              </p:par>
                              <p:par>
                                <p:cTn id="37" presetID="22" presetClass="entr" presetSubtype="1" fill="hold" nodeType="withEffect">
                                  <p:stCondLst>
                                    <p:cond delay="0"/>
                                  </p:stCondLst>
                                  <p:childTnLst>
                                    <p:set>
                                      <p:cBhvr>
                                        <p:cTn id="38" dur="1" fill="hold">
                                          <p:stCondLst>
                                            <p:cond delay="0"/>
                                          </p:stCondLst>
                                        </p:cTn>
                                        <p:tgtEl>
                                          <p:spTgt spid="93195"/>
                                        </p:tgtEl>
                                        <p:attrNameLst>
                                          <p:attrName>style.visibility</p:attrName>
                                        </p:attrNameLst>
                                      </p:cBhvr>
                                      <p:to>
                                        <p:strVal val="visible"/>
                                      </p:to>
                                    </p:set>
                                    <p:animEffect transition="in" filter="wipe(up)">
                                      <p:cBhvr>
                                        <p:cTn id="39" dur="500"/>
                                        <p:tgtEl>
                                          <p:spTgt spid="9319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up)">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up)">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autoUpdateAnimBg="0" uiExpand="1" build="p"/>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2" name="Group 3"/>
          <p:cNvGrpSpPr/>
          <p:nvPr/>
        </p:nvGrpSpPr>
        <p:grpSpPr bwMode="auto">
          <a:xfrm>
            <a:off x="611188" y="1798638"/>
            <a:ext cx="3862387" cy="457200"/>
            <a:chOff x="385" y="1133"/>
            <a:chExt cx="2433" cy="288"/>
          </a:xfrm>
        </p:grpSpPr>
        <p:sp>
          <p:nvSpPr>
            <p:cNvPr id="95240" name="Text Box 4"/>
            <p:cNvSpPr txBox="1">
              <a:spLocks noChangeArrowheads="1"/>
            </p:cNvSpPr>
            <p:nvPr/>
          </p:nvSpPr>
          <p:spPr bwMode="auto">
            <a:xfrm>
              <a:off x="385" y="1133"/>
              <a:ext cx="24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 </a:t>
              </a:r>
              <a:r>
                <a:rPr kumimoji="1" lang="zh-CN" altLang="en-US" sz="2400" b="1">
                  <a:solidFill>
                    <a:schemeClr val="tx2"/>
                  </a:solidFill>
                  <a:latin typeface="宋体" panose="02010600030101010101" pitchFamily="2" charset="-122"/>
                </a:rPr>
                <a:t>将上式两边同时对   求导</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aphicFrame>
          <p:nvGraphicFramePr>
            <p:cNvPr id="95241" name="Object 5"/>
            <p:cNvGraphicFramePr>
              <a:graphicFrameLocks noChangeAspect="1"/>
            </p:cNvGraphicFramePr>
            <p:nvPr/>
          </p:nvGraphicFramePr>
          <p:xfrm>
            <a:off x="2107" y="1167"/>
            <a:ext cx="209" cy="182"/>
          </p:xfrm>
          <a:graphic>
            <a:graphicData uri="http://schemas.openxmlformats.org/presentationml/2006/ole">
              <mc:AlternateContent xmlns:mc="http://schemas.openxmlformats.org/markup-compatibility/2006">
                <mc:Choice xmlns:v="urn:schemas-microsoft-com:vml" Requires="v">
                  <p:oleObj spid="_x0000_s95270" name="" r:id="rId1" imgW="215900" imgH="190500" progId="Equation.3">
                    <p:embed/>
                  </p:oleObj>
                </mc:Choice>
                <mc:Fallback>
                  <p:oleObj name="" r:id="rId1" imgW="215900" imgH="1905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 y="1167"/>
                          <a:ext cx="20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24614" name="Object 6"/>
          <p:cNvGraphicFramePr>
            <a:graphicFrameLocks noChangeAspect="1"/>
          </p:cNvGraphicFramePr>
          <p:nvPr/>
        </p:nvGraphicFramePr>
        <p:xfrm>
          <a:off x="2422525" y="2495550"/>
          <a:ext cx="3530600" cy="1143000"/>
        </p:xfrm>
        <a:graphic>
          <a:graphicData uri="http://schemas.openxmlformats.org/presentationml/2006/ole">
            <mc:AlternateContent xmlns:mc="http://schemas.openxmlformats.org/markup-compatibility/2006">
              <mc:Choice xmlns:v="urn:schemas-microsoft-com:vml" Requires="v">
                <p:oleObj spid="_x0000_s95271" name="" r:id="rId3" imgW="2349500" imgH="762000" progId="Equation.3">
                  <p:embed/>
                </p:oleObj>
              </mc:Choice>
              <mc:Fallback>
                <p:oleObj name="" r:id="rId3" imgW="2349500" imgH="7620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525" y="2495550"/>
                        <a:ext cx="3530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4615" name="Text Box 7"/>
          <p:cNvSpPr txBox="1">
            <a:spLocks noChangeArrowheads="1"/>
          </p:cNvSpPr>
          <p:nvPr/>
        </p:nvSpPr>
        <p:spPr bwMode="auto">
          <a:xfrm>
            <a:off x="779463" y="3732213"/>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有</a:t>
            </a:r>
            <a:endParaRPr kumimoji="1" lang="zh-CN" altLang="en-US" sz="2400" b="1">
              <a:solidFill>
                <a:schemeClr val="tx2"/>
              </a:solidFill>
              <a:latin typeface="Times New Roman" panose="02020603050405020304" pitchFamily="18" charset="0"/>
            </a:endParaRPr>
          </a:p>
        </p:txBody>
      </p:sp>
      <p:graphicFrame>
        <p:nvGraphicFramePr>
          <p:cNvPr id="324616" name="Object 8"/>
          <p:cNvGraphicFramePr>
            <a:graphicFrameLocks noChangeAspect="1"/>
          </p:cNvGraphicFramePr>
          <p:nvPr/>
        </p:nvGraphicFramePr>
        <p:xfrm>
          <a:off x="2408238" y="3997325"/>
          <a:ext cx="2530475" cy="1300163"/>
        </p:xfrm>
        <a:graphic>
          <a:graphicData uri="http://schemas.openxmlformats.org/presentationml/2006/ole">
            <mc:AlternateContent xmlns:mc="http://schemas.openxmlformats.org/markup-compatibility/2006">
              <mc:Choice xmlns:v="urn:schemas-microsoft-com:vml" Requires="v">
                <p:oleObj spid="_x0000_s95272" name="" r:id="rId5" imgW="1688465" imgH="862965" progId="Equation.3">
                  <p:embed/>
                </p:oleObj>
              </mc:Choice>
              <mc:Fallback>
                <p:oleObj name="" r:id="rId5" imgW="1688465" imgH="86296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8238" y="3997325"/>
                        <a:ext cx="2530475"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4617" name="Object 9"/>
          <p:cNvGraphicFramePr>
            <a:graphicFrameLocks noChangeAspect="1"/>
          </p:cNvGraphicFramePr>
          <p:nvPr/>
        </p:nvGraphicFramePr>
        <p:xfrm>
          <a:off x="2185988" y="5449888"/>
          <a:ext cx="3570287" cy="647700"/>
        </p:xfrm>
        <a:graphic>
          <a:graphicData uri="http://schemas.openxmlformats.org/presentationml/2006/ole">
            <mc:AlternateContent xmlns:mc="http://schemas.openxmlformats.org/markup-compatibility/2006">
              <mc:Choice xmlns:v="urn:schemas-microsoft-com:vml" Requires="v">
                <p:oleObj spid="_x0000_s95273" name="" r:id="rId7" imgW="2362200" imgH="431800" progId="Equation.3">
                  <p:embed/>
                </p:oleObj>
              </mc:Choice>
              <mc:Fallback>
                <p:oleObj name="" r:id="rId7" imgW="23622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85988" y="5449888"/>
                        <a:ext cx="35702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4614"/>
                                        </p:tgtEl>
                                        <p:attrNameLst>
                                          <p:attrName>style.visibility</p:attrName>
                                        </p:attrNameLst>
                                      </p:cBhvr>
                                      <p:to>
                                        <p:strVal val="visible"/>
                                      </p:to>
                                    </p:set>
                                    <p:animEffect transition="in" filter="wipe(up)">
                                      <p:cBhvr>
                                        <p:cTn id="12" dur="500"/>
                                        <p:tgtEl>
                                          <p:spTgt spid="3246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24615"/>
                                        </p:tgtEl>
                                        <p:attrNameLst>
                                          <p:attrName>style.visibility</p:attrName>
                                        </p:attrNameLst>
                                      </p:cBhvr>
                                      <p:to>
                                        <p:strVal val="visible"/>
                                      </p:to>
                                    </p:set>
                                    <p:animEffect transition="in" filter="wipe(up)">
                                      <p:cBhvr>
                                        <p:cTn id="17" dur="500"/>
                                        <p:tgtEl>
                                          <p:spTgt spid="3246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24616"/>
                                        </p:tgtEl>
                                        <p:attrNameLst>
                                          <p:attrName>style.visibility</p:attrName>
                                        </p:attrNameLst>
                                      </p:cBhvr>
                                      <p:to>
                                        <p:strVal val="visible"/>
                                      </p:to>
                                    </p:set>
                                    <p:animEffect transition="in" filter="wipe(up)">
                                      <p:cBhvr>
                                        <p:cTn id="22" dur="500"/>
                                        <p:tgtEl>
                                          <p:spTgt spid="3246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24617"/>
                                        </p:tgtEl>
                                        <p:attrNameLst>
                                          <p:attrName>style.visibility</p:attrName>
                                        </p:attrNameLst>
                                      </p:cBhvr>
                                      <p:to>
                                        <p:strVal val="visible"/>
                                      </p:to>
                                    </p:set>
                                    <p:animEffect transition="in" filter="wipe(up)">
                                      <p:cBhvr>
                                        <p:cTn id="27" dur="500"/>
                                        <p:tgtEl>
                                          <p:spTgt spid="324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grpSp>
        <p:nvGrpSpPr>
          <p:cNvPr id="2" name="Group 3"/>
          <p:cNvGrpSpPr/>
          <p:nvPr/>
        </p:nvGrpSpPr>
        <p:grpSpPr bwMode="auto">
          <a:xfrm>
            <a:off x="808038" y="1657350"/>
            <a:ext cx="4094162" cy="457200"/>
            <a:chOff x="509" y="1044"/>
            <a:chExt cx="2579" cy="288"/>
          </a:xfrm>
        </p:grpSpPr>
        <p:sp>
          <p:nvSpPr>
            <p:cNvPr id="97285" name="Text Box 4"/>
            <p:cNvSpPr txBox="1">
              <a:spLocks noChangeArrowheads="1"/>
            </p:cNvSpPr>
            <p:nvPr/>
          </p:nvSpPr>
          <p:spPr bwMode="auto">
            <a:xfrm>
              <a:off x="509" y="1044"/>
              <a:ext cx="25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得到   和  间的递推关系为</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aphicFrame>
          <p:nvGraphicFramePr>
            <p:cNvPr id="97286" name="Object 5"/>
            <p:cNvGraphicFramePr>
              <a:graphicFrameLocks noChangeAspect="1"/>
            </p:cNvGraphicFramePr>
            <p:nvPr/>
          </p:nvGraphicFramePr>
          <p:xfrm>
            <a:off x="988" y="1080"/>
            <a:ext cx="299" cy="226"/>
          </p:xfrm>
          <a:graphic>
            <a:graphicData uri="http://schemas.openxmlformats.org/presentationml/2006/ole">
              <mc:AlternateContent xmlns:mc="http://schemas.openxmlformats.org/markup-compatibility/2006">
                <mc:Choice xmlns:v="urn:schemas-microsoft-com:vml" Requires="v">
                  <p:oleObj spid="_x0000_s97309" name="" r:id="rId1" imgW="317500" imgH="241300" progId="Equation.3">
                    <p:embed/>
                  </p:oleObj>
                </mc:Choice>
                <mc:Fallback>
                  <p:oleObj name="" r:id="rId1" imgW="317500" imgH="2413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 y="1080"/>
                          <a:ext cx="29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7" name="Object 6"/>
            <p:cNvGraphicFramePr>
              <a:graphicFrameLocks noChangeAspect="1"/>
            </p:cNvGraphicFramePr>
            <p:nvPr/>
          </p:nvGraphicFramePr>
          <p:xfrm>
            <a:off x="1480" y="1084"/>
            <a:ext cx="143" cy="215"/>
          </p:xfrm>
          <a:graphic>
            <a:graphicData uri="http://schemas.openxmlformats.org/presentationml/2006/ole">
              <mc:AlternateContent xmlns:mc="http://schemas.openxmlformats.org/markup-compatibility/2006">
                <mc:Choice xmlns:v="urn:schemas-microsoft-com:vml" Requires="v">
                  <p:oleObj spid="_x0000_s97310" name="" r:id="rId3" imgW="152400" imgH="228600" progId="Equation.3">
                    <p:embed/>
                  </p:oleObj>
                </mc:Choice>
                <mc:Fallback>
                  <p:oleObj name="" r:id="rId3" imgW="1524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 y="1084"/>
                          <a:ext cx="14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26663" name="Object 7"/>
          <p:cNvGraphicFramePr>
            <a:graphicFrameLocks noChangeAspect="1"/>
          </p:cNvGraphicFramePr>
          <p:nvPr/>
        </p:nvGraphicFramePr>
        <p:xfrm>
          <a:off x="1947863" y="2497138"/>
          <a:ext cx="4416425" cy="2058987"/>
        </p:xfrm>
        <a:graphic>
          <a:graphicData uri="http://schemas.openxmlformats.org/presentationml/2006/ole">
            <mc:AlternateContent xmlns:mc="http://schemas.openxmlformats.org/markup-compatibility/2006">
              <mc:Choice xmlns:v="urn:schemas-microsoft-com:vml" Requires="v">
                <p:oleObj spid="_x0000_s97311" name="Equation" r:id="rId5" imgW="2946400" imgH="1371600" progId="Equation.3">
                  <p:embed/>
                </p:oleObj>
              </mc:Choice>
              <mc:Fallback>
                <p:oleObj name="Equation" r:id="rId5" imgW="2946400" imgH="1371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7863" y="2497138"/>
                        <a:ext cx="4416425" cy="205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6663"/>
                                        </p:tgtEl>
                                        <p:attrNameLst>
                                          <p:attrName>style.visibility</p:attrName>
                                        </p:attrNameLst>
                                      </p:cBhvr>
                                      <p:to>
                                        <p:strVal val="visible"/>
                                      </p:to>
                                    </p:set>
                                    <p:animEffect transition="in" filter="wipe(up)">
                                      <p:cBhvr>
                                        <p:cTn id="12" dur="500"/>
                                        <p:tgtEl>
                                          <p:spTgt spid="326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99331" name="Rectangle 3"/>
          <p:cNvSpPr>
            <a:spLocks noGrp="1" noChangeArrowheads="1"/>
          </p:cNvSpPr>
          <p:nvPr>
            <p:ph type="body" idx="1"/>
          </p:nvPr>
        </p:nvSpPr>
        <p:spPr/>
        <p:txBody>
          <a:bodyPr/>
          <a:lstStyle/>
          <a:p>
            <a:pPr eaLnBrk="1" hangingPunct="1">
              <a:buFontTx/>
              <a:buNone/>
            </a:pPr>
            <a:r>
              <a:rPr lang="zh-CN" altLang="en-US"/>
              <a:t>感知机理的仿真</a:t>
            </a:r>
            <a:endParaRPr lang="en-US" altLang="zh-CN"/>
          </a:p>
        </p:txBody>
      </p:sp>
      <p:sp>
        <p:nvSpPr>
          <p:cNvPr id="99332" name="Rectangle 5"/>
          <p:cNvSpPr>
            <a:spLocks noChangeArrowheads="1"/>
          </p:cNvSpPr>
          <p:nvPr/>
        </p:nvSpPr>
        <p:spPr bwMode="auto">
          <a:xfrm>
            <a:off x="1938338" y="1638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99333" name="Object 4"/>
          <p:cNvGraphicFramePr>
            <a:graphicFrameLocks noChangeAspect="1"/>
          </p:cNvGraphicFramePr>
          <p:nvPr/>
        </p:nvGraphicFramePr>
        <p:xfrm>
          <a:off x="2133600" y="2590800"/>
          <a:ext cx="5267325" cy="3581400"/>
        </p:xfrm>
        <a:graphic>
          <a:graphicData uri="http://schemas.openxmlformats.org/presentationml/2006/ole">
            <mc:AlternateContent xmlns:mc="http://schemas.openxmlformats.org/markup-compatibility/2006">
              <mc:Choice xmlns:v="urn:schemas-microsoft-com:vml" Requires="v">
                <p:oleObj spid="_x0000_s99341" name="" r:id="rId1" imgW="5372100" imgH="3649980" progId="Word.Picture.8">
                  <p:embed/>
                </p:oleObj>
              </mc:Choice>
              <mc:Fallback>
                <p:oleObj name="" r:id="rId1" imgW="5372100" imgH="3649980" progId="Word.Picture.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590800"/>
                        <a:ext cx="52673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solidFill>
                <a:schemeClr val="accent2"/>
              </a:solidFill>
            </a:endParaRPr>
          </a:p>
        </p:txBody>
      </p:sp>
      <p:sp>
        <p:nvSpPr>
          <p:cNvPr id="57347" name="Rectangle 3"/>
          <p:cNvSpPr>
            <a:spLocks noGrp="1" noChangeArrowheads="1"/>
          </p:cNvSpPr>
          <p:nvPr>
            <p:ph type="body" idx="1"/>
          </p:nvPr>
        </p:nvSpPr>
        <p:spPr>
          <a:xfrm>
            <a:off x="685800" y="1752600"/>
            <a:ext cx="7772400" cy="1752600"/>
          </a:xfrm>
        </p:spPr>
        <p:txBody>
          <a:bodyPr/>
          <a:lstStyle/>
          <a:p>
            <a:pPr eaLnBrk="1" hangingPunct="1"/>
            <a:r>
              <a:rPr lang="zh-CN" altLang="en-US" sz="2400" b="1">
                <a:solidFill>
                  <a:schemeClr val="tx2"/>
                </a:solidFill>
              </a:rPr>
              <a:t>正常人耳能感知的频率范围为16.4</a:t>
            </a:r>
            <a:r>
              <a:rPr lang="en-US" altLang="zh-CN" sz="2400" b="1">
                <a:solidFill>
                  <a:schemeClr val="tx2"/>
                </a:solidFill>
              </a:rPr>
              <a:t>Hz~16KHz;</a:t>
            </a:r>
            <a:r>
              <a:rPr lang="zh-CN" altLang="en-US" sz="2400" b="1">
                <a:solidFill>
                  <a:schemeClr val="tx2"/>
                </a:solidFill>
              </a:rPr>
              <a:t>强度范围为0</a:t>
            </a:r>
            <a:r>
              <a:rPr lang="en-US" altLang="zh-CN" sz="2400" b="1">
                <a:solidFill>
                  <a:schemeClr val="tx2"/>
                </a:solidFill>
              </a:rPr>
              <a:t>dB~120dB。</a:t>
            </a:r>
            <a:endParaRPr lang="en-US" altLang="zh-CN" sz="2400" b="1">
              <a:solidFill>
                <a:schemeClr val="tx2"/>
              </a:solidFill>
            </a:endParaRPr>
          </a:p>
          <a:p>
            <a:pPr eaLnBrk="1" hangingPunct="1"/>
            <a:r>
              <a:rPr lang="zh-CN" altLang="en-US" sz="2400" b="1">
                <a:solidFill>
                  <a:srgbClr val="0070C0"/>
                </a:solidFill>
              </a:rPr>
              <a:t>音调</a:t>
            </a:r>
            <a:r>
              <a:rPr lang="zh-CN" altLang="en-US" sz="2400" b="1">
                <a:solidFill>
                  <a:schemeClr val="tx2"/>
                </a:solidFill>
              </a:rPr>
              <a:t>是人耳对</a:t>
            </a:r>
            <a:r>
              <a:rPr lang="zh-CN" altLang="en-US" sz="2400" b="1">
                <a:solidFill>
                  <a:srgbClr val="0070C0"/>
                </a:solidFill>
              </a:rPr>
              <a:t>频率</a:t>
            </a:r>
            <a:r>
              <a:rPr lang="zh-CN" altLang="en-US" sz="2400" b="1">
                <a:solidFill>
                  <a:schemeClr val="tx2"/>
                </a:solidFill>
              </a:rPr>
              <a:t>的一种</a:t>
            </a:r>
            <a:r>
              <a:rPr lang="zh-CN" altLang="en-US" sz="2400" b="1">
                <a:solidFill>
                  <a:srgbClr val="0070C0"/>
                </a:solidFill>
              </a:rPr>
              <a:t>主观感觉</a:t>
            </a:r>
            <a:r>
              <a:rPr lang="zh-CN" altLang="en-US" sz="2400" b="1">
                <a:solidFill>
                  <a:schemeClr val="tx2"/>
                </a:solidFill>
              </a:rPr>
              <a:t>。单位为</a:t>
            </a:r>
            <a:r>
              <a:rPr lang="en-US" altLang="zh-CN" sz="2400" b="1">
                <a:solidFill>
                  <a:srgbClr val="0070C0"/>
                </a:solidFill>
              </a:rPr>
              <a:t>Mel</a:t>
            </a:r>
            <a:r>
              <a:rPr lang="en-US" altLang="zh-CN" sz="2400" b="1">
                <a:solidFill>
                  <a:schemeClr val="tx2"/>
                </a:solidFill>
              </a:rPr>
              <a:t>，</a:t>
            </a:r>
            <a:r>
              <a:rPr lang="zh-CN" altLang="en-US" sz="2400" b="1">
                <a:solidFill>
                  <a:schemeClr val="tx2"/>
                </a:solidFill>
              </a:rPr>
              <a:t>与频率近似的满足方程：</a:t>
            </a:r>
            <a:endParaRPr lang="zh-CN" altLang="en-US" sz="2400" b="1">
              <a:solidFill>
                <a:schemeClr val="tx2"/>
              </a:solidFill>
            </a:endParaRPr>
          </a:p>
        </p:txBody>
      </p:sp>
      <p:graphicFrame>
        <p:nvGraphicFramePr>
          <p:cNvPr id="57350" name="Object 6"/>
          <p:cNvGraphicFramePr>
            <a:graphicFrameLocks noChangeAspect="1"/>
          </p:cNvGraphicFramePr>
          <p:nvPr/>
        </p:nvGraphicFramePr>
        <p:xfrm>
          <a:off x="2057400" y="3510280"/>
          <a:ext cx="4338638" cy="447675"/>
        </p:xfrm>
        <a:graphic>
          <a:graphicData uri="http://schemas.openxmlformats.org/presentationml/2006/ole">
            <mc:AlternateContent xmlns:mc="http://schemas.openxmlformats.org/markup-compatibility/2006">
              <mc:Choice xmlns:v="urn:schemas-microsoft-com:vml" Requires="v">
                <p:oleObj spid="_x0000_s100365" name="Equation" r:id="rId1" imgW="2209800" imgH="228600" progId="Equation.3">
                  <p:embed/>
                </p:oleObj>
              </mc:Choice>
              <mc:Fallback>
                <p:oleObj name="Equation" r:id="rId1" imgW="22098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510280"/>
                        <a:ext cx="433863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1" name="Rectangle 7"/>
          <p:cNvSpPr>
            <a:spLocks noChangeArrowheads="1"/>
          </p:cNvSpPr>
          <p:nvPr/>
        </p:nvSpPr>
        <p:spPr bwMode="auto">
          <a:xfrm>
            <a:off x="685800" y="4038600"/>
            <a:ext cx="7772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3"/>
              </a:buBlip>
            </a:pPr>
            <a:r>
              <a:rPr kumimoji="1" lang="zh-CN" altLang="en-US" sz="2400" b="1">
                <a:solidFill>
                  <a:srgbClr val="0070C0"/>
                </a:solidFill>
              </a:rPr>
              <a:t>响度</a:t>
            </a:r>
            <a:r>
              <a:rPr kumimoji="1" lang="zh-CN" altLang="en-US" sz="2400" b="1">
                <a:solidFill>
                  <a:schemeClr val="tx1"/>
                </a:solidFill>
              </a:rPr>
              <a:t>是对</a:t>
            </a:r>
            <a:r>
              <a:rPr kumimoji="1" lang="zh-CN" altLang="en-US" sz="2400" b="1">
                <a:solidFill>
                  <a:srgbClr val="0070C0"/>
                </a:solidFill>
              </a:rPr>
              <a:t>强度</a:t>
            </a:r>
            <a:r>
              <a:rPr kumimoji="1" lang="zh-CN" altLang="en-US" sz="2400" b="1">
                <a:solidFill>
                  <a:schemeClr val="tx1"/>
                </a:solidFill>
              </a:rPr>
              <a:t>的</a:t>
            </a:r>
            <a:r>
              <a:rPr kumimoji="1" lang="zh-CN" altLang="en-US" sz="2400" b="1">
                <a:solidFill>
                  <a:srgbClr val="0070C0"/>
                </a:solidFill>
              </a:rPr>
              <a:t>主观感觉，</a:t>
            </a:r>
            <a:r>
              <a:rPr kumimoji="1" lang="zh-CN" altLang="en-US" sz="2400" b="1">
                <a:solidFill>
                  <a:schemeClr val="tx2"/>
                </a:solidFill>
              </a:rPr>
              <a:t>单位为</a:t>
            </a:r>
            <a:r>
              <a:rPr kumimoji="1" lang="en-US" altLang="zh-CN" sz="2400" b="1">
                <a:solidFill>
                  <a:srgbClr val="0070C0"/>
                </a:solidFill>
              </a:rPr>
              <a:t>Phon</a:t>
            </a:r>
            <a:r>
              <a:rPr kumimoji="1" lang="en-US" altLang="zh-CN" sz="2400" b="1">
                <a:solidFill>
                  <a:schemeClr val="tx2"/>
                </a:solidFill>
              </a:rPr>
              <a:t>。1Phon</a:t>
            </a:r>
            <a:r>
              <a:rPr kumimoji="1" lang="zh-CN" altLang="en-US" sz="2400" b="1">
                <a:solidFill>
                  <a:schemeClr val="tx2"/>
                </a:solidFill>
              </a:rPr>
              <a:t>等于1</a:t>
            </a:r>
            <a:r>
              <a:rPr kumimoji="1" lang="en-US" altLang="zh-CN" sz="2400" b="1">
                <a:solidFill>
                  <a:schemeClr val="tx2"/>
                </a:solidFill>
              </a:rPr>
              <a:t>kHz</a:t>
            </a:r>
            <a:r>
              <a:rPr kumimoji="1" lang="zh-CN" altLang="en-US" sz="2400" b="1">
                <a:solidFill>
                  <a:schemeClr val="tx2"/>
                </a:solidFill>
              </a:rPr>
              <a:t>纯音的1</a:t>
            </a:r>
            <a:r>
              <a:rPr kumimoji="1" lang="en-US" altLang="zh-CN" sz="2400" b="1">
                <a:solidFill>
                  <a:schemeClr val="tx2"/>
                </a:solidFill>
              </a:rPr>
              <a:t>db</a:t>
            </a:r>
            <a:r>
              <a:rPr kumimoji="1" lang="zh-CN" altLang="en-US" sz="2400" b="1">
                <a:solidFill>
                  <a:schemeClr val="tx2"/>
                </a:solidFill>
              </a:rPr>
              <a:t>声</a:t>
            </a:r>
            <a:r>
              <a:rPr kumimoji="1" lang="zh-CN" altLang="en-US" sz="2400" b="1">
                <a:solidFill>
                  <a:schemeClr val="tx2"/>
                </a:solidFill>
              </a:rPr>
              <a:t>强级。</a:t>
            </a:r>
            <a:endParaRPr kumimoji="1" lang="zh-CN" altLang="en-US" sz="2400" b="1">
              <a:solidFill>
                <a:schemeClr val="tx2"/>
              </a:solidFill>
            </a:endParaRPr>
          </a:p>
          <a:p>
            <a:pPr eaLnBrk="1" hangingPunct="1">
              <a:buSzPct val="80000"/>
              <a:buFontTx/>
              <a:buBlip>
                <a:blip r:embed="rId3"/>
              </a:buBlip>
            </a:pPr>
            <a:r>
              <a:rPr kumimoji="1" lang="en-US" altLang="zh-CN" sz="2400" b="1">
                <a:solidFill>
                  <a:schemeClr val="tx2"/>
                </a:solidFill>
              </a:rPr>
              <a:t>人耳感知的响度</a:t>
            </a:r>
            <a:r>
              <a:rPr kumimoji="1" lang="en-US" altLang="zh-CN" sz="2400" b="1">
                <a:solidFill>
                  <a:srgbClr val="0070C0"/>
                </a:solidFill>
              </a:rPr>
              <a:t>受频率影响</a:t>
            </a:r>
            <a:r>
              <a:rPr kumimoji="1" lang="zh-CN" altLang="en-US" sz="2400" b="1">
                <a:solidFill>
                  <a:srgbClr val="0070C0"/>
                </a:solidFill>
              </a:rPr>
              <a:t>，</a:t>
            </a:r>
            <a:r>
              <a:rPr kumimoji="1" lang="zh-CN" altLang="en-US" sz="2400" b="1">
                <a:solidFill>
                  <a:schemeClr val="tx1"/>
                </a:solidFill>
              </a:rPr>
              <a:t>不是真实强度</a:t>
            </a:r>
            <a:r>
              <a:rPr kumimoji="1" lang="zh-CN" altLang="en-US" sz="2400" b="1">
                <a:solidFill>
                  <a:schemeClr val="tx2"/>
                </a:solidFill>
              </a:rPr>
              <a:t>。为了确定一个音的响度，需要调节1</a:t>
            </a:r>
            <a:r>
              <a:rPr kumimoji="1" lang="en-US" altLang="zh-CN" sz="2400" b="1">
                <a:solidFill>
                  <a:schemeClr val="tx2"/>
                </a:solidFill>
              </a:rPr>
              <a:t>kHz</a:t>
            </a:r>
            <a:r>
              <a:rPr kumimoji="1" lang="zh-CN" altLang="en-US" sz="2400" b="1">
                <a:solidFill>
                  <a:schemeClr val="tx2"/>
                </a:solidFill>
              </a:rPr>
              <a:t>纯音的声强，使其与目标音一样响，此时的声强就是待求响度。</a:t>
            </a:r>
            <a:endParaRPr kumimoji="1" lang="zh-CN" altLang="en-US" sz="2400" b="1">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wipe(up)">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wipe(up)">
                                      <p:cBhvr>
                                        <p:cTn id="12" dur="500"/>
                                        <p:tgtEl>
                                          <p:spTgt spid="5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wipe(up)">
                                      <p:cBhvr>
                                        <p:cTn id="17" dur="500"/>
                                        <p:tgtEl>
                                          <p:spTgt spid="573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7351">
                                            <p:txEl>
                                              <p:pRg st="0" end="0"/>
                                            </p:txEl>
                                          </p:spTgt>
                                        </p:tgtEl>
                                        <p:attrNameLst>
                                          <p:attrName>style.visibility</p:attrName>
                                        </p:attrNameLst>
                                      </p:cBhvr>
                                      <p:to>
                                        <p:strVal val="visible"/>
                                      </p:to>
                                    </p:set>
                                    <p:animEffect transition="in" filter="wipe(up)">
                                      <p:cBhvr>
                                        <p:cTn id="22" dur="500"/>
                                        <p:tgtEl>
                                          <p:spTgt spid="5735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7351">
                                            <p:txEl>
                                              <p:pRg st="1" end="1"/>
                                            </p:txEl>
                                          </p:spTgt>
                                        </p:tgtEl>
                                        <p:attrNameLst>
                                          <p:attrName>style.visibility</p:attrName>
                                        </p:attrNameLst>
                                      </p:cBhvr>
                                      <p:to>
                                        <p:strVal val="visible"/>
                                      </p:to>
                                    </p:set>
                                    <p:animEffect transition="in" filter="wipe(up)">
                                      <p:cBhvr>
                                        <p:cTn id="27" dur="500"/>
                                        <p:tgtEl>
                                          <p:spTgt spid="573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autoUpdateAnimBg="0" build="p"/>
      <p:bldP spid="57351" grpId="0" autoUpdateAnimBg="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101379" name="Rectangle 3"/>
          <p:cNvSpPr>
            <a:spLocks noGrp="1" noChangeArrowheads="1"/>
          </p:cNvSpPr>
          <p:nvPr>
            <p:ph type="body" idx="1"/>
          </p:nvPr>
        </p:nvSpPr>
        <p:spPr>
          <a:xfrm>
            <a:off x="685800" y="1981200"/>
            <a:ext cx="7772400" cy="4648200"/>
          </a:xfrm>
        </p:spPr>
        <p:txBody>
          <a:bodyPr/>
          <a:lstStyle/>
          <a:p>
            <a:pPr eaLnBrk="1" hangingPunct="1">
              <a:lnSpc>
                <a:spcPct val="90000"/>
              </a:lnSpc>
            </a:pPr>
            <a:r>
              <a:rPr lang="zh-CN" altLang="en-US" b="1">
                <a:solidFill>
                  <a:schemeClr val="tx2"/>
                </a:solidFill>
              </a:rPr>
              <a:t>等响度曲线</a:t>
            </a: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buFontTx/>
              <a:buNone/>
            </a:pPr>
            <a:endParaRPr lang="zh-CN" altLang="en-US" b="1">
              <a:solidFill>
                <a:schemeClr val="tx2"/>
              </a:solidFill>
            </a:endParaRPr>
          </a:p>
          <a:p>
            <a:pPr eaLnBrk="1" hangingPunct="1">
              <a:lnSpc>
                <a:spcPct val="90000"/>
              </a:lnSpc>
            </a:pPr>
            <a:r>
              <a:rPr lang="zh-CN" altLang="en-US" b="1">
                <a:solidFill>
                  <a:srgbClr val="FF0000"/>
                </a:solidFill>
              </a:rPr>
              <a:t>掩蔽效应</a:t>
            </a:r>
            <a:endParaRPr lang="zh-CN" altLang="en-US" b="1">
              <a:solidFill>
                <a:srgbClr val="FF0000"/>
              </a:solidFill>
            </a:endParaRPr>
          </a:p>
          <a:p>
            <a:pPr eaLnBrk="1" hangingPunct="1">
              <a:lnSpc>
                <a:spcPct val="90000"/>
              </a:lnSpc>
            </a:pPr>
            <a:endParaRPr lang="zh-CN" altLang="en-US" b="1">
              <a:solidFill>
                <a:schemeClr val="tx2"/>
              </a:solidFill>
            </a:endParaRPr>
          </a:p>
        </p:txBody>
      </p:sp>
      <p:sp>
        <p:nvSpPr>
          <p:cNvPr id="101380" name="Rectangle 5"/>
          <p:cNvSpPr>
            <a:spLocks noChangeArrowheads="1"/>
          </p:cNvSpPr>
          <p:nvPr/>
        </p:nvSpPr>
        <p:spPr bwMode="auto">
          <a:xfrm>
            <a:off x="2228850" y="1752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10138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2800" y="1752600"/>
            <a:ext cx="5486400" cy="438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 name="直接箭头连接符 1"/>
          <p:cNvCxnSpPr/>
          <p:nvPr/>
        </p:nvCxnSpPr>
        <p:spPr>
          <a:xfrm>
            <a:off x="7192645" y="3628390"/>
            <a:ext cx="259715" cy="88265"/>
          </a:xfrm>
          <a:prstGeom prst="straightConnector1">
            <a:avLst/>
          </a:prstGeom>
          <a:solidFill>
            <a:schemeClr val="accent1"/>
          </a:solidFill>
          <a:ln w="25400" cap="flat" cmpd="sng" algn="ctr">
            <a:solidFill>
              <a:srgbClr val="FF0000"/>
            </a:solidFill>
            <a:prstDash val="solid"/>
            <a:miter lim="800000"/>
            <a:headEnd type="triangle" w="sm" len="med"/>
            <a:tailEnd type="none" w="med" len="med"/>
          </a:ln>
        </p:spPr>
      </p:cxnSp>
      <p:sp>
        <p:nvSpPr>
          <p:cNvPr id="3" name="矩形 2"/>
          <p:cNvSpPr/>
          <p:nvPr/>
        </p:nvSpPr>
        <p:spPr>
          <a:xfrm>
            <a:off x="7524115" y="3500120"/>
            <a:ext cx="1352550" cy="398780"/>
          </a:xfrm>
          <a:prstGeom prst="rect">
            <a:avLst/>
          </a:prstGeom>
          <a:noFill/>
          <a:ln>
            <a:noFill/>
          </a:ln>
        </p:spPr>
        <p:txBody>
          <a:bodyPr wrap="square" rtlCol="0" anchor="t">
            <a:spAutoFit/>
          </a:bodyPr>
          <a:p>
            <a:pPr algn="ctr"/>
            <a:r>
              <a:rPr lang="zh-CN" altLang="en-US" sz="2000" b="1">
                <a:solidFill>
                  <a:srgbClr val="FF0000"/>
                </a:solidFill>
                <a:effectLst>
                  <a:outerShdw blurRad="38100" dist="19050" dir="2700000" algn="tl" rotWithShape="0">
                    <a:schemeClr val="dk1">
                      <a:alpha val="40000"/>
                    </a:schemeClr>
                  </a:outerShdw>
                </a:effectLst>
              </a:rPr>
              <a:t>闻</a:t>
            </a:r>
            <a:r>
              <a:rPr lang="zh-CN" altLang="en-US" sz="2000" b="1">
                <a:solidFill>
                  <a:srgbClr val="FF0000"/>
                </a:solidFill>
                <a:effectLst>
                  <a:outerShdw blurRad="38100" dist="19050" dir="2700000" algn="tl" rotWithShape="0">
                    <a:schemeClr val="dk1">
                      <a:alpha val="40000"/>
                    </a:schemeClr>
                  </a:outerShdw>
                </a:effectLst>
              </a:rPr>
              <a:t>阈曲线</a:t>
            </a:r>
            <a:endParaRPr lang="zh-CN" altLang="en-US" sz="2000" b="1">
              <a:solidFill>
                <a:srgbClr val="FF0000"/>
              </a:solidFill>
              <a:effectLst>
                <a:outerShdw blurRad="38100" dist="19050" dir="2700000" algn="tl" rotWithShape="0">
                  <a:schemeClr val="dk1">
                    <a:alpha val="40000"/>
                  </a:schemeClr>
                </a:outerShdw>
              </a:effectLst>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102403" name="Text Box 3"/>
          <p:cNvSpPr txBox="1">
            <a:spLocks noChangeArrowheads="1"/>
          </p:cNvSpPr>
          <p:nvPr/>
        </p:nvSpPr>
        <p:spPr bwMode="auto">
          <a:xfrm>
            <a:off x="752475" y="16938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400" b="1">
              <a:solidFill>
                <a:schemeClr val="tx2"/>
              </a:solidFill>
              <a:latin typeface="Times New Roman" panose="02020603050405020304" pitchFamily="18" charset="0"/>
            </a:endParaRPr>
          </a:p>
        </p:txBody>
      </p:sp>
      <p:sp>
        <p:nvSpPr>
          <p:cNvPr id="328708" name="Rectangle 4"/>
          <p:cNvSpPr>
            <a:spLocks noGrp="1" noChangeArrowheads="1"/>
          </p:cNvSpPr>
          <p:nvPr>
            <p:ph type="body" idx="1"/>
          </p:nvPr>
        </p:nvSpPr>
        <p:spPr>
          <a:xfrm>
            <a:off x="457200" y="1528445"/>
            <a:ext cx="8229600" cy="3413125"/>
          </a:xfrm>
          <a:noFill/>
        </p:spPr>
        <p:txBody>
          <a:bodyPr/>
          <a:lstStyle/>
          <a:p>
            <a:pPr eaLnBrk="1" hangingPunct="1">
              <a:lnSpc>
                <a:spcPct val="90000"/>
              </a:lnSpc>
            </a:pPr>
            <a:r>
              <a:rPr lang="en-US" altLang="zh-CN" sz="2400" b="1">
                <a:solidFill>
                  <a:srgbClr val="0070C0"/>
                </a:solidFill>
                <a:latin typeface="Times New Roman" panose="02020603050405020304" pitchFamily="18" charset="0"/>
              </a:rPr>
              <a:t>Mel</a:t>
            </a:r>
            <a:r>
              <a:rPr lang="zh-CN" altLang="en-US" sz="2400" b="1">
                <a:solidFill>
                  <a:srgbClr val="0070C0"/>
                </a:solidFill>
                <a:latin typeface="宋体" panose="02010600030101010101" pitchFamily="2" charset="-122"/>
              </a:rPr>
              <a:t>频率倒谱系数</a:t>
            </a:r>
            <a:r>
              <a:rPr lang="zh-CN" altLang="en-US" sz="2400" b="1">
                <a:solidFill>
                  <a:schemeClr val="tx2"/>
                </a:solidFill>
                <a:latin typeface="Times New Roman" panose="02020603050405020304" pitchFamily="18" charset="0"/>
              </a:rPr>
              <a:t> （</a:t>
            </a:r>
            <a:r>
              <a:rPr lang="en-US" altLang="zh-CN" sz="2400" b="1">
                <a:solidFill>
                  <a:schemeClr val="tx2"/>
                </a:solidFill>
                <a:latin typeface="Times New Roman" panose="02020603050405020304" pitchFamily="18" charset="0"/>
              </a:rPr>
              <a:t>MFCC）</a:t>
            </a:r>
            <a:endParaRPr lang="en-US" altLang="zh-CN" sz="2400" b="1">
              <a:solidFill>
                <a:schemeClr val="tx2"/>
              </a:solidFill>
              <a:latin typeface="Times New Roman" panose="02020603050405020304" pitchFamily="18" charset="0"/>
            </a:endParaRPr>
          </a:p>
          <a:p>
            <a:pPr eaLnBrk="1" hangingPunct="1">
              <a:lnSpc>
                <a:spcPct val="110000"/>
              </a:lnSpc>
              <a:buFontTx/>
              <a:buNone/>
            </a:pPr>
            <a:r>
              <a:rPr lang="zh-CN" altLang="en-US" sz="2400" b="1">
                <a:solidFill>
                  <a:schemeClr val="tx2"/>
                </a:solidFill>
                <a:latin typeface="宋体" panose="02010600030101010101" pitchFamily="2" charset="-122"/>
              </a:rPr>
              <a:t>  耳蜗的基底膜实质上的作用相当于一个</a:t>
            </a:r>
            <a:r>
              <a:rPr lang="zh-CN" altLang="en-US" sz="2400" b="1">
                <a:solidFill>
                  <a:schemeClr val="tx1"/>
                </a:solidFill>
                <a:latin typeface="宋体" panose="02010600030101010101" pitchFamily="2" charset="-122"/>
              </a:rPr>
              <a:t>滤波器组</a:t>
            </a:r>
            <a:r>
              <a:rPr lang="zh-CN" altLang="en-US" sz="2400" b="1">
                <a:solidFill>
                  <a:srgbClr val="0070C0"/>
                </a:solidFill>
                <a:latin typeface="宋体" panose="02010600030101010101" pitchFamily="2" charset="-122"/>
              </a:rPr>
              <a:t>，不同频率成分会使基底膜不同位置产生神经</a:t>
            </a:r>
            <a:r>
              <a:rPr lang="zh-CN" altLang="en-US" sz="2400" b="1">
                <a:solidFill>
                  <a:srgbClr val="0070C0"/>
                </a:solidFill>
                <a:latin typeface="宋体" panose="02010600030101010101" pitchFamily="2" charset="-122"/>
              </a:rPr>
              <a:t>发放</a:t>
            </a:r>
            <a:endParaRPr lang="zh-CN" altLang="en-US" sz="2400" b="1">
              <a:solidFill>
                <a:srgbClr val="0070C0"/>
              </a:solidFill>
              <a:latin typeface="宋体" panose="02010600030101010101" pitchFamily="2" charset="-122"/>
            </a:endParaRPr>
          </a:p>
          <a:p>
            <a:pPr eaLnBrk="1" hangingPunct="1">
              <a:lnSpc>
                <a:spcPct val="110000"/>
              </a:lnSpc>
              <a:buFontTx/>
              <a:buNone/>
            </a:pPr>
            <a:r>
              <a:rPr lang="zh-CN" altLang="en-US" sz="2400" b="1">
                <a:solidFill>
                  <a:srgbClr val="0070C0"/>
                </a:solidFill>
                <a:latin typeface="宋体" panose="02010600030101010101" pitchFamily="2" charset="-122"/>
              </a:rPr>
              <a:t> </a:t>
            </a:r>
            <a:r>
              <a:rPr lang="en-US" altLang="zh-CN" sz="2400" b="1">
                <a:solidFill>
                  <a:srgbClr val="0070C0"/>
                </a:solidFill>
                <a:latin typeface="宋体" panose="02010600030101010101" pitchFamily="2" charset="-122"/>
              </a:rPr>
              <a:t> </a:t>
            </a:r>
            <a:r>
              <a:rPr lang="zh-CN" altLang="en-US" sz="2400" b="1">
                <a:solidFill>
                  <a:schemeClr val="tx2"/>
                </a:solidFill>
                <a:latin typeface="宋体" panose="02010600030101010101" pitchFamily="2" charset="-122"/>
              </a:rPr>
              <a:t>耳蜗的滤波作用是在对数频率尺度上进行的，在</a:t>
            </a:r>
            <a:r>
              <a:rPr lang="zh-CN" altLang="en-US" sz="2400" b="1">
                <a:solidFill>
                  <a:schemeClr val="tx2"/>
                </a:solidFill>
                <a:latin typeface="Times New Roman" panose="02020603050405020304" pitchFamily="18" charset="0"/>
              </a:rPr>
              <a:t>1000</a:t>
            </a:r>
            <a:r>
              <a:rPr lang="en-US" altLang="zh-CN" sz="2400" b="1">
                <a:solidFill>
                  <a:schemeClr val="tx2"/>
                </a:solidFill>
                <a:latin typeface="Times New Roman" panose="02020603050405020304" pitchFamily="18" charset="0"/>
              </a:rPr>
              <a:t>Hz</a:t>
            </a:r>
            <a:r>
              <a:rPr lang="zh-CN" altLang="en-US" sz="2400" b="1">
                <a:solidFill>
                  <a:schemeClr val="tx2"/>
                </a:solidFill>
                <a:latin typeface="宋体" panose="02010600030101010101" pitchFamily="2" charset="-122"/>
              </a:rPr>
              <a:t>以下为</a:t>
            </a:r>
            <a:r>
              <a:rPr lang="zh-CN" altLang="en-US" sz="2400" b="1">
                <a:solidFill>
                  <a:srgbClr val="0070C0"/>
                </a:solidFill>
                <a:latin typeface="宋体" panose="02010600030101010101" pitchFamily="2" charset="-122"/>
              </a:rPr>
              <a:t>线性尺度</a:t>
            </a:r>
            <a:r>
              <a:rPr lang="zh-CN" altLang="en-US" sz="2400" b="1">
                <a:solidFill>
                  <a:schemeClr val="tx2"/>
                </a:solidFill>
                <a:latin typeface="宋体" panose="02010600030101010101" pitchFamily="2" charset="-122"/>
              </a:rPr>
              <a:t>，而</a:t>
            </a:r>
            <a:r>
              <a:rPr lang="zh-CN" altLang="en-US" sz="2400" b="1">
                <a:solidFill>
                  <a:schemeClr val="tx2"/>
                </a:solidFill>
                <a:latin typeface="Times New Roman" panose="02020603050405020304" pitchFamily="18" charset="0"/>
              </a:rPr>
              <a:t>1000</a:t>
            </a:r>
            <a:r>
              <a:rPr lang="en-US" altLang="zh-CN" sz="2400" b="1">
                <a:solidFill>
                  <a:schemeClr val="tx2"/>
                </a:solidFill>
                <a:latin typeface="Times New Roman" panose="02020603050405020304" pitchFamily="18" charset="0"/>
              </a:rPr>
              <a:t>Hz</a:t>
            </a:r>
            <a:r>
              <a:rPr lang="zh-CN" altLang="en-US" sz="2400" b="1">
                <a:solidFill>
                  <a:schemeClr val="tx2"/>
                </a:solidFill>
                <a:latin typeface="宋体" panose="02010600030101010101" pitchFamily="2" charset="-122"/>
              </a:rPr>
              <a:t>以上为</a:t>
            </a:r>
            <a:r>
              <a:rPr lang="zh-CN" altLang="en-US" sz="2400" b="1">
                <a:solidFill>
                  <a:srgbClr val="0070C0"/>
                </a:solidFill>
                <a:latin typeface="宋体" panose="02010600030101010101" pitchFamily="2" charset="-122"/>
              </a:rPr>
              <a:t>对数尺度</a:t>
            </a:r>
            <a:r>
              <a:rPr lang="zh-CN" altLang="en-US" sz="2400" b="1">
                <a:solidFill>
                  <a:schemeClr val="tx2"/>
                </a:solidFill>
                <a:latin typeface="宋体" panose="02010600030101010101" pitchFamily="2" charset="-122"/>
              </a:rPr>
              <a:t>，这就使得人耳对低频信号比对高频信号更敏感。</a:t>
            </a:r>
            <a:endParaRPr lang="zh-CN" altLang="en-US" sz="2400" b="1">
              <a:solidFill>
                <a:schemeClr val="tx2"/>
              </a:solidFill>
              <a:latin typeface="宋体" panose="02010600030101010101" pitchFamily="2" charset="-122"/>
            </a:endParaRPr>
          </a:p>
          <a:p>
            <a:pPr eaLnBrk="1" hangingPunct="1">
              <a:lnSpc>
                <a:spcPct val="110000"/>
              </a:lnSpc>
              <a:spcBef>
                <a:spcPct val="40000"/>
              </a:spcBef>
              <a:buFontTx/>
              <a:buNone/>
            </a:pPr>
            <a:r>
              <a:rPr lang="zh-CN" altLang="en-US" sz="2400" b="1">
                <a:solidFill>
                  <a:schemeClr val="tx2"/>
                </a:solidFill>
                <a:latin typeface="宋体" panose="02010600030101010101" pitchFamily="2" charset="-122"/>
              </a:rPr>
              <a:t>  根据这一原则，研究者根据心理学实验得到了类似于耳蜗作用的一组滤波器组，这就是</a:t>
            </a:r>
            <a:r>
              <a:rPr lang="en-US" altLang="zh-CN" sz="2400" b="1">
                <a:solidFill>
                  <a:srgbClr val="0070C0"/>
                </a:solidFill>
                <a:latin typeface="Times New Roman" panose="02020603050405020304" pitchFamily="18" charset="0"/>
              </a:rPr>
              <a:t>Mel</a:t>
            </a:r>
            <a:r>
              <a:rPr lang="zh-CN" altLang="en-US" sz="2400" b="1">
                <a:solidFill>
                  <a:srgbClr val="0070C0"/>
                </a:solidFill>
                <a:latin typeface="宋体" panose="02010600030101010101" pitchFamily="2" charset="-122"/>
              </a:rPr>
              <a:t>频率滤波器组。</a:t>
            </a:r>
            <a:r>
              <a:rPr lang="zh-CN" altLang="en-US" sz="2400" b="1">
                <a:solidFill>
                  <a:schemeClr val="tx2"/>
                </a:solidFill>
                <a:latin typeface="Times New Roman" panose="02020603050405020304" pitchFamily="18" charset="0"/>
              </a:rPr>
              <a:t> </a:t>
            </a:r>
            <a:endParaRPr lang="zh-CN" altLang="en-US" sz="2400" b="1">
              <a:solidFill>
                <a:schemeClr val="tx2"/>
              </a:solidFill>
              <a:latin typeface="Times New Roman" panose="02020603050405020304" pitchFamily="18" charset="0"/>
            </a:endParaRPr>
          </a:p>
        </p:txBody>
      </p:sp>
      <p:grpSp>
        <p:nvGrpSpPr>
          <p:cNvPr id="2" name="Group 4"/>
          <p:cNvGrpSpPr/>
          <p:nvPr/>
        </p:nvGrpSpPr>
        <p:grpSpPr bwMode="auto">
          <a:xfrm>
            <a:off x="1595755" y="4767898"/>
            <a:ext cx="6313488" cy="2105025"/>
            <a:chOff x="960" y="2009"/>
            <a:chExt cx="3977" cy="1326"/>
          </a:xfrm>
        </p:grpSpPr>
        <p:sp>
          <p:nvSpPr>
            <p:cNvPr id="104455" name="Line 5"/>
            <p:cNvSpPr>
              <a:spLocks noChangeShapeType="1"/>
            </p:cNvSpPr>
            <p:nvPr/>
          </p:nvSpPr>
          <p:spPr bwMode="auto">
            <a:xfrm flipV="1">
              <a:off x="1179" y="2065"/>
              <a:ext cx="0" cy="106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56" name="Line 6"/>
            <p:cNvSpPr>
              <a:spLocks noChangeShapeType="1"/>
            </p:cNvSpPr>
            <p:nvPr/>
          </p:nvSpPr>
          <p:spPr bwMode="auto">
            <a:xfrm>
              <a:off x="1179" y="3128"/>
              <a:ext cx="3695"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57" name="Line 7"/>
            <p:cNvSpPr>
              <a:spLocks noChangeShapeType="1"/>
            </p:cNvSpPr>
            <p:nvPr/>
          </p:nvSpPr>
          <p:spPr bwMode="auto">
            <a:xfrm>
              <a:off x="1462" y="2490"/>
              <a:ext cx="0" cy="62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58" name="Line 8"/>
            <p:cNvSpPr>
              <a:spLocks noChangeShapeType="1"/>
            </p:cNvSpPr>
            <p:nvPr/>
          </p:nvSpPr>
          <p:spPr bwMode="auto">
            <a:xfrm>
              <a:off x="1728" y="2490"/>
              <a:ext cx="0" cy="64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59" name="Line 9"/>
            <p:cNvSpPr>
              <a:spLocks noChangeShapeType="1"/>
            </p:cNvSpPr>
            <p:nvPr/>
          </p:nvSpPr>
          <p:spPr bwMode="auto">
            <a:xfrm>
              <a:off x="1958" y="2499"/>
              <a:ext cx="0" cy="62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0" name="Oval 10"/>
            <p:cNvSpPr>
              <a:spLocks noChangeAspect="1" noChangeArrowheads="1"/>
            </p:cNvSpPr>
            <p:nvPr/>
          </p:nvSpPr>
          <p:spPr bwMode="auto">
            <a:xfrm>
              <a:off x="2233" y="2791"/>
              <a:ext cx="23" cy="23"/>
            </a:xfrm>
            <a:prstGeom prst="ellipse">
              <a:avLst/>
            </a:prstGeom>
            <a:solidFill>
              <a:schemeClr val="accent1"/>
            </a:solidFill>
            <a:ln w="19050">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61" name="Oval 11"/>
            <p:cNvSpPr>
              <a:spLocks noChangeAspect="1" noChangeArrowheads="1"/>
            </p:cNvSpPr>
            <p:nvPr/>
          </p:nvSpPr>
          <p:spPr bwMode="auto">
            <a:xfrm>
              <a:off x="2391" y="2789"/>
              <a:ext cx="23" cy="23"/>
            </a:xfrm>
            <a:prstGeom prst="ellipse">
              <a:avLst/>
            </a:prstGeom>
            <a:solidFill>
              <a:schemeClr val="accent1"/>
            </a:solidFill>
            <a:ln w="19050">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62" name="Oval 12"/>
            <p:cNvSpPr>
              <a:spLocks noChangeAspect="1" noChangeArrowheads="1"/>
            </p:cNvSpPr>
            <p:nvPr/>
          </p:nvSpPr>
          <p:spPr bwMode="auto">
            <a:xfrm>
              <a:off x="2558" y="2788"/>
              <a:ext cx="23" cy="23"/>
            </a:xfrm>
            <a:prstGeom prst="ellipse">
              <a:avLst/>
            </a:prstGeom>
            <a:solidFill>
              <a:schemeClr val="accent1"/>
            </a:solidFill>
            <a:ln w="19050">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4463" name="Line 13"/>
            <p:cNvSpPr>
              <a:spLocks noChangeShapeType="1"/>
            </p:cNvSpPr>
            <p:nvPr/>
          </p:nvSpPr>
          <p:spPr bwMode="auto">
            <a:xfrm>
              <a:off x="2701" y="2497"/>
              <a:ext cx="0" cy="62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4" name="Line 14"/>
            <p:cNvSpPr>
              <a:spLocks noChangeShapeType="1"/>
            </p:cNvSpPr>
            <p:nvPr/>
          </p:nvSpPr>
          <p:spPr bwMode="auto">
            <a:xfrm>
              <a:off x="3021" y="2479"/>
              <a:ext cx="0" cy="64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5" name="Line 15"/>
            <p:cNvSpPr>
              <a:spLocks noChangeShapeType="1"/>
            </p:cNvSpPr>
            <p:nvPr/>
          </p:nvSpPr>
          <p:spPr bwMode="auto">
            <a:xfrm>
              <a:off x="3404" y="2497"/>
              <a:ext cx="0" cy="62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6" name="Line 16"/>
            <p:cNvSpPr>
              <a:spLocks noChangeShapeType="1"/>
            </p:cNvSpPr>
            <p:nvPr/>
          </p:nvSpPr>
          <p:spPr bwMode="auto">
            <a:xfrm flipH="1">
              <a:off x="1187" y="2508"/>
              <a:ext cx="275" cy="638"/>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7" name="Line 17"/>
            <p:cNvSpPr>
              <a:spLocks noChangeShapeType="1"/>
            </p:cNvSpPr>
            <p:nvPr/>
          </p:nvSpPr>
          <p:spPr bwMode="auto">
            <a:xfrm>
              <a:off x="1462" y="2508"/>
              <a:ext cx="257" cy="629"/>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8" name="Line 18"/>
            <p:cNvSpPr>
              <a:spLocks noChangeShapeType="1"/>
            </p:cNvSpPr>
            <p:nvPr/>
          </p:nvSpPr>
          <p:spPr bwMode="auto">
            <a:xfrm flipH="1">
              <a:off x="1453" y="2517"/>
              <a:ext cx="275" cy="602"/>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69" name="Line 19"/>
            <p:cNvSpPr>
              <a:spLocks noChangeShapeType="1"/>
            </p:cNvSpPr>
            <p:nvPr/>
          </p:nvSpPr>
          <p:spPr bwMode="auto">
            <a:xfrm>
              <a:off x="1728" y="2508"/>
              <a:ext cx="222" cy="629"/>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0" name="Line 20"/>
            <p:cNvSpPr>
              <a:spLocks noChangeShapeType="1"/>
            </p:cNvSpPr>
            <p:nvPr/>
          </p:nvSpPr>
          <p:spPr bwMode="auto">
            <a:xfrm flipH="1">
              <a:off x="1737" y="2508"/>
              <a:ext cx="221" cy="611"/>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1" name="Line 21"/>
            <p:cNvSpPr>
              <a:spLocks noChangeShapeType="1"/>
            </p:cNvSpPr>
            <p:nvPr/>
          </p:nvSpPr>
          <p:spPr bwMode="auto">
            <a:xfrm>
              <a:off x="1959" y="2496"/>
              <a:ext cx="222" cy="629"/>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2" name="Line 22"/>
            <p:cNvSpPr>
              <a:spLocks noChangeShapeType="1"/>
            </p:cNvSpPr>
            <p:nvPr/>
          </p:nvSpPr>
          <p:spPr bwMode="auto">
            <a:xfrm>
              <a:off x="2711" y="2526"/>
              <a:ext cx="222" cy="611"/>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3" name="Line 23"/>
            <p:cNvSpPr>
              <a:spLocks noChangeShapeType="1"/>
            </p:cNvSpPr>
            <p:nvPr/>
          </p:nvSpPr>
          <p:spPr bwMode="auto">
            <a:xfrm flipH="1">
              <a:off x="2471" y="2507"/>
              <a:ext cx="222" cy="611"/>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4" name="Line 24"/>
            <p:cNvSpPr>
              <a:spLocks noChangeShapeType="1"/>
            </p:cNvSpPr>
            <p:nvPr/>
          </p:nvSpPr>
          <p:spPr bwMode="auto">
            <a:xfrm flipH="1">
              <a:off x="2703" y="2490"/>
              <a:ext cx="319" cy="638"/>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5" name="Line 25"/>
            <p:cNvSpPr>
              <a:spLocks noChangeShapeType="1"/>
            </p:cNvSpPr>
            <p:nvPr/>
          </p:nvSpPr>
          <p:spPr bwMode="auto">
            <a:xfrm>
              <a:off x="3020" y="2489"/>
              <a:ext cx="319" cy="638"/>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6" name="Line 26"/>
            <p:cNvSpPr>
              <a:spLocks noChangeShapeType="1"/>
            </p:cNvSpPr>
            <p:nvPr/>
          </p:nvSpPr>
          <p:spPr bwMode="auto">
            <a:xfrm flipH="1">
              <a:off x="3022" y="2508"/>
              <a:ext cx="381" cy="62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77" name="Line 27"/>
            <p:cNvSpPr>
              <a:spLocks noChangeShapeType="1"/>
            </p:cNvSpPr>
            <p:nvPr/>
          </p:nvSpPr>
          <p:spPr bwMode="auto">
            <a:xfrm>
              <a:off x="3401" y="2515"/>
              <a:ext cx="381" cy="62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4478" name="Object 28"/>
            <p:cNvGraphicFramePr>
              <a:graphicFrameLocks noChangeAspect="1"/>
            </p:cNvGraphicFramePr>
            <p:nvPr/>
          </p:nvGraphicFramePr>
          <p:xfrm>
            <a:off x="1313" y="3159"/>
            <a:ext cx="231" cy="154"/>
          </p:xfrm>
          <a:graphic>
            <a:graphicData uri="http://schemas.openxmlformats.org/presentationml/2006/ole">
              <mc:AlternateContent xmlns:mc="http://schemas.openxmlformats.org/markup-compatibility/2006">
                <mc:Choice xmlns:v="urn:schemas-microsoft-com:vml" Requires="v">
                  <p:oleObj spid="_x0000_s104542" name="Equation" r:id="rId1" imgW="304800" imgH="203200" progId="Equation.3">
                    <p:embed/>
                  </p:oleObj>
                </mc:Choice>
                <mc:Fallback>
                  <p:oleObj name="Equation" r:id="rId1" imgW="304800" imgH="203200" progId="Equation.3">
                    <p:embed/>
                    <p:pic>
                      <p:nvPicPr>
                        <p:cNvPr id="0" name="Object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3" y="3159"/>
                          <a:ext cx="23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9" name="Object 29"/>
            <p:cNvGraphicFramePr>
              <a:graphicFrameLocks noChangeAspect="1"/>
            </p:cNvGraphicFramePr>
            <p:nvPr/>
          </p:nvGraphicFramePr>
          <p:xfrm>
            <a:off x="1572" y="3157"/>
            <a:ext cx="260" cy="154"/>
          </p:xfrm>
          <a:graphic>
            <a:graphicData uri="http://schemas.openxmlformats.org/presentationml/2006/ole">
              <mc:AlternateContent xmlns:mc="http://schemas.openxmlformats.org/markup-compatibility/2006">
                <mc:Choice xmlns:v="urn:schemas-microsoft-com:vml" Requires="v">
                  <p:oleObj spid="_x0000_s104543" name="Equation" r:id="rId3" imgW="342900" imgH="203200" progId="Equation.3">
                    <p:embed/>
                  </p:oleObj>
                </mc:Choice>
                <mc:Fallback>
                  <p:oleObj name="Equation" r:id="rId3" imgW="342900" imgH="203200"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2" y="3157"/>
                          <a:ext cx="26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0" name="Object 30"/>
            <p:cNvGraphicFramePr>
              <a:graphicFrameLocks noChangeAspect="1"/>
            </p:cNvGraphicFramePr>
            <p:nvPr/>
          </p:nvGraphicFramePr>
          <p:xfrm>
            <a:off x="1833" y="3165"/>
            <a:ext cx="250" cy="154"/>
          </p:xfrm>
          <a:graphic>
            <a:graphicData uri="http://schemas.openxmlformats.org/presentationml/2006/ole">
              <mc:AlternateContent xmlns:mc="http://schemas.openxmlformats.org/markup-compatibility/2006">
                <mc:Choice xmlns:v="urn:schemas-microsoft-com:vml" Requires="v">
                  <p:oleObj spid="_x0000_s104544" name="Equation" r:id="rId5" imgW="330200" imgH="203200" progId="Equation.3">
                    <p:embed/>
                  </p:oleObj>
                </mc:Choice>
                <mc:Fallback>
                  <p:oleObj name="Equation" r:id="rId5" imgW="330200" imgH="2032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3" y="3165"/>
                          <a:ext cx="25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1" name="Object 31"/>
            <p:cNvGraphicFramePr>
              <a:graphicFrameLocks noChangeAspect="1"/>
            </p:cNvGraphicFramePr>
            <p:nvPr/>
          </p:nvGraphicFramePr>
          <p:xfrm>
            <a:off x="2402" y="3173"/>
            <a:ext cx="474" cy="154"/>
          </p:xfrm>
          <a:graphic>
            <a:graphicData uri="http://schemas.openxmlformats.org/presentationml/2006/ole">
              <mc:AlternateContent xmlns:mc="http://schemas.openxmlformats.org/markup-compatibility/2006">
                <mc:Choice xmlns:v="urn:schemas-microsoft-com:vml" Requires="v">
                  <p:oleObj spid="_x0000_s104545" name="Equation" r:id="rId7" imgW="622300" imgH="203200" progId="Equation.3">
                    <p:embed/>
                  </p:oleObj>
                </mc:Choice>
                <mc:Fallback>
                  <p:oleObj name="Equation" r:id="rId7" imgW="622300" imgH="20320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2" y="3173"/>
                          <a:ext cx="474"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2" name="Object 32"/>
            <p:cNvGraphicFramePr>
              <a:graphicFrameLocks noChangeAspect="1"/>
            </p:cNvGraphicFramePr>
            <p:nvPr/>
          </p:nvGraphicFramePr>
          <p:xfrm>
            <a:off x="2836" y="3171"/>
            <a:ext cx="455" cy="154"/>
          </p:xfrm>
          <a:graphic>
            <a:graphicData uri="http://schemas.openxmlformats.org/presentationml/2006/ole">
              <mc:AlternateContent xmlns:mc="http://schemas.openxmlformats.org/markup-compatibility/2006">
                <mc:Choice xmlns:v="urn:schemas-microsoft-com:vml" Requires="v">
                  <p:oleObj spid="_x0000_s104546" name="Equation" r:id="rId9" imgW="596900" imgH="203200" progId="Equation.3">
                    <p:embed/>
                  </p:oleObj>
                </mc:Choice>
                <mc:Fallback>
                  <p:oleObj name="Equation" r:id="rId9" imgW="596900" imgH="203200" progId="Equation.3">
                    <p:embed/>
                    <p:pic>
                      <p:nvPicPr>
                        <p:cNvPr id="0"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6" y="3171"/>
                          <a:ext cx="455"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3" name="Object 33"/>
            <p:cNvGraphicFramePr>
              <a:graphicFrameLocks noChangeAspect="1"/>
            </p:cNvGraphicFramePr>
            <p:nvPr/>
          </p:nvGraphicFramePr>
          <p:xfrm>
            <a:off x="3263" y="3170"/>
            <a:ext cx="319" cy="154"/>
          </p:xfrm>
          <a:graphic>
            <a:graphicData uri="http://schemas.openxmlformats.org/presentationml/2006/ole">
              <mc:AlternateContent xmlns:mc="http://schemas.openxmlformats.org/markup-compatibility/2006">
                <mc:Choice xmlns:v="urn:schemas-microsoft-com:vml" Requires="v">
                  <p:oleObj spid="_x0000_s104547" name="Equation" r:id="rId11" imgW="419100" imgH="203200" progId="Equation.3">
                    <p:embed/>
                  </p:oleObj>
                </mc:Choice>
                <mc:Fallback>
                  <p:oleObj name="Equation" r:id="rId11" imgW="419100" imgH="203200" progId="Equation.3">
                    <p:embed/>
                    <p:pic>
                      <p:nvPicPr>
                        <p:cNvPr id="0" name="Object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63" y="3170"/>
                          <a:ext cx="319"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4" name="Object 34"/>
            <p:cNvGraphicFramePr>
              <a:graphicFrameLocks noChangeAspect="1"/>
            </p:cNvGraphicFramePr>
            <p:nvPr/>
          </p:nvGraphicFramePr>
          <p:xfrm>
            <a:off x="4822" y="3181"/>
            <a:ext cx="115" cy="154"/>
          </p:xfrm>
          <a:graphic>
            <a:graphicData uri="http://schemas.openxmlformats.org/presentationml/2006/ole">
              <mc:AlternateContent xmlns:mc="http://schemas.openxmlformats.org/markup-compatibility/2006">
                <mc:Choice xmlns:v="urn:schemas-microsoft-com:vml" Requires="v">
                  <p:oleObj spid="_x0000_s104548" name="Equation" r:id="rId13" imgW="152400" imgH="203200" progId="Equation.3">
                    <p:embed/>
                  </p:oleObj>
                </mc:Choice>
                <mc:Fallback>
                  <p:oleObj name="Equation" r:id="rId13" imgW="152400" imgH="203200" progId="Equation.3">
                    <p:embed/>
                    <p:pic>
                      <p:nvPicPr>
                        <p:cNvPr id="0" name="Object 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22" y="3181"/>
                          <a:ext cx="115"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5" name="Object 35"/>
            <p:cNvGraphicFramePr>
              <a:graphicFrameLocks noChangeAspect="1"/>
            </p:cNvGraphicFramePr>
            <p:nvPr/>
          </p:nvGraphicFramePr>
          <p:xfrm>
            <a:off x="960" y="2009"/>
            <a:ext cx="163" cy="135"/>
          </p:xfrm>
          <a:graphic>
            <a:graphicData uri="http://schemas.openxmlformats.org/presentationml/2006/ole">
              <mc:AlternateContent xmlns:mc="http://schemas.openxmlformats.org/markup-compatibility/2006">
                <mc:Choice xmlns:v="urn:schemas-microsoft-com:vml" Requires="v">
                  <p:oleObj spid="_x0000_s104549" name="Equation" r:id="rId15" imgW="215900" imgH="177800" progId="Equation.3">
                    <p:embed/>
                  </p:oleObj>
                </mc:Choice>
                <mc:Fallback>
                  <p:oleObj name="Equation" r:id="rId15" imgW="215900" imgH="177800" progId="Equation.3">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0" y="2009"/>
                          <a:ext cx="163"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组合 6"/>
          <p:cNvGrpSpPr/>
          <p:nvPr/>
        </p:nvGrpSpPr>
        <p:grpSpPr>
          <a:xfrm>
            <a:off x="5338445" y="5231130"/>
            <a:ext cx="3115310" cy="643255"/>
            <a:chOff x="8407" y="8238"/>
            <a:chExt cx="4906" cy="1013"/>
          </a:xfrm>
        </p:grpSpPr>
        <p:sp>
          <p:nvSpPr>
            <p:cNvPr id="3" name="左箭头 2"/>
            <p:cNvSpPr/>
            <p:nvPr/>
          </p:nvSpPr>
          <p:spPr>
            <a:xfrm rot="19380000">
              <a:off x="9129" y="9133"/>
              <a:ext cx="454" cy="119"/>
            </a:xfrm>
            <a:prstGeom prst="leftArrow">
              <a:avLst/>
            </a:prstGeom>
            <a:solidFill>
              <a:srgbClr val="FF0000"/>
            </a:solidFill>
            <a:ln w="952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p:nvSpPr>
          <p:spPr>
            <a:xfrm>
              <a:off x="8407" y="8238"/>
              <a:ext cx="4907" cy="742"/>
            </a:xfrm>
            <a:prstGeom prst="rect">
              <a:avLst/>
            </a:prstGeom>
            <a:noFill/>
            <a:ln>
              <a:noFill/>
            </a:ln>
          </p:spPr>
          <p:txBody>
            <a:bodyPr wrap="none" rtlCol="0" anchor="t">
              <a:noAutofit/>
            </a:bodyPr>
            <a:p>
              <a:pPr algn="ctr"/>
              <a:r>
                <a:rPr lang="zh-CN" altLang="en-US" sz="2400" b="1">
                  <a:solidFill>
                    <a:srgbClr val="FF0000"/>
                  </a:solidFill>
                  <a:effectLst>
                    <a:outerShdw blurRad="38100" dist="19050" dir="2700000" algn="tl" rotWithShape="0">
                      <a:schemeClr val="dk1">
                        <a:alpha val="40000"/>
                      </a:schemeClr>
                    </a:outerShdw>
                  </a:effectLst>
                </a:rPr>
                <a:t>滤波器包络线</a:t>
              </a:r>
              <a:endParaRPr lang="zh-CN" altLang="en-US" sz="2400" b="1">
                <a:solidFill>
                  <a:srgbClr val="FF0000"/>
                </a:solidFill>
                <a:effectLst>
                  <a:outerShdw blurRad="38100" dist="19050" dir="2700000" algn="tl" rotWithShape="0">
                    <a:schemeClr val="dk1">
                      <a:alpha val="40000"/>
                    </a:schemeClr>
                  </a:outerShdw>
                </a:effectLs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8708">
                                            <p:txEl>
                                              <p:pRg st="0" end="0"/>
                                            </p:txEl>
                                          </p:spTgt>
                                        </p:tgtEl>
                                        <p:attrNameLst>
                                          <p:attrName>style.visibility</p:attrName>
                                        </p:attrNameLst>
                                      </p:cBhvr>
                                      <p:to>
                                        <p:strVal val="visible"/>
                                      </p:to>
                                    </p:set>
                                    <p:animEffect transition="in" filter="wipe(up)">
                                      <p:cBhvr>
                                        <p:cTn id="7" dur="500"/>
                                        <p:tgtEl>
                                          <p:spTgt spid="3287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8708">
                                            <p:txEl>
                                              <p:pRg st="1" end="1"/>
                                            </p:txEl>
                                          </p:spTgt>
                                        </p:tgtEl>
                                        <p:attrNameLst>
                                          <p:attrName>style.visibility</p:attrName>
                                        </p:attrNameLst>
                                      </p:cBhvr>
                                      <p:to>
                                        <p:strVal val="visible"/>
                                      </p:to>
                                    </p:set>
                                    <p:animEffect transition="in" filter="wipe(up)">
                                      <p:cBhvr>
                                        <p:cTn id="12" dur="500"/>
                                        <p:tgtEl>
                                          <p:spTgt spid="3287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28708">
                                            <p:txEl>
                                              <p:pRg st="2" end="2"/>
                                            </p:txEl>
                                          </p:spTgt>
                                        </p:tgtEl>
                                        <p:attrNameLst>
                                          <p:attrName>style.visibility</p:attrName>
                                        </p:attrNameLst>
                                      </p:cBhvr>
                                      <p:to>
                                        <p:strVal val="visible"/>
                                      </p:to>
                                    </p:set>
                                    <p:animEffect transition="in" filter="wipe(up)">
                                      <p:cBhvr>
                                        <p:cTn id="17" dur="500"/>
                                        <p:tgtEl>
                                          <p:spTgt spid="3287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8708">
                                            <p:txEl>
                                              <p:pRg st="3" end="3"/>
                                            </p:txEl>
                                          </p:spTgt>
                                        </p:tgtEl>
                                        <p:attrNameLst>
                                          <p:attrName>style.visibility</p:attrName>
                                        </p:attrNameLst>
                                      </p:cBhvr>
                                      <p:to>
                                        <p:strVal val="visible"/>
                                      </p:to>
                                    </p:set>
                                    <p:animEffect transition="in" filter="wipe(up)">
                                      <p:cBhvr>
                                        <p:cTn id="22" dur="500"/>
                                        <p:tgtEl>
                                          <p:spTgt spid="32870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8" grpId="0"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sp>
        <p:nvSpPr>
          <p:cNvPr id="330755" name="Text Box 3"/>
          <p:cNvSpPr txBox="1">
            <a:spLocks noChangeArrowheads="1"/>
          </p:cNvSpPr>
          <p:nvPr/>
        </p:nvSpPr>
        <p:spPr bwMode="auto">
          <a:xfrm>
            <a:off x="971233" y="3359150"/>
            <a:ext cx="6802437"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（2）将线性频谱</a:t>
            </a:r>
            <a:r>
              <a:rPr kumimoji="1" lang="en-US" altLang="zh-CN" sz="2400" b="1">
                <a:solidFill>
                  <a:schemeClr val="tx2"/>
                </a:solidFill>
                <a:latin typeface="Times New Roman" panose="02020603050405020304" pitchFamily="18" charset="0"/>
              </a:rPr>
              <a:t>X(</a:t>
            </a:r>
            <a:r>
              <a:rPr kumimoji="1" lang="en-US" altLang="zh-CN" sz="2400" b="1" i="1">
                <a:solidFill>
                  <a:schemeClr val="tx2"/>
                </a:solidFill>
                <a:latin typeface="Times New Roman" panose="02020603050405020304" pitchFamily="18" charset="0"/>
              </a:rPr>
              <a:t>k</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通过</a:t>
            </a:r>
            <a:r>
              <a:rPr kumimoji="1" lang="en-US" altLang="zh-CN" sz="2400" b="1">
                <a:solidFill>
                  <a:srgbClr val="0070C0"/>
                </a:solidFill>
                <a:latin typeface="Times New Roman" panose="02020603050405020304" pitchFamily="18" charset="0"/>
              </a:rPr>
              <a:t>Mel</a:t>
            </a:r>
            <a:r>
              <a:rPr kumimoji="1" lang="zh-CN" altLang="en-US" sz="2400" b="1">
                <a:solidFill>
                  <a:srgbClr val="0070C0"/>
                </a:solidFill>
                <a:latin typeface="Times New Roman" panose="02020603050405020304" pitchFamily="18" charset="0"/>
              </a:rPr>
              <a:t>频率滤波器</a:t>
            </a:r>
            <a:r>
              <a:rPr kumimoji="1" lang="zh-CN" altLang="en-US" sz="2400" b="1">
                <a:solidFill>
                  <a:schemeClr val="tx2"/>
                </a:solidFill>
                <a:latin typeface="Times New Roman" panose="02020603050405020304" pitchFamily="18" charset="0"/>
              </a:rPr>
              <a:t>组得到</a:t>
            </a:r>
            <a:r>
              <a:rPr kumimoji="1" lang="en-US" altLang="zh-CN" sz="2400" b="1">
                <a:solidFill>
                  <a:schemeClr val="tx2"/>
                </a:solidFill>
                <a:latin typeface="Times New Roman" panose="02020603050405020304" pitchFamily="18" charset="0"/>
              </a:rPr>
              <a:t>Mel</a:t>
            </a:r>
            <a:r>
              <a:rPr kumimoji="1" lang="zh-CN" altLang="en-US" sz="2400" b="1">
                <a:solidFill>
                  <a:schemeClr val="tx2"/>
                </a:solidFill>
                <a:latin typeface="Times New Roman" panose="02020603050405020304" pitchFamily="18" charset="0"/>
              </a:rPr>
              <a:t>频谱。</a:t>
            </a:r>
            <a:r>
              <a:rPr kumimoji="1" lang="en-US" altLang="zh-CN" sz="2400" b="1">
                <a:solidFill>
                  <a:schemeClr val="tx2"/>
                </a:solidFill>
                <a:latin typeface="Times New Roman" panose="02020603050405020304" pitchFamily="18" charset="0"/>
              </a:rPr>
              <a:t>(</a:t>
            </a:r>
            <a:r>
              <a:rPr kumimoji="1" lang="zh-CN" altLang="en-US" sz="2400" b="1">
                <a:solidFill>
                  <a:srgbClr val="0070C0"/>
                </a:solidFill>
                <a:latin typeface="Times New Roman" panose="02020603050405020304" pitchFamily="18" charset="0"/>
              </a:rPr>
              <a:t>频线乘滤波器包络线</a:t>
            </a:r>
            <a:r>
              <a:rPr kumimoji="1" lang="en-US" altLang="zh-CN" sz="24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330788" name="Text Box 36"/>
          <p:cNvSpPr txBox="1">
            <a:spLocks noChangeArrowheads="1"/>
          </p:cNvSpPr>
          <p:nvPr/>
        </p:nvSpPr>
        <p:spPr bwMode="auto">
          <a:xfrm>
            <a:off x="969328" y="4725353"/>
            <a:ext cx="62268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（3） 对每个滤波器的输出信号取</a:t>
            </a:r>
            <a:r>
              <a:rPr kumimoji="1" lang="zh-CN" altLang="en-US" sz="2400" b="1">
                <a:solidFill>
                  <a:srgbClr val="0070C0"/>
                </a:solidFill>
                <a:latin typeface="Times New Roman" panose="02020603050405020304" pitchFamily="18" charset="0"/>
              </a:rPr>
              <a:t>对数能量</a:t>
            </a:r>
            <a:r>
              <a:rPr kumimoji="1" lang="zh-CN" altLang="en-US" sz="24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330789" name="Text Box 37"/>
          <p:cNvSpPr txBox="1">
            <a:spLocks noChangeArrowheads="1"/>
          </p:cNvSpPr>
          <p:nvPr/>
        </p:nvSpPr>
        <p:spPr bwMode="auto">
          <a:xfrm>
            <a:off x="971868" y="5726748"/>
            <a:ext cx="5270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（4）对这组对数能量值做</a:t>
            </a:r>
            <a:r>
              <a:rPr kumimoji="1" lang="en-US" altLang="zh-CN" sz="2400" b="1">
                <a:solidFill>
                  <a:schemeClr val="tx2"/>
                </a:solidFill>
                <a:latin typeface="Times New Roman" panose="02020603050405020304" pitchFamily="18" charset="0"/>
              </a:rPr>
              <a:t>DCT</a:t>
            </a:r>
            <a:r>
              <a:rPr kumimoji="1" lang="zh-CN" altLang="en-US" sz="2400" b="1">
                <a:solidFill>
                  <a:schemeClr val="tx2"/>
                </a:solidFill>
                <a:latin typeface="Times New Roman" panose="02020603050405020304" pitchFamily="18" charset="0"/>
              </a:rPr>
              <a:t>变换。</a:t>
            </a:r>
            <a:endParaRPr kumimoji="1" lang="zh-CN" altLang="en-US" sz="2400" b="1">
              <a:solidFill>
                <a:schemeClr val="tx2"/>
              </a:solidFill>
              <a:latin typeface="Times New Roman" panose="02020603050405020304" pitchFamily="18" charset="0"/>
            </a:endParaRPr>
          </a:p>
        </p:txBody>
      </p:sp>
      <p:sp>
        <p:nvSpPr>
          <p:cNvPr id="328709" name="Text Box 5"/>
          <p:cNvSpPr txBox="1">
            <a:spLocks noChangeArrowheads="1"/>
          </p:cNvSpPr>
          <p:nvPr/>
        </p:nvSpPr>
        <p:spPr bwMode="auto">
          <a:xfrm>
            <a:off x="970598" y="2000885"/>
            <a:ext cx="7632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（1）将时域信号</a:t>
            </a:r>
            <a:r>
              <a:rPr kumimoji="1" lang="en-US" altLang="zh-CN" sz="2400" b="1" i="1">
                <a:solidFill>
                  <a:schemeClr val="tx2"/>
                </a:solidFill>
                <a:latin typeface="Times New Roman" panose="02020603050405020304" pitchFamily="18" charset="0"/>
              </a:rPr>
              <a:t>x</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n</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后补若干以形成长为</a:t>
            </a:r>
            <a:r>
              <a:rPr kumimoji="1" lang="en-US" altLang="zh-CN" sz="2400" b="1">
                <a:solidFill>
                  <a:schemeClr val="tx2"/>
                </a:solidFill>
                <a:latin typeface="Times New Roman" panose="02020603050405020304" pitchFamily="18" charset="0"/>
              </a:rPr>
              <a:t>N（</a:t>
            </a:r>
            <a:r>
              <a:rPr kumimoji="1" lang="zh-CN" altLang="en-US" sz="2400" b="1">
                <a:solidFill>
                  <a:schemeClr val="tx2"/>
                </a:solidFill>
                <a:latin typeface="Times New Roman" panose="02020603050405020304" pitchFamily="18" charset="0"/>
              </a:rPr>
              <a:t>一般取</a:t>
            </a:r>
            <a:r>
              <a:rPr kumimoji="1" lang="en-US" altLang="zh-CN" sz="2400" b="1">
                <a:solidFill>
                  <a:schemeClr val="tx2"/>
                </a:solidFill>
                <a:latin typeface="Times New Roman" panose="02020603050405020304" pitchFamily="18" charset="0"/>
              </a:rPr>
              <a:t>N=512）</a:t>
            </a:r>
            <a:r>
              <a:rPr kumimoji="1" lang="zh-CN" altLang="en-US" sz="2400" b="1">
                <a:solidFill>
                  <a:schemeClr val="tx2"/>
                </a:solidFill>
                <a:latin typeface="Times New Roman" panose="02020603050405020304" pitchFamily="18" charset="0"/>
              </a:rPr>
              <a:t>的序列，然后经过</a:t>
            </a:r>
            <a:r>
              <a:rPr kumimoji="1" lang="en-US" altLang="zh-CN" sz="2400" b="1">
                <a:solidFill>
                  <a:srgbClr val="0070C0"/>
                </a:solidFill>
                <a:latin typeface="Times New Roman" panose="02020603050405020304" pitchFamily="18" charset="0"/>
              </a:rPr>
              <a:t>FFT</a:t>
            </a:r>
            <a:r>
              <a:rPr kumimoji="1" lang="zh-CN" altLang="en-US" sz="2400" b="1">
                <a:solidFill>
                  <a:srgbClr val="0070C0"/>
                </a:solidFill>
                <a:latin typeface="Times New Roman" panose="02020603050405020304" pitchFamily="18" charset="0"/>
              </a:rPr>
              <a:t>变换</a:t>
            </a:r>
            <a:r>
              <a:rPr kumimoji="1" lang="zh-CN" altLang="en-US" sz="2400" b="1">
                <a:solidFill>
                  <a:schemeClr val="tx2"/>
                </a:solidFill>
                <a:latin typeface="Times New Roman" panose="02020603050405020304" pitchFamily="18" charset="0"/>
              </a:rPr>
              <a:t>的</a:t>
            </a:r>
            <a:r>
              <a:rPr kumimoji="1" lang="zh-CN" altLang="en-US" sz="2400" b="1">
                <a:solidFill>
                  <a:srgbClr val="0070C0"/>
                </a:solidFill>
                <a:latin typeface="Times New Roman" panose="02020603050405020304" pitchFamily="18" charset="0"/>
              </a:rPr>
              <a:t>线性频谱</a:t>
            </a:r>
            <a:r>
              <a:rPr kumimoji="1" lang="en-US" altLang="zh-CN" sz="2400" b="1">
                <a:solidFill>
                  <a:schemeClr val="tx2"/>
                </a:solidFill>
                <a:latin typeface="Times New Roman" panose="02020603050405020304" pitchFamily="18" charset="0"/>
              </a:rPr>
              <a:t>X(</a:t>
            </a:r>
            <a:r>
              <a:rPr kumimoji="1" lang="en-US" altLang="zh-CN" sz="2400" b="1" i="1">
                <a:solidFill>
                  <a:schemeClr val="tx2"/>
                </a:solidFill>
                <a:latin typeface="Times New Roman" panose="02020603050405020304" pitchFamily="18" charset="0"/>
              </a:rPr>
              <a:t>k</a:t>
            </a:r>
            <a:r>
              <a:rPr kumimoji="1" lang="en-US" altLang="zh-CN" sz="24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8709">
                                            <p:txEl>
                                              <p:pRg st="0" end="0"/>
                                            </p:txEl>
                                          </p:spTgt>
                                        </p:tgtEl>
                                        <p:attrNameLst>
                                          <p:attrName>style.visibility</p:attrName>
                                        </p:attrNameLst>
                                      </p:cBhvr>
                                      <p:to>
                                        <p:strVal val="visible"/>
                                      </p:to>
                                    </p:set>
                                    <p:animEffect transition="in" filter="wipe(up)">
                                      <p:cBhvr>
                                        <p:cTn id="7" dur="500"/>
                                        <p:tgtEl>
                                          <p:spTgt spid="3287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0755"/>
                                        </p:tgtEl>
                                        <p:attrNameLst>
                                          <p:attrName>style.visibility</p:attrName>
                                        </p:attrNameLst>
                                      </p:cBhvr>
                                      <p:to>
                                        <p:strVal val="visible"/>
                                      </p:to>
                                    </p:set>
                                    <p:animEffect transition="in" filter="wipe(up)">
                                      <p:cBhvr>
                                        <p:cTn id="12" dur="500"/>
                                        <p:tgtEl>
                                          <p:spTgt spid="3307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30788"/>
                                        </p:tgtEl>
                                        <p:attrNameLst>
                                          <p:attrName>style.visibility</p:attrName>
                                        </p:attrNameLst>
                                      </p:cBhvr>
                                      <p:to>
                                        <p:strVal val="visible"/>
                                      </p:to>
                                    </p:set>
                                    <p:animEffect transition="in" filter="wipe(up)">
                                      <p:cBhvr>
                                        <p:cTn id="17" dur="500"/>
                                        <p:tgtEl>
                                          <p:spTgt spid="3307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30789"/>
                                        </p:tgtEl>
                                        <p:attrNameLst>
                                          <p:attrName>style.visibility</p:attrName>
                                        </p:attrNameLst>
                                      </p:cBhvr>
                                      <p:to>
                                        <p:strVal val="visible"/>
                                      </p:to>
                                    </p:set>
                                    <p:animEffect transition="in" filter="wipe(up)">
                                      <p:cBhvr>
                                        <p:cTn id="22" dur="500"/>
                                        <p:tgtEl>
                                          <p:spTgt spid="330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autoUpdateAnimBg="0"/>
      <p:bldP spid="330788" grpId="0" autoUpdateAnimBg="0"/>
      <p:bldP spid="330789" grpId="0" autoUpdateAnimBg="0"/>
      <p:bldP spid="328709" grpId="0" autoUpdateAnimBg="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特征的频域分析方法</a:t>
            </a:r>
            <a:endParaRPr lang="zh-CN" altLang="en-US">
              <a:latin typeface="华文中宋" panose="02010600040101010101" pitchFamily="2" charset="-122"/>
              <a:ea typeface="仿宋_GB2312" pitchFamily="49" charset="-122"/>
            </a:endParaRPr>
          </a:p>
        </p:txBody>
      </p:sp>
      <p:pic>
        <p:nvPicPr>
          <p:cNvPr id="106499"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1845310"/>
            <a:ext cx="8959850" cy="322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39750" y="5661660"/>
            <a:ext cx="8082280" cy="829945"/>
          </a:xfrm>
          <a:prstGeom prst="rect">
            <a:avLst/>
          </a:prstGeom>
          <a:noFill/>
        </p:spPr>
        <p:txBody>
          <a:bodyPr wrap="square" rtlCol="0">
            <a:spAutoFit/>
          </a:bodyPr>
          <a:p>
            <a:r>
              <a:rPr lang="zh-CN" altLang="en-US" sz="2400">
                <a:latin typeface="Times New Roman" panose="02020603050405020304" pitchFamily="18" charset="0"/>
                <a:ea typeface="黑体" panose="02010609060101010101" pitchFamily="49" charset="-122"/>
                <a:cs typeface="Times New Roman" panose="02020603050405020304" pitchFamily="18" charset="0"/>
              </a:rPr>
              <a:t>目前广泛采用的</a:t>
            </a:r>
            <a:r>
              <a:rPr lang="en-US" altLang="zh-CN" sz="2400" b="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Filter Bank</a:t>
            </a:r>
            <a:r>
              <a:rPr lang="zh-CN" altLang="en-US" sz="2400" b="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FBank</a:t>
            </a:r>
            <a:r>
              <a:rPr lang="zh-CN" altLang="en-US" sz="2400" b="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）特征</a:t>
            </a:r>
            <a:r>
              <a:rPr lang="zh-CN" altLang="en-US" sz="2400">
                <a:latin typeface="Times New Roman" panose="02020603050405020304" pitchFamily="18" charset="0"/>
                <a:ea typeface="黑体" panose="02010609060101010101" pitchFamily="49" charset="-122"/>
                <a:cs typeface="Times New Roman" panose="02020603050405020304" pitchFamily="18" charset="0"/>
              </a:rPr>
              <a:t>，去掉了</a:t>
            </a:r>
            <a:r>
              <a:rPr lang="en-US" altLang="zh-CN" sz="2400">
                <a:latin typeface="Times New Roman" panose="02020603050405020304" pitchFamily="18" charset="0"/>
                <a:ea typeface="黑体" panose="02010609060101010101" pitchFamily="49" charset="-122"/>
                <a:cs typeface="Times New Roman" panose="02020603050405020304" pitchFamily="18" charset="0"/>
              </a:rPr>
              <a:t>DCT</a:t>
            </a:r>
            <a:r>
              <a:rPr lang="zh-CN" altLang="en-US" sz="2400">
                <a:latin typeface="Times New Roman" panose="02020603050405020304" pitchFamily="18" charset="0"/>
                <a:ea typeface="黑体" panose="02010609060101010101" pitchFamily="49" charset="-122"/>
                <a:cs typeface="Times New Roman" panose="02020603050405020304" pitchFamily="18" charset="0"/>
              </a:rPr>
              <a:t>变换环节</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p:sld>
</file>

<file path=ppt/tags/tag1.xml><?xml version="1.0" encoding="utf-8"?>
<p:tagLst xmlns:p="http://schemas.openxmlformats.org/presentationml/2006/main">
  <p:tag name="KSO_WM_UNIT_MEDIACOVER_STYLEID" val="1"/>
  <p:tag name="KSO_WM_UNIT_MEDIACOVER_TEXTSTATE" val="0"/>
  <p:tag name="KSO_WM_UNIT_MEDIACOVER_BTN_STATE" val="1"/>
  <p:tag name="KSO_WM_UNIT_MEDIACOVER_BTN_POS" val="c"/>
  <p:tag name="KSO_WM_UNIT_MEDIACOVER_BTN_STYLE" val="ee0bc779c1f3d7f3e90c96344320e69a"/>
  <p:tag name="KSO_WM_UNIT_MEDIACOVER_RGB" val="000000"/>
  <p:tag name="KSO_WM_UNIT_MEDIACOVER_TRANSPARENCY" val="0.5"/>
  <p:tag name="KSO_WM_UNIT_MEDIACOVER_TEXT" val=""/>
</p:tagLst>
</file>

<file path=ppt/tags/tag2.xml><?xml version="1.0" encoding="utf-8"?>
<p:tagLst xmlns:p="http://schemas.openxmlformats.org/presentationml/2006/main">
  <p:tag name="KSO_WM_DIAGRAM_VIRTUALLY_FRAME" val="{&quot;height&quot;:311.87496062992125,&quot;left&quot;:90,&quot;top&quot;:156.62503937007872,&quot;width&quot;:546}"/>
</p:tagLst>
</file>

<file path=ppt/tags/tag3.xml><?xml version="1.0" encoding="utf-8"?>
<p:tagLst xmlns:p="http://schemas.openxmlformats.org/presentationml/2006/main">
  <p:tag name="KSO_WM_DIAGRAM_VIRTUALLY_FRAME" val="{&quot;height&quot;:311.87496062992125,&quot;left&quot;:90,&quot;top&quot;:156.62503937007872,&quot;width&quot;:546}"/>
</p:tagLst>
</file>

<file path=ppt/tags/tag4.xml><?xml version="1.0" encoding="utf-8"?>
<p:tagLst xmlns:p="http://schemas.openxmlformats.org/presentationml/2006/main">
  <p:tag name="KSO_WM_DIAGRAM_VIRTUALLY_FRAME" val="{&quot;height&quot;:311.87496062992125,&quot;left&quot;:90,&quot;top&quot;:156.62503937007872,&quot;width&quot;:546}"/>
</p:tagLst>
</file>

<file path=ppt/tags/tag5.xml><?xml version="1.0" encoding="utf-8"?>
<p:tagLst xmlns:p="http://schemas.openxmlformats.org/presentationml/2006/main">
  <p:tag name="KSO_WM_DIAGRAM_VIRTUALLY_FRAME" val="{&quot;height&quot;:311.87496062992125,&quot;left&quot;:90,&quot;top&quot;:156.62503937007872,&quot;width&quot;:546}"/>
</p:tagLst>
</file>

<file path=ppt/tags/tag6.xml><?xml version="1.0" encoding="utf-8"?>
<p:tagLst xmlns:p="http://schemas.openxmlformats.org/presentationml/2006/main">
  <p:tag name="KSO_WM_DIAGRAM_VIRTUALLY_FRAME" val="{&quot;height&quot;:311.87496062992125,&quot;left&quot;:90,&quot;top&quot;:156.62503937007872,&quot;width&quot;:546}"/>
</p:tagLst>
</file>

<file path=ppt/tags/tag7.xml><?xml version="1.0" encoding="utf-8"?>
<p:tagLst xmlns:p="http://schemas.openxmlformats.org/presentationml/2006/main">
  <p:tag name="KSO_WM_DIAGRAM_VIRTUALLY_FRAME" val="{&quot;height&quot;:311.87496062992125,&quot;left&quot;:90,&quot;top&quot;:156.62503937007872,&quot;width&quot;:546}"/>
</p:tagLst>
</file>

<file path=ppt/tags/tag8.xml><?xml version="1.0" encoding="utf-8"?>
<p:tagLst xmlns:p="http://schemas.openxmlformats.org/presentationml/2006/main">
  <p:tag name="KSO_WPP_MARK_KEY" val="c172cc89-fdbc-4144-a981-2bb03d051ca4"/>
  <p:tag name="COMMONDATA" val="eyJoZGlkIjoiMDhlNTM2MTA4NWNjODIxZmM5YzM4ZTZhYzBmZTk2ZjQifQ=="/>
  <p:tag name="commondata" val="eyJoZGlkIjoiNWYyODU0MTJjOGFhNmFjNmM3OTgzOTg1Zjk0OGNkZWMifQ=="/>
</p:tagLst>
</file>

<file path=ppt/theme/theme1.xml><?xml version="1.0" encoding="utf-8"?>
<a:theme xmlns:a="http://schemas.openxmlformats.org/drawingml/2006/main" name="1_Radial">
  <a:themeElements>
    <a:clrScheme name="1_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1_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1_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1_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1_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1_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1_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1_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1_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1_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1_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Capsules</Template>
  <TotalTime>0</TotalTime>
  <Words>5224</Words>
  <Application>WPS 演示</Application>
  <PresentationFormat>全屏显示(4:3)</PresentationFormat>
  <Paragraphs>533</Paragraphs>
  <Slides>58</Slides>
  <Notes>24</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135</vt:i4>
      </vt:variant>
      <vt:variant>
        <vt:lpstr>幻灯片标题</vt:lpstr>
      </vt:variant>
      <vt:variant>
        <vt:i4>58</vt:i4>
      </vt:variant>
    </vt:vector>
  </HeadingPairs>
  <TitlesOfParts>
    <vt:vector size="213" baseType="lpstr">
      <vt:lpstr>Arial</vt:lpstr>
      <vt:lpstr>宋体</vt:lpstr>
      <vt:lpstr>Wingdings</vt:lpstr>
      <vt:lpstr>Times New Roman</vt:lpstr>
      <vt:lpstr>Arial Black</vt:lpstr>
      <vt:lpstr>Arial Narrow</vt:lpstr>
      <vt:lpstr>华文细黑</vt:lpstr>
      <vt:lpstr>隶书</vt:lpstr>
      <vt:lpstr>华文中宋</vt:lpstr>
      <vt:lpstr>仿宋_GB2312</vt:lpstr>
      <vt:lpstr>仿宋</vt:lpstr>
      <vt:lpstr>黑体</vt:lpstr>
      <vt:lpstr>微软雅黑</vt:lpstr>
      <vt:lpstr>Arial Unicode MS</vt:lpstr>
      <vt:lpstr>华文新魏</vt:lpstr>
      <vt:lpstr>Calibri</vt:lpstr>
      <vt:lpstr>Wingdings</vt:lpstr>
      <vt:lpstr>1_Radial</vt:lpstr>
      <vt:lpstr>Radial</vt:lpstr>
      <vt:lpstr>默认设计模板</vt:lpstr>
      <vt:lpstr>Equation.DSMT4</vt:lpstr>
      <vt:lpstr>Word.Picture.8</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Equation.DSMT4</vt:lpstr>
      <vt:lpstr>Equation.DSMT4</vt:lpstr>
      <vt:lpstr>Equation.DSMT4</vt:lpstr>
      <vt:lpstr>Equation.3</vt:lpstr>
      <vt:lpstr>Equation.3</vt:lpstr>
      <vt:lpstr>Equation.3</vt:lpstr>
      <vt:lpstr>Word.Picture.8</vt:lpstr>
      <vt:lpstr>Equation.3</vt:lpstr>
      <vt:lpstr>Equation.3</vt:lpstr>
      <vt:lpstr>Equation.3</vt:lpstr>
      <vt:lpstr>Equation.3</vt:lpstr>
      <vt:lpstr>Equation.3</vt:lpstr>
      <vt:lpstr>Equation.3</vt:lpstr>
      <vt:lpstr>Word.Picture.8</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Word.Picture.8</vt:lpstr>
      <vt:lpstr>Word.Picture.8</vt:lpstr>
      <vt:lpstr>Equation.DSMT4</vt:lpstr>
      <vt:lpstr>Equation.DSMT4</vt:lpstr>
      <vt:lpstr>Equation.DSMT4</vt:lpstr>
      <vt:lpstr>Equation.DSMT4</vt:lpstr>
      <vt:lpstr>Word.Picture.8</vt:lpstr>
      <vt:lpstr>Paint.Picture</vt:lpstr>
      <vt:lpstr>Paint.Picture</vt:lpstr>
      <vt:lpstr>Equation.3</vt:lpstr>
      <vt:lpstr>Word.Picture.8</vt:lpstr>
      <vt:lpstr>Word.Picture.8</vt:lpstr>
      <vt:lpstr>Word.Picture.8</vt:lpstr>
      <vt:lpstr>Word.Picture.8</vt:lpstr>
      <vt:lpstr>Word.Picture.8</vt:lpstr>
      <vt:lpstr>Equation.DSMT4</vt:lpstr>
      <vt:lpstr>Equation.DSMT4</vt:lpstr>
      <vt:lpstr>Equation.DSMT4</vt:lpstr>
      <vt:lpstr>Word.Picture.8</vt:lpstr>
      <vt:lpstr>Equation.3</vt:lpstr>
      <vt:lpstr>Equation.3</vt:lpstr>
      <vt:lpstr>Equation.3</vt:lpstr>
      <vt:lpstr>Equation.3</vt:lpstr>
      <vt:lpstr>Equation.DSMT4</vt:lpstr>
      <vt:lpstr>Word.Picture.8</vt:lpstr>
      <vt:lpstr>Word.Picture.8</vt:lpstr>
      <vt:lpstr>Equation.3</vt:lpstr>
      <vt:lpstr>Equation.3</vt:lpstr>
      <vt:lpstr>Equation.DSMT4</vt:lpstr>
      <vt:lpstr>Equation.3</vt:lpstr>
      <vt:lpstr>Equation.DSMT4</vt:lpstr>
      <vt:lpstr>Equation.3</vt:lpstr>
      <vt:lpstr>Equation.DSMT4</vt:lpstr>
      <vt:lpstr>Equation.3</vt:lpstr>
      <vt:lpstr>Equation.DSMT4</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Equation.DSMT4</vt:lpstr>
      <vt:lpstr>时频域分析方法  </vt:lpstr>
      <vt:lpstr>PowerPoint 演示文稿</vt:lpstr>
      <vt:lpstr>PowerPoint 演示文稿</vt:lpstr>
      <vt:lpstr>特征的分析时长</vt:lpstr>
      <vt:lpstr>特征的分析时长</vt:lpstr>
      <vt:lpstr>特征的时域分析方法</vt:lpstr>
      <vt:lpstr>特征的时域分析方法</vt:lpstr>
      <vt:lpstr>特征的时域分析方法</vt:lpstr>
      <vt:lpstr>特征的时域分析方法</vt:lpstr>
      <vt:lpstr>特征的时域分析方法</vt:lpstr>
      <vt:lpstr>特征的时域分析方法</vt:lpstr>
      <vt:lpstr>特征的时域分析方法</vt:lpstr>
      <vt:lpstr>特征的时域分析方法</vt:lpstr>
      <vt:lpstr>特征的时域分析方法</vt:lpstr>
      <vt:lpstr>特征的时域分析方法</vt:lpstr>
      <vt:lpstr>特征的频域分析方法</vt:lpstr>
      <vt:lpstr>      </vt:lpstr>
      <vt:lpstr>PowerPoint 演示文稿</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lpstr>特征的频域分析方法</vt:lpstr>
    </vt:vector>
  </TitlesOfParts>
  <Company>雨薇在线</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语音信号处理</dc:title>
  <dc:creator>雨薇</dc:creator>
  <cp:lastModifiedBy>郑铁然</cp:lastModifiedBy>
  <cp:revision>115</cp:revision>
  <cp:lastPrinted>2018-09-25T10:48:00Z</cp:lastPrinted>
  <dcterms:created xsi:type="dcterms:W3CDTF">2004-08-18T11:10:00Z</dcterms:created>
  <dcterms:modified xsi:type="dcterms:W3CDTF">2025-11-23T10:51:50Z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5EC8C8456C0E49A09D3D39CB7C1C9566_13</vt:lpwstr>
  </property>
  <property fmtid="{D5CDD505-2E9C-101B-9397-08002B2CF9AE}" pid="3" name="KSOProductBuildVer">
    <vt:lpwstr>2052-12.1.0.23542</vt:lpwstr>
  </property>
</Properties>
</file>