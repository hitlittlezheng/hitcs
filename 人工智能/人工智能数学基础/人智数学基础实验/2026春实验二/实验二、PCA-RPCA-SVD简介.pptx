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36"/>
  </p:notesMasterIdLst>
  <p:sldIdLst>
    <p:sldId id="256" r:id="rId3"/>
    <p:sldId id="432" r:id="rId4"/>
    <p:sldId id="524" r:id="rId5"/>
    <p:sldId id="531" r:id="rId6"/>
    <p:sldId id="526" r:id="rId7"/>
    <p:sldId id="527" r:id="rId8"/>
    <p:sldId id="528" r:id="rId9"/>
    <p:sldId id="529" r:id="rId10"/>
    <p:sldId id="486" r:id="rId11"/>
    <p:sldId id="509" r:id="rId12"/>
    <p:sldId id="487" r:id="rId13"/>
    <p:sldId id="488" r:id="rId14"/>
    <p:sldId id="492" r:id="rId15"/>
    <p:sldId id="489" r:id="rId16"/>
    <p:sldId id="490" r:id="rId17"/>
    <p:sldId id="491" r:id="rId18"/>
    <p:sldId id="493" r:id="rId19"/>
    <p:sldId id="494" r:id="rId20"/>
    <p:sldId id="495" r:id="rId21"/>
    <p:sldId id="496" r:id="rId22"/>
    <p:sldId id="497" r:id="rId23"/>
    <p:sldId id="498" r:id="rId24"/>
    <p:sldId id="525" r:id="rId25"/>
    <p:sldId id="530" r:id="rId26"/>
    <p:sldId id="499" r:id="rId27"/>
    <p:sldId id="500" r:id="rId28"/>
    <p:sldId id="536" r:id="rId29"/>
    <p:sldId id="522" r:id="rId30"/>
    <p:sldId id="532" r:id="rId31"/>
    <p:sldId id="535" r:id="rId32"/>
    <p:sldId id="533" r:id="rId33"/>
    <p:sldId id="537" r:id="rId34"/>
    <p:sldId id="538" r:id="rId35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bg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bg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bg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bg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bg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bg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bg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bg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bg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600"/>
    <a:srgbClr val="FF99CC"/>
    <a:srgbClr val="6666FF"/>
    <a:srgbClr val="FF0000"/>
    <a:srgbClr val="0099CC"/>
    <a:srgbClr val="0099FF"/>
    <a:srgbClr val="965A1E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197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661" tIns="48331" rIns="96661" bIns="48331" numCol="1" anchor="t" anchorCtr="0" compatLnSpc="1"/>
          <a:lstStyle>
            <a:lvl1pPr algn="l" defTabSz="967105" eaLnBrk="1" hangingPunct="1"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hu-HU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661" tIns="48331" rIns="96661" bIns="48331" numCol="1" anchor="t" anchorCtr="0" compatLnSpc="1"/>
          <a:lstStyle>
            <a:lvl1pPr algn="r" defTabSz="967105" eaLnBrk="1" hangingPunct="1"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hu-HU" alt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661" tIns="48331" rIns="96661" bIns="48331" numCol="1" anchor="ctr" anchorCtr="0" compatLnSpc="1"/>
          <a:lstStyle/>
          <a:p>
            <a:pPr lvl="0"/>
            <a:r>
              <a:rPr lang="hu-HU" altLang="en-US" noProof="0"/>
              <a:t>Click to edit Master text styles</a:t>
            </a:r>
          </a:p>
          <a:p>
            <a:pPr lvl="1"/>
            <a:r>
              <a:rPr lang="hu-HU" altLang="en-US" noProof="0"/>
              <a:t>Second level</a:t>
            </a:r>
          </a:p>
          <a:p>
            <a:pPr lvl="2"/>
            <a:r>
              <a:rPr lang="hu-HU" altLang="en-US" noProof="0"/>
              <a:t>Third level</a:t>
            </a:r>
          </a:p>
          <a:p>
            <a:pPr lvl="3"/>
            <a:r>
              <a:rPr lang="hu-HU" altLang="en-US" noProof="0"/>
              <a:t>Fourth level</a:t>
            </a:r>
          </a:p>
          <a:p>
            <a:pPr lvl="4"/>
            <a:r>
              <a:rPr lang="hu-HU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661" tIns="48331" rIns="96661" bIns="48331" numCol="1" anchor="b" anchorCtr="0" compatLnSpc="1"/>
          <a:lstStyle>
            <a:lvl1pPr algn="l" defTabSz="967105" eaLnBrk="1" hangingPunct="1"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hu-HU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661" tIns="48331" rIns="96661" bIns="48331" numCol="1" anchor="b" anchorCtr="0" compatLnSpc="1"/>
          <a:lstStyle>
            <a:lvl1pPr algn="r" defTabSz="967105" eaLnBrk="1" hangingPunct="1">
              <a:buFont typeface="Arial" panose="020B0604020202020204" pitchFamily="34" charset="0"/>
              <a:buNone/>
              <a:defRPr sz="13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1C445E0-3E61-4A93-B30E-9CE9549450AA}" type="slidenum">
              <a:rPr lang="hu-HU" altLang="en-US"/>
              <a:t>‹#›</a:t>
            </a:fld>
            <a:endParaRPr lang="hu-H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C445E0-3E61-4A93-B30E-9CE9549450AA}" type="slidenum">
              <a:rPr lang="hu-HU" altLang="en-US" smtClean="0"/>
              <a:t>16</a:t>
            </a:fld>
            <a:endParaRPr lang="hu-H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Rectangle 90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0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0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CDB489-CC72-4D0C-9CA2-99033E48DBB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67544" y="1295400"/>
            <a:ext cx="8568952" cy="515793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07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428184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908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28184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09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28184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0D4C00-038A-4158-BCEE-33FB9F991B2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90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0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0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037CF-3BB1-4ED6-AF20-FE7F31D8CE1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1066800" y="1295400"/>
            <a:ext cx="3810000" cy="4800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29200" y="1295400"/>
            <a:ext cx="3810000" cy="4800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0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0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0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38274-8F83-4E5C-B8D6-0302868698A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0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0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90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65178C-0ED2-4EDC-BFE8-BF1F71F41F0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0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90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0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DE8B3F-3BF4-4809-91A8-E17CC110A83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0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90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90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7E610-7ADB-496D-829A-9B0000B000D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90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0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0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FEE0E6-F3D1-4A09-9586-EEACBB65135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90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0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0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26A727-2904-49B7-AD55-863F3025A59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0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0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0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5D581B-2F1E-4D83-9C6E-E33850AE258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62775" y="76200"/>
            <a:ext cx="1963738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1066800" y="76200"/>
            <a:ext cx="5743575" cy="60198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0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0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0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3DFD43-E883-4E18-9A7A-292EBCBF59F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0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90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0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FD557D-35E0-4802-A4DA-FD9851B2C7C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0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90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0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7CE31-C934-4519-ABD0-3BF9CBBA433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Rectangle 90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0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0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872E4-9B84-4DB5-916C-4B5B586CD55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0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0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0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B75904-DD52-4036-A4FF-8C61AAC28B7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90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0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0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DC08E8-BAFC-43A3-9274-C6B8165D4FD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1066800" y="1295400"/>
            <a:ext cx="3810000" cy="4800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29200" y="1295400"/>
            <a:ext cx="3810000" cy="4800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0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0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0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D7CB45-F976-4362-B133-F822A551175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0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0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90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6FFA93-CED3-4278-A42F-BD154075157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0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90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0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99D1A4-C552-4F1E-88A0-37D6243EB43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0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90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90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D1E81F-DADD-4B67-9875-E1C5E67AB61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90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0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0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B38F9E-FCB0-40DF-B482-D74065D25B4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90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0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0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12D2D9-CF14-4F81-8FC6-020FA2E2491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0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0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0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D77D9E-9463-4364-AB61-D4D5CB46B66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62775" y="76200"/>
            <a:ext cx="1963738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1066800" y="76200"/>
            <a:ext cx="5743575" cy="60198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0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0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0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42FFB-584E-4DA3-9D08-2AFE7288827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22" Type="http://schemas.openxmlformats.org/officeDocument/2006/relationships/image" Target="../media/image8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jpe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6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17" Type="http://schemas.openxmlformats.org/officeDocument/2006/relationships/image" Target="../media/image12.jpeg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11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0.png"/><Relationship Id="rId10" Type="http://schemas.openxmlformats.org/officeDocument/2006/relationships/slideLayout" Target="../slideLayouts/slideLayout23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9.png"/><Relationship Id="rId22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4" descr="106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413" y="522288"/>
            <a:ext cx="7620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0" y="0"/>
            <a:ext cx="12192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sz="2400" u="sng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028" name="Rectangle 904"/>
          <p:cNvSpPr>
            <a:spLocks noChangeArrowheads="1"/>
          </p:cNvSpPr>
          <p:nvPr/>
        </p:nvSpPr>
        <p:spPr bwMode="auto">
          <a:xfrm>
            <a:off x="258763" y="0"/>
            <a:ext cx="1112837" cy="68580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sz="2400" u="sng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029" name="Rectangle 905"/>
          <p:cNvSpPr>
            <a:spLocks noGrp="1" noChangeArrowheads="1"/>
          </p:cNvSpPr>
          <p:nvPr>
            <p:ph type="title"/>
          </p:nvPr>
        </p:nvSpPr>
        <p:spPr bwMode="auto">
          <a:xfrm>
            <a:off x="1154113" y="762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0" name="Rectangle 90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295400"/>
            <a:ext cx="77724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31" name="Rectangle 90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2" name="Rectangle 90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3" name="Rectangle 90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fld id="{C8738A28-A569-4A45-8BE8-128E49309B77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838200" y="736600"/>
            <a:ext cx="8305800" cy="39688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rgbClr val="F4ECB2"/>
              </a:gs>
            </a:gsLst>
            <a:lin ang="0" scaled="1"/>
          </a:gradFill>
          <a:ln w="3175" cmpd="sng">
            <a:solidFill>
              <a:srgbClr val="FFCC99"/>
            </a:solidFill>
            <a:miter lim="800000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sz="2400" u="sng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035" name="Line 1021"/>
          <p:cNvSpPr>
            <a:spLocks noChangeShapeType="1"/>
          </p:cNvSpPr>
          <p:nvPr userDrawn="1"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9525">
            <a:solidFill>
              <a:srgbClr val="F0E1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36" name="Line 1022"/>
          <p:cNvSpPr>
            <a:spLocks noChangeShapeType="1"/>
          </p:cNvSpPr>
          <p:nvPr userDrawn="1"/>
        </p:nvSpPr>
        <p:spPr bwMode="auto">
          <a:xfrm>
            <a:off x="152400" y="0"/>
            <a:ext cx="0" cy="6858000"/>
          </a:xfrm>
          <a:prstGeom prst="line">
            <a:avLst/>
          </a:prstGeom>
          <a:noFill/>
          <a:ln w="9525">
            <a:solidFill>
              <a:srgbClr val="F0E1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pic>
        <p:nvPicPr>
          <p:cNvPr id="1037" name="Picture 14" descr="C:\Documents and Settings\Administrator\桌面\111.jpg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3475" cy="687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8" name="Picture 14" descr="E:\vilablogo.jpg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313" y="357188"/>
            <a:ext cx="173990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bg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18"/>
        </a:buBlip>
        <a:defRPr sz="3200" kern="1200">
          <a:solidFill>
            <a:srgbClr val="0000FF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kern="1200">
          <a:solidFill>
            <a:srgbClr val="FF0000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20"/>
        </a:buBlip>
        <a:defRPr sz="2400" kern="1200">
          <a:solidFill>
            <a:srgbClr val="0099CC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21"/>
        </a:buBlip>
        <a:defRPr sz="2000" kern="1200">
          <a:solidFill>
            <a:srgbClr val="FF6600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22"/>
        </a:buBlip>
        <a:defRPr sz="2000" kern="1200">
          <a:solidFill>
            <a:srgbClr val="6666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48" descr="106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413" y="522288"/>
            <a:ext cx="7620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15"/>
          <p:cNvSpPr>
            <a:spLocks noChangeArrowheads="1"/>
          </p:cNvSpPr>
          <p:nvPr/>
        </p:nvSpPr>
        <p:spPr bwMode="auto">
          <a:xfrm>
            <a:off x="0" y="0"/>
            <a:ext cx="1776413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sz="2400" u="sng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052" name="Rectangle 904"/>
          <p:cNvSpPr>
            <a:spLocks noChangeArrowheads="1"/>
          </p:cNvSpPr>
          <p:nvPr/>
        </p:nvSpPr>
        <p:spPr bwMode="auto">
          <a:xfrm>
            <a:off x="0" y="4826000"/>
            <a:ext cx="2895600" cy="9906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sz="2400" u="sng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pic>
        <p:nvPicPr>
          <p:cNvPr id="2053" name="Picture 948" descr="upc-transp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373"/>
          <a:stretch>
            <a:fillRect/>
          </a:stretch>
        </p:blipFill>
        <p:spPr bwMode="auto">
          <a:xfrm>
            <a:off x="228600" y="1893888"/>
            <a:ext cx="1066800" cy="100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54" name="Group 6"/>
          <p:cNvGrpSpPr/>
          <p:nvPr userDrawn="1"/>
        </p:nvGrpSpPr>
        <p:grpSpPr bwMode="auto">
          <a:xfrm>
            <a:off x="381000" y="441325"/>
            <a:ext cx="812800" cy="1387475"/>
            <a:chOff x="0" y="0"/>
            <a:chExt cx="512" cy="874"/>
          </a:xfrm>
        </p:grpSpPr>
        <p:grpSp>
          <p:nvGrpSpPr>
            <p:cNvPr id="2064" name="Group 7"/>
            <p:cNvGrpSpPr/>
            <p:nvPr userDrawn="1"/>
          </p:nvGrpSpPr>
          <p:grpSpPr bwMode="auto">
            <a:xfrm>
              <a:off x="-11" y="0"/>
              <a:ext cx="437" cy="715"/>
              <a:chOff x="0" y="0"/>
              <a:chExt cx="498" cy="815"/>
            </a:xfrm>
          </p:grpSpPr>
          <p:sp>
            <p:nvSpPr>
              <p:cNvPr id="2" name="Oval 91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76" cy="76"/>
              </a:xfrm>
              <a:prstGeom prst="ellipse">
                <a:avLst/>
              </a:prstGeom>
              <a:solidFill>
                <a:srgbClr val="3300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" name="Oval 918"/>
              <p:cNvSpPr>
                <a:spLocks noChangeArrowheads="1"/>
              </p:cNvSpPr>
              <p:nvPr/>
            </p:nvSpPr>
            <p:spPr bwMode="auto">
              <a:xfrm>
                <a:off x="106" y="0"/>
                <a:ext cx="76" cy="76"/>
              </a:xfrm>
              <a:prstGeom prst="ellipse">
                <a:avLst/>
              </a:prstGeom>
              <a:solidFill>
                <a:srgbClr val="3300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" name="Oval 919"/>
              <p:cNvSpPr>
                <a:spLocks noChangeArrowheads="1"/>
              </p:cNvSpPr>
              <p:nvPr/>
            </p:nvSpPr>
            <p:spPr bwMode="auto">
              <a:xfrm>
                <a:off x="211" y="0"/>
                <a:ext cx="76" cy="76"/>
              </a:xfrm>
              <a:prstGeom prst="ellipse">
                <a:avLst/>
              </a:prstGeom>
              <a:solidFill>
                <a:srgbClr val="3300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" name="Oval 920"/>
              <p:cNvSpPr>
                <a:spLocks noChangeArrowheads="1"/>
              </p:cNvSpPr>
              <p:nvPr/>
            </p:nvSpPr>
            <p:spPr bwMode="auto">
              <a:xfrm>
                <a:off x="0" y="106"/>
                <a:ext cx="76" cy="76"/>
              </a:xfrm>
              <a:prstGeom prst="ellipse">
                <a:avLst/>
              </a:prstGeom>
              <a:solidFill>
                <a:srgbClr val="3300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" name="Oval 921"/>
              <p:cNvSpPr>
                <a:spLocks noChangeArrowheads="1"/>
              </p:cNvSpPr>
              <p:nvPr/>
            </p:nvSpPr>
            <p:spPr bwMode="auto">
              <a:xfrm>
                <a:off x="106" y="106"/>
                <a:ext cx="76" cy="76"/>
              </a:xfrm>
              <a:prstGeom prst="ellipse">
                <a:avLst/>
              </a:prstGeom>
              <a:solidFill>
                <a:srgbClr val="3300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1" name="Oval 922"/>
              <p:cNvSpPr>
                <a:spLocks noChangeArrowheads="1"/>
              </p:cNvSpPr>
              <p:nvPr/>
            </p:nvSpPr>
            <p:spPr bwMode="auto">
              <a:xfrm>
                <a:off x="211" y="106"/>
                <a:ext cx="76" cy="76"/>
              </a:xfrm>
              <a:prstGeom prst="ellipse">
                <a:avLst/>
              </a:prstGeom>
              <a:solidFill>
                <a:srgbClr val="3300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2" name="Oval 923"/>
              <p:cNvSpPr>
                <a:spLocks noChangeArrowheads="1"/>
              </p:cNvSpPr>
              <p:nvPr/>
            </p:nvSpPr>
            <p:spPr bwMode="auto">
              <a:xfrm>
                <a:off x="316" y="106"/>
                <a:ext cx="76" cy="76"/>
              </a:xfrm>
              <a:prstGeom prst="ellipse">
                <a:avLst/>
              </a:prstGeom>
              <a:solidFill>
                <a:srgbClr val="66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3" name="Oval 924"/>
              <p:cNvSpPr>
                <a:spLocks noChangeArrowheads="1"/>
              </p:cNvSpPr>
              <p:nvPr/>
            </p:nvSpPr>
            <p:spPr bwMode="auto">
              <a:xfrm>
                <a:off x="0" y="211"/>
                <a:ext cx="76" cy="76"/>
              </a:xfrm>
              <a:prstGeom prst="ellipse">
                <a:avLst/>
              </a:prstGeom>
              <a:solidFill>
                <a:srgbClr val="3300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" name="Oval 925"/>
              <p:cNvSpPr>
                <a:spLocks noChangeArrowheads="1"/>
              </p:cNvSpPr>
              <p:nvPr/>
            </p:nvSpPr>
            <p:spPr bwMode="auto">
              <a:xfrm>
                <a:off x="106" y="211"/>
                <a:ext cx="76" cy="76"/>
              </a:xfrm>
              <a:prstGeom prst="ellipse">
                <a:avLst/>
              </a:prstGeom>
              <a:solidFill>
                <a:srgbClr val="3300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5" name="Oval 926"/>
              <p:cNvSpPr>
                <a:spLocks noChangeArrowheads="1"/>
              </p:cNvSpPr>
              <p:nvPr/>
            </p:nvSpPr>
            <p:spPr bwMode="auto">
              <a:xfrm>
                <a:off x="211" y="211"/>
                <a:ext cx="76" cy="76"/>
              </a:xfrm>
              <a:prstGeom prst="ellipse">
                <a:avLst/>
              </a:prstGeom>
              <a:solidFill>
                <a:srgbClr val="66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6" name="Oval 927"/>
              <p:cNvSpPr>
                <a:spLocks noChangeArrowheads="1"/>
              </p:cNvSpPr>
              <p:nvPr/>
            </p:nvSpPr>
            <p:spPr bwMode="auto">
              <a:xfrm>
                <a:off x="316" y="211"/>
                <a:ext cx="76" cy="76"/>
              </a:xfrm>
              <a:prstGeom prst="ellipse">
                <a:avLst/>
              </a:prstGeom>
              <a:solidFill>
                <a:srgbClr val="66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7" name="Oval 928"/>
              <p:cNvSpPr>
                <a:spLocks noChangeArrowheads="1"/>
              </p:cNvSpPr>
              <p:nvPr/>
            </p:nvSpPr>
            <p:spPr bwMode="auto">
              <a:xfrm>
                <a:off x="422" y="211"/>
                <a:ext cx="76" cy="76"/>
              </a:xfrm>
              <a:prstGeom prst="ellipse">
                <a:avLst/>
              </a:prstGeom>
              <a:solidFill>
                <a:srgbClr val="CC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8" name="Oval 929"/>
              <p:cNvSpPr>
                <a:spLocks noChangeArrowheads="1"/>
              </p:cNvSpPr>
              <p:nvPr/>
            </p:nvSpPr>
            <p:spPr bwMode="auto">
              <a:xfrm>
                <a:off x="0" y="316"/>
                <a:ext cx="76" cy="76"/>
              </a:xfrm>
              <a:prstGeom prst="ellipse">
                <a:avLst/>
              </a:prstGeom>
              <a:solidFill>
                <a:srgbClr val="3300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9" name="Oval 930"/>
              <p:cNvSpPr>
                <a:spLocks noChangeArrowheads="1"/>
              </p:cNvSpPr>
              <p:nvPr/>
            </p:nvSpPr>
            <p:spPr bwMode="auto">
              <a:xfrm>
                <a:off x="106" y="316"/>
                <a:ext cx="76" cy="76"/>
              </a:xfrm>
              <a:prstGeom prst="ellipse">
                <a:avLst/>
              </a:prstGeom>
              <a:solidFill>
                <a:srgbClr val="66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70" name="Oval 931"/>
              <p:cNvSpPr>
                <a:spLocks noChangeArrowheads="1"/>
              </p:cNvSpPr>
              <p:nvPr/>
            </p:nvSpPr>
            <p:spPr bwMode="auto">
              <a:xfrm>
                <a:off x="211" y="316"/>
                <a:ext cx="76" cy="76"/>
              </a:xfrm>
              <a:prstGeom prst="ellipse">
                <a:avLst/>
              </a:prstGeom>
              <a:solidFill>
                <a:srgbClr val="66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71" name="Oval 932"/>
              <p:cNvSpPr>
                <a:spLocks noChangeArrowheads="1"/>
              </p:cNvSpPr>
              <p:nvPr/>
            </p:nvSpPr>
            <p:spPr bwMode="auto">
              <a:xfrm>
                <a:off x="316" y="316"/>
                <a:ext cx="76" cy="76"/>
              </a:xfrm>
              <a:prstGeom prst="ellipse">
                <a:avLst/>
              </a:prstGeom>
              <a:solidFill>
                <a:srgbClr val="CC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72" name="Oval 933"/>
              <p:cNvSpPr>
                <a:spLocks noChangeArrowheads="1"/>
              </p:cNvSpPr>
              <p:nvPr/>
            </p:nvSpPr>
            <p:spPr bwMode="auto">
              <a:xfrm>
                <a:off x="0" y="422"/>
                <a:ext cx="76" cy="76"/>
              </a:xfrm>
              <a:prstGeom prst="ellipse">
                <a:avLst/>
              </a:prstGeom>
              <a:solidFill>
                <a:srgbClr val="66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73" name="Oval 934"/>
              <p:cNvSpPr>
                <a:spLocks noChangeArrowheads="1"/>
              </p:cNvSpPr>
              <p:nvPr/>
            </p:nvSpPr>
            <p:spPr bwMode="auto">
              <a:xfrm>
                <a:off x="106" y="422"/>
                <a:ext cx="76" cy="76"/>
              </a:xfrm>
              <a:prstGeom prst="ellipse">
                <a:avLst/>
              </a:prstGeom>
              <a:solidFill>
                <a:srgbClr val="66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74" name="Oval 935"/>
              <p:cNvSpPr>
                <a:spLocks noChangeArrowheads="1"/>
              </p:cNvSpPr>
              <p:nvPr/>
            </p:nvSpPr>
            <p:spPr bwMode="auto">
              <a:xfrm>
                <a:off x="211" y="422"/>
                <a:ext cx="76" cy="76"/>
              </a:xfrm>
              <a:prstGeom prst="ellipse">
                <a:avLst/>
              </a:prstGeom>
              <a:solidFill>
                <a:srgbClr val="CC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75" name="Oval 936"/>
              <p:cNvSpPr>
                <a:spLocks noChangeArrowheads="1"/>
              </p:cNvSpPr>
              <p:nvPr/>
            </p:nvSpPr>
            <p:spPr bwMode="auto">
              <a:xfrm>
                <a:off x="316" y="422"/>
                <a:ext cx="76" cy="76"/>
              </a:xfrm>
              <a:prstGeom prst="ellipse">
                <a:avLst/>
              </a:prstGeom>
              <a:solidFill>
                <a:srgbClr val="CC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76" name="Oval 937"/>
              <p:cNvSpPr>
                <a:spLocks noChangeArrowheads="1"/>
              </p:cNvSpPr>
              <p:nvPr/>
            </p:nvSpPr>
            <p:spPr bwMode="auto">
              <a:xfrm>
                <a:off x="422" y="422"/>
                <a:ext cx="76" cy="76"/>
              </a:xfrm>
              <a:prstGeom prst="ellipse">
                <a:avLst/>
              </a:prstGeom>
              <a:solidFill>
                <a:srgbClr val="D8D8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77" name="Oval 938"/>
              <p:cNvSpPr>
                <a:spLocks noChangeArrowheads="1"/>
              </p:cNvSpPr>
              <p:nvPr/>
            </p:nvSpPr>
            <p:spPr bwMode="auto">
              <a:xfrm>
                <a:off x="0" y="528"/>
                <a:ext cx="76" cy="76"/>
              </a:xfrm>
              <a:prstGeom prst="ellipse">
                <a:avLst/>
              </a:prstGeom>
              <a:solidFill>
                <a:srgbClr val="66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78" name="Oval 939"/>
              <p:cNvSpPr>
                <a:spLocks noChangeArrowheads="1"/>
              </p:cNvSpPr>
              <p:nvPr/>
            </p:nvSpPr>
            <p:spPr bwMode="auto">
              <a:xfrm>
                <a:off x="106" y="528"/>
                <a:ext cx="76" cy="76"/>
              </a:xfrm>
              <a:prstGeom prst="ellipse">
                <a:avLst/>
              </a:prstGeom>
              <a:solidFill>
                <a:srgbClr val="CC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79" name="Oval 940"/>
              <p:cNvSpPr>
                <a:spLocks noChangeArrowheads="1"/>
              </p:cNvSpPr>
              <p:nvPr/>
            </p:nvSpPr>
            <p:spPr bwMode="auto">
              <a:xfrm>
                <a:off x="211" y="528"/>
                <a:ext cx="76" cy="76"/>
              </a:xfrm>
              <a:prstGeom prst="ellipse">
                <a:avLst/>
              </a:prstGeom>
              <a:solidFill>
                <a:srgbClr val="CC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80" name="Oval 941"/>
              <p:cNvSpPr>
                <a:spLocks noChangeArrowheads="1"/>
              </p:cNvSpPr>
              <p:nvPr/>
            </p:nvSpPr>
            <p:spPr bwMode="auto">
              <a:xfrm>
                <a:off x="316" y="528"/>
                <a:ext cx="76" cy="76"/>
              </a:xfrm>
              <a:prstGeom prst="ellipse">
                <a:avLst/>
              </a:prstGeom>
              <a:solidFill>
                <a:srgbClr val="D8D8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81" name="Oval 942"/>
              <p:cNvSpPr>
                <a:spLocks noChangeArrowheads="1"/>
              </p:cNvSpPr>
              <p:nvPr/>
            </p:nvSpPr>
            <p:spPr bwMode="auto">
              <a:xfrm>
                <a:off x="0" y="634"/>
                <a:ext cx="76" cy="76"/>
              </a:xfrm>
              <a:prstGeom prst="ellipse">
                <a:avLst/>
              </a:prstGeom>
              <a:solidFill>
                <a:srgbClr val="CC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82" name="Oval 943"/>
              <p:cNvSpPr>
                <a:spLocks noChangeArrowheads="1"/>
              </p:cNvSpPr>
              <p:nvPr/>
            </p:nvSpPr>
            <p:spPr bwMode="auto">
              <a:xfrm>
                <a:off x="106" y="634"/>
                <a:ext cx="76" cy="76"/>
              </a:xfrm>
              <a:prstGeom prst="ellipse">
                <a:avLst/>
              </a:prstGeom>
              <a:solidFill>
                <a:srgbClr val="CC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83" name="Oval 944"/>
              <p:cNvSpPr>
                <a:spLocks noChangeArrowheads="1"/>
              </p:cNvSpPr>
              <p:nvPr/>
            </p:nvSpPr>
            <p:spPr bwMode="auto">
              <a:xfrm>
                <a:off x="211" y="634"/>
                <a:ext cx="76" cy="76"/>
              </a:xfrm>
              <a:prstGeom prst="ellipse">
                <a:avLst/>
              </a:prstGeom>
              <a:solidFill>
                <a:srgbClr val="D8D8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84" name="Oval 945"/>
              <p:cNvSpPr>
                <a:spLocks noChangeArrowheads="1"/>
              </p:cNvSpPr>
              <p:nvPr/>
            </p:nvSpPr>
            <p:spPr bwMode="auto">
              <a:xfrm>
                <a:off x="316" y="634"/>
                <a:ext cx="76" cy="76"/>
              </a:xfrm>
              <a:prstGeom prst="ellipse">
                <a:avLst/>
              </a:prstGeom>
              <a:solidFill>
                <a:srgbClr val="D8D8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85" name="Oval 946"/>
              <p:cNvSpPr>
                <a:spLocks noChangeArrowheads="1"/>
              </p:cNvSpPr>
              <p:nvPr/>
            </p:nvSpPr>
            <p:spPr bwMode="auto">
              <a:xfrm>
                <a:off x="106" y="739"/>
                <a:ext cx="76" cy="76"/>
              </a:xfrm>
              <a:prstGeom prst="ellipse">
                <a:avLst/>
              </a:prstGeom>
              <a:solidFill>
                <a:srgbClr val="D8D8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86" name="Oval 947"/>
              <p:cNvSpPr>
                <a:spLocks noChangeArrowheads="1"/>
              </p:cNvSpPr>
              <p:nvPr/>
            </p:nvSpPr>
            <p:spPr bwMode="auto">
              <a:xfrm>
                <a:off x="316" y="739"/>
                <a:ext cx="76" cy="76"/>
              </a:xfrm>
              <a:prstGeom prst="ellipse">
                <a:avLst/>
              </a:prstGeom>
              <a:solidFill>
                <a:srgbClr val="D8D8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2400" u="sng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087" name="Text Box 949"/>
            <p:cNvSpPr txBox="1">
              <a:spLocks noChangeArrowheads="1"/>
            </p:cNvSpPr>
            <p:nvPr userDrawn="1"/>
          </p:nvSpPr>
          <p:spPr bwMode="auto">
            <a:xfrm>
              <a:off x="0" y="720"/>
              <a:ext cx="51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sz="1000">
                  <a:solidFill>
                    <a:schemeClr val="tx1"/>
                  </a:solidFill>
                  <a:latin typeface="Arial Black" panose="020B0A04020102020204" pitchFamily="34" charset="0"/>
                </a:rPr>
                <a:t>BILKENT</a:t>
              </a:r>
              <a:endParaRPr lang="hu-HU" altLang="en-US" sz="1000">
                <a:solidFill>
                  <a:schemeClr val="tx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088" name="Rectangle 952"/>
          <p:cNvSpPr>
            <a:spLocks noChangeArrowheads="1"/>
          </p:cNvSpPr>
          <p:nvPr userDrawn="1"/>
        </p:nvSpPr>
        <p:spPr bwMode="auto">
          <a:xfrm>
            <a:off x="4297363" y="3154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sz="2400" u="sng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pic>
        <p:nvPicPr>
          <p:cNvPr id="2056" name="Picture 951"/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12420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7" name="Picture 962"/>
          <p:cNvPicPr>
            <a:picLocks noChangeAspect="1" noChangeArrowheads="1"/>
          </p:cNvPicPr>
          <p:nvPr userDrawn="1"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292600"/>
            <a:ext cx="1296987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8" name="Picture 13" descr="E:\mrlogo.jpg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038" y="285750"/>
            <a:ext cx="2533650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9" name="Rectangle 905"/>
          <p:cNvSpPr>
            <a:spLocks noGrp="1" noChangeArrowheads="1"/>
          </p:cNvSpPr>
          <p:nvPr>
            <p:ph type="title"/>
          </p:nvPr>
        </p:nvSpPr>
        <p:spPr bwMode="auto">
          <a:xfrm>
            <a:off x="1154113" y="762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2060" name="Rectangle 90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295400"/>
            <a:ext cx="77724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094" name="Rectangle 90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95" name="Rectangle 90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338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96" name="Rectangle 90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fld id="{526075DE-0DC0-4548-ABC5-70249EFDC5F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bg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18"/>
        </a:buBlip>
        <a:defRPr sz="3200" kern="1200">
          <a:solidFill>
            <a:srgbClr val="0000FF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kern="1200">
          <a:solidFill>
            <a:srgbClr val="FF0000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20"/>
        </a:buBlip>
        <a:defRPr sz="2400" kern="1200">
          <a:solidFill>
            <a:srgbClr val="0099CC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21"/>
        </a:buBlip>
        <a:defRPr sz="2000" kern="1200">
          <a:solidFill>
            <a:srgbClr val="FF6600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22"/>
        </a:buBlip>
        <a:defRPr sz="2000" kern="1200">
          <a:solidFill>
            <a:srgbClr val="6666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l.cam.ac.uk/research/dtg/attarchive/facedatabase.html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12"/>
          <p:cNvSpPr>
            <a:spLocks noChangeShapeType="1"/>
          </p:cNvSpPr>
          <p:nvPr/>
        </p:nvSpPr>
        <p:spPr bwMode="auto">
          <a:xfrm flipV="1">
            <a:off x="1676400" y="3505200"/>
            <a:ext cx="7467600" cy="0"/>
          </a:xfrm>
          <a:prstGeom prst="line">
            <a:avLst/>
          </a:prstGeom>
          <a:noFill/>
          <a:ln w="9525">
            <a:solidFill>
              <a:srgbClr val="F0E1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099" name="Rectangle 11"/>
          <p:cNvSpPr>
            <a:spLocks noChangeArrowheads="1"/>
          </p:cNvSpPr>
          <p:nvPr/>
        </p:nvSpPr>
        <p:spPr bwMode="auto">
          <a:xfrm>
            <a:off x="1776413" y="2286000"/>
            <a:ext cx="7367587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sz="28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sz="2400">
                <a:solidFill>
                  <a:srgbClr val="0099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sz="2000">
                <a:solidFill>
                  <a:srgbClr val="FF66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sz="2000">
                <a:solidFill>
                  <a:srgbClr val="6666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sz="2000">
                <a:solidFill>
                  <a:srgbClr val="6666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sz="2000">
                <a:solidFill>
                  <a:srgbClr val="6666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sz="2000">
                <a:solidFill>
                  <a:srgbClr val="6666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sz="2000">
                <a:solidFill>
                  <a:srgbClr val="6666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endParaRPr lang="zh-CN" altLang="en-US" sz="2400" u="sng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971550" y="1628775"/>
            <a:ext cx="7429500" cy="1600200"/>
          </a:xfrm>
          <a:effectLst>
            <a:outerShdw dist="35921" dir="2700000" algn="ctr" rotWithShape="0">
              <a:schemeClr val="accent1"/>
            </a:outerShdw>
          </a:effectLst>
        </p:spPr>
        <p:txBody>
          <a:bodyPr/>
          <a:lstStyle/>
          <a:p>
            <a:pPr eaLnBrk="1" hangingPunct="1"/>
            <a:r>
              <a:rPr lang="en-US" altLang="zh-CN" sz="3600" b="1" dirty="0">
                <a:solidFill>
                  <a:srgbClr val="C00000"/>
                </a:solidFill>
                <a:ea typeface="宋体" panose="02010600030101010101" pitchFamily="2" charset="-122"/>
              </a:rPr>
              <a:t>PCA-RPCA</a:t>
            </a:r>
            <a:r>
              <a:rPr lang="zh-CN" altLang="en-US" sz="3600" b="1" dirty="0">
                <a:solidFill>
                  <a:srgbClr val="C00000"/>
                </a:solidFill>
                <a:ea typeface="宋体" panose="02010600030101010101" pitchFamily="2" charset="-122"/>
              </a:rPr>
              <a:t>简介</a:t>
            </a:r>
            <a:endParaRPr lang="hu-HU" altLang="en-US" sz="3600" b="1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4101" name="TextBox 6"/>
          <p:cNvSpPr txBox="1">
            <a:spLocks noChangeArrowheads="1"/>
          </p:cNvSpPr>
          <p:nvPr/>
        </p:nvSpPr>
        <p:spPr bwMode="auto">
          <a:xfrm>
            <a:off x="2843213" y="3573463"/>
            <a:ext cx="381793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sz="28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sz="2400">
                <a:solidFill>
                  <a:srgbClr val="0099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sz="2000">
                <a:solidFill>
                  <a:srgbClr val="FF66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sz="2000">
                <a:solidFill>
                  <a:srgbClr val="6666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sz="2000">
                <a:solidFill>
                  <a:srgbClr val="6666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sz="2000">
                <a:solidFill>
                  <a:srgbClr val="6666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sz="2000">
                <a:solidFill>
                  <a:srgbClr val="6666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sz="2000">
                <a:solidFill>
                  <a:srgbClr val="6666FF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zh-CN" alt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刘绍辉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24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shliu@hit.edu.cn</a:t>
            </a:r>
          </a:p>
        </p:txBody>
      </p:sp>
      <p:sp>
        <p:nvSpPr>
          <p:cNvPr id="4102" name="TextBox 6"/>
          <p:cNvSpPr txBox="1">
            <a:spLocks noChangeArrowheads="1"/>
          </p:cNvSpPr>
          <p:nvPr/>
        </p:nvSpPr>
        <p:spPr bwMode="auto">
          <a:xfrm>
            <a:off x="3995738" y="5635625"/>
            <a:ext cx="180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sz="28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sz="2400">
                <a:solidFill>
                  <a:srgbClr val="0099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sz="2000">
                <a:solidFill>
                  <a:srgbClr val="FF66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sz="2000">
                <a:solidFill>
                  <a:srgbClr val="6666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sz="2000">
                <a:solidFill>
                  <a:srgbClr val="6666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sz="2000">
                <a:solidFill>
                  <a:srgbClr val="6666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sz="2000">
                <a:solidFill>
                  <a:srgbClr val="6666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sz="2000">
                <a:solidFill>
                  <a:srgbClr val="6666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2026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春</a:t>
            </a:r>
          </a:p>
        </p:txBody>
      </p:sp>
      <p:sp>
        <p:nvSpPr>
          <p:cNvPr id="4103" name="Text Box 8"/>
          <p:cNvSpPr txBox="1">
            <a:spLocks noChangeArrowheads="1"/>
          </p:cNvSpPr>
          <p:nvPr/>
        </p:nvSpPr>
        <p:spPr bwMode="auto">
          <a:xfrm>
            <a:off x="2051050" y="5132388"/>
            <a:ext cx="5473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sz="2800">
                <a:solidFill>
                  <a:srgbClr val="FF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sz="2400">
                <a:solidFill>
                  <a:srgbClr val="0099C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sz="2000">
                <a:solidFill>
                  <a:srgbClr val="FF66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sz="2000">
                <a:solidFill>
                  <a:srgbClr val="6666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sz="2000">
                <a:solidFill>
                  <a:srgbClr val="6666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sz="2000">
                <a:solidFill>
                  <a:srgbClr val="6666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sz="2000">
                <a:solidFill>
                  <a:srgbClr val="6666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sz="2000">
                <a:solidFill>
                  <a:srgbClr val="6666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  <a:defRPr/>
            </a:pPr>
            <a:r>
              <a:rPr lang="zh-CN" alt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哈尔滨工业大学计算机科学与技术学院</a:t>
            </a:r>
          </a:p>
        </p:txBody>
      </p:sp>
      <p:pic>
        <p:nvPicPr>
          <p:cNvPr id="4104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15888"/>
            <a:ext cx="2692400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维数灾难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PCA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LDA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Dimensionality Reduction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目的</a:t>
            </a:r>
            <a:r>
              <a:rPr lang="en-US" altLang="zh-CN" dirty="0"/>
              <a:t>Goal</a:t>
            </a:r>
          </a:p>
          <a:p>
            <a:pPr lvl="1"/>
            <a:r>
              <a:rPr lang="zh-CN" altLang="en-US" dirty="0"/>
              <a:t>将高维样本数据嵌入到低维空间中，并保留大部分的本质信息</a:t>
            </a:r>
            <a:endParaRPr lang="en-US" altLang="zh-CN" dirty="0"/>
          </a:p>
          <a:p>
            <a:pPr lvl="1"/>
            <a:r>
              <a:rPr lang="zh-CN" altLang="en-US" dirty="0"/>
              <a:t>可视化，分类，视觉，</a:t>
            </a:r>
            <a:r>
              <a:rPr lang="en-US" altLang="zh-CN" dirty="0"/>
              <a:t>NLP</a:t>
            </a:r>
          </a:p>
          <a:p>
            <a:r>
              <a:rPr lang="zh-CN" altLang="en-US" dirty="0"/>
              <a:t>分类</a:t>
            </a:r>
            <a:endParaRPr lang="en-US" altLang="zh-CN" dirty="0"/>
          </a:p>
          <a:p>
            <a:pPr lvl="1"/>
            <a:r>
              <a:rPr lang="zh-CN" altLang="en-US" dirty="0"/>
              <a:t>有监督的维数缩减：样本有类别标签</a:t>
            </a:r>
            <a:endParaRPr lang="en-US" altLang="zh-CN" dirty="0"/>
          </a:p>
          <a:p>
            <a:pPr lvl="2"/>
            <a:r>
              <a:rPr lang="zh-CN" altLang="en-US" dirty="0"/>
              <a:t>典型算法如</a:t>
            </a:r>
            <a:r>
              <a:rPr lang="en-US" altLang="zh-CN" dirty="0"/>
              <a:t>LDA</a:t>
            </a:r>
            <a:r>
              <a:rPr lang="zh-CN" altLang="en-US" dirty="0"/>
              <a:t>（</a:t>
            </a:r>
            <a:r>
              <a:rPr lang="en-US" altLang="zh-CN" dirty="0"/>
              <a:t>Linear Discriminant Analysis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无监督维数缩减：样本没有类别标签</a:t>
            </a:r>
            <a:endParaRPr lang="en-US" altLang="zh-CN" dirty="0"/>
          </a:p>
          <a:p>
            <a:pPr lvl="2"/>
            <a:r>
              <a:rPr lang="zh-CN" altLang="en-US" dirty="0"/>
              <a:t>典型算法如</a:t>
            </a:r>
            <a:r>
              <a:rPr lang="en-US" altLang="zh-CN" dirty="0"/>
              <a:t>PCA</a:t>
            </a:r>
            <a:r>
              <a:rPr lang="zh-CN" altLang="en-US" dirty="0"/>
              <a:t>（</a:t>
            </a:r>
            <a:r>
              <a:rPr lang="en-US" altLang="zh-CN" dirty="0"/>
              <a:t>Principle Component  Analysis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线性和非线性维数缩减</a:t>
            </a:r>
            <a:endParaRPr lang="en-US" altLang="zh-CN" dirty="0"/>
          </a:p>
          <a:p>
            <a:pPr lvl="2"/>
            <a:r>
              <a:rPr lang="en-US" altLang="zh-CN" dirty="0"/>
              <a:t>FDA: Fisher Discriminant Analysis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Dimensionality Reduction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35388"/>
            <a:ext cx="8568952" cy="5157936"/>
          </a:xfrm>
        </p:spPr>
        <p:txBody>
          <a:bodyPr/>
          <a:lstStyle/>
          <a:p>
            <a:r>
              <a:rPr lang="zh-CN" altLang="en-US" sz="1400" dirty="0"/>
              <a:t>主成分分析（</a:t>
            </a:r>
            <a:r>
              <a:rPr lang="en-US" altLang="zh-CN" sz="1400" dirty="0"/>
              <a:t>Principal Component </a:t>
            </a:r>
            <a:r>
              <a:rPr lang="en-US" altLang="zh-CN" sz="1400" dirty="0" err="1"/>
              <a:t>Analysis,PCA</a:t>
            </a:r>
            <a:r>
              <a:rPr lang="en-US" altLang="zh-CN" sz="1400" dirty="0"/>
              <a:t>)</a:t>
            </a:r>
          </a:p>
          <a:p>
            <a:r>
              <a:rPr lang="zh-CN" altLang="en-US" sz="1400" dirty="0"/>
              <a:t>线性判别分析（</a:t>
            </a:r>
            <a:r>
              <a:rPr lang="en-US" altLang="zh-CN" sz="1400" dirty="0"/>
              <a:t>Linear Discriminant </a:t>
            </a:r>
            <a:r>
              <a:rPr lang="en-US" altLang="zh-CN" sz="1400" dirty="0" err="1"/>
              <a:t>Analysis,LDA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r>
              <a:rPr lang="zh-CN" altLang="en-US" sz="1400" dirty="0"/>
              <a:t>等距映射（</a:t>
            </a:r>
            <a:r>
              <a:rPr lang="en-US" altLang="zh-CN" sz="1400" dirty="0" err="1"/>
              <a:t>Isomap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r>
              <a:rPr lang="zh-CN" altLang="en-US" sz="1400" dirty="0"/>
              <a:t>局部线性嵌入（</a:t>
            </a:r>
            <a:r>
              <a:rPr lang="en-US" altLang="zh-CN" sz="1400" dirty="0"/>
              <a:t>Locally Linear </a:t>
            </a:r>
            <a:r>
              <a:rPr lang="en-US" altLang="zh-CN" sz="1400" dirty="0" err="1"/>
              <a:t>Embedding,LLE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r>
              <a:rPr lang="en-US" altLang="zh-CN" sz="1400" dirty="0" err="1"/>
              <a:t>Laplacian</a:t>
            </a:r>
            <a:r>
              <a:rPr lang="en-US" altLang="zh-CN" sz="1400" dirty="0"/>
              <a:t> </a:t>
            </a:r>
            <a:r>
              <a:rPr lang="zh-CN" altLang="en-US" sz="1400" dirty="0"/>
              <a:t>特征映射（</a:t>
            </a:r>
            <a:r>
              <a:rPr lang="en-US" altLang="zh-CN" sz="1400" dirty="0" err="1"/>
              <a:t>Laplacian</a:t>
            </a:r>
            <a:r>
              <a:rPr lang="en-US" altLang="zh-CN" sz="1400" dirty="0"/>
              <a:t> </a:t>
            </a:r>
            <a:r>
              <a:rPr lang="en-US" altLang="zh-CN" sz="1400" dirty="0" err="1"/>
              <a:t>Eigenmaps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r>
              <a:rPr lang="zh-CN" altLang="en-US" sz="1400" dirty="0"/>
              <a:t>局部保留投影（</a:t>
            </a:r>
            <a:r>
              <a:rPr lang="en-US" altLang="zh-CN" sz="1400" dirty="0"/>
              <a:t>Local Preserving </a:t>
            </a:r>
            <a:r>
              <a:rPr lang="en-US" altLang="zh-CN" sz="1400" dirty="0" err="1"/>
              <a:t>Projection,LPP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r>
              <a:rPr lang="zh-CN" altLang="en-US" sz="1400" dirty="0"/>
              <a:t>局部切空间排列（</a:t>
            </a:r>
            <a:r>
              <a:rPr lang="en-US" altLang="zh-CN" sz="1400" dirty="0"/>
              <a:t>Local Tangent Space </a:t>
            </a:r>
            <a:r>
              <a:rPr lang="en-US" altLang="zh-CN" sz="1400" dirty="0" err="1"/>
              <a:t>Alignment,LTSA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r>
              <a:rPr lang="zh-CN" altLang="en-US" sz="1400" dirty="0"/>
              <a:t>最大方差展开（ </a:t>
            </a:r>
            <a:r>
              <a:rPr lang="en-US" altLang="zh-CN" sz="1400" dirty="0"/>
              <a:t>Maximum Variance </a:t>
            </a:r>
            <a:r>
              <a:rPr lang="en-US" altLang="zh-CN" sz="1400" dirty="0" err="1"/>
              <a:t>Unfolding,MVU</a:t>
            </a:r>
            <a:r>
              <a:rPr lang="zh-CN" altLang="en-US" sz="1400" dirty="0"/>
              <a:t>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7584" y="3506039"/>
          <a:ext cx="6096000" cy="334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算法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线性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全局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监督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时间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PCA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√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√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0.0321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LDA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√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√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√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0.0029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LPP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√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0.0966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Isomap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√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1.7073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LLE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0.2308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Laplacian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0.1393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LTSA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0.3190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MVU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√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1.2065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911752" y="3645024"/>
            <a:ext cx="223224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一组三维数据（</a:t>
            </a:r>
            <a:r>
              <a:rPr lang="en-US" altLang="zh-CN" sz="1400" dirty="0">
                <a:solidFill>
                  <a:srgbClr val="FF0000"/>
                </a:solidFill>
              </a:rPr>
              <a:t>900</a:t>
            </a:r>
            <a:r>
              <a:rPr lang="zh-CN" altLang="en-US" sz="1400" dirty="0">
                <a:solidFill>
                  <a:srgbClr val="FF0000"/>
                </a:solidFill>
              </a:rPr>
              <a:t>样本）降到一维，应用八种算法的时间对比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5508104" y="2439035"/>
            <a:ext cx="3414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http://www.cad.zju.edu.cn/home/dengcai/Data/DimensionReduction.html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08104" y="1772816"/>
            <a:ext cx="3414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34</a:t>
            </a:r>
            <a:r>
              <a:rPr lang="zh-CN" altLang="en-US" sz="1200" dirty="0">
                <a:solidFill>
                  <a:srgbClr val="FF0000"/>
                </a:solidFill>
              </a:rPr>
              <a:t>种降维技术的</a:t>
            </a:r>
            <a:r>
              <a:rPr lang="en-US" altLang="zh-CN" sz="1200" dirty="0" err="1">
                <a:solidFill>
                  <a:srgbClr val="FF0000"/>
                </a:solidFill>
              </a:rPr>
              <a:t>matlab</a:t>
            </a:r>
            <a:r>
              <a:rPr lang="zh-CN" altLang="en-US" sz="1200">
                <a:solidFill>
                  <a:srgbClr val="FF0000"/>
                </a:solidFill>
              </a:rPr>
              <a:t>工具箱</a:t>
            </a:r>
            <a:r>
              <a:rPr lang="en-US" altLang="zh-CN" sz="1200">
                <a:solidFill>
                  <a:srgbClr val="FF0000"/>
                </a:solidFill>
              </a:rPr>
              <a:t>https</a:t>
            </a:r>
            <a:r>
              <a:rPr lang="en-US" altLang="zh-CN" sz="1200" dirty="0">
                <a:solidFill>
                  <a:srgbClr val="FF0000"/>
                </a:solidFill>
              </a:rPr>
              <a:t>://lvdmaaten.github.io/drtoolbox/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基本概念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样本空间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𝑀</m:t>
                    </m:r>
                    <m:r>
                      <a:rPr lang="en-US" altLang="zh-CN" b="0" i="1" smtClean="0">
                        <a:latin typeface="Cambria Math"/>
                      </a:rPr>
                      <m:t>⊂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𝑑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假设向量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∈</m:t>
                    </m:r>
                    <m:r>
                      <a:rPr lang="en-US" altLang="zh-CN" b="0" i="1" smtClean="0">
                        <a:latin typeface="Cambria Math"/>
                      </a:rPr>
                      <m:t>𝑀</m:t>
                    </m:r>
                    <m:r>
                      <a:rPr lang="en-US" altLang="zh-CN" b="0" i="1" smtClean="0">
                        <a:latin typeface="Cambria Math"/>
                      </a:rPr>
                      <m:t>⊂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𝑑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,</m:t>
                    </m:r>
                    <m:r>
                      <a:rPr lang="en-US" altLang="zh-CN" b="0" i="1" smtClean="0">
                        <a:latin typeface="Cambria Math"/>
                      </a:rPr>
                      <m:t>𝑖</m:t>
                    </m:r>
                    <m:r>
                      <a:rPr lang="en-US" altLang="zh-CN" b="0" i="1" smtClean="0">
                        <a:latin typeface="Cambria Math"/>
                      </a:rPr>
                      <m:t>=1,2⋯</m:t>
                    </m:r>
                    <m:r>
                      <a:rPr lang="en-US" altLang="zh-CN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/>
                      </a:rPr>
                      <m:t>𝑑</m:t>
                    </m:r>
                  </m:oMath>
                </a14:m>
                <a:r>
                  <a:rPr lang="zh-CN" altLang="en-US" dirty="0"/>
                  <a:t>表示向量的维数，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zh-CN" altLang="en-US" dirty="0"/>
                  <a:t>表示向量的个数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这均是从总体中获得的观察值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测量值</a:t>
                </a:r>
                <a:r>
                  <a:rPr lang="en-US" altLang="zh-CN" dirty="0"/>
                  <a:t>)</a:t>
                </a:r>
              </a:p>
              <a:p>
                <a:r>
                  <a:rPr lang="zh-CN" altLang="en-US" dirty="0"/>
                  <a:t>在总体空间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𝑀</m:t>
                    </m:r>
                  </m:oMath>
                </a14:m>
                <a:r>
                  <a:rPr lang="zh-CN" altLang="en-US" dirty="0"/>
                  <a:t>中，均值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𝜇</m:t>
                    </m:r>
                    <m:r>
                      <a:rPr lang="en-US" altLang="zh-CN" b="0" i="1" dirty="0" smtClean="0">
                        <a:latin typeface="Cambria Math"/>
                      </a:rPr>
                      <m:t>,</m:t>
                    </m:r>
                  </m:oMath>
                </a14:m>
                <a:r>
                  <a:rPr lang="zh-CN" altLang="en-US" dirty="0"/>
                  <a:t>方差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样本均值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n-US" altLang="zh-CN" b="0" i="1" dirty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dirty="0" smtClean="0"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方差</a:t>
                </a:r>
                <a:r>
                  <a:rPr lang="en-US" altLang="zh-CN" dirty="0"/>
                  <a:t>(variance):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b="0" i="1" smtClean="0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US" altLang="zh-CN" b="0" i="1" smtClean="0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如何由样本的情况来估计总体的情况？如果研究样本空间中各维度之间的关系？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773" r="-214" b="-83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基本概念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/>
                  <a:t>假设总体空间为一组随机变量形成的空间，根据观察到的样本来对总体空间的随机变量进行研究</a:t>
                </a:r>
                <a:endParaRPr lang="en-US" altLang="zh-CN" sz="2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CN" sz="2400" b="0" i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/>
                          </a:rPr>
                          <m:t>𝑛</m:t>
                        </m:r>
                      </m:sup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𝐸</m:t>
                        </m:r>
                        <m:r>
                          <a:rPr lang="en-US" altLang="zh-CN" sz="2400" b="0" i="1" smtClean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/>
                          </a:rPr>
                          <m:t>)</m:t>
                        </m:r>
                      </m:e>
                    </m:nary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</a:rPr>
                      <m:t>𝜇</m:t>
                    </m:r>
                  </m:oMath>
                </a14:m>
                <a:endParaRPr lang="en-US" altLang="zh-CN" sz="24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</a:rPr>
                      <m:t>𝑣𝑎𝑟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</a:rPr>
                      <m:t>𝐷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CN" sz="2400" b="0" i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/>
                          </a:rPr>
                          <m:t>𝑛</m:t>
                        </m:r>
                      </m:sup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𝐷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b="0" i="1" smtClean="0"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𝑛</m:t>
                            </m:r>
                          </m:den>
                        </m:f>
                      </m:e>
                    </m:nary>
                  </m:oMath>
                </a14:m>
                <a:endParaRPr lang="en-US" altLang="zh-CN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𝑛</m:t>
                            </m:r>
                          </m:den>
                        </m:f>
                        <m:r>
                          <a:rPr lang="en-US" altLang="zh-CN" sz="2400" b="0" i="1" smtClean="0">
                            <a:latin typeface="Cambria Math"/>
                          </a:rPr>
                          <m:t>∑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/>
                          </a:rPr>
                          <m:t>𝑛</m:t>
                        </m:r>
                      </m:den>
                    </m:f>
                    <m:r>
                      <a:rPr lang="en-US" altLang="zh-CN" sz="2400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CN" sz="2400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  <m:acc>
                                  <m:accPr>
                                    <m:chr m:val="̅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</a:rPr>
                              <m:t> 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/>
                          </a:rPr>
                          <m:t>𝑛</m:t>
                        </m:r>
                      </m:den>
                    </m:f>
                    <m:r>
                      <a:rPr lang="en-US" altLang="zh-CN" sz="2400" b="0" i="1" smtClean="0">
                        <a:latin typeface="Cambria Math"/>
                      </a:rPr>
                      <m:t>∑</m:t>
                    </m:r>
                    <m:r>
                      <a:rPr lang="en-US" altLang="zh-CN" sz="2400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zh-CN" sz="2400" b="0" i="1" smtClean="0">
                        <a:latin typeface="Cambria Math"/>
                      </a:rPr>
                      <m:t>−</m:t>
                    </m:r>
                    <m:r>
                      <a:rPr lang="en-US" altLang="zh-CN" sz="2400" b="0" i="1" smtClean="0">
                        <a:latin typeface="Cambria Math"/>
                      </a:rPr>
                      <m:t>𝐸</m:t>
                    </m:r>
                    <m:r>
                      <a:rPr lang="en-US" altLang="zh-CN" sz="2400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US" altLang="zh-CN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CN" sz="24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/>
                          </a:rPr>
                          <m:t>𝑛</m:t>
                        </m:r>
                      </m:sup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  <m:r>
                          <a:rPr lang="en-US" altLang="zh-CN" sz="2400" b="0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altLang="zh-CN" sz="2400" b="0" i="1" smtClean="0"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altLang="zh-CN" sz="2400" b="0" i="1" smtClean="0"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𝑛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2400" b="0" dirty="0"/>
              </a:p>
              <a:p>
                <a:pPr lvl="1"/>
                <a:r>
                  <a:rPr lang="zh-CN" altLang="en-US" sz="2400" dirty="0"/>
                  <a:t>因此，样本方差的期望并不是无偏的，比总体的方差要小一些，为了达到与总体方差一样的效果，那就在样本方差前再乘上</a:t>
                </a:r>
                <a14:m>
                  <m:oMath xmlns:m="http://schemas.openxmlformats.org/officeDocument/2006/math">
                    <m:d>
                      <m:dPr>
                        <m:begChr m:val="（"/>
                        <m:endChr m:val="）"/>
                        <m:ctrlPr>
                          <a:rPr lang="zh-CN" alt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dirty="0" smtClean="0">
                                <a:latin typeface="Cambria Math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400" b="0" i="1" dirty="0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en-US" altLang="zh-CN" sz="2400" b="0" i="1" dirty="0" smtClean="0">
                                <a:latin typeface="Cambria Math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b="0" dirty="0"/>
                  <a:t>,</a:t>
                </a:r>
                <a:r>
                  <a:rPr lang="zh-CN" altLang="en-US" sz="2400" b="0" dirty="0"/>
                  <a:t>这时候就有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latin typeface="Cambria Math"/>
                              </a:rPr>
                              <m:t>−1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dirty="0"/>
                  <a:t>,</a:t>
                </a:r>
                <a:r>
                  <a:rPr lang="zh-CN" altLang="en-US" sz="2400" b="0" dirty="0"/>
                  <a:t>即得到结果</a:t>
                </a:r>
                <a:endParaRPr lang="en-US" altLang="zh-CN" sz="2400" b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182" r="-854" b="-70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基本概念</a:t>
            </a:r>
            <a:r>
              <a:rPr lang="en-US" altLang="zh-CN" dirty="0"/>
              <a:t>(</a:t>
            </a:r>
            <a:r>
              <a:rPr lang="zh-CN" altLang="en-US" dirty="0"/>
              <a:t>注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设样本均值，样本方差，总体均值，总体方差，如下公式</a:t>
            </a:r>
          </a:p>
        </p:txBody>
      </p:sp>
      <p:sp>
        <p:nvSpPr>
          <p:cNvPr id="4" name="AutoShape 2" descr="https://img-blog.csdn.net/20170905232955708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" name="AutoShape 4" descr="https://img-blog.csdn.net/20170905232955708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035" y="1939305"/>
            <a:ext cx="2486025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1" y="3041737"/>
            <a:ext cx="3887991" cy="2858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52" y="2879998"/>
            <a:ext cx="5194732" cy="319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AutoShape 9" descr="https://img-blog.csdn.net/20170905235354241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105" y="6137146"/>
            <a:ext cx="2714625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Down Arrow 6"/>
          <p:cNvSpPr/>
          <p:nvPr/>
        </p:nvSpPr>
        <p:spPr bwMode="auto">
          <a:xfrm>
            <a:off x="6382402" y="5733256"/>
            <a:ext cx="288032" cy="403890"/>
          </a:xfrm>
          <a:prstGeom prst="downArrow">
            <a:avLst/>
          </a:prstGeom>
          <a:solidFill>
            <a:srgbClr val="9933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Left Arrow 7"/>
          <p:cNvSpPr/>
          <p:nvPr/>
        </p:nvSpPr>
        <p:spPr bwMode="auto">
          <a:xfrm>
            <a:off x="4355976" y="6399445"/>
            <a:ext cx="648072" cy="180251"/>
          </a:xfrm>
          <a:prstGeom prst="leftArrow">
            <a:avLst/>
          </a:prstGeom>
          <a:solidFill>
            <a:srgbClr val="9933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4" y="6075442"/>
            <a:ext cx="4114428" cy="75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基本概念（注）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方差一般指一维情况，因此一般针对向量而言，向量可以看作是随机变量的各种采样值</a:t>
                </a:r>
                <a:endParaRPr lang="en-US" altLang="zh-CN" dirty="0"/>
              </a:p>
              <a:p>
                <a:r>
                  <a:rPr lang="zh-CN" altLang="en-US" dirty="0"/>
                  <a:t>协方差一般指变量与变量之间，例如一个样本，含有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维，则这两维分别可以看作是一个随机变量，对其进行采样，就得到很多二维向量，这两个二维向量之间的关系可以采用协方差进行衡量</a:t>
                </a:r>
                <a:endParaRPr lang="en-US" altLang="zh-CN" dirty="0"/>
              </a:p>
              <a:p>
                <a:r>
                  <a:rPr lang="zh-CN" altLang="en-US" dirty="0"/>
                  <a:t>如果一个样本含有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𝑑</m:t>
                    </m:r>
                  </m:oMath>
                </a14:m>
                <a:r>
                  <a:rPr lang="zh-CN" altLang="en-US" dirty="0"/>
                  <a:t>维变量，则很多样本放在一块，就可以统计这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𝑑</m:t>
                    </m:r>
                  </m:oMath>
                </a14:m>
                <a:r>
                  <a:rPr lang="zh-CN" altLang="en-US" dirty="0"/>
                  <a:t>维变量之间的相关性，从而产生协方差矩阵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/>
                      </a:rPr>
                      <m:t>Σ</m:t>
                    </m:r>
                  </m:oMath>
                </a14:m>
                <a:r>
                  <a:rPr lang="zh-CN" altLang="en-US" dirty="0"/>
                  <a:t>，维数为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𝑑</m:t>
                    </m:r>
                    <m:r>
                      <a:rPr lang="en-US" altLang="zh-CN" b="0" i="1" smtClean="0">
                        <a:latin typeface="Cambria Math"/>
                      </a:rPr>
                      <m:t>×</m:t>
                    </m:r>
                    <m:r>
                      <a:rPr lang="en-US" altLang="zh-CN" b="0" i="1" smtClean="0">
                        <a:latin typeface="Cambria Math"/>
                      </a:rPr>
                      <m:t>𝑑</m:t>
                    </m:r>
                  </m:oMath>
                </a14:m>
                <a:r>
                  <a:rPr lang="zh-CN" altLang="en-US" dirty="0"/>
                  <a:t>维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537" r="-1210" b="-35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Dimensionality Reduction</a:t>
            </a:r>
            <a:endParaRPr lang="zh-CN" altLang="en-US" dirty="0"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1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ea typeface="宋体" panose="02010600030101010101" pitchFamily="2" charset="-122"/>
                  </a:rPr>
                  <a:t>矩阵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  <a:ea typeface="宋体" panose="02010600030101010101" pitchFamily="2" charset="-122"/>
                      </a:rPr>
                      <m:t>𝑀</m:t>
                    </m:r>
                  </m:oMath>
                </a14:m>
                <a:r>
                  <a:rPr lang="zh-CN" altLang="en-US" dirty="0">
                    <a:ea typeface="宋体" panose="02010600030101010101" pitchFamily="2" charset="-122"/>
                  </a:rPr>
                  <a:t>为方阵，若非零向量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  <a:ea typeface="宋体" panose="02010600030101010101" pitchFamily="2" charset="-122"/>
                      </a:rPr>
                      <m:t>𝑥</m:t>
                    </m:r>
                    <m:r>
                      <a:rPr lang="en-US" altLang="zh-CN" b="0" i="1" smtClean="0">
                        <a:latin typeface="Cambria Math"/>
                        <a:ea typeface="宋体" panose="02010600030101010101" pitchFamily="2" charset="-122"/>
                      </a:rPr>
                      <m:t>:</m:t>
                    </m:r>
                    <m:r>
                      <a:rPr lang="en-US" altLang="zh-CN" b="0" i="1" smtClean="0">
                        <a:latin typeface="Cambria Math"/>
                        <a:ea typeface="宋体" panose="02010600030101010101" pitchFamily="2" charset="-122"/>
                      </a:rPr>
                      <m:t>𝑀𝑥</m:t>
                    </m:r>
                    <m:r>
                      <a:rPr lang="en-US" altLang="zh-CN" b="0" i="1" smtClean="0">
                        <a:latin typeface="Cambria Math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b="0" i="1" smtClean="0">
                        <a:latin typeface="Cambria Math"/>
                        <a:ea typeface="宋体" panose="02010600030101010101" pitchFamily="2" charset="-122"/>
                      </a:rPr>
                      <m:t>𝜆</m:t>
                    </m:r>
                    <m:r>
                      <a:rPr lang="en-US" altLang="zh-CN" b="0" i="1" smtClean="0">
                        <a:latin typeface="Cambria Math"/>
                        <a:ea typeface="宋体" panose="02010600030101010101" pitchFamily="2" charset="-122"/>
                      </a:rPr>
                      <m:t>𝑥</m:t>
                    </m:r>
                  </m:oMath>
                </a14:m>
                <a:r>
                  <a:rPr lang="en-US" altLang="zh-CN" dirty="0">
                    <a:ea typeface="宋体" panose="02010600030101010101" pitchFamily="2" charset="-122"/>
                  </a:rPr>
                  <a:t>,</a:t>
                </a:r>
                <a:r>
                  <a:rPr lang="zh-CN" altLang="en-US" dirty="0">
                    <a:ea typeface="宋体" panose="02010600030101010101" pitchFamily="2" charset="-122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  <a:ea typeface="宋体" panose="02010600030101010101" pitchFamily="2" charset="-122"/>
                      </a:rPr>
                      <m:t>𝑥</m:t>
                    </m:r>
                    <m:r>
                      <a:rPr lang="en-US" altLang="zh-CN" b="0" i="1" smtClean="0">
                        <a:latin typeface="Cambria Math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b="0" i="1" smtClean="0">
                        <a:latin typeface="Cambria Math"/>
                        <a:ea typeface="宋体" panose="02010600030101010101" pitchFamily="2" charset="-122"/>
                      </a:rPr>
                      <m:t>𝜆</m:t>
                    </m:r>
                  </m:oMath>
                </a14:m>
                <a:r>
                  <a:rPr lang="zh-CN" altLang="en-US" dirty="0">
                    <a:ea typeface="宋体" panose="02010600030101010101" pitchFamily="2" charset="-122"/>
                  </a:rPr>
                  <a:t>分别为矩阵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  <a:ea typeface="宋体" panose="02010600030101010101" pitchFamily="2" charset="-122"/>
                      </a:rPr>
                      <m:t>𝑀</m:t>
                    </m:r>
                  </m:oMath>
                </a14:m>
                <a:r>
                  <a:rPr lang="zh-CN" altLang="en-US" dirty="0">
                    <a:ea typeface="宋体" panose="02010600030101010101" pitchFamily="2" charset="-122"/>
                  </a:rPr>
                  <a:t>对应的特征值和特征向量</a:t>
                </a:r>
                <a:r>
                  <a:rPr lang="en-US" altLang="zh-CN" dirty="0">
                    <a:ea typeface="宋体" panose="02010600030101010101" pitchFamily="2" charset="-122"/>
                  </a:rPr>
                  <a:t>(eigenvalue, eigenvector)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  <a:ea typeface="宋体" panose="02010600030101010101" pitchFamily="2" charset="-122"/>
                      </a:rPr>
                      <m:t>𝑀</m:t>
                    </m:r>
                    <m:r>
                      <a:rPr lang="en-US" altLang="zh-CN" b="0" i="1" smtClean="0">
                        <a:latin typeface="Cambria Math"/>
                        <a:ea typeface="宋体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/>
                                  <a:ea typeface="宋体" panose="02010600030101010101" pitchFamily="2" charset="-122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  <a:ea typeface="宋体" panose="02010600030101010101" pitchFamily="2" charset="-122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>
                    <a:ea typeface="宋体" panose="02010600030101010101" pitchFamily="2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dirty="0" smtClean="0">
                        <a:latin typeface="Cambria Math"/>
                        <a:ea typeface="宋体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b="0" i="1" dirty="0" smtClean="0">
                                      <a:latin typeface="Cambria Math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b="0" i="1" dirty="0" smtClean="0">
                                          <a:latin typeface="Cambria Math"/>
                                          <a:ea typeface="宋体" panose="02010600030101010101" pitchFamily="2" charset="-122"/>
                                        </a:rPr>
                                        <m:t>5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dirty="0" smtClean="0">
                                      <a:latin typeface="Cambria Math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b="0" i="1" dirty="0" smtClean="0">
                                          <a:latin typeface="Cambria Math"/>
                                          <a:ea typeface="宋体" panose="02010600030101010101" pitchFamily="2" charset="-122"/>
                                        </a:rPr>
                                        <m:t>5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>
                    <a:ea typeface="宋体" panose="02010600030101010101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𝜆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_1=7</m:t>
                    </m:r>
                  </m:oMath>
                </a14:m>
                <a:endParaRPr lang="en-US" altLang="zh-CN" dirty="0">
                  <a:ea typeface="宋体" panose="02010600030101010101" pitchFamily="2" charset="-122"/>
                </a:endParaRPr>
              </a:p>
              <a:p>
                <a:pPr lvl="1"/>
                <a:r>
                  <a:rPr lang="zh-CN" altLang="en-US" dirty="0">
                    <a:ea typeface="宋体" panose="02010600030101010101" pitchFamily="2" charset="-122"/>
                  </a:rPr>
                  <a:t>一般特征向量第一个值为正，并且归一化范数为</a:t>
                </a:r>
                <a:r>
                  <a:rPr lang="en-US" altLang="zh-CN" dirty="0">
                    <a:ea typeface="宋体" panose="02010600030101010101" pitchFamily="2" charset="-122"/>
                  </a:rPr>
                  <a:t>1</a:t>
                </a:r>
              </a:p>
            </p:txBody>
          </p:sp>
        </mc:Choice>
        <mc:Fallback xmlns="">
          <p:sp>
            <p:nvSpPr>
              <p:cNvPr id="7171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8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𝐴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/>
                      </a:rPr>
                      <m:t>𝑥</m:t>
                    </m:r>
                    <m:r>
                      <a:rPr lang="en-US" altLang="zh-CN" b="0" i="1" dirty="0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CN" b="0" i="1" dirty="0" smtClean="0">
                        <a:latin typeface="Cambria Math"/>
                      </a:rPr>
                      <m:t>,</m:t>
                    </m:r>
                    <m:sSubSup>
                      <m:sSub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en-US" altLang="zh-CN" b="0" i="1" dirty="0" smtClean="0">
                        <a:latin typeface="Cambria Math"/>
                      </a:rPr>
                      <m:t>+</m:t>
                    </m:r>
                    <m:sSubSup>
                      <m:sSub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/>
                          </a:rPr>
                          <m:t>2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en-US" altLang="zh-CN" b="0" i="1" dirty="0" smtClean="0">
                        <a:latin typeface="Cambria Math"/>
                      </a:rPr>
                      <m:t>=1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𝐴𝑥</m:t>
                    </m:r>
                  </m:oMath>
                </a14:m>
                <a:r>
                  <a:rPr lang="zh-CN" altLang="en-US" dirty="0"/>
                  <a:t>会发生什么现象？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pic>
        <p:nvPicPr>
          <p:cNvPr id="1026" name="Picture 2" descr="http://static.oschina.net/uploads/space/2015/1124/131008_WTet_1047422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840360"/>
            <a:ext cx="64770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计算特征值和特征向量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传统方法：解特征方程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𝑀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𝜆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𝐸</m:t>
                        </m:r>
                      </m:e>
                    </m:d>
                    <m:r>
                      <a:rPr lang="en-US" altLang="zh-CN" b="0" i="1" smtClean="0">
                        <a:latin typeface="Cambria Math"/>
                      </a:rPr>
                      <m:t>𝑥</m:t>
                    </m:r>
                    <m:r>
                      <a:rPr lang="en-US" altLang="zh-CN" b="0" i="1" smtClean="0">
                        <a:latin typeface="Cambria Math"/>
                      </a:rPr>
                      <m:t>=0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计算方法：采用不动点定理，与马尔科夫中的概率转移矩阵类似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𝑀</m:t>
                    </m:r>
                  </m:oMath>
                </a14:m>
                <a:r>
                  <a:rPr lang="zh-CN" altLang="en-US" dirty="0"/>
                  <a:t>是一个随机矩阵，其极限向量为主特征向量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对应最大的特征值</a:t>
                </a:r>
                <a:r>
                  <a:rPr lang="en-US" altLang="zh-CN" dirty="0"/>
                  <a:t>1)</a:t>
                </a:r>
              </a:p>
              <a:p>
                <a:pPr lvl="1"/>
                <a:r>
                  <a:rPr lang="zh-CN" altLang="en-US" dirty="0"/>
                  <a:t>幂迭代</a:t>
                </a:r>
                <a:r>
                  <a:rPr lang="en-US" altLang="zh-CN" dirty="0"/>
                  <a:t>(Power iteration)</a:t>
                </a:r>
                <a:r>
                  <a:rPr lang="zh-CN" altLang="en-US" dirty="0"/>
                  <a:t>如果主特征值不为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，随着迭代次数增加，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+1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𝑣</m:t>
                    </m:r>
                    <m:r>
                      <a:rPr lang="en-US" altLang="zh-CN" b="0" i="1" smtClean="0">
                        <a:latin typeface="Cambria Math"/>
                      </a:rPr>
                      <m:t>/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𝑖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𝑣</m:t>
                    </m:r>
                  </m:oMath>
                </a14:m>
                <a:r>
                  <a:rPr lang="zh-CN" altLang="en-US" dirty="0"/>
                  <a:t>逼近主特征值，而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𝑖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𝑣</m:t>
                    </m:r>
                    <m:r>
                      <a:rPr lang="en-US" altLang="zh-CN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zh-CN" altLang="en-US" dirty="0"/>
                  <a:t>则逼近主特征向量同方向的可能并不是单位向量的向量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5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特征值和特征向量的计算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295400"/>
                <a:ext cx="8587680" cy="522994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</a:rPr>
                      <m:t>×</m:t>
                    </m:r>
                    <m:r>
                      <a:rPr lang="en-US" altLang="zh-CN" sz="24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zh-CN" altLang="en-US" sz="2400" dirty="0"/>
                  <a:t>对称矩阵的所有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zh-CN" altLang="en-US" sz="2400" dirty="0"/>
                  <a:t>个特征值及特征向量对可通过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</a:rPr>
                      <m:t>𝑂</m:t>
                    </m:r>
                    <m:r>
                      <a:rPr lang="en-US" altLang="zh-CN" sz="2400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2400" dirty="0"/>
                  <a:t>运行时间精确计算出来</a:t>
                </a:r>
                <a:endParaRPr lang="en-US" altLang="zh-CN" sz="2400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/>
                          </a:rPr>
                          <m:t>𝑀</m:t>
                        </m:r>
                        <m:r>
                          <a:rPr lang="en-US" altLang="zh-CN" sz="2000" i="1">
                            <a:latin typeface="Cambria Math"/>
                          </a:rPr>
                          <m:t>−</m:t>
                        </m:r>
                        <m:r>
                          <a:rPr lang="en-US" altLang="zh-CN" sz="2000" i="1">
                            <a:latin typeface="Cambria Math"/>
                          </a:rPr>
                          <m:t>𝜆</m:t>
                        </m:r>
                        <m:r>
                          <a:rPr lang="en-US" altLang="zh-CN" sz="2000" i="1">
                            <a:latin typeface="Cambria Math"/>
                          </a:rPr>
                          <m:t>𝐸</m:t>
                        </m:r>
                      </m:e>
                    </m:d>
                    <m:r>
                      <a:rPr lang="en-US" altLang="zh-CN" sz="2000" i="1">
                        <a:latin typeface="Cambria Math"/>
                      </a:rPr>
                      <m:t>𝑥</m:t>
                    </m:r>
                    <m:r>
                      <a:rPr lang="en-US" altLang="zh-CN" sz="2000" i="1">
                        <a:latin typeface="Cambria Math"/>
                      </a:rPr>
                      <m:t>=0</m:t>
                    </m:r>
                  </m:oMath>
                </a14:m>
                <a:r>
                  <a:rPr lang="zh-CN" altLang="en-US" sz="2000" dirty="0"/>
                  <a:t>，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000" b="0" i="1" dirty="0" smtClean="0">
                        <a:latin typeface="Cambria Math"/>
                      </a:rPr>
                      <m:t>|</m:t>
                    </m:r>
                    <m:r>
                      <a:rPr lang="en-US" altLang="zh-CN" sz="2000" i="1">
                        <a:latin typeface="Cambria Math"/>
                      </a:rPr>
                      <m:t>𝑀</m:t>
                    </m:r>
                    <m:r>
                      <a:rPr lang="en-US" altLang="zh-CN" sz="2000" i="1">
                        <a:latin typeface="Cambria Math"/>
                      </a:rPr>
                      <m:t>−</m:t>
                    </m:r>
                    <m:r>
                      <a:rPr lang="en-US" altLang="zh-CN" sz="2000" i="1">
                        <a:latin typeface="Cambria Math"/>
                      </a:rPr>
                      <m:t>𝜆</m:t>
                    </m:r>
                    <m:r>
                      <a:rPr lang="en-US" altLang="zh-CN" sz="2000" i="1">
                        <a:latin typeface="Cambria Math"/>
                      </a:rPr>
                      <m:t>𝐸</m:t>
                    </m:r>
                    <m:r>
                      <m:rPr>
                        <m:lit/>
                      </m:rPr>
                      <a:rPr lang="en-US" altLang="zh-CN" sz="2000" b="0" i="1" dirty="0" smtClean="0">
                        <a:latin typeface="Cambria Math"/>
                      </a:rPr>
                      <m:t>|</m:t>
                    </m:r>
                    <m:r>
                      <a:rPr lang="en-US" altLang="zh-CN" sz="2000" b="0" i="1" dirty="0" smtClean="0">
                        <a:latin typeface="Cambria Math"/>
                      </a:rPr>
                      <m:t>=0</m:t>
                    </m:r>
                  </m:oMath>
                </a14:m>
                <a:endParaRPr lang="en-US" altLang="zh-CN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</a:rPr>
                      <m:t>𝑀</m:t>
                    </m:r>
                    <m:r>
                      <a:rPr lang="en-US" altLang="zh-CN" sz="2000" i="1">
                        <a:latin typeface="Cambria Math"/>
                      </a:rPr>
                      <m:t>−</m:t>
                    </m:r>
                    <m:r>
                      <a:rPr lang="en-US" altLang="zh-CN" sz="2000" i="1">
                        <a:latin typeface="Cambria Math"/>
                      </a:rPr>
                      <m:t>𝜆</m:t>
                    </m:r>
                    <m:r>
                      <a:rPr lang="en-US" altLang="zh-CN" sz="2000" i="1">
                        <a:latin typeface="Cambria Math"/>
                      </a:rPr>
                      <m:t>𝐸</m:t>
                    </m:r>
                  </m:oMath>
                </a14:m>
                <a:r>
                  <a:rPr lang="en-US" altLang="zh-CN" sz="2000" dirty="0"/>
                  <a:t>: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i="1">
                                  <a:latin typeface="Cambria Math"/>
                                  <a:ea typeface="宋体" panose="02010600030101010101" pitchFamily="2" charset="-122"/>
                                </a:rPr>
                                <m:t>3</m:t>
                              </m:r>
                              <m:r>
                                <a:rPr lang="en-US" altLang="zh-CN" sz="2000" b="0" i="1" smtClean="0">
                                  <a:latin typeface="Cambria Math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latin typeface="Cambria Math"/>
                                  <a:ea typeface="宋体" panose="02010600030101010101" pitchFamily="2" charset="-122"/>
                                </a:rPr>
                                <m:t>𝜆</m:t>
                              </m:r>
                            </m:e>
                            <m:e>
                              <m:r>
                                <a:rPr lang="en-US" altLang="zh-CN" sz="2000" i="1">
                                  <a:latin typeface="Cambria Math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i="1">
                                  <a:latin typeface="Cambria Math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000" i="1">
                                  <a:latin typeface="Cambria Math"/>
                                  <a:ea typeface="宋体" panose="02010600030101010101" pitchFamily="2" charset="-122"/>
                                </a:rPr>
                                <m:t>6</m:t>
                              </m:r>
                              <m:r>
                                <a:rPr lang="en-US" altLang="zh-CN" sz="2000" b="0" i="1" smtClean="0">
                                  <a:latin typeface="Cambria Math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latin typeface="Cambria Math"/>
                                  <a:ea typeface="宋体" panose="02010600030101010101" pitchFamily="2" charset="-122"/>
                                </a:rPr>
                                <m:t>𝜆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000" b="0" i="1" smtClean="0">
                        <a:latin typeface="Cambria Math"/>
                        <a:ea typeface="宋体" panose="02010600030101010101" pitchFamily="2" charset="-122"/>
                      </a:rPr>
                      <m:t>⇒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宋体" panose="0201060003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  <a:ea typeface="宋体" panose="02010600030101010101" pitchFamily="2" charset="-122"/>
                      </a:rPr>
                      <m:t>=7,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宋体" panose="0201060003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  <a:ea typeface="宋体" panose="02010600030101010101" pitchFamily="2" charset="-122"/>
                      </a:rPr>
                      <m:t>=2</m:t>
                    </m:r>
                  </m:oMath>
                </a14:m>
                <a:endParaRPr lang="en-US" altLang="zh-CN" sz="2000" dirty="0"/>
              </a:p>
              <a:p>
                <a:r>
                  <a:rPr lang="zh-CN" altLang="en-US" sz="2800" dirty="0"/>
                  <a:t>主元凝集法</a:t>
                </a:r>
                <a:r>
                  <a:rPr lang="en-US" altLang="zh-CN" sz="2800" dirty="0"/>
                  <a:t>(Pivotal condensation)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/>
                          </a:rPr>
                          <m:t>×</m:t>
                        </m:r>
                        <m:r>
                          <a:rPr lang="en-US" altLang="zh-CN" sz="2400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dirty="0" smtClean="0">
                                    <a:latin typeface="Cambria Math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zh-CN" sz="2400" b="0" i="1" dirty="0" smtClean="0">
                                    <a:latin typeface="Cambria Math"/>
                                  </a:rPr>
                                  <m:t>22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</a:rPr>
                          <m:t>𝑟</m:t>
                        </m:r>
                        <m:r>
                          <a:rPr lang="en-US" altLang="zh-CN" sz="2400" b="0" i="1" dirty="0" smtClean="0">
                            <a:latin typeface="Cambria Math"/>
                          </a:rPr>
                          <m:t>×</m:t>
                        </m:r>
                        <m:r>
                          <a:rPr lang="en-US" altLang="zh-CN" sz="2400" b="0" i="1" dirty="0" smtClean="0">
                            <a:latin typeface="Cambria Math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sz="2400" dirty="0"/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</a:rPr>
                      <m:t>1≤</m:t>
                    </m:r>
                    <m:r>
                      <a:rPr lang="en-US" altLang="zh-CN" sz="2400" b="0" i="1" dirty="0" smtClean="0">
                        <a:latin typeface="Cambria Math"/>
                      </a:rPr>
                      <m:t>𝑟</m:t>
                    </m:r>
                    <m:r>
                      <a:rPr lang="en-US" altLang="zh-CN" sz="2400" b="0" i="1" dirty="0" smtClean="0">
                        <a:latin typeface="Cambria Math"/>
                      </a:rPr>
                      <m:t>&lt;</m:t>
                    </m:r>
                    <m:r>
                      <a:rPr lang="en-US" altLang="zh-CN" sz="2400" b="0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altLang="zh-CN" sz="2400" dirty="0"/>
                  <a:t>,</a:t>
                </a:r>
                <a:r>
                  <a:rPr lang="zh-CN" altLang="en-US" sz="2400" dirty="0"/>
                  <a:t>假设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22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zh-CN" altLang="en-US" sz="2400" dirty="0"/>
                  <a:t>存在</a:t>
                </a:r>
                <a:endParaRPr lang="en-US" altLang="zh-CN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</a:rPr>
                      <m:t>𝑀</m:t>
                    </m:r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/>
                                </a:rPr>
                                <m:t>𝐼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12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𝐼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1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/>
                                </a:rPr>
                                <m:t>𝐼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−1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𝐼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295400"/>
                <a:ext cx="8587680" cy="5229944"/>
              </a:xfrm>
              <a:blipFill>
                <a:blip r:embed="rId2"/>
                <a:stretch>
                  <a:fillRect t="-9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特征值和特征向量的计算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400" dirty="0"/>
                  <a:t>主元凝集法</a:t>
                </a:r>
                <a:r>
                  <a:rPr lang="en-US" altLang="zh-CN" sz="2400" dirty="0"/>
                  <a:t>(Pivotal condensation)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000" i="1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000" i="1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2000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000" i="1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000" i="1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000" i="1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000" i="1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altLang="zh-CN" sz="2000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1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000" i="1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000" i="1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000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CN" sz="20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12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−1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000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000" i="1">
                                  <a:latin typeface="Cambria Math"/>
                                </a:rPr>
                                <m:t>𝐼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b="0" i="1" smtClean="0">
                                  <a:latin typeface="Cambria Math"/>
                                </a:rPr>
                                <m:t>𝐼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zh-CN" sz="2000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/>
                              </a:rPr>
                              <m:t>𝑀</m:t>
                            </m:r>
                          </m:e>
                        </m:d>
                      </m:e>
                    </m:func>
                    <m:r>
                      <a:rPr lang="en-US" altLang="zh-CN" sz="2000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/>
                                  </a:rPr>
                                  <m:t>22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000" b="0" i="1" smtClean="0">
                        <a:latin typeface="Cambria Math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/>
                      </a:rPr>
                      <m:t>det</m:t>
                    </m:r>
                    <m:r>
                      <a:rPr lang="en-US" altLang="zh-CN" sz="2000" b="0" i="1" smtClean="0">
                        <a:latin typeface="Cambria Math"/>
                      </a:rPr>
                      <m:t>⁡(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</a:rPr>
                          <m:t>12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</a:rPr>
                          <m:t>12</m:t>
                        </m:r>
                      </m:sub>
                    </m:sSub>
                    <m:sSubSup>
                      <m:sSub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</a:rPr>
                          <m:t>22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</a:rPr>
                          <m:t>21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CN" sz="2000" dirty="0"/>
              </a:p>
              <a:p>
                <a:pPr lvl="1"/>
                <a:r>
                  <a:rPr lang="zh-CN" altLang="en-US" sz="2000" dirty="0"/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</a:rPr>
                          <m:t>22</m:t>
                        </m:r>
                      </m:sub>
                    </m:sSub>
                  </m:oMath>
                </a14:m>
                <a:r>
                  <a:rPr lang="zh-CN" altLang="en-US" sz="2000" dirty="0"/>
                  <a:t>退化为单元素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</a:rPr>
                          <m:t>22</m:t>
                        </m:r>
                      </m:sub>
                    </m:sSub>
                  </m:oMath>
                </a14:m>
                <a:r>
                  <a:rPr lang="en-US" altLang="zh-CN" sz="2000" dirty="0"/>
                  <a:t>,</a:t>
                </a:r>
                <a:r>
                  <a:rPr lang="zh-CN" altLang="en-US" sz="2000" dirty="0"/>
                  <a:t>则有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</a:rPr>
                      <m:t>𝑑𝑒𝑡𝑀</m:t>
                    </m:r>
                    <m:r>
                      <a:rPr lang="en-US" altLang="zh-CN" sz="20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</a:rPr>
                          <m:t>22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</a:rPr>
                      <m:t>⋅</m:t>
                    </m:r>
                    <m:func>
                      <m:func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CN" sz="2000" b="0" i="1" smtClean="0">
                                        <a:latin typeface="Cambria Math"/>
                                      </a:rPr>
                                      <m:t> 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b="0" i="1" smtClean="0">
                                                <a:latin typeface="Cambria Math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b="0" i="1" smtClean="0">
                                                <a:latin typeface="Cambria Math"/>
                                              </a:rPr>
                                              <m:t>22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zh-CN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b="0" i="1" smtClean="0">
                                                <a:latin typeface="Cambria Math"/>
                                              </a:rPr>
                                              <m:t>𝑀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b="0" i="1" smtClean="0">
                                                <a:latin typeface="Cambria Math"/>
                                              </a:rPr>
                                              <m:t>11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000" b="0" i="1" smtClean="0">
                                            <a:latin typeface="Cambria Math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b="0" i="1" smtClean="0">
                                                <a:latin typeface="Cambria Math"/>
                                              </a:rPr>
                                              <m:t>𝑀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b="0" i="1" smtClean="0">
                                                <a:latin typeface="Cambria Math"/>
                                              </a:rPr>
                                              <m:t>12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zh-CN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b="0" i="1" smtClean="0">
                                                <a:latin typeface="Cambria Math"/>
                                              </a:rPr>
                                              <m:t>𝑀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b="0" i="1" smtClean="0">
                                                <a:latin typeface="Cambria Math"/>
                                              </a:rPr>
                                              <m:t>21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/>
                                      </a:rPr>
                                      <m:t>22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altLang="zh-CN" sz="20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b="0" i="1" smtClean="0"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/>
                              </a:rPr>
                              <m:t>22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en-US" altLang="zh-CN" sz="2000" b="0" i="1" smtClean="0">
                                <a:latin typeface="Cambria Math"/>
                              </a:rPr>
                              <m:t>−2</m:t>
                            </m:r>
                          </m:sup>
                        </m:sSubSup>
                      </m:den>
                    </m:f>
                    <m:func>
                      <m:func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/>
                                  </a:rPr>
                                  <m:t>22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/>
                                  </a:rPr>
                                  <m:t>11</m:t>
                                </m:r>
                              </m:sub>
                            </m:sSub>
                            <m:r>
                              <a:rPr lang="en-US" altLang="zh-CN" sz="2000" b="0" i="1" smtClean="0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/>
                                  </a:rPr>
                                  <m:t>21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altLang="zh-CN" sz="2000" dirty="0"/>
              </a:p>
              <a:p>
                <a:r>
                  <a:rPr lang="zh-CN" altLang="en-US" sz="2400" dirty="0"/>
                  <a:t>幂迭代方法</a:t>
                </a:r>
                <a:endParaRPr lang="en-US" altLang="zh-CN" sz="2400" dirty="0"/>
              </a:p>
              <a:p>
                <a:pPr lvl="1"/>
                <a:r>
                  <a:rPr lang="zh-CN" altLang="en-US" sz="2000" dirty="0"/>
                  <a:t>矩阵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</a:rPr>
                      <m:t>𝑀</m:t>
                    </m:r>
                  </m:oMath>
                </a14:m>
                <a:r>
                  <a:rPr lang="en-US" altLang="zh-CN" sz="2000" dirty="0"/>
                  <a:t>,</a:t>
                </a:r>
                <a:r>
                  <a:rPr lang="zh-CN" altLang="en-US" sz="2000" dirty="0"/>
                  <a:t>初始向量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/>
                  <a:t>, </a:t>
                </a:r>
                <a:r>
                  <a:rPr lang="zh-CN" altLang="en-US" sz="2000" dirty="0"/>
                  <a:t>迭代：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</a:rPr>
                          <m:t>𝑘</m:t>
                        </m:r>
                        <m:r>
                          <a:rPr lang="en-US" altLang="zh-CN" sz="2000" i="1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altLang="zh-CN" sz="2000" i="1">
                        <a:latin typeface="Cambria Math"/>
                      </a:rPr>
                      <m:t>≔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/>
                          </a:rPr>
                          <m:t>𝑀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m:rPr>
                            <m:lit/>
                          </m:rPr>
                          <a:rPr lang="en-US" altLang="zh-CN" sz="2000" i="1">
                            <a:latin typeface="Cambria Math"/>
                          </a:rPr>
                          <m:t>||</m:t>
                        </m:r>
                        <m:r>
                          <a:rPr lang="en-US" altLang="zh-CN" sz="2000" i="1">
                            <a:latin typeface="Cambria Math"/>
                          </a:rPr>
                          <m:t>𝑀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lit/>
                          </m:rPr>
                          <a:rPr lang="en-US" altLang="zh-CN" sz="2000" i="1">
                            <a:latin typeface="Cambria Math"/>
                          </a:rPr>
                          <m:t>||</m:t>
                        </m:r>
                      </m:den>
                    </m:f>
                  </m:oMath>
                </a14:m>
                <a:endParaRPr lang="en-US" altLang="zh-CN" sz="20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000" i="1">
                        <a:latin typeface="Cambria Math"/>
                      </a:rPr>
                      <m:t>||</m:t>
                    </m:r>
                    <m:r>
                      <a:rPr lang="en-US" altLang="zh-CN" sz="2000" i="1">
                        <a:latin typeface="Cambria Math"/>
                      </a:rPr>
                      <m:t>⋅</m:t>
                    </m:r>
                    <m:r>
                      <m:rPr>
                        <m:lit/>
                      </m:rPr>
                      <a:rPr lang="en-US" altLang="zh-CN" sz="2000" i="1">
                        <a:latin typeface="Cambria Math"/>
                      </a:rPr>
                      <m:t>||</m:t>
                    </m:r>
                  </m:oMath>
                </a14:m>
                <a:r>
                  <a:rPr lang="zh-CN" altLang="en-US" sz="2000" dirty="0"/>
                  <a:t>表示</a:t>
                </a:r>
                <a:r>
                  <a:rPr lang="en-US" altLang="zh-CN" sz="2000" dirty="0" err="1"/>
                  <a:t>Frobenius</a:t>
                </a:r>
                <a:r>
                  <a:rPr lang="en-US" altLang="zh-CN" sz="2000" dirty="0"/>
                  <a:t> </a:t>
                </a:r>
                <a:r>
                  <a:rPr lang="zh-CN" altLang="en-US" sz="2000" dirty="0"/>
                  <a:t>范数</a:t>
                </a:r>
                <a:endParaRPr lang="en-US" altLang="zh-CN" sz="2000" dirty="0"/>
              </a:p>
              <a:p>
                <a:pPr lvl="1"/>
                <a:r>
                  <a:rPr lang="zh-CN" altLang="en-US" sz="20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</a:rPr>
                      <m:t>𝑥</m:t>
                    </m:r>
                    <m:r>
                      <a:rPr lang="en-US" altLang="zh-CN" sz="2000" i="1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2000" i="1">
                                <a:latin typeface="Cambria Math"/>
                              </a:rPr>
                              <m:t>𝑘</m:t>
                            </m:r>
                            <m:r>
                              <a:rPr lang="en-US" altLang="zh-CN" sz="2000" i="1">
                                <a:latin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altLang="zh-CN" sz="2000" dirty="0"/>
                  <a:t>,</a:t>
                </a:r>
                <a:r>
                  <a:rPr lang="zh-CN" altLang="en-US" sz="2000" dirty="0"/>
                  <a:t>则其为主特征向量的近似向量，然后代入特征方程可得特征值</a:t>
                </a:r>
              </a:p>
              <a:p>
                <a:endParaRPr lang="zh-CN" alt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3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特征值和特征向量的计算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/>
                        <a:ea typeface="宋体" panose="02010600030101010101" pitchFamily="2" charset="-122"/>
                      </a:rPr>
                      <m:t>𝑀</m:t>
                    </m:r>
                    <m:r>
                      <a:rPr lang="en-US" altLang="zh-CN" i="1" smtClean="0">
                        <a:latin typeface="Cambria Math"/>
                        <a:ea typeface="宋体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/>
                                  <a:ea typeface="宋体" panose="02010600030101010101" pitchFamily="2" charset="-122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/>
                                  <a:ea typeface="宋体" panose="02010600030101010101" pitchFamily="2" charset="-122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/>
                      </a:rPr>
                      <m:t>𝑥</m:t>
                    </m:r>
                    <m:r>
                      <a:rPr lang="en-US" altLang="zh-CN" b="0" i="1" dirty="0" smtClean="0">
                        <a:latin typeface="Cambria Math"/>
                      </a:rPr>
                      <m:t>_0=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dirty="0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dirty="0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/>
                                </a:rPr>
                                <m:t>0</m:t>
                              </m:r>
                              <m:r>
                                <a:rPr lang="en-US" altLang="zh-CN" b="0" i="1" smtClean="0">
                                  <a:latin typeface="Cambria Math"/>
                                </a:rPr>
                                <m:t>.530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0.848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/>
                                </a:rPr>
                                <m:t>3</m:t>
                              </m:r>
                              <m:r>
                                <a:rPr lang="en-US" altLang="zh-CN" b="0" i="1" smtClean="0">
                                  <a:latin typeface="Cambria Math"/>
                                </a:rPr>
                                <m:t>.286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6.148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dirty="0" smtClean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dirty="0" smtClean="0">
                                  <a:latin typeface="Cambria Math"/>
                                </a:rPr>
                                <m:t>0</m:t>
                              </m:r>
                              <m:r>
                                <a:rPr lang="en-US" altLang="zh-CN" b="0" i="1" dirty="0" smtClean="0">
                                  <a:latin typeface="Cambria Math"/>
                                </a:rPr>
                                <m:t>.471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dirty="0" smtClean="0">
                                  <a:latin typeface="Cambria Math"/>
                                </a:rPr>
                                <m:t>0.882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𝑥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/>
                                </a:rPr>
                                <m:t>0</m:t>
                              </m:r>
                              <m:r>
                                <a:rPr lang="en-US" altLang="zh-CN" b="0" i="1" smtClean="0">
                                  <a:latin typeface="Cambria Math"/>
                                </a:rPr>
                                <m:t>.447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0.894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𝜆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𝑀𝑥</m:t>
                    </m:r>
                    <m:r>
                      <a:rPr lang="en-US" altLang="zh-CN" b="0" i="1" smtClean="0">
                        <a:latin typeface="Cambria Math"/>
                      </a:rPr>
                      <m:t>=[0.447 0.894]</m:t>
                    </m:r>
                  </m:oMath>
                </a14:m>
                <a:r>
                  <a:rPr lang="en-US" altLang="zh-CN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/>
                                  <a:ea typeface="宋体" panose="02010600030101010101" pitchFamily="2" charset="-122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/>
                                  <a:ea typeface="宋体" panose="02010600030101010101" pitchFamily="2" charset="-122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/>
                                </a:rPr>
                                <m:t>0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.447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0.894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/>
                  <a:t>=6.993</a:t>
                </a:r>
              </a:p>
              <a:p>
                <a:pPr lvl="1"/>
                <a:r>
                  <a:rPr lang="zh-CN" altLang="en-US" dirty="0"/>
                  <a:t>解析解为</a:t>
                </a:r>
                <a:r>
                  <a:rPr lang="en-US" altLang="zh-CN" dirty="0"/>
                  <a:t>7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特征值和特征向量的计算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求出第一个后，接着求第二个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r>
                      <a:rPr lang="en-US" altLang="zh-CN" b="0" i="1" smtClean="0">
                        <a:latin typeface="Cambria Math"/>
                      </a:rPr>
                      <m:t>𝑀</m:t>
                    </m:r>
                    <m:r>
                      <a:rPr lang="en-US" altLang="zh-CN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𝑥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b="0" dirty="0"/>
              </a:p>
              <a:p>
                <a:pPr lvl="1"/>
                <a:r>
                  <a:rPr lang="zh-CN" altLang="en-US" dirty="0"/>
                  <a:t>幂迭代，求得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𝜆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原理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/>
                  <a:t>的特征值为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的特征向量，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𝑥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r>
                      <a:rPr lang="en-US" altLang="zh-CN" b="0" i="1" smtClean="0">
                        <a:latin typeface="Cambria Math"/>
                      </a:rPr>
                      <m:t>𝑀𝑥</m:t>
                    </m:r>
                    <m:r>
                      <a:rPr lang="en-US" altLang="zh-CN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𝑥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𝑥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r>
                      <a:rPr lang="en-US" altLang="zh-CN" b="0" i="1" smtClean="0">
                        <a:latin typeface="Cambria Math"/>
                      </a:rPr>
                      <m:t>𝑀𝑥</m:t>
                    </m:r>
                    <m:r>
                      <a:rPr lang="en-US" altLang="zh-CN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𝑥</m:t>
                    </m:r>
                    <m:r>
                      <a:rPr lang="en-US" altLang="zh-CN" b="0" i="1" smtClean="0">
                        <a:latin typeface="Cambria Math"/>
                      </a:rPr>
                      <m:t>=0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任意一对对称矩阵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𝑀</m:t>
                    </m:r>
                  </m:oMath>
                </a14:m>
                <a:r>
                  <a:rPr lang="zh-CN" altLang="en-US" dirty="0"/>
                  <a:t>的特征值和特征向量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𝑣</m:t>
                    </m:r>
                    <m:r>
                      <a:rPr lang="en-US" altLang="zh-CN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zh-CN" altLang="en-US" dirty="0"/>
                  <a:t>都必定是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/>
                  <a:t>的特征值和特征向量，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𝑣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r>
                      <a:rPr lang="en-US" altLang="zh-CN" b="0" i="1" smtClean="0">
                        <a:latin typeface="Cambria Math"/>
                      </a:rPr>
                      <m:t>𝑀𝑣</m:t>
                    </m:r>
                    <m:r>
                      <a:rPr lang="en-US" altLang="zh-CN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𝑥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𝑣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𝑣</m:t>
                    </m:r>
                    <m:r>
                      <a:rPr lang="en-US" altLang="zh-CN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𝑥</m:t>
                    </m:r>
                    <m:r>
                      <a:rPr lang="en-US" altLang="zh-CN" b="0" i="1" smtClean="0">
                        <a:latin typeface="Cambria Math"/>
                      </a:rPr>
                      <m:t>⋅0=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𝑣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𝑣</m:t>
                    </m:r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用上述例子进行验证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891" b="-18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矩阵的特征向量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对称矩阵的特征向量归一化后都是正交的，假设为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𝐸</m:t>
                    </m:r>
                    <m:r>
                      <a:rPr lang="en-US" altLang="zh-CN" b="0" i="1" smtClean="0">
                        <a:latin typeface="Cambria Math"/>
                      </a:rPr>
                      <m:t>=(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,⋯,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/>
                      </a:rPr>
                      <m:t>𝐸𝐸</m:t>
                    </m:r>
                    <m:r>
                      <a:rPr lang="en-US" altLang="zh-CN" b="0" i="1" dirty="0" smtClean="0">
                        <a:latin typeface="Cambria Math"/>
                      </a:rPr>
                      <m:t>^</m:t>
                    </m:r>
                    <m:r>
                      <a:rPr lang="en-US" altLang="zh-CN" b="0" i="1" dirty="0" smtClean="0">
                        <a:latin typeface="Cambria Math"/>
                      </a:rPr>
                      <m:t>𝑇</m:t>
                    </m:r>
                    <m:r>
                      <a:rPr lang="en-US" altLang="zh-CN" b="0" i="1" dirty="0" smtClean="0">
                        <a:latin typeface="Cambria Math"/>
                      </a:rPr>
                      <m:t>=</m:t>
                    </m:r>
                    <m:r>
                      <a:rPr lang="en-US" altLang="zh-CN" b="0" i="1" dirty="0" smtClean="0">
                        <a:latin typeface="Cambria Math"/>
                      </a:rPr>
                      <m:t>𝐸</m:t>
                    </m:r>
                    <m:r>
                      <a:rPr lang="en-US" altLang="zh-CN" b="0" i="1" dirty="0" smtClean="0">
                        <a:latin typeface="Cambria Math"/>
                      </a:rPr>
                      <m:t>^</m:t>
                    </m:r>
                    <m:r>
                      <a:rPr lang="en-US" altLang="zh-CN" b="0" i="1" dirty="0" smtClean="0">
                        <a:latin typeface="Cambria Math"/>
                      </a:rPr>
                      <m:t>𝑇</m:t>
                    </m:r>
                    <m:r>
                      <a:rPr lang="en-US" altLang="zh-CN" b="0" i="1" dirty="0" smtClean="0">
                        <a:latin typeface="Cambria Math"/>
                      </a:rPr>
                      <m:t> </m:t>
                    </m:r>
                    <m:r>
                      <a:rPr lang="en-US" altLang="zh-CN" b="0" i="1" dirty="0" smtClean="0">
                        <a:latin typeface="Cambria Math"/>
                      </a:rPr>
                      <m:t>𝐸</m:t>
                    </m:r>
                    <m:r>
                      <a:rPr lang="en-US" altLang="zh-CN" b="0" i="1" dirty="0" smtClean="0">
                        <a:latin typeface="Cambria Math"/>
                      </a:rPr>
                      <m:t>=</m:t>
                    </m:r>
                    <m:r>
                      <a:rPr lang="en-US" altLang="zh-CN" b="0" i="1" dirty="0" smtClean="0">
                        <a:latin typeface="Cambria Math"/>
                      </a:rPr>
                      <m:t>𝐼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宋体" panose="02010600030101010101" pitchFamily="2" charset="-122"/>
                      </a:rPr>
                      <m:t>𝑀</m:t>
                    </m:r>
                    <m:r>
                      <a:rPr lang="en-US" altLang="zh-CN" i="1">
                        <a:latin typeface="Cambria Math"/>
                        <a:ea typeface="宋体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/>
                                  <a:ea typeface="宋体" panose="02010600030101010101" pitchFamily="2" charset="-122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/>
                                  <a:ea typeface="宋体" panose="02010600030101010101" pitchFamily="2" charset="-122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/>
                      </a:rPr>
                      <m:t>𝐸</m:t>
                    </m:r>
                    <m:r>
                      <a:rPr lang="en-US" altLang="zh-CN" b="0" i="1" dirty="0" smtClean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b="0" i="1" dirty="0" smtClean="0">
                                      <a:latin typeface="Cambria Math"/>
                                    </a:rPr>
                                    <m:t>2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b="0" i="1" dirty="0" smtClean="0">
                                          <a:latin typeface="Cambria Math"/>
                                        </a:rPr>
                                        <m:t>5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dirty="0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b="0" i="1" dirty="0" smtClean="0">
                                          <a:latin typeface="Cambria Math"/>
                                        </a:rPr>
                                        <m:t>5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altLang="zh-CN" b="0" i="1" dirty="0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dirty="0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b="0" i="1" dirty="0" smtClean="0">
                                          <a:latin typeface="Cambria Math"/>
                                        </a:rPr>
                                        <m:t>5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dirty="0" smtClean="0">
                                      <a:latin typeface="Cambria Math"/>
                                    </a:rPr>
                                    <m:t>2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b="0" i="1" dirty="0" smtClean="0">
                                          <a:latin typeface="Cambria Math"/>
                                        </a:rPr>
                                        <m:t>5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/>
                          </a:rPr>
                          <m:t>𝐸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b="0" i="1" dirty="0" smtClean="0">
                        <a:latin typeface="Cambria Math"/>
                      </a:rPr>
                      <m:t>𝐸</m:t>
                    </m:r>
                    <m:r>
                      <a:rPr lang="en-US" altLang="zh-CN" b="0" i="1" dirty="0" smtClean="0">
                        <a:latin typeface="Cambria Math"/>
                      </a:rPr>
                      <m:t>=</m:t>
                    </m:r>
                    <m:r>
                      <a:rPr lang="en-US" altLang="zh-CN" b="0" i="1" dirty="0" smtClean="0">
                        <a:latin typeface="Cambria Math"/>
                      </a:rPr>
                      <m:t>𝐼</m:t>
                    </m:r>
                  </m:oMath>
                </a14:m>
                <a:endParaRPr lang="en-US" altLang="zh-CN" dirty="0"/>
              </a:p>
              <a:p>
                <a:pPr marL="457200" lvl="1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t="-15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Principal-Component Analysis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PCA</a:t>
                </a:r>
              </a:p>
              <a:p>
                <a:pPr lvl="1"/>
                <a:r>
                  <a:rPr lang="zh-CN" altLang="en-US" dirty="0"/>
                  <a:t>将高维空降中的点集化为矩阵形式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𝑀</m:t>
                    </m:r>
                  </m:oMath>
                </a14:m>
                <a:r>
                  <a:rPr lang="zh-CN" altLang="en-US" dirty="0"/>
                  <a:t>，然后寻找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𝑀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dirty="0"/>
                  <a:t>或者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𝑀</m:t>
                    </m:r>
                  </m:oMath>
                </a14:m>
                <a:r>
                  <a:rPr lang="zh-CN" altLang="en-US" dirty="0"/>
                  <a:t>的特征向量，这些特征向量所形成的矩阵，可以看成高维空间中的刚性旋转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将矩阵应用到数据的时候，对应主特征向量的方向就是数据方差最大的方向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PCA</a:t>
                </a:r>
                <a:r>
                  <a:rPr lang="zh-CN" altLang="en-US" dirty="0"/>
                  <a:t>可以看作是一个数据挖掘工具，将原始数据在低维空间进行投影，从而获得原始数据在主轴上的信息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5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PCA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295400"/>
                <a:ext cx="8784976" cy="5157936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𝑀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/>
                                      </a:rPr>
                                      <m:t>2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b="0" i="1" smtClean="0">
                                              <a:latin typeface="Cambria Math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  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/>
                                            </a:rPr>
                                            <m:t>4</m:t>
                                          </m:r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b="0" i="1" smtClean="0">
                                              <a:latin typeface="Cambria Math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𝑀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/>
                                </a:rPr>
                                <m:t>3</m:t>
                              </m:r>
                              <m:r>
                                <a:rPr lang="en-US" altLang="zh-CN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28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28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30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其特征值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=58,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=2</m:t>
                    </m:r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计算得其归一化特征向量分别为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/>
                  <a:t>,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295400"/>
                <a:ext cx="8784976" cy="5157936"/>
              </a:xfrm>
              <a:blipFill>
                <a:blip r:embed="rId2"/>
                <a:stretch>
                  <a:fillRect r="-1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268759"/>
            <a:ext cx="3333750" cy="309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PCA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</a:rPr>
                      <m:t>𝐸</m:t>
                    </m:r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rad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rad>
                            </m:e>
                          </m:mr>
                        </m:m>
                      </m:e>
                    </m:d>
                  </m:oMath>
                </a14:m>
                <a:endParaRPr lang="en-US" altLang="zh-CN" sz="2400" dirty="0"/>
              </a:p>
              <a:p>
                <a:r>
                  <a:rPr lang="zh-CN" altLang="en-US" sz="2400" dirty="0"/>
                  <a:t>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</a:rPr>
                      <m:t>𝑀𝐸</m:t>
                    </m:r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i="1">
                                              <a:latin typeface="Cambria Math"/>
                                            </a:rPr>
                                            <m:t>3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i="1">
                                              <a:latin typeface="Cambria Math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i="1">
                                              <a:latin typeface="Cambria Math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rad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rad>
                            </m:e>
                          </m:mr>
                        </m:m>
                      </m:e>
                    </m:d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smtClean="0">
                                        <a:latin typeface="Cambria Math"/>
                                      </a:rPr>
                                      <m:t>3</m:t>
                                    </m:r>
                                    <m:r>
                                      <a:rPr lang="en-US" altLang="zh-CN" sz="2400" i="1">
                                        <a:latin typeface="Cambria Math"/>
                                      </a:rPr>
                                      <m:t>/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</a:rPr>
                                      <m:t>3</m:t>
                                    </m:r>
                                    <m:r>
                                      <a:rPr lang="en-US" altLang="zh-CN" sz="2400" i="1">
                                        <a:latin typeface="Cambria Math"/>
                                      </a:rPr>
                                      <m:t>/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b="0" i="1" smtClean="0">
                                              <a:latin typeface="Cambria Math"/>
                                            </a:rPr>
                                            <m:t>7</m:t>
                                          </m:r>
                                          <m:r>
                                            <a:rPr lang="en-US" altLang="zh-CN" sz="2400" i="1">
                                              <a:latin typeface="Cambria Math"/>
                                            </a:rPr>
                                            <m:t>/</m:t>
                                          </m:r>
                                          <m:rad>
                                            <m:radPr>
                                              <m:degHide m:val="on"/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radPr>
                                            <m:deg/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e>
                                          </m:rad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/>
                                            </a:rPr>
                                            <m:t>7</m:t>
                                          </m:r>
                                          <m:r>
                                            <a:rPr lang="en-US" altLang="zh-CN" sz="2400" i="1">
                                              <a:latin typeface="Cambria Math"/>
                                            </a:rPr>
                                            <m:t>/</m:t>
                                          </m:r>
                                          <m:rad>
                                            <m:radPr>
                                              <m:degHide m:val="on"/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radPr>
                                            <m:deg/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e>
                                          </m:rad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altLang="zh-CN" sz="2400" i="1">
                                        <a:latin typeface="Cambria Math"/>
                                      </a:rPr>
                                      <m:t>/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altLang="zh-CN" sz="2400" i="1">
                                        <a:latin typeface="Cambria Math"/>
                                      </a:rPr>
                                      <m:t>/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i="1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CN" sz="2400" i="1">
                                              <a:latin typeface="Cambria Math"/>
                                            </a:rPr>
                                            <m:t>/</m:t>
                                          </m:r>
                                          <m:rad>
                                            <m:radPr>
                                              <m:degHide m:val="on"/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radPr>
                                            <m:deg/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e>
                                          </m:rad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i="1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CN" sz="2400" i="1">
                                              <a:latin typeface="Cambria Math"/>
                                            </a:rPr>
                                            <m:t>/</m:t>
                                          </m:r>
                                          <m:rad>
                                            <m:radPr>
                                              <m:degHide m:val="on"/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radPr>
                                            <m:deg/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e>
                                          </m:rad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439374"/>
            <a:ext cx="2637789" cy="242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400514"/>
            <a:ext cx="3744416" cy="2408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ight Arrow 3"/>
          <p:cNvSpPr/>
          <p:nvPr/>
        </p:nvSpPr>
        <p:spPr bwMode="auto">
          <a:xfrm>
            <a:off x="3570535" y="5358334"/>
            <a:ext cx="864096" cy="492626"/>
          </a:xfrm>
          <a:prstGeom prst="rightArrow">
            <a:avLst/>
          </a:prstGeom>
          <a:solidFill>
            <a:srgbClr val="9933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PCA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/>
                  <a:t>维数缩减</a:t>
                </a:r>
                <a:endParaRPr lang="en-US" altLang="zh-CN" sz="28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</a:rPr>
                      <m:t>𝑀𝑒</m:t>
                    </m:r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</a:rPr>
                      <m:t>𝜆</m:t>
                    </m:r>
                    <m:r>
                      <a:rPr lang="en-US" altLang="zh-CN" sz="2400" b="0" i="1" smtClean="0">
                        <a:latin typeface="Cambria Math"/>
                      </a:rPr>
                      <m:t>𝑒</m:t>
                    </m:r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</a:rPr>
                      <m:t>𝑒</m:t>
                    </m:r>
                    <m:r>
                      <a:rPr lang="en-US" altLang="zh-CN" sz="2400" b="0" i="1" smtClean="0">
                        <a:latin typeface="Cambria Math"/>
                      </a:rPr>
                      <m:t>𝜆</m:t>
                    </m:r>
                    <m:r>
                      <a:rPr lang="en-US" altLang="zh-CN" sz="2400" b="0" i="1" smtClean="0">
                        <a:latin typeface="Cambria Math"/>
                      </a:rPr>
                      <m:t>,</m:t>
                    </m:r>
                  </m:oMath>
                </a14:m>
                <a:r>
                  <a:rPr lang="zh-CN" altLang="en-US" sz="2400" dirty="0"/>
                  <a:t>令对角矩阵对角线为特征值从大到小排列，则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/>
                      </a:rPr>
                      <m:t>𝑀𝐸</m:t>
                    </m:r>
                    <m:r>
                      <a:rPr lang="en-US" altLang="zh-CN" sz="2400" b="0" i="1" dirty="0" smtClean="0">
                        <a:latin typeface="Cambria Math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</a:rPr>
                      <m:t>𝐸𝐿</m:t>
                    </m:r>
                  </m:oMath>
                </a14:m>
                <a:endParaRPr lang="en-US" altLang="zh-CN" sz="2400" i="1" dirty="0"/>
              </a:p>
              <a:p>
                <a:pPr lvl="1"/>
                <a:r>
                  <a:rPr lang="zh-CN" altLang="en-US" sz="2400" dirty="0"/>
                  <a:t>实际上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</a:rPr>
                      <m:t>𝑀𝐸</m:t>
                    </m:r>
                  </m:oMath>
                </a14:m>
                <a:r>
                  <a:rPr lang="zh-CN" altLang="en-US" sz="2400" dirty="0"/>
                  <a:t>将点变换到新的坐标空间中，相应于最大特征值的轴最重要，沿该轴的点的方差也最大</a:t>
                </a:r>
                <a:endParaRPr lang="en-US" altLang="zh-CN" sz="2400" dirty="0"/>
              </a:p>
              <a:p>
                <a:pPr lvl="1"/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400" dirty="0"/>
                  <a:t>为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</a:rPr>
                      <m:t>𝐸</m:t>
                    </m:r>
                  </m:oMath>
                </a14:m>
                <a:r>
                  <a:rPr lang="zh-CN" altLang="en-US" sz="2400" dirty="0"/>
                  <a:t>的前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</a:rPr>
                      <m:t>𝑘</m:t>
                    </m:r>
                  </m:oMath>
                </a14:m>
                <a:r>
                  <a:rPr lang="zh-CN" altLang="en-US" sz="2400" dirty="0"/>
                  <a:t>列，则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</a:rPr>
                      <m:t>𝑀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400" dirty="0"/>
                  <a:t>表示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</a:rPr>
                      <m:t>𝑀</m:t>
                    </m:r>
                  </m:oMath>
                </a14:m>
                <a:r>
                  <a:rPr lang="zh-CN" altLang="en-US" sz="2400" dirty="0"/>
                  <a:t>的一个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</a:rPr>
                      <m:t>𝑘</m:t>
                    </m:r>
                  </m:oMath>
                </a14:m>
                <a:r>
                  <a:rPr lang="zh-CN" altLang="en-US" sz="2400" dirty="0"/>
                  <a:t>维表示</a:t>
                </a:r>
                <a:endParaRPr lang="en-US" altLang="zh-CN" sz="2400" dirty="0"/>
              </a:p>
              <a:p>
                <a:pPr lvl="1"/>
                <a:r>
                  <a:rPr lang="zh-CN" altLang="en-US" sz="2400" dirty="0"/>
                  <a:t>例</a:t>
                </a:r>
                <a:endParaRPr lang="en-US" altLang="zh-CN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𝑀𝐸</m:t>
                    </m:r>
                    <m:r>
                      <a:rPr lang="en-US" altLang="zh-CN" sz="24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solidFill>
                                          <a:srgbClr val="0000FF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/>
                                            </a:rPr>
                                            <m:t>3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solidFill>
                                          <a:srgbClr val="0000FF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rad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rad>
                            </m:e>
                          </m:mr>
                        </m:m>
                      </m:e>
                    </m:d>
                    <m:r>
                      <a:rPr lang="en-US" altLang="zh-CN" sz="2400" i="1">
                        <a:latin typeface="Cambria Math"/>
                      </a:rPr>
                      <m:t>=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solidFill>
                                          <a:srgbClr val="0000FF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srgbClr val="0000FF"/>
                                        </a:solidFill>
                                        <a:latin typeface="Cambria Math"/>
                                      </a:rPr>
                                      <m:t>/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rgbClr val="0000FF"/>
                                            </a:solidFill>
                                            <a:latin typeface="Cambria Math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i="1">
                                        <a:solidFill>
                                          <a:srgbClr val="0000FF"/>
                                        </a:solidFill>
                                        <a:latin typeface="Cambria Math"/>
                                      </a:rPr>
                                      <m:t>3/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rgbClr val="0000FF"/>
                                            </a:solidFill>
                                            <a:latin typeface="Cambria Math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/>
                                            </a:rPr>
                                            <m:t>7</m:t>
                                          </m:r>
                                          <m:r>
                                            <a:rPr lang="en-US" altLang="zh-CN" sz="24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/>
                                            </a:rPr>
                                            <m:t>/</m:t>
                                          </m:r>
                                          <m:rad>
                                            <m:radPr>
                                              <m:degHide m:val="on"/>
                                              <m:ctrlPr>
                                                <a:rPr lang="en-US" altLang="zh-CN" sz="2400" i="1">
                                                  <a:solidFill>
                                                    <a:srgbClr val="0000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radPr>
                                            <m:deg/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0000FF"/>
                                                  </a:solidFill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e>
                                          </m:rad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/>
                                            </a:rPr>
                                            <m:t>7/</m:t>
                                          </m:r>
                                          <m:rad>
                                            <m:radPr>
                                              <m:degHide m:val="on"/>
                                              <m:ctrlPr>
                                                <a:rPr lang="en-US" altLang="zh-CN" sz="2400" i="1">
                                                  <a:solidFill>
                                                    <a:srgbClr val="0000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radPr>
                                            <m:deg/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0000FF"/>
                                                  </a:solidFill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e>
                                          </m:rad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/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/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CN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</a:rPr>
                                            <m:t>/</m:t>
                                          </m:r>
                                          <m:rad>
                                            <m:radPr>
                                              <m:degHide m:val="on"/>
                                              <m:ctrlP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radPr>
                                            <m:deg/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e>
                                          </m:rad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CN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</a:rPr>
                                            <m:t>/</m:t>
                                          </m:r>
                                          <m:rad>
                                            <m:radPr>
                                              <m:degHide m:val="on"/>
                                              <m:ctrlP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radPr>
                                            <m:deg/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e>
                                          </m:rad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zh-CN" altLang="en-US" sz="2400" dirty="0"/>
              </a:p>
              <a:p>
                <a:pPr lvl="1"/>
                <a:r>
                  <a:rPr lang="zh-CN" altLang="en-US" sz="2400" dirty="0"/>
                  <a:t>二维数据变为一维数据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537" b="-96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PCA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𝑀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, 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𝑀</m:t>
                    </m:r>
                  </m:oMath>
                </a14:m>
                <a:r>
                  <a:rPr lang="zh-CN" altLang="en-US" dirty="0"/>
                  <a:t>的关系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altLang="zh-CN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latin typeface="Cambria Math"/>
                      </a:rPr>
                      <m:t>𝑀</m:t>
                    </m:r>
                    <m:r>
                      <a:rPr lang="en-US" altLang="zh-CN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/>
                                </a:rPr>
                                <m:t>3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28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28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30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i="1" dirty="0"/>
                  <a:t>，</a:t>
                </a:r>
                <a:r>
                  <a:rPr lang="en-US" altLang="zh-CN" i="1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𝑀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altLang="zh-CN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11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24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24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25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𝑀𝑒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r>
                      <a:rPr lang="en-US" altLang="zh-CN" b="0" i="1" smtClean="0">
                        <a:latin typeface="Cambria Math"/>
                      </a:rPr>
                      <m:t>𝜆</m:t>
                    </m:r>
                    <m:r>
                      <a:rPr lang="en-US" altLang="zh-CN" b="0" i="1" smtClean="0">
                        <a:latin typeface="Cambria Math"/>
                      </a:rPr>
                      <m:t>𝑒</m:t>
                    </m:r>
                    <m:r>
                      <a:rPr lang="en-US" altLang="zh-CN" b="0" i="1" smtClean="0">
                        <a:latin typeface="Cambria Math"/>
                      </a:rPr>
                      <m:t>⇒</m:t>
                    </m:r>
                    <m:r>
                      <a:rPr lang="en-US" altLang="zh-CN" b="0" i="1" smtClean="0">
                        <a:latin typeface="Cambria Math"/>
                      </a:rPr>
                      <m:t>𝑀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𝑀𝑒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r>
                      <a:rPr lang="en-US" altLang="zh-CN" b="0" i="1" smtClean="0">
                        <a:latin typeface="Cambria Math"/>
                      </a:rPr>
                      <m:t>𝑀</m:t>
                    </m:r>
                    <m:r>
                      <a:rPr lang="en-US" altLang="zh-CN" b="0" i="1" smtClean="0">
                        <a:latin typeface="Cambria Math"/>
                      </a:rPr>
                      <m:t>𝜆</m:t>
                    </m:r>
                    <m:r>
                      <a:rPr lang="en-US" altLang="zh-CN" b="0" i="1" smtClean="0">
                        <a:latin typeface="Cambria Math"/>
                      </a:rPr>
                      <m:t>𝑒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r>
                      <a:rPr lang="en-US" altLang="zh-CN" b="0" i="1" smtClean="0">
                        <a:latin typeface="Cambria Math"/>
                      </a:rPr>
                      <m:t>𝜆</m:t>
                    </m:r>
                    <m:r>
                      <a:rPr lang="en-US" altLang="zh-CN" b="0" i="1" smtClean="0">
                        <a:latin typeface="Cambria Math"/>
                      </a:rPr>
                      <m:t>(</m:t>
                    </m:r>
                    <m:r>
                      <a:rPr lang="en-US" altLang="zh-CN" b="0" i="1" smtClean="0">
                        <a:latin typeface="Cambria Math"/>
                      </a:rPr>
                      <m:t>𝑀𝑒</m:t>
                    </m:r>
                    <m:r>
                      <a:rPr lang="en-US" altLang="zh-CN" b="0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显然，只要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𝑀𝑒</m:t>
                    </m:r>
                    <m:r>
                      <a:rPr lang="en-US" altLang="zh-CN" b="0" i="1" smtClean="0">
                        <a:latin typeface="Cambria Math"/>
                      </a:rPr>
                      <m:t>≠0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𝑀𝑒</m:t>
                    </m:r>
                  </m:oMath>
                </a14:m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/>
                      </a:rPr>
                      <m:t>𝑀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dirty="0"/>
                  <a:t>的特征向量，而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𝜆</m:t>
                    </m:r>
                  </m:oMath>
                </a14:m>
                <a:r>
                  <a:rPr lang="zh-CN" altLang="en-US" dirty="0"/>
                  <a:t>既是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𝑀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dirty="0"/>
                  <a:t>，也是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𝑀</m:t>
                    </m:r>
                  </m:oMath>
                </a14:m>
                <a:r>
                  <a:rPr lang="zh-CN" altLang="en-US" dirty="0"/>
                  <a:t>的特征值</a:t>
                </a:r>
                <a:endParaRPr lang="en-US" altLang="zh-CN" dirty="0"/>
              </a:p>
              <a:p>
                <a:r>
                  <a:rPr lang="zh-CN" altLang="en-US" dirty="0"/>
                  <a:t>他们之间的特征值只差为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的特征值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891" b="-20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PCA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/>
                      </a:rPr>
                      <m:t>𝑀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</a:rPr>
                          <m:t>𝑀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11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24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24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25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/>
                  <a:t>的特征向量为</a:t>
                </a:r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</a:rPr>
                      <m:t>𝐸</m:t>
                    </m:r>
                    <m:r>
                      <a:rPr lang="en-US" altLang="zh-CN" sz="2400" b="0" i="1" smtClean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smtClean="0">
                                          <a:latin typeface="Cambria Math"/>
                                        </a:rPr>
                                        <m:t>116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7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b="0" i="1" smtClean="0">
                                          <a:latin typeface="Cambria Math"/>
                                        </a:rPr>
                                        <m:t>116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116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7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116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7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116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116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7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116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116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  <m:r>
                          <a:rPr lang="en-US" altLang="zh-CN" sz="2400" b="0" i="1" smtClean="0">
                            <a:latin typeface="Cambria Math"/>
                          </a:rPr>
                          <m:t> </m:t>
                        </m:r>
                      </m:e>
                    </m:d>
                  </m:oMath>
                </a14:m>
                <a:endParaRPr lang="en-US" altLang="zh-CN" sz="2400" dirty="0"/>
              </a:p>
              <a:p>
                <a:r>
                  <a:rPr lang="zh-CN" altLang="en-US" sz="2400" dirty="0"/>
                  <a:t>其特征值为</a:t>
                </a:r>
                <a:r>
                  <a:rPr lang="en-US" altLang="zh-CN" sz="2400" dirty="0"/>
                  <a:t>58</a:t>
                </a:r>
                <a:r>
                  <a:rPr lang="zh-CN" altLang="en-US" sz="2400" dirty="0"/>
                  <a:t>，</a:t>
                </a:r>
                <a:r>
                  <a:rPr lang="en-US" altLang="zh-CN" sz="2400" dirty="0"/>
                  <a:t>2</a:t>
                </a:r>
                <a:r>
                  <a:rPr lang="zh-CN" altLang="en-US" sz="2400" dirty="0"/>
                  <a:t>，</a:t>
                </a:r>
                <a:r>
                  <a:rPr lang="en-US" altLang="zh-CN" sz="2400" dirty="0"/>
                  <a:t>0</a:t>
                </a:r>
                <a:r>
                  <a:rPr lang="zh-CN" altLang="en-US" sz="2400" dirty="0"/>
                  <a:t>，</a:t>
                </a:r>
                <a:r>
                  <a:rPr lang="en-US" altLang="zh-CN" sz="2400" dirty="0"/>
                  <a:t>0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PCA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为什么这么做？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假设样本为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𝑁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n-US" altLang="zh-CN" b="0" i="1" dirty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dirty="0" smtClean="0">
                            <a:latin typeface="Cambria Math"/>
                          </a:rPr>
                          <m:t>𝑖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线性降维定义投影矩阵为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𝑢</m:t>
                    </m:r>
                    <m:r>
                      <a:rPr lang="en-US" altLang="zh-CN" b="0" i="1" smtClean="0">
                        <a:latin typeface="Cambria Math"/>
                      </a:rPr>
                      <m:t>,</m:t>
                    </m:r>
                  </m:oMath>
                </a14:m>
                <a:r>
                  <a:rPr lang="zh-CN" altLang="en-US" dirty="0"/>
                  <a:t>不失一般性，假设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𝑢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𝑢</m:t>
                    </m:r>
                    <m:r>
                      <a:rPr lang="en-US" altLang="zh-CN" b="0" i="1" smtClean="0">
                        <a:latin typeface="Cambria Math"/>
                      </a:rPr>
                      <m:t>=1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则降维后数据为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𝑢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投影后方差为：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𝑇</m:t>
                                    </m:r>
                                  </m:sup>
                                </m:sSup>
                                <m:acc>
                                  <m:accPr>
                                    <m:chr m:val="̅"/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𝑢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Σ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𝑢</m:t>
                        </m:r>
                      </m:e>
                    </m:nary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/>
                      </a:rPr>
                      <m:t>Σ</m:t>
                    </m:r>
                  </m:oMath>
                </a14:m>
                <a:r>
                  <a:rPr lang="zh-CN" altLang="en-US" dirty="0"/>
                  <a:t>为协方差矩阵，最大化这个方差，采用拉格朗日乘子法</a:t>
                </a:r>
                <a:r>
                  <a:rPr lang="en-US" altLang="zh-CN" dirty="0"/>
                  <a:t>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/>
                      </a:rPr>
                      <m:t>𝑀𝑎𝑥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𝑢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b="0" i="0" smtClean="0">
                        <a:latin typeface="Cambria Math"/>
                      </a:rPr>
                      <m:t>Σ</m:t>
                    </m:r>
                    <m:r>
                      <a:rPr lang="en-US" altLang="zh-CN" b="0" i="1" smtClean="0">
                        <a:latin typeface="Cambria Math"/>
                      </a:rPr>
                      <m:t>𝑢</m:t>
                    </m:r>
                    <m:r>
                      <a:rPr lang="en-US" altLang="zh-CN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𝑢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/>
                          </a:rPr>
                          <m:t>𝑢</m:t>
                        </m:r>
                      </m:e>
                    </m:d>
                    <m:r>
                      <a:rPr lang="en-US" altLang="zh-CN" b="0" i="1" smtClean="0">
                        <a:latin typeface="Cambria Math"/>
                      </a:rPr>
                      <m:t>⇒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/>
                      </a:rPr>
                      <m:t>Σ</m:t>
                    </m:r>
                    <m:r>
                      <a:rPr lang="en-US" altLang="zh-CN" b="0" i="1" smtClean="0">
                        <a:latin typeface="Cambria Math"/>
                      </a:rPr>
                      <m:t>𝑢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𝑢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从而投影向量正好由协方差矩阵的特征向量组成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891" r="-11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PCA</a:t>
            </a:r>
            <a:r>
              <a:rPr lang="zh-CN" altLang="en-US" dirty="0"/>
              <a:t>的一些应用实例及分析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在优化算法中的应用</a:t>
            </a:r>
            <a:endParaRPr lang="en-US" altLang="zh-CN" dirty="0"/>
          </a:p>
          <a:p>
            <a:pPr lvl="1"/>
            <a:r>
              <a:rPr lang="zh-CN" altLang="en-US" dirty="0"/>
              <a:t>秩一、秩二校正</a:t>
            </a:r>
            <a:endParaRPr lang="en-US" altLang="zh-CN" dirty="0"/>
          </a:p>
          <a:p>
            <a:r>
              <a:rPr lang="zh-CN" altLang="en-US" dirty="0"/>
              <a:t>在人脸识别中的应用</a:t>
            </a:r>
            <a:endParaRPr lang="en-US" altLang="zh-CN" dirty="0"/>
          </a:p>
          <a:p>
            <a:pPr lvl="1"/>
            <a:r>
              <a:rPr lang="zh-CN" altLang="en-US" dirty="0"/>
              <a:t>特征脸</a:t>
            </a:r>
            <a:r>
              <a:rPr lang="en-US" altLang="zh-CN" dirty="0"/>
              <a:t>-</a:t>
            </a:r>
            <a:r>
              <a:rPr lang="en-US" altLang="zh-CN" dirty="0" err="1"/>
              <a:t>pca</a:t>
            </a:r>
            <a:r>
              <a:rPr lang="zh-CN" altLang="en-US" dirty="0"/>
              <a:t>（</a:t>
            </a:r>
            <a:r>
              <a:rPr lang="en-US" altLang="zh-CN" dirty="0"/>
              <a:t>demo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>
                <a:hlinkClick r:id="rId2"/>
              </a:rPr>
              <a:t>https://www.cl.cam.ac.uk/research/dtg/attarchive/facedatabase.html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PCA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1268760"/>
                <a:ext cx="8568952" cy="5157936"/>
              </a:xfrm>
            </p:spPr>
            <p:txBody>
              <a:bodyPr/>
              <a:lstStyle/>
              <a:p>
                <a:r>
                  <a:rPr lang="zh-CN" altLang="en-US" sz="2000" dirty="0"/>
                  <a:t>对称秩</a:t>
                </a:r>
                <a:r>
                  <a:rPr lang="en-US" altLang="zh-CN" sz="2000" dirty="0"/>
                  <a:t>1</a:t>
                </a:r>
                <a:r>
                  <a:rPr lang="zh-CN" altLang="en-US" sz="2000" dirty="0"/>
                  <a:t>更新和秩</a:t>
                </a:r>
                <a:r>
                  <a:rPr lang="en-US" altLang="zh-CN" sz="2000" dirty="0"/>
                  <a:t>2</a:t>
                </a:r>
                <a:r>
                  <a:rPr lang="zh-CN" altLang="en-US" sz="2000" dirty="0"/>
                  <a:t>更新</a:t>
                </a:r>
                <a:r>
                  <a:rPr lang="en-US" altLang="zh-CN" sz="2000" dirty="0"/>
                  <a:t>(Rand-One and Rand-Two Update)</a:t>
                </a:r>
              </a:p>
              <a:p>
                <a:pPr lvl="1"/>
                <a:r>
                  <a:rPr lang="en-US" altLang="zh-CN" sz="1800" dirty="0"/>
                  <a:t> </a:t>
                </a:r>
                <a:r>
                  <a:rPr lang="zh-CN" altLang="en-US" sz="1800" dirty="0"/>
                  <a:t>近似模型</a:t>
                </a:r>
                <a:endParaRPr lang="en-US" altLang="zh-CN" sz="1800" dirty="0"/>
              </a:p>
              <a:p>
                <a:pPr lvl="1"/>
                <a:r>
                  <a:rPr lang="zh-CN" altLang="en-US" sz="1800" dirty="0"/>
                  <a:t>满足插值条件</a:t>
                </a:r>
                <a:r>
                  <a:rPr lang="en-US" altLang="zh-CN" sz="1800" dirty="0"/>
                  <a:t>:</a:t>
                </a:r>
              </a:p>
              <a:p>
                <a:pPr lvl="1"/>
                <a:r>
                  <a:rPr lang="zh-CN" altLang="en-US" sz="1800" dirty="0"/>
                  <a:t>原本牛顿法必须满足二阶导数为</a:t>
                </a:r>
                <a:r>
                  <a:rPr lang="en-US" altLang="zh-CN" sz="1800" dirty="0"/>
                  <a:t>Hessian</a:t>
                </a:r>
                <a:r>
                  <a:rPr lang="zh-CN" altLang="en-US" sz="1800" dirty="0"/>
                  <a:t>矩阵，现修改为满足在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1800" dirty="0"/>
                  <a:t>点的导数值与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1800" dirty="0"/>
                  <a:t>相等</a:t>
                </a:r>
                <a:r>
                  <a:rPr lang="en-US" altLang="zh-CN" sz="1800" dirty="0"/>
                  <a:t>:</a:t>
                </a:r>
                <a14:m>
                  <m:oMath xmlns:m="http://schemas.openxmlformats.org/officeDocument/2006/math">
                    <m:r>
                      <a:rPr lang="en-US" altLang="zh-CN" sz="1800" b="0" i="0" smtClean="0">
                        <a:latin typeface="Cambria Math"/>
                      </a:rPr>
                      <m:t>𝛻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CN" sz="1800" b="0" i="1" smtClean="0">
                            <a:latin typeface="Cambria Math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sz="18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endParaRPr lang="en-US" altLang="zh-CN" sz="1800" dirty="0"/>
              </a:p>
              <a:p>
                <a:pPr lvl="1"/>
                <a:r>
                  <a:rPr lang="zh-CN" altLang="en-US" sz="1800" dirty="0"/>
                  <a:t>化简即为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CN" sz="1800" b="0" i="1" smtClean="0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altLang="zh-CN" sz="1800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CN" sz="1800" b="0" i="1" smtClean="0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altLang="zh-CN" sz="1800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altLang="zh-CN" sz="1800" b="0" i="1" smtClean="0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CN" sz="1800" b="0" i="1" smtClean="0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altLang="zh-CN" sz="1800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1800" dirty="0"/>
                  <a:t>，记为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CN" sz="1800" b="0" i="1" smtClean="0">
                            <a:latin typeface="Cambria Math"/>
                          </a:rPr>
                          <m:t>+1</m:t>
                        </m:r>
                      </m:sub>
                    </m:sSub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altLang="zh-CN" sz="18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endParaRPr lang="en-US" altLang="zh-CN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altLang="zh-CN" sz="1800" b="0" i="1" smtClean="0">
                        <a:latin typeface="Cambria Math"/>
                      </a:rPr>
                      <m:t>=−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1800" dirty="0"/>
                  <a:t>,</a:t>
                </a:r>
                <a:r>
                  <a:rPr lang="zh-CN" altLang="en-US" sz="1800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1800" dirty="0"/>
                  <a:t>为梯度，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1800" dirty="0"/>
                  <a:t>为矩阵，用于修饰梯度，例如，牛顿法为</a:t>
                </a:r>
                <a:r>
                  <a:rPr lang="en-US" altLang="zh-CN" sz="1800" dirty="0"/>
                  <a:t>Hessian</a:t>
                </a:r>
                <a:r>
                  <a:rPr lang="zh-CN" altLang="en-US" sz="1800" dirty="0"/>
                  <a:t>矩阵的逆矩阵</a:t>
                </a:r>
                <a:r>
                  <a:rPr lang="en-US" altLang="zh-CN" sz="1800" dirty="0"/>
                  <a:t>,</a:t>
                </a:r>
                <a:r>
                  <a:rPr lang="zh-CN" altLang="en-US" sz="1800" dirty="0"/>
                  <a:t>此时有</a:t>
                </a:r>
                <a:r>
                  <a:rPr lang="en-US" altLang="zh-CN" sz="1800" dirty="0"/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altLang="zh-CN" sz="18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CN" sz="1800" b="0" i="1" smtClean="0">
                            <a:latin typeface="Cambria Math"/>
                          </a:rPr>
                          <m:t>+1</m:t>
                        </m:r>
                      </m:sub>
                    </m:sSub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endParaRPr lang="en-US" altLang="zh-CN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altLang="zh-CN" sz="1800" b="0" i="1" smtClean="0">
                        <a:latin typeface="Cambria Math"/>
                      </a:rPr>
                      <m:t>=−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1800" dirty="0"/>
                  <a:t>,</a:t>
                </a:r>
                <a:r>
                  <a:rPr lang="zh-CN" altLang="en-US" sz="1800" dirty="0"/>
                  <a:t>此时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1800" dirty="0"/>
                  <a:t>为</a:t>
                </a:r>
                <a:r>
                  <a:rPr lang="en-US" altLang="zh-CN" sz="1800" dirty="0"/>
                  <a:t>Hessian</a:t>
                </a:r>
                <a:r>
                  <a:rPr lang="zh-CN" altLang="en-US" sz="1800" dirty="0"/>
                  <a:t>矩阵的近似矩阵</a:t>
                </a:r>
                <a:endParaRPr lang="en-US" altLang="zh-CN" sz="1800" dirty="0"/>
              </a:p>
              <a:p>
                <a:pPr lvl="1"/>
                <a:r>
                  <a:rPr lang="zh-CN" altLang="en-US" sz="1800" dirty="0"/>
                  <a:t>为了保证算法收敛，必须要求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CN" sz="1800" b="0" i="1" smtClean="0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1800" dirty="0"/>
                  <a:t>能正定</a:t>
                </a:r>
                <a:r>
                  <a:rPr lang="en-US" altLang="zh-CN" sz="1800" dirty="0"/>
                  <a:t>,</a:t>
                </a:r>
                <a:r>
                  <a:rPr lang="zh-CN" altLang="en-US" sz="1800" dirty="0"/>
                  <a:t>则只需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</m:sub>
                      <m:sup>
                        <m:r>
                          <a:rPr lang="en-US" altLang="zh-CN" sz="1800" b="0" i="1" smtClean="0">
                            <a:latin typeface="Cambria Math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altLang="zh-CN" sz="1800" i="1">
                            <a:latin typeface="Cambria Math"/>
                          </a:rPr>
                          <m:t>𝑘</m:t>
                        </m:r>
                        <m:r>
                          <a:rPr lang="en-US" altLang="zh-CN" sz="1800" i="1">
                            <a:latin typeface="Cambria Math"/>
                          </a:rPr>
                          <m:t>+1</m:t>
                        </m:r>
                      </m:sub>
                    </m:sSub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altLang="zh-CN" sz="1800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altLang="zh-CN" sz="1800" i="1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</m:sub>
                      <m:sup>
                        <m:r>
                          <a:rPr lang="en-US" altLang="zh-CN" sz="1800" b="0" i="1" smtClean="0">
                            <a:latin typeface="Cambria Math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altLang="zh-CN" sz="1800" b="0" i="1" smtClean="0">
                        <a:latin typeface="Cambria Math"/>
                      </a:rPr>
                      <m:t>&gt;0</m:t>
                    </m:r>
                  </m:oMath>
                </a14:m>
                <a:r>
                  <a:rPr lang="en-US" altLang="zh-CN" sz="1800" dirty="0"/>
                  <a:t>, </a:t>
                </a:r>
                <a:r>
                  <a:rPr lang="zh-CN" altLang="en-US" sz="1800" dirty="0"/>
                  <a:t>即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800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altLang="zh-CN" sz="1800" i="1">
                            <a:latin typeface="Cambria Math"/>
                          </a:rPr>
                          <m:t>𝑘</m:t>
                        </m:r>
                      </m:sub>
                      <m:sup>
                        <m:r>
                          <a:rPr lang="en-US" altLang="zh-CN" sz="1800" i="1">
                            <a:latin typeface="Cambria Math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altLang="zh-CN" sz="1800" i="1">
                        <a:latin typeface="Cambria Math"/>
                      </a:rPr>
                      <m:t>&gt;0</m:t>
                    </m:r>
                  </m:oMath>
                </a14:m>
                <a:r>
                  <a:rPr lang="zh-CN" altLang="en-US" sz="1800" dirty="0"/>
                  <a:t>，该条件为曲率条件</a:t>
                </a:r>
                <a:r>
                  <a:rPr lang="en-US" altLang="zh-CN" sz="1800" dirty="0"/>
                  <a:t>(Curvature Condition)</a:t>
                </a:r>
              </a:p>
              <a:p>
                <a:pPr lvl="1"/>
                <a:r>
                  <a:rPr lang="zh-CN" altLang="en-US" sz="1800" dirty="0"/>
                  <a:t>拟牛顿方法关键成为产生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CN" sz="1800" b="0" i="1" smtClean="0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altLang="zh-CN" sz="18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CN" sz="1800" b="0" i="1" smtClean="0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CN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CN" sz="1800" b="0" i="1" smtClean="0">
                            <a:latin typeface="Cambria Math"/>
                          </a:rPr>
                          <m:t>=1</m:t>
                        </m:r>
                      </m:sub>
                    </m:sSub>
                    <m:r>
                      <a:rPr lang="en-US" altLang="zh-CN" sz="18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altLang="zh-CN" sz="1800" b="0" i="1" smtClean="0">
                        <a:latin typeface="Cambria Math"/>
                      </a:rPr>
                      <m:t>+</m:t>
                    </m:r>
                    <m:r>
                      <a:rPr lang="en-US" altLang="zh-CN" sz="1800" b="0" i="1" smtClean="0">
                        <a:latin typeface="Cambria Math"/>
                      </a:rPr>
                      <m:t>𝑣</m:t>
                    </m:r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/>
                          </a:rPr>
                          <m:t>𝑣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CN" sz="1800" dirty="0"/>
                  <a:t>,</a:t>
                </a:r>
                <a:r>
                  <a:rPr lang="zh-CN" altLang="en-US" sz="1800" dirty="0"/>
                  <a:t>显然向量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/>
                      </a:rPr>
                      <m:t>𝑣</m:t>
                    </m:r>
                    <m:r>
                      <a:rPr lang="en-US" altLang="zh-CN" sz="1800" b="0" i="1" smtClean="0">
                        <a:latin typeface="Cambria Math"/>
                      </a:rPr>
                      <m:t>≠0</m:t>
                    </m:r>
                  </m:oMath>
                </a14:m>
                <a:r>
                  <a:rPr lang="zh-CN" altLang="en-US" sz="1800" dirty="0"/>
                  <a:t>导致的矩阵秩为</a:t>
                </a:r>
                <a:r>
                  <a:rPr lang="en-US" altLang="zh-CN" sz="1800" dirty="0"/>
                  <a:t>1</a:t>
                </a:r>
                <a:r>
                  <a:rPr lang="zh-CN" altLang="en-US" sz="1800" dirty="0"/>
                  <a:t>，且必须满足牛顿方程，可得</a:t>
                </a:r>
                <a:endParaRPr lang="en-US" altLang="zh-CN" sz="1800" dirty="0"/>
              </a:p>
              <a:p>
                <a:pPr lvl="1"/>
                <a:r>
                  <a:rPr lang="zh-CN" altLang="en-US" sz="1800" dirty="0"/>
                  <a:t>秩一校正</a:t>
                </a:r>
                <a:r>
                  <a:rPr lang="en-US" altLang="zh-CN" sz="1800" dirty="0"/>
                  <a:t> </a:t>
                </a:r>
                <a:endParaRPr lang="zh-CN" alt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1268760"/>
                <a:ext cx="8568952" cy="5157936"/>
              </a:xfrm>
              <a:blipFill rotWithShape="1">
                <a:blip r:embed="rId2"/>
                <a:stretch>
                  <a:fillRect t="-8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564428"/>
            <a:ext cx="6084168" cy="496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447" y="1988840"/>
            <a:ext cx="5556473" cy="350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4914" y="5544617"/>
            <a:ext cx="5325598" cy="1052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PCA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秩一校正缺陷</a:t>
                </a:r>
                <a:r>
                  <a:rPr lang="en-US" altLang="zh-CN" dirty="0"/>
                  <a:t>:</a:t>
                </a:r>
                <a:r>
                  <a:rPr lang="zh-CN" altLang="en-US" dirty="0"/>
                  <a:t>不能保证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正定性</a:t>
                </a:r>
                <a:r>
                  <a:rPr lang="en-US" altLang="zh-CN" dirty="0"/>
                  <a:t>\</a:t>
                </a:r>
                <a:r>
                  <a:rPr lang="zh-CN" altLang="en-US" dirty="0"/>
                  <a:t>更新公式中分母小的时候不能保证稳定性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优势：二次终止性</a:t>
                </a:r>
                <a:r>
                  <a:rPr lang="en-US" altLang="zh-CN" dirty="0"/>
                  <a:t>\</a:t>
                </a:r>
                <a:r>
                  <a:rPr lang="zh-CN" altLang="en-US" dirty="0"/>
                  <a:t>很好的</a:t>
                </a:r>
                <a:r>
                  <a:rPr lang="en-US" altLang="zh-CN" dirty="0"/>
                  <a:t>Hessian</a:t>
                </a:r>
                <a:r>
                  <a:rPr lang="zh-CN" altLang="en-US" dirty="0"/>
                  <a:t>矩阵逼近性</a:t>
                </a:r>
                <a:endParaRPr lang="en-US" altLang="zh-CN" dirty="0"/>
              </a:p>
              <a:p>
                <a:r>
                  <a:rPr lang="en-US" altLang="zh-CN" dirty="0"/>
                  <a:t>DFP</a:t>
                </a:r>
                <a:r>
                  <a:rPr lang="zh-CN" altLang="en-US" dirty="0"/>
                  <a:t>校正（秩二校正）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+</m:t>
                    </m:r>
                    <m:r>
                      <a:rPr lang="en-US" altLang="zh-CN" b="0" i="1" smtClean="0">
                        <a:latin typeface="Cambria Math"/>
                      </a:rPr>
                      <m:t>𝑎𝑢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𝑢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+</m:t>
                    </m:r>
                    <m:r>
                      <a:rPr lang="en-US" altLang="zh-CN" b="0" i="1" smtClean="0">
                        <a:latin typeface="Cambria Math"/>
                      </a:rPr>
                      <m:t>𝑏𝑣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𝑣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dirty="0"/>
                  <a:t>代入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+1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/>
                      </a:rPr>
                      <m:t>𝑢</m:t>
                    </m:r>
                    <m:r>
                      <a:rPr lang="en-US" altLang="zh-CN" b="0" i="1" dirty="0" smtClean="0">
                        <a:latin typeface="Cambria Math"/>
                      </a:rPr>
                      <m:t>,</m:t>
                    </m:r>
                    <m:r>
                      <a:rPr lang="en-US" altLang="zh-CN" b="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zh-CN" altLang="en-US" dirty="0"/>
                  <a:t>不是唯一的，但比较明显的选取为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𝑢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,</m:t>
                    </m:r>
                    <m:r>
                      <a:rPr lang="en-US" altLang="zh-CN" b="0" i="1" smtClean="0">
                        <a:latin typeface="Cambria Math"/>
                      </a:rPr>
                      <m:t>𝑣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r>
                  <a:rPr lang="en-US" altLang="zh-CN" dirty="0"/>
                  <a:t>DFP</a:t>
                </a:r>
                <a:r>
                  <a:rPr lang="zh-CN" altLang="en-US" dirty="0"/>
                  <a:t>方法对二次函数会产生共轭方向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891" r="-1708" b="-26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5013176"/>
            <a:ext cx="4848225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DE5294-3183-447C-A17C-3FC13AA5D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809C02-7551-4999-B0D3-E29EA215A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PCA</a:t>
            </a:r>
          </a:p>
          <a:p>
            <a:pPr lvl="1"/>
            <a:r>
              <a:rPr lang="en-US" altLang="zh-CN" dirty="0"/>
              <a:t>https://github.com/topics/principal-component-analysis-pca</a:t>
            </a:r>
          </a:p>
          <a:p>
            <a:r>
              <a:rPr lang="en-US" altLang="zh-CN" dirty="0"/>
              <a:t>Robust-PCA</a:t>
            </a:r>
          </a:p>
          <a:p>
            <a:pPr lvl="1"/>
            <a:r>
              <a:rPr lang="en-US" altLang="zh-CN" dirty="0"/>
              <a:t>https://github.com/dlaptev/RobustPCA </a:t>
            </a:r>
          </a:p>
          <a:p>
            <a:pPr lvl="1"/>
            <a:r>
              <a:rPr lang="en-US" altLang="zh-CN" b="1" dirty="0"/>
              <a:t>Learned Robust PCA: A Scalable Deep Unfolding Approach for High-Dimensional Outlier Detection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804460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Robust-PCA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2400" dirty="0"/>
                  <a:t>PCA</a:t>
                </a:r>
              </a:p>
              <a:p>
                <a:pPr lvl="1"/>
                <a:r>
                  <a:rPr lang="en-US" altLang="zh-CN" sz="2000" dirty="0"/>
                  <a:t>Suppose high-dimensional data sets in low intrinsic dimensionality(or a low-dimensional manifold)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m:rPr>
                            <m:lit/>
                          </m:r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m:rPr>
                            <m:lit/>
                          </m:r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||</m:t>
                        </m:r>
                      </m:e>
                    </m:func>
                  </m:oMath>
                </a14:m>
                <a:r>
                  <a:rPr lang="en-US" altLang="zh-CN" sz="2000" dirty="0"/>
                  <a:t>, to seek the best rank-k estimate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of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altLang="zh-CN" sz="2000" dirty="0"/>
              </a:p>
              <a:p>
                <a:pPr lvl="1"/>
                <a:r>
                  <a:rPr lang="en-US" altLang="zh-CN" sz="2000" dirty="0"/>
                  <a:t>Can handle small noise, but it is fragile </a:t>
                </a:r>
                <a:r>
                  <a:rPr lang="en-US" altLang="zh-CN" sz="2000" dirty="0" err="1"/>
                  <a:t>wrt</a:t>
                </a:r>
                <a:r>
                  <a:rPr lang="en-US" altLang="zh-CN" sz="2000" dirty="0"/>
                  <a:t>. Grossly corrupted observations(even one such observation)</a:t>
                </a:r>
              </a:p>
              <a:p>
                <a:r>
                  <a:rPr lang="en-US" altLang="zh-CN" sz="2400" dirty="0"/>
                  <a:t>Robust PCA</a:t>
                </a:r>
              </a:p>
              <a:p>
                <a:pPr lvl="1"/>
                <a:r>
                  <a:rPr lang="en-US" altLang="zh-CN" sz="2000" dirty="0"/>
                  <a:t>Data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000" dirty="0"/>
                  <a:t>, where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is low-rank,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is sparse</a:t>
                </a:r>
              </a:p>
              <a:p>
                <a:pPr lvl="1"/>
                <a:r>
                  <a:rPr lang="en-US" altLang="zh-CN" sz="2000" dirty="0"/>
                  <a:t>Whist is similar to this scenario? Background modeling!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8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4563570"/>
            <a:ext cx="2771734" cy="23104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685" y="4563570"/>
            <a:ext cx="2851558" cy="231041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RPCA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观测矩阵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b="0" dirty="0"/>
                  <a:t>的表示</a:t>
                </a:r>
                <a:endParaRPr lang="en-US" altLang="zh-CN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为小扰动矩阵，视为噪声，此时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lim>
                        </m:limLow>
                      </m:fName>
                      <m:e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lit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𝑟𝑎𝑛𝑘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/>
                  <a:t>;</a:t>
                </a:r>
                <a:r>
                  <a:rPr lang="zh-CN" altLang="en-US" dirty="0"/>
                  <a:t>若噪声较小，且为高斯分布的情况下，</a:t>
                </a:r>
                <a:r>
                  <a:rPr lang="en-US" altLang="zh-CN" dirty="0"/>
                  <a:t>PCA</a:t>
                </a:r>
                <a:r>
                  <a:rPr lang="zh-CN" altLang="en-US" dirty="0"/>
                  <a:t>使得计算沿最优性能的方向优化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为满足稀疏约束的噪声矩阵，与上述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的假设不同，可以任意，此时可形式化为：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lim>
                        </m:limLow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𝑟𝑎𝑛𝑘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lit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通常情况下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unc>
                              <m:func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e>
                            </m:func>
                          </m:e>
                        </m:rad>
                      </m:den>
                    </m:f>
                  </m:oMath>
                </a14:m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分别是观测矩阵的行和列数，但这是一个</a:t>
                </a:r>
                <a:r>
                  <a:rPr lang="en-US" altLang="zh-CN" dirty="0"/>
                  <a:t>NP</a:t>
                </a:r>
                <a:r>
                  <a:rPr lang="zh-CN" altLang="en-US" dirty="0"/>
                  <a:t>难问题，不易于求解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537" r="-7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528286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B45EB2-E84D-4A41-806F-2219C51CA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RPCA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9C4CF7F-2643-4F98-B98F-183FBEE3AE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/>
                  <a:t>一般可形式化为</a:t>
                </a:r>
                <a:endParaRPr lang="en-US" altLang="zh-CN" sz="2800" dirty="0"/>
              </a:p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p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lim>
                    </m:limLow>
                    <m:r>
                      <m:rPr>
                        <m:lit/>
                      </m:rPr>
                      <a:rPr lang="en-US" altLang="zh-CN" sz="2800" b="0" i="0" smtClean="0">
                        <a:latin typeface="Cambria Math" panose="02040503050406030204" pitchFamily="18" charset="0"/>
                      </a:rPr>
                      <m:t>||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p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lit/>
                      </m:rPr>
                      <a:rPr lang="en-US" altLang="zh-CN" sz="2800" b="0" i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.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</a:rPr>
                      <m:t>rank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p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lit/>
                      </m:rPr>
                      <a:rPr lang="en-US" altLang="zh-CN" sz="2800" b="0" i="0" smtClean="0">
                        <a:latin typeface="Cambria Math" panose="02040503050406030204" pitchFamily="18" charset="0"/>
                      </a:rPr>
                      <m:t>||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lit/>
                      </m:rPr>
                      <a:rPr lang="en-US" altLang="zh-CN" sz="2800" b="0" i="0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800" b="0" dirty="0"/>
                  <a:t>,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2800" b="0" dirty="0"/>
                  <a:t>为稀疏度</a:t>
                </a:r>
                <a:endParaRPr lang="en-US" altLang="zh-CN" sz="2800" b="0" dirty="0"/>
              </a:p>
              <a:p>
                <a:pPr lvl="1"/>
                <a:r>
                  <a:rPr lang="zh-CN" altLang="en-US" sz="2400" b="0" dirty="0"/>
                  <a:t>但如果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zh-CN" altLang="en-US" sz="2400" b="0" dirty="0"/>
                  <a:t>也是稀疏的，解可能不唯一，反之也一样</a:t>
                </a:r>
                <a:endParaRPr lang="en-US" altLang="zh-CN" sz="2400" b="0" dirty="0"/>
              </a:p>
              <a:p>
                <a:r>
                  <a:rPr lang="zh-CN" altLang="en-US" sz="2800" b="0" dirty="0"/>
                  <a:t>确保唯一性</a:t>
                </a:r>
                <a:endParaRPr lang="en-US" altLang="zh-CN" sz="2800" b="0" dirty="0"/>
              </a:p>
              <a:p>
                <a:pPr lvl="1"/>
                <a:r>
                  <a:rPr lang="zh-CN" altLang="en-US" sz="2400" b="0" dirty="0"/>
                  <a:t>令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WΣ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400" b="0" dirty="0"/>
                  <a:t>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dirty="0" smtClean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zh-CN" altLang="en-US" sz="2400" b="0" dirty="0"/>
                  <a:t>的紧</a:t>
                </a:r>
                <a:r>
                  <a:rPr lang="en-US" altLang="zh-CN" sz="2400" b="0" dirty="0"/>
                  <a:t>SVD</a:t>
                </a:r>
                <a:r>
                  <a:rPr lang="zh-CN" altLang="en-US" sz="2400" b="0" dirty="0"/>
                  <a:t>分解，存在常数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lit/>
                      </m:rPr>
                      <a:rPr lang="en-US" altLang="zh-CN" sz="2400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lit/>
                      </m:rPr>
                      <a:rPr lang="en-US" altLang="zh-CN" sz="24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2,∞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altLang="zh-CN" sz="2400" b="0" dirty="0"/>
                  <a:t>,</a:t>
                </a:r>
                <a:r>
                  <a:rPr lang="zh-CN" altLang="en-US" sz="2400" b="0" dirty="0"/>
                  <a:t>且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400" i="1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lit/>
                      </m:rPr>
                      <a:rPr lang="en-US" altLang="zh-CN" sz="24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2,∞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zh-CN" altLang="en-US" sz="2400" b="0" dirty="0"/>
                  <a:t>（低秩阵不太稀疏）</a:t>
                </a:r>
                <a:endParaRPr lang="en-US" altLang="zh-CN" sz="24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400" b="0" dirty="0"/>
                  <a:t>具有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2400" b="0" dirty="0"/>
                  <a:t>稀疏性，每行每列最多有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b="0" dirty="0"/>
                  <a:t>个非零值（稀疏阵不太稠密）</a:t>
                </a:r>
                <a:endParaRPr lang="en-US" altLang="zh-CN" sz="2400" b="0" dirty="0"/>
              </a:p>
              <a:p>
                <a:r>
                  <a:rPr lang="zh-CN" altLang="en-US" sz="2800" b="0" dirty="0"/>
                  <a:t>最好复杂性：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0" dirty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altLang="zh-CN" i="0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nlog</m:t>
                        </m:r>
                      </m:e>
                      <m:sup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CN" i="0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zh-CN" altLang="en-US" b="0" dirty="0"/>
                  <a:t>，一般为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rn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b="0" dirty="0"/>
              </a:p>
              <a:p>
                <a:pPr lvl="1"/>
                <a:endParaRPr lang="en-US" altLang="zh-CN" sz="2400" b="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9C4CF7F-2643-4F98-B98F-183FBEE3AE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300" r="-12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8774454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RPCA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稀疏建模中，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范数是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范数的最佳凸松弛，而矩阵核范数是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𝑟𝑎𝑛𝑘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zh-CN" altLang="en-US" dirty="0"/>
                  <a:t>函数的最佳凸松弛，因此上述</a:t>
                </a:r>
                <a:r>
                  <a:rPr lang="en-US" altLang="zh-CN" dirty="0"/>
                  <a:t>NP</a:t>
                </a:r>
                <a:r>
                  <a:rPr lang="zh-CN" altLang="en-US" dirty="0"/>
                  <a:t>问题可以转化为：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lim>
                        </m:limLow>
                      </m:fName>
                      <m:e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lit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lit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，这里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zh-CN" altLang="en-US" dirty="0"/>
                  <a:t>表示核范数，即矩阵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的所有奇异值的和，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/>
                      <m:e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</m:oMath>
                </a14:m>
                <a:r>
                  <a:rPr lang="zh-CN" altLang="en-US" dirty="0"/>
                  <a:t>表示矩阵的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范数。其求解方法与稀疏模型中的类似，称为</a:t>
                </a:r>
                <a:r>
                  <a:rPr lang="en-US" altLang="zh-CN" dirty="0"/>
                  <a:t>PCP</a:t>
                </a:r>
                <a:r>
                  <a:rPr lang="zh-CN" altLang="en-US" dirty="0"/>
                  <a:t>主成份追踪。现在常用增广拉格朗日方法</a:t>
                </a:r>
                <a:r>
                  <a:rPr lang="en-US" altLang="zh-CN" dirty="0"/>
                  <a:t>ALM</a:t>
                </a:r>
                <a:r>
                  <a:rPr lang="zh-CN" altLang="en-US" dirty="0"/>
                  <a:t>和交替方向法</a:t>
                </a:r>
                <a:r>
                  <a:rPr lang="en-US" altLang="zh-CN" dirty="0"/>
                  <a:t>ADM</a:t>
                </a:r>
                <a:r>
                  <a:rPr lang="zh-CN" altLang="en-US"/>
                  <a:t>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537" r="-12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8225885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E20F51-E44A-4369-A9A0-9B117CAE5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53C429-E950-460E-B92A-3F08C8273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1.</a:t>
            </a:r>
            <a:r>
              <a:rPr lang="zh-CN" altLang="en-US" sz="2400" dirty="0"/>
              <a:t>理解</a:t>
            </a:r>
            <a:r>
              <a:rPr lang="en-US" altLang="zh-CN" sz="2400" dirty="0"/>
              <a:t>PCA</a:t>
            </a:r>
            <a:r>
              <a:rPr lang="zh-CN" altLang="en-US" sz="2400" dirty="0"/>
              <a:t>，</a:t>
            </a:r>
            <a:r>
              <a:rPr lang="en-US" altLang="zh-CN" sz="2400" dirty="0"/>
              <a:t>RPCA</a:t>
            </a:r>
            <a:r>
              <a:rPr lang="zh-CN" altLang="en-US" sz="2400" dirty="0"/>
              <a:t>的核心算法思想，编程实现</a:t>
            </a:r>
            <a:r>
              <a:rPr lang="en-US" altLang="zh-CN" sz="2400" dirty="0"/>
              <a:t>PCA</a:t>
            </a:r>
            <a:r>
              <a:rPr lang="zh-CN" altLang="en-US" sz="2400" dirty="0"/>
              <a:t>，</a:t>
            </a:r>
            <a:r>
              <a:rPr lang="en-US" altLang="zh-CN" sz="2400" dirty="0"/>
              <a:t>RPCA</a:t>
            </a:r>
            <a:r>
              <a:rPr lang="zh-CN" altLang="en-US" sz="2400" dirty="0"/>
              <a:t>的核心算法，并用人脸识别等视觉任务作为例子，比较原始特征、</a:t>
            </a:r>
            <a:r>
              <a:rPr lang="en-US" altLang="zh-CN" sz="2400" dirty="0"/>
              <a:t>PCA</a:t>
            </a:r>
            <a:r>
              <a:rPr lang="zh-CN" altLang="en-US" sz="2400" dirty="0"/>
              <a:t>特征，以及</a:t>
            </a:r>
            <a:r>
              <a:rPr lang="en-US" altLang="zh-CN" sz="2400" dirty="0"/>
              <a:t>RPCA</a:t>
            </a:r>
            <a:r>
              <a:rPr lang="zh-CN" altLang="en-US" sz="2400" dirty="0"/>
              <a:t>特征的性能差别；</a:t>
            </a:r>
            <a:endParaRPr lang="en-US" altLang="zh-CN" sz="2400" dirty="0"/>
          </a:p>
          <a:p>
            <a:r>
              <a:rPr lang="en-US" altLang="zh-CN" sz="2400" dirty="0"/>
              <a:t>2.</a:t>
            </a:r>
            <a:r>
              <a:rPr lang="zh-CN" altLang="en-US" sz="2400" dirty="0"/>
              <a:t>理解</a:t>
            </a:r>
            <a:r>
              <a:rPr lang="en-US" altLang="zh-CN" sz="2400" dirty="0" err="1"/>
              <a:t>PCANet</a:t>
            </a:r>
            <a:r>
              <a:rPr lang="zh-CN" altLang="en-US" sz="2400" dirty="0"/>
              <a:t>，</a:t>
            </a:r>
            <a:r>
              <a:rPr lang="en-US" altLang="zh-CN" sz="2400" dirty="0"/>
              <a:t>RPCA</a:t>
            </a:r>
            <a:r>
              <a:rPr lang="zh-CN" altLang="en-US" sz="2400" dirty="0"/>
              <a:t>等采用神经网络来实现的基本原理，编程实现其算法，并对比原始</a:t>
            </a:r>
            <a:r>
              <a:rPr lang="en-US" altLang="zh-CN" sz="2400" dirty="0"/>
              <a:t>PCA</a:t>
            </a:r>
            <a:r>
              <a:rPr lang="zh-CN" altLang="en-US" sz="2400" dirty="0"/>
              <a:t>，</a:t>
            </a:r>
            <a:r>
              <a:rPr lang="en-US" altLang="zh-CN" sz="2400" dirty="0"/>
              <a:t>RPCA</a:t>
            </a:r>
            <a:r>
              <a:rPr lang="zh-CN" altLang="en-US" sz="2400" dirty="0"/>
              <a:t>的性能；</a:t>
            </a:r>
            <a:endParaRPr lang="en-US" altLang="zh-CN" sz="2400" dirty="0"/>
          </a:p>
          <a:p>
            <a:r>
              <a:rPr lang="en-US" altLang="zh-CN" sz="2400" dirty="0"/>
              <a:t>3.</a:t>
            </a:r>
            <a:r>
              <a:rPr lang="zh-CN" altLang="en-US" sz="2400" dirty="0"/>
              <a:t>理解</a:t>
            </a:r>
            <a:r>
              <a:rPr lang="en-US" altLang="zh-CN" sz="2400" dirty="0"/>
              <a:t>SVD</a:t>
            </a:r>
            <a:r>
              <a:rPr lang="zh-CN" altLang="en-US" sz="2400" dirty="0"/>
              <a:t>的基本原理，编程实现</a:t>
            </a:r>
            <a:r>
              <a:rPr lang="en-US" altLang="zh-CN" sz="2400" dirty="0"/>
              <a:t>SVD</a:t>
            </a:r>
            <a:r>
              <a:rPr lang="zh-CN" altLang="en-US" sz="2400" dirty="0"/>
              <a:t>在视觉、语言等</a:t>
            </a:r>
            <a:r>
              <a:rPr lang="en-US" altLang="zh-CN" sz="2400" dirty="0"/>
              <a:t>AI</a:t>
            </a:r>
            <a:r>
              <a:rPr lang="zh-CN" altLang="en-US" sz="2400" dirty="0"/>
              <a:t>任务中的应用，理解其核心思想；</a:t>
            </a:r>
            <a:endParaRPr lang="en-US" altLang="zh-CN" sz="2400" dirty="0"/>
          </a:p>
          <a:p>
            <a:r>
              <a:rPr lang="en-US" altLang="zh-CN" sz="2400" dirty="0"/>
              <a:t>4.</a:t>
            </a:r>
            <a:r>
              <a:rPr lang="zh-CN" altLang="en-US" sz="2400" dirty="0"/>
              <a:t>理解</a:t>
            </a:r>
            <a:r>
              <a:rPr lang="en-US" altLang="zh-CN" sz="2400" dirty="0"/>
              <a:t>SVD Net</a:t>
            </a:r>
            <a:r>
              <a:rPr lang="zh-CN" altLang="en-US" sz="2400" dirty="0"/>
              <a:t>的基本原理，熟悉数学方法和神经网络框架之间的内在联系，编程实现</a:t>
            </a:r>
            <a:r>
              <a:rPr lang="en-US" altLang="zh-CN" sz="2400" dirty="0"/>
              <a:t>SVD Net</a:t>
            </a:r>
            <a:r>
              <a:rPr lang="zh-CN" altLang="en-US" sz="2400" dirty="0"/>
              <a:t>，并采用视觉或语言任务作为应用案例，讨论</a:t>
            </a:r>
            <a:r>
              <a:rPr lang="en-US" altLang="zh-CN" sz="2400" dirty="0"/>
              <a:t>SVD</a:t>
            </a:r>
            <a:r>
              <a:rPr lang="zh-CN" altLang="en-US" sz="2400" dirty="0"/>
              <a:t>和</a:t>
            </a:r>
            <a:r>
              <a:rPr lang="en-US" altLang="zh-CN" sz="2400" dirty="0"/>
              <a:t>SVD net</a:t>
            </a:r>
            <a:r>
              <a:rPr lang="zh-CN" altLang="en-US" sz="2400" dirty="0"/>
              <a:t>等的性能比较；</a:t>
            </a:r>
            <a:endParaRPr lang="en-US" altLang="zh-CN" sz="2400" dirty="0"/>
          </a:p>
          <a:p>
            <a:r>
              <a:rPr lang="en-US" altLang="zh-CN" sz="2400" dirty="0"/>
              <a:t>5.</a:t>
            </a:r>
            <a:r>
              <a:rPr lang="zh-CN" altLang="en-US" sz="2400" dirty="0"/>
              <a:t>阅读至少跟</a:t>
            </a:r>
            <a:r>
              <a:rPr lang="en-US" altLang="zh-CN" sz="2400" dirty="0"/>
              <a:t>PCA</a:t>
            </a:r>
            <a:r>
              <a:rPr lang="zh-CN" altLang="en-US" sz="2400" dirty="0"/>
              <a:t>，</a:t>
            </a:r>
            <a:r>
              <a:rPr lang="en-US" altLang="zh-CN" sz="2400" dirty="0"/>
              <a:t>SVD</a:t>
            </a:r>
            <a:r>
              <a:rPr lang="zh-CN" altLang="en-US" sz="2400" dirty="0"/>
              <a:t>相关的最新论文（建议</a:t>
            </a:r>
            <a:r>
              <a:rPr lang="en-US" altLang="zh-CN" sz="2400" dirty="0"/>
              <a:t>2025-2026</a:t>
            </a:r>
            <a:r>
              <a:rPr lang="zh-CN" altLang="en-US" sz="2400" dirty="0"/>
              <a:t>），介绍其最新应用。</a:t>
            </a:r>
          </a:p>
        </p:txBody>
      </p:sp>
    </p:spTree>
    <p:extLst>
      <p:ext uri="{BB962C8B-B14F-4D97-AF65-F5344CB8AC3E}">
        <p14:creationId xmlns:p14="http://schemas.microsoft.com/office/powerpoint/2010/main" val="4136054413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B1E814-D1F6-49A4-A841-90CD2072F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参考文献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B3AA0B-C172-4326-B774-DA3F28A0C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-Roman"/>
              </a:rPr>
              <a:t>PCA:</a:t>
            </a:r>
          </a:p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-Roman"/>
              </a:rPr>
              <a:t>Tsung-Han Chan,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-Roman"/>
              </a:rPr>
              <a:t>Kui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-Roman"/>
              </a:rPr>
              <a:t> Jia,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-Roman"/>
              </a:rPr>
              <a:t>Shenghua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-Roman"/>
              </a:rPr>
              <a:t> Gao,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-Roman"/>
              </a:rPr>
              <a:t>Jiwen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-Roman"/>
              </a:rPr>
              <a:t> Lu,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-Roman"/>
              </a:rPr>
              <a:t>Zinan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-Roman"/>
              </a:rPr>
              <a:t> Zeng, Yi Ma.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-Roman"/>
              </a:rPr>
              <a:t>PCANet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-Roman"/>
              </a:rPr>
              <a:t>: A Simple Deep Learning Baseline for Image Classification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Times-Roman"/>
              </a:rPr>
              <a:t>.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-Roman"/>
              </a:rPr>
              <a:t>IEEE TRANSACTIONS ON IMAGE PROCESSING, VOL. 24, NO. 12, DECEMBER 2015</a:t>
            </a:r>
            <a:r>
              <a:rPr lang="en-US" altLang="zh-CN" sz="800" dirty="0"/>
              <a:t> </a:t>
            </a:r>
          </a:p>
          <a:p>
            <a:r>
              <a:rPr lang="en-US" altLang="zh-CN" sz="1800" dirty="0" err="1">
                <a:solidFill>
                  <a:srgbClr val="000000"/>
                </a:solidFill>
                <a:latin typeface="Times-Roman"/>
              </a:rPr>
              <a:t>HanQin</a:t>
            </a:r>
            <a:r>
              <a:rPr lang="en-US" altLang="zh-CN" sz="1800" dirty="0">
                <a:solidFill>
                  <a:srgbClr val="000000"/>
                </a:solidFill>
                <a:latin typeface="Times-Roman"/>
              </a:rPr>
              <a:t> Cai, </a:t>
            </a:r>
            <a:r>
              <a:rPr lang="en-US" altLang="zh-CN" sz="1800" dirty="0" err="1">
                <a:solidFill>
                  <a:srgbClr val="000000"/>
                </a:solidFill>
                <a:latin typeface="Times-Roman"/>
              </a:rPr>
              <a:t>Jialin</a:t>
            </a:r>
            <a:r>
              <a:rPr lang="en-US" altLang="zh-CN" sz="1800" dirty="0">
                <a:solidFill>
                  <a:srgbClr val="000000"/>
                </a:solidFill>
                <a:latin typeface="Times-Roman"/>
              </a:rPr>
              <a:t> Liu, </a:t>
            </a:r>
            <a:r>
              <a:rPr lang="en-US" altLang="zh-CN" sz="1800" dirty="0" err="1">
                <a:solidFill>
                  <a:srgbClr val="000000"/>
                </a:solidFill>
                <a:latin typeface="Times-Roman"/>
              </a:rPr>
              <a:t>Wotao</a:t>
            </a:r>
            <a:r>
              <a:rPr lang="en-US" altLang="zh-CN" sz="1800" dirty="0">
                <a:solidFill>
                  <a:srgbClr val="000000"/>
                </a:solidFill>
                <a:latin typeface="Times-Roman"/>
              </a:rPr>
              <a:t> Yin. Learned Robust PCA: A Scalable Deep Unfolding Approach for High-Dimensional Outlier Detection, </a:t>
            </a:r>
            <a:r>
              <a:rPr lang="en-US" altLang="zh-CN" sz="1800" dirty="0" err="1">
                <a:solidFill>
                  <a:srgbClr val="000000"/>
                </a:solidFill>
                <a:latin typeface="Times-Roman"/>
              </a:rPr>
              <a:t>NeurIPS</a:t>
            </a:r>
            <a:r>
              <a:rPr lang="en-US" altLang="zh-CN" sz="1800" dirty="0">
                <a:solidFill>
                  <a:srgbClr val="000000"/>
                </a:solidFill>
                <a:latin typeface="Times-Roman"/>
              </a:rPr>
              <a:t> 2021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Times-Roman"/>
              </a:rPr>
              <a:t>SVD:</a:t>
            </a:r>
            <a:br>
              <a:rPr lang="en-US" altLang="zh-CN" sz="1800" dirty="0">
                <a:solidFill>
                  <a:srgbClr val="000000"/>
                </a:solidFill>
                <a:latin typeface="Times-Roman"/>
              </a:rPr>
            </a:br>
            <a:r>
              <a:rPr lang="en-US" altLang="zh-CN" sz="1600" dirty="0" err="1"/>
              <a:t>Zhengxia</a:t>
            </a:r>
            <a:r>
              <a:rPr lang="en-US" altLang="zh-CN" sz="1600" dirty="0"/>
              <a:t> Zou and </a:t>
            </a:r>
            <a:r>
              <a:rPr lang="en-US" altLang="zh-CN" sz="1600" dirty="0" err="1"/>
              <a:t>Zhenwei</a:t>
            </a:r>
            <a:r>
              <a:rPr lang="en-US" altLang="zh-CN" sz="1600" dirty="0"/>
              <a:t> Shi,  Ship Detection in Spaceborne Optical Image With SVD Networks</a:t>
            </a:r>
            <a:r>
              <a:rPr lang="zh-CN" altLang="en-US" sz="1600" dirty="0"/>
              <a:t>， </a:t>
            </a:r>
            <a:r>
              <a:rPr lang="en-US" altLang="zh-CN" sz="1600" dirty="0"/>
              <a:t>IEEE TRANSACTIONSONGEOSCIENCEANDREMOTESENSING, </a:t>
            </a:r>
            <a:br>
              <a:rPr lang="en-US" altLang="zh-CN" sz="1050" dirty="0"/>
            </a:br>
            <a:r>
              <a:rPr lang="en-US" altLang="zh-CN" sz="1600" dirty="0"/>
              <a:t>VOL.54,NO.10,OCTOBER2016</a:t>
            </a:r>
          </a:p>
          <a:p>
            <a:r>
              <a:rPr lang="en-US" altLang="zh-CN" sz="1600" dirty="0" err="1"/>
              <a:t>Yifan</a:t>
            </a:r>
            <a:r>
              <a:rPr lang="en-US" altLang="zh-CN" sz="1600" dirty="0"/>
              <a:t> Sun, Liang Zheng, </a:t>
            </a:r>
            <a:r>
              <a:rPr lang="en-US" altLang="zh-CN" sz="1600" dirty="0" err="1"/>
              <a:t>Weijian</a:t>
            </a:r>
            <a:r>
              <a:rPr lang="en-US" altLang="zh-CN" sz="1600" dirty="0"/>
              <a:t> Deng, </a:t>
            </a:r>
            <a:r>
              <a:rPr lang="en-US" altLang="zh-CN" sz="1600" dirty="0" err="1"/>
              <a:t>Shengjin</a:t>
            </a:r>
            <a:r>
              <a:rPr lang="en-US" altLang="zh-CN" sz="1600" dirty="0"/>
              <a:t> Wang. </a:t>
            </a:r>
            <a:r>
              <a:rPr lang="en-US" altLang="zh-CN" sz="1600" dirty="0" err="1"/>
              <a:t>SVDNet</a:t>
            </a:r>
            <a:r>
              <a:rPr lang="en-US" altLang="zh-CN" sz="1600" dirty="0"/>
              <a:t> for Pedestrian </a:t>
            </a:r>
            <a:r>
              <a:rPr lang="en-US" altLang="zh-CN" sz="1600" dirty="0" err="1"/>
              <a:t>Retrieval,ICCV</a:t>
            </a:r>
            <a:r>
              <a:rPr lang="en-US" altLang="zh-CN" sz="1600" dirty="0"/>
              <a:t> 2017</a:t>
            </a:r>
          </a:p>
          <a:p>
            <a:r>
              <a:rPr lang="zh-CN" altLang="en-US" sz="1600" dirty="0"/>
              <a:t>大部分</a:t>
            </a:r>
            <a:r>
              <a:rPr lang="en-US" altLang="zh-CN" sz="1600" dirty="0" err="1"/>
              <a:t>Github</a:t>
            </a:r>
            <a:r>
              <a:rPr lang="zh-CN" altLang="en-US" sz="1600" dirty="0"/>
              <a:t>上源代码参考！</a:t>
            </a:r>
          </a:p>
        </p:txBody>
      </p:sp>
    </p:spTree>
    <p:extLst>
      <p:ext uri="{BB962C8B-B14F-4D97-AF65-F5344CB8AC3E}">
        <p14:creationId xmlns:p14="http://schemas.microsoft.com/office/powerpoint/2010/main" val="139197105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Cactus">
  <a:themeElements>
    <a:clrScheme name="Cactus 2">
      <a:dk1>
        <a:srgbClr val="000000"/>
      </a:dk1>
      <a:lt1>
        <a:srgbClr val="FFFFFF"/>
      </a:lt1>
      <a:dk2>
        <a:srgbClr val="000000"/>
      </a:dk2>
      <a:lt2>
        <a:srgbClr val="006600"/>
      </a:lt2>
      <a:accent1>
        <a:srgbClr val="F5EBC1"/>
      </a:accent1>
      <a:accent2>
        <a:srgbClr val="FFCC00"/>
      </a:accent2>
      <a:accent3>
        <a:srgbClr val="FFFFFF"/>
      </a:accent3>
      <a:accent4>
        <a:srgbClr val="000000"/>
      </a:accent4>
      <a:accent5>
        <a:srgbClr val="F9F3DD"/>
      </a:accent5>
      <a:accent6>
        <a:srgbClr val="E7B900"/>
      </a:accent6>
      <a:hlink>
        <a:srgbClr val="D4876C"/>
      </a:hlink>
      <a:folHlink>
        <a:srgbClr val="B2B2B2"/>
      </a:folHlink>
    </a:clrScheme>
    <a:fontScheme name="Cactu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3366"/>
        </a:solidFill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just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3366"/>
        </a:solidFill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just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lnDef>
  </a:objectDefaults>
  <a:extraClrSchemeLst>
    <a:extraClrScheme>
      <a:clrScheme name="Cactus 1">
        <a:dk1>
          <a:srgbClr val="FF9900"/>
        </a:dk1>
        <a:lt1>
          <a:srgbClr val="FFFFCC"/>
        </a:lt1>
        <a:dk2>
          <a:srgbClr val="000000"/>
        </a:dk2>
        <a:lt2>
          <a:srgbClr val="FFCC00"/>
        </a:lt2>
        <a:accent1>
          <a:srgbClr val="6B6253"/>
        </a:accent1>
        <a:accent2>
          <a:srgbClr val="72543E"/>
        </a:accent2>
        <a:accent3>
          <a:srgbClr val="AAAAAA"/>
        </a:accent3>
        <a:accent4>
          <a:srgbClr val="DADAAE"/>
        </a:accent4>
        <a:accent5>
          <a:srgbClr val="BAB7B3"/>
        </a:accent5>
        <a:accent6>
          <a:srgbClr val="674B37"/>
        </a:accent6>
        <a:hlink>
          <a:srgbClr val="DA988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ctus 2">
        <a:dk1>
          <a:srgbClr val="000000"/>
        </a:dk1>
        <a:lt1>
          <a:srgbClr val="FFFFFF"/>
        </a:lt1>
        <a:dk2>
          <a:srgbClr val="000000"/>
        </a:dk2>
        <a:lt2>
          <a:srgbClr val="006600"/>
        </a:lt2>
        <a:accent1>
          <a:srgbClr val="F5EBC1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9F3DD"/>
        </a:accent5>
        <a:accent6>
          <a:srgbClr val="E7B900"/>
        </a:accent6>
        <a:hlink>
          <a:srgbClr val="D4876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ctus 3">
        <a:dk1>
          <a:srgbClr val="000000"/>
        </a:dk1>
        <a:lt1>
          <a:srgbClr val="FFFFFF"/>
        </a:lt1>
        <a:dk2>
          <a:srgbClr val="000000"/>
        </a:dk2>
        <a:lt2>
          <a:srgbClr val="292929"/>
        </a:lt2>
        <a:accent1>
          <a:srgbClr val="EAEAEA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878787"/>
        </a:accent6>
        <a:hlink>
          <a:srgbClr val="5F5F5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ctus 4">
        <a:dk1>
          <a:srgbClr val="000000"/>
        </a:dk1>
        <a:lt1>
          <a:srgbClr val="FFFFFF"/>
        </a:lt1>
        <a:dk2>
          <a:srgbClr val="000000"/>
        </a:dk2>
        <a:lt2>
          <a:srgbClr val="006600"/>
        </a:lt2>
        <a:accent1>
          <a:srgbClr val="D8EBB3"/>
        </a:accent1>
        <a:accent2>
          <a:srgbClr val="CCCC00"/>
        </a:accent2>
        <a:accent3>
          <a:srgbClr val="FFFFFF"/>
        </a:accent3>
        <a:accent4>
          <a:srgbClr val="000000"/>
        </a:accent4>
        <a:accent5>
          <a:srgbClr val="E9F3D6"/>
        </a:accent5>
        <a:accent6>
          <a:srgbClr val="B9B900"/>
        </a:accent6>
        <a:hlink>
          <a:srgbClr val="FFBE7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ctus 5">
        <a:dk1>
          <a:srgbClr val="000000"/>
        </a:dk1>
        <a:lt1>
          <a:srgbClr val="E5D3B3"/>
        </a:lt1>
        <a:dk2>
          <a:srgbClr val="800000"/>
        </a:dk2>
        <a:lt2>
          <a:srgbClr val="009900"/>
        </a:lt2>
        <a:accent1>
          <a:srgbClr val="D5B095"/>
        </a:accent1>
        <a:accent2>
          <a:srgbClr val="E28666"/>
        </a:accent2>
        <a:accent3>
          <a:srgbClr val="F0E6D6"/>
        </a:accent3>
        <a:accent4>
          <a:srgbClr val="000000"/>
        </a:accent4>
        <a:accent5>
          <a:srgbClr val="E7D4C8"/>
        </a:accent5>
        <a:accent6>
          <a:srgbClr val="CD795C"/>
        </a:accent6>
        <a:hlink>
          <a:srgbClr val="B75735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ctus 6">
        <a:dk1>
          <a:srgbClr val="99CC00"/>
        </a:dk1>
        <a:lt1>
          <a:srgbClr val="FFFFFF"/>
        </a:lt1>
        <a:dk2>
          <a:srgbClr val="51399D"/>
        </a:dk2>
        <a:lt2>
          <a:srgbClr val="FFFFCC"/>
        </a:lt2>
        <a:accent1>
          <a:srgbClr val="877CAA"/>
        </a:accent1>
        <a:accent2>
          <a:srgbClr val="000058"/>
        </a:accent2>
        <a:accent3>
          <a:srgbClr val="B3AECC"/>
        </a:accent3>
        <a:accent4>
          <a:srgbClr val="DADADA"/>
        </a:accent4>
        <a:accent5>
          <a:srgbClr val="C3BFD2"/>
        </a:accent5>
        <a:accent6>
          <a:srgbClr val="00004F"/>
        </a:accent6>
        <a:hlink>
          <a:srgbClr val="FFCC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actus">
  <a:themeElements>
    <a:clrScheme name="1_Cactus 2">
      <a:dk1>
        <a:srgbClr val="000000"/>
      </a:dk1>
      <a:lt1>
        <a:srgbClr val="FFFFFF"/>
      </a:lt1>
      <a:dk2>
        <a:srgbClr val="000000"/>
      </a:dk2>
      <a:lt2>
        <a:srgbClr val="006600"/>
      </a:lt2>
      <a:accent1>
        <a:srgbClr val="F5EBC1"/>
      </a:accent1>
      <a:accent2>
        <a:srgbClr val="FFCC00"/>
      </a:accent2>
      <a:accent3>
        <a:srgbClr val="FFFFFF"/>
      </a:accent3>
      <a:accent4>
        <a:srgbClr val="000000"/>
      </a:accent4>
      <a:accent5>
        <a:srgbClr val="F9F3DD"/>
      </a:accent5>
      <a:accent6>
        <a:srgbClr val="E7B900"/>
      </a:accent6>
      <a:hlink>
        <a:srgbClr val="D4876C"/>
      </a:hlink>
      <a:folHlink>
        <a:srgbClr val="B2B2B2"/>
      </a:folHlink>
    </a:clrScheme>
    <a:fontScheme name="1_Cactu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3366"/>
        </a:solidFill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just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3366"/>
        </a:solidFill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just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lnDef>
  </a:objectDefaults>
  <a:extraClrSchemeLst>
    <a:extraClrScheme>
      <a:clrScheme name="1_Cactus 1">
        <a:dk1>
          <a:srgbClr val="FF9900"/>
        </a:dk1>
        <a:lt1>
          <a:srgbClr val="FFFFCC"/>
        </a:lt1>
        <a:dk2>
          <a:srgbClr val="000000"/>
        </a:dk2>
        <a:lt2>
          <a:srgbClr val="FFCC00"/>
        </a:lt2>
        <a:accent1>
          <a:srgbClr val="6B6253"/>
        </a:accent1>
        <a:accent2>
          <a:srgbClr val="72543E"/>
        </a:accent2>
        <a:accent3>
          <a:srgbClr val="AAAAAA"/>
        </a:accent3>
        <a:accent4>
          <a:srgbClr val="DADAAE"/>
        </a:accent4>
        <a:accent5>
          <a:srgbClr val="BAB7B3"/>
        </a:accent5>
        <a:accent6>
          <a:srgbClr val="674B37"/>
        </a:accent6>
        <a:hlink>
          <a:srgbClr val="DA988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actus 2">
        <a:dk1>
          <a:srgbClr val="000000"/>
        </a:dk1>
        <a:lt1>
          <a:srgbClr val="FFFFFF"/>
        </a:lt1>
        <a:dk2>
          <a:srgbClr val="000000"/>
        </a:dk2>
        <a:lt2>
          <a:srgbClr val="006600"/>
        </a:lt2>
        <a:accent1>
          <a:srgbClr val="F5EBC1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9F3DD"/>
        </a:accent5>
        <a:accent6>
          <a:srgbClr val="E7B900"/>
        </a:accent6>
        <a:hlink>
          <a:srgbClr val="D4876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actus 3">
        <a:dk1>
          <a:srgbClr val="000000"/>
        </a:dk1>
        <a:lt1>
          <a:srgbClr val="FFFFFF"/>
        </a:lt1>
        <a:dk2>
          <a:srgbClr val="000000"/>
        </a:dk2>
        <a:lt2>
          <a:srgbClr val="292929"/>
        </a:lt2>
        <a:accent1>
          <a:srgbClr val="EAEAEA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878787"/>
        </a:accent6>
        <a:hlink>
          <a:srgbClr val="5F5F5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actus 4">
        <a:dk1>
          <a:srgbClr val="000000"/>
        </a:dk1>
        <a:lt1>
          <a:srgbClr val="FFFFFF"/>
        </a:lt1>
        <a:dk2>
          <a:srgbClr val="000000"/>
        </a:dk2>
        <a:lt2>
          <a:srgbClr val="006600"/>
        </a:lt2>
        <a:accent1>
          <a:srgbClr val="D8EBB3"/>
        </a:accent1>
        <a:accent2>
          <a:srgbClr val="CCCC00"/>
        </a:accent2>
        <a:accent3>
          <a:srgbClr val="FFFFFF"/>
        </a:accent3>
        <a:accent4>
          <a:srgbClr val="000000"/>
        </a:accent4>
        <a:accent5>
          <a:srgbClr val="E9F3D6"/>
        </a:accent5>
        <a:accent6>
          <a:srgbClr val="B9B900"/>
        </a:accent6>
        <a:hlink>
          <a:srgbClr val="FFBE7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actus 5">
        <a:dk1>
          <a:srgbClr val="000000"/>
        </a:dk1>
        <a:lt1>
          <a:srgbClr val="E5D3B3"/>
        </a:lt1>
        <a:dk2>
          <a:srgbClr val="800000"/>
        </a:dk2>
        <a:lt2>
          <a:srgbClr val="009900"/>
        </a:lt2>
        <a:accent1>
          <a:srgbClr val="D5B095"/>
        </a:accent1>
        <a:accent2>
          <a:srgbClr val="E28666"/>
        </a:accent2>
        <a:accent3>
          <a:srgbClr val="F0E6D6"/>
        </a:accent3>
        <a:accent4>
          <a:srgbClr val="000000"/>
        </a:accent4>
        <a:accent5>
          <a:srgbClr val="E7D4C8"/>
        </a:accent5>
        <a:accent6>
          <a:srgbClr val="CD795C"/>
        </a:accent6>
        <a:hlink>
          <a:srgbClr val="B75735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actus 6">
        <a:dk1>
          <a:srgbClr val="99CC00"/>
        </a:dk1>
        <a:lt1>
          <a:srgbClr val="FFFFFF"/>
        </a:lt1>
        <a:dk2>
          <a:srgbClr val="51399D"/>
        </a:dk2>
        <a:lt2>
          <a:srgbClr val="FFFFCC"/>
        </a:lt2>
        <a:accent1>
          <a:srgbClr val="877CAA"/>
        </a:accent1>
        <a:accent2>
          <a:srgbClr val="000058"/>
        </a:accent2>
        <a:accent3>
          <a:srgbClr val="B3AECC"/>
        </a:accent3>
        <a:accent4>
          <a:srgbClr val="DADADA"/>
        </a:accent4>
        <a:accent5>
          <a:srgbClr val="C3BFD2"/>
        </a:accent5>
        <a:accent6>
          <a:srgbClr val="00004F"/>
        </a:accent6>
        <a:hlink>
          <a:srgbClr val="FFCC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2378</TotalTime>
  <Words>2625</Words>
  <Application>Microsoft Office PowerPoint</Application>
  <PresentationFormat>全屏显示(4:3)</PresentationFormat>
  <Paragraphs>231</Paragraphs>
  <Slides>33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2" baseType="lpstr">
      <vt:lpstr>Times-Roman</vt:lpstr>
      <vt:lpstr>宋体</vt:lpstr>
      <vt:lpstr>Arial</vt:lpstr>
      <vt:lpstr>Arial Black</vt:lpstr>
      <vt:lpstr>Arial Narrow</vt:lpstr>
      <vt:lpstr>Cambria Math</vt:lpstr>
      <vt:lpstr>Times New Roman</vt:lpstr>
      <vt:lpstr>Cactus</vt:lpstr>
      <vt:lpstr>1_Cactus</vt:lpstr>
      <vt:lpstr>PCA-RPCA简介</vt:lpstr>
      <vt:lpstr>Outline</vt:lpstr>
      <vt:lpstr>Dimensionality Reduction</vt:lpstr>
      <vt:lpstr>Dimensionality Reduction</vt:lpstr>
      <vt:lpstr>基本概念</vt:lpstr>
      <vt:lpstr>基本概念</vt:lpstr>
      <vt:lpstr>基本概念(注)</vt:lpstr>
      <vt:lpstr>基本概念（注）</vt:lpstr>
      <vt:lpstr>Dimensionality Reduction</vt:lpstr>
      <vt:lpstr>PowerPoint 演示文稿</vt:lpstr>
      <vt:lpstr>计算特征值和特征向量</vt:lpstr>
      <vt:lpstr>特征值和特征向量的计算</vt:lpstr>
      <vt:lpstr>特征值和特征向量的计算</vt:lpstr>
      <vt:lpstr>特征值和特征向量的计算</vt:lpstr>
      <vt:lpstr>特征值和特征向量的计算</vt:lpstr>
      <vt:lpstr>矩阵的特征向量</vt:lpstr>
      <vt:lpstr>Principal-Component Analysis</vt:lpstr>
      <vt:lpstr>PCA</vt:lpstr>
      <vt:lpstr>PCA</vt:lpstr>
      <vt:lpstr>PCA</vt:lpstr>
      <vt:lpstr>PCA</vt:lpstr>
      <vt:lpstr>PCA</vt:lpstr>
      <vt:lpstr>PCA</vt:lpstr>
      <vt:lpstr>PCA的一些应用实例及分析</vt:lpstr>
      <vt:lpstr>PCA</vt:lpstr>
      <vt:lpstr>PCA</vt:lpstr>
      <vt:lpstr>PowerPoint 演示文稿</vt:lpstr>
      <vt:lpstr>Robust-PCA</vt:lpstr>
      <vt:lpstr>RPCA</vt:lpstr>
      <vt:lpstr>RPCA</vt:lpstr>
      <vt:lpstr>RPCA</vt:lpstr>
      <vt:lpstr>实验内容</vt:lpstr>
      <vt:lpstr>参考文献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计算机视觉第二讲 边缘检测 角点提取</dc:title>
  <dc:creator>Administrator</dc:creator>
  <cp:lastModifiedBy>刘绍辉</cp:lastModifiedBy>
  <cp:revision>182</cp:revision>
  <dcterms:created xsi:type="dcterms:W3CDTF">2019-11-25T11:20:15Z</dcterms:created>
  <dcterms:modified xsi:type="dcterms:W3CDTF">2026-03-30T07:27:51Z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2052-11.1.0.9208</vt:lpwstr>
  </property>
</Properties>
</file>