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4" r:id="rId9"/>
    <p:sldId id="265" r:id="rId10"/>
    <p:sldId id="267"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149"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2E04D6-E47D-4AE2-8AB4-03720F9080A0}"/>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7A324B3-3858-43E0-A496-A3D9DE9F6D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BB5C21C-6B6E-4C5A-BC2F-3AAC9C14FD4C}"/>
              </a:ext>
            </a:extLst>
          </p:cNvPr>
          <p:cNvSpPr>
            <a:spLocks noGrp="1"/>
          </p:cNvSpPr>
          <p:nvPr>
            <p:ph type="dt" sz="half" idx="10"/>
          </p:nvPr>
        </p:nvSpPr>
        <p:spPr/>
        <p:txBody>
          <a:bodyPr/>
          <a:lstStyle/>
          <a:p>
            <a:fld id="{C21B4BAD-5970-46E0-8475-000B49BB4167}" type="datetimeFigureOut">
              <a:rPr lang="zh-CN" altLang="en-US" smtClean="0"/>
              <a:t>2026/4/13</a:t>
            </a:fld>
            <a:endParaRPr lang="zh-CN" altLang="en-US"/>
          </a:p>
        </p:txBody>
      </p:sp>
      <p:sp>
        <p:nvSpPr>
          <p:cNvPr id="5" name="页脚占位符 4">
            <a:extLst>
              <a:ext uri="{FF2B5EF4-FFF2-40B4-BE49-F238E27FC236}">
                <a16:creationId xmlns:a16="http://schemas.microsoft.com/office/drawing/2014/main" id="{BE4E62BB-9326-4FCD-A902-AF70A758B56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8A95DE0-166F-4604-BB15-B43F879C7705}"/>
              </a:ext>
            </a:extLst>
          </p:cNvPr>
          <p:cNvSpPr>
            <a:spLocks noGrp="1"/>
          </p:cNvSpPr>
          <p:nvPr>
            <p:ph type="sldNum" sz="quarter" idx="12"/>
          </p:nvPr>
        </p:nvSpPr>
        <p:spPr/>
        <p:txBody>
          <a:bodyPr/>
          <a:lstStyle/>
          <a:p>
            <a:fld id="{F0F8F44A-7974-4B16-AD30-F40CC81E64EE}" type="slidenum">
              <a:rPr lang="zh-CN" altLang="en-US" smtClean="0"/>
              <a:t>‹#›</a:t>
            </a:fld>
            <a:endParaRPr lang="zh-CN" altLang="en-US"/>
          </a:p>
        </p:txBody>
      </p:sp>
    </p:spTree>
    <p:extLst>
      <p:ext uri="{BB962C8B-B14F-4D97-AF65-F5344CB8AC3E}">
        <p14:creationId xmlns:p14="http://schemas.microsoft.com/office/powerpoint/2010/main" val="2071930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529469-8B03-4ED5-A6ED-033B4E070E2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1234DF9-BA01-4F13-85A8-11CB3F9C3AD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B1386C8-D7F4-41E9-9824-0AE9199B8CD3}"/>
              </a:ext>
            </a:extLst>
          </p:cNvPr>
          <p:cNvSpPr>
            <a:spLocks noGrp="1"/>
          </p:cNvSpPr>
          <p:nvPr>
            <p:ph type="dt" sz="half" idx="10"/>
          </p:nvPr>
        </p:nvSpPr>
        <p:spPr/>
        <p:txBody>
          <a:bodyPr/>
          <a:lstStyle/>
          <a:p>
            <a:fld id="{C21B4BAD-5970-46E0-8475-000B49BB4167}" type="datetimeFigureOut">
              <a:rPr lang="zh-CN" altLang="en-US" smtClean="0"/>
              <a:t>2026/4/13</a:t>
            </a:fld>
            <a:endParaRPr lang="zh-CN" altLang="en-US"/>
          </a:p>
        </p:txBody>
      </p:sp>
      <p:sp>
        <p:nvSpPr>
          <p:cNvPr id="5" name="页脚占位符 4">
            <a:extLst>
              <a:ext uri="{FF2B5EF4-FFF2-40B4-BE49-F238E27FC236}">
                <a16:creationId xmlns:a16="http://schemas.microsoft.com/office/drawing/2014/main" id="{962651AE-5120-499A-84E6-A76160B0F27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5B31611-5498-4EB6-ABA6-B488F2E26977}"/>
              </a:ext>
            </a:extLst>
          </p:cNvPr>
          <p:cNvSpPr>
            <a:spLocks noGrp="1"/>
          </p:cNvSpPr>
          <p:nvPr>
            <p:ph type="sldNum" sz="quarter" idx="12"/>
          </p:nvPr>
        </p:nvSpPr>
        <p:spPr/>
        <p:txBody>
          <a:bodyPr/>
          <a:lstStyle/>
          <a:p>
            <a:fld id="{F0F8F44A-7974-4B16-AD30-F40CC81E64EE}" type="slidenum">
              <a:rPr lang="zh-CN" altLang="en-US" smtClean="0"/>
              <a:t>‹#›</a:t>
            </a:fld>
            <a:endParaRPr lang="zh-CN" altLang="en-US"/>
          </a:p>
        </p:txBody>
      </p:sp>
    </p:spTree>
    <p:extLst>
      <p:ext uri="{BB962C8B-B14F-4D97-AF65-F5344CB8AC3E}">
        <p14:creationId xmlns:p14="http://schemas.microsoft.com/office/powerpoint/2010/main" val="1827490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8CAC05-9C38-4A7B-A301-EEBFA8C7E459}"/>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11BD1B0-0B67-4FDB-89A2-09C443D820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62A8FAF-25E4-46DE-92C4-69B9DE1D721E}"/>
              </a:ext>
            </a:extLst>
          </p:cNvPr>
          <p:cNvSpPr>
            <a:spLocks noGrp="1"/>
          </p:cNvSpPr>
          <p:nvPr>
            <p:ph type="dt" sz="half" idx="10"/>
          </p:nvPr>
        </p:nvSpPr>
        <p:spPr/>
        <p:txBody>
          <a:bodyPr/>
          <a:lstStyle/>
          <a:p>
            <a:fld id="{C21B4BAD-5970-46E0-8475-000B49BB4167}" type="datetimeFigureOut">
              <a:rPr lang="zh-CN" altLang="en-US" smtClean="0"/>
              <a:t>2026/4/13</a:t>
            </a:fld>
            <a:endParaRPr lang="zh-CN" altLang="en-US"/>
          </a:p>
        </p:txBody>
      </p:sp>
      <p:sp>
        <p:nvSpPr>
          <p:cNvPr id="5" name="页脚占位符 4">
            <a:extLst>
              <a:ext uri="{FF2B5EF4-FFF2-40B4-BE49-F238E27FC236}">
                <a16:creationId xmlns:a16="http://schemas.microsoft.com/office/drawing/2014/main" id="{6DE33ED1-4F9F-470B-8756-C2EF7A82F96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C92C82C-452B-4CB1-B881-DFBF6E58F262}"/>
              </a:ext>
            </a:extLst>
          </p:cNvPr>
          <p:cNvSpPr>
            <a:spLocks noGrp="1"/>
          </p:cNvSpPr>
          <p:nvPr>
            <p:ph type="sldNum" sz="quarter" idx="12"/>
          </p:nvPr>
        </p:nvSpPr>
        <p:spPr/>
        <p:txBody>
          <a:bodyPr/>
          <a:lstStyle/>
          <a:p>
            <a:fld id="{F0F8F44A-7974-4B16-AD30-F40CC81E64EE}" type="slidenum">
              <a:rPr lang="zh-CN" altLang="en-US" smtClean="0"/>
              <a:t>‹#›</a:t>
            </a:fld>
            <a:endParaRPr lang="zh-CN" altLang="en-US"/>
          </a:p>
        </p:txBody>
      </p:sp>
    </p:spTree>
    <p:extLst>
      <p:ext uri="{BB962C8B-B14F-4D97-AF65-F5344CB8AC3E}">
        <p14:creationId xmlns:p14="http://schemas.microsoft.com/office/powerpoint/2010/main" val="31320487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2EBCC6-56CA-4EC7-A386-0A24C71BE75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4C5D61A-FB71-400F-A513-48704758B33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BCB7E76-6025-40EB-902A-CA908774CC0C}"/>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C421E10-9F5D-4EEB-B83C-EE98D2E3F639}"/>
              </a:ext>
            </a:extLst>
          </p:cNvPr>
          <p:cNvSpPr>
            <a:spLocks noGrp="1"/>
          </p:cNvSpPr>
          <p:nvPr>
            <p:ph type="dt" sz="half" idx="10"/>
          </p:nvPr>
        </p:nvSpPr>
        <p:spPr/>
        <p:txBody>
          <a:bodyPr/>
          <a:lstStyle/>
          <a:p>
            <a:fld id="{C21B4BAD-5970-46E0-8475-000B49BB4167}" type="datetimeFigureOut">
              <a:rPr lang="zh-CN" altLang="en-US" smtClean="0"/>
              <a:t>2026/4/13</a:t>
            </a:fld>
            <a:endParaRPr lang="zh-CN" altLang="en-US"/>
          </a:p>
        </p:txBody>
      </p:sp>
      <p:sp>
        <p:nvSpPr>
          <p:cNvPr id="6" name="页脚占位符 5">
            <a:extLst>
              <a:ext uri="{FF2B5EF4-FFF2-40B4-BE49-F238E27FC236}">
                <a16:creationId xmlns:a16="http://schemas.microsoft.com/office/drawing/2014/main" id="{6E8544EB-32D1-4358-9E0D-EA23E10003E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0AAA5CA-7B75-456A-A45E-E3E8F7694820}"/>
              </a:ext>
            </a:extLst>
          </p:cNvPr>
          <p:cNvSpPr>
            <a:spLocks noGrp="1"/>
          </p:cNvSpPr>
          <p:nvPr>
            <p:ph type="sldNum" sz="quarter" idx="12"/>
          </p:nvPr>
        </p:nvSpPr>
        <p:spPr/>
        <p:txBody>
          <a:bodyPr/>
          <a:lstStyle/>
          <a:p>
            <a:fld id="{F0F8F44A-7974-4B16-AD30-F40CC81E64EE}" type="slidenum">
              <a:rPr lang="zh-CN" altLang="en-US" smtClean="0"/>
              <a:t>‹#›</a:t>
            </a:fld>
            <a:endParaRPr lang="zh-CN" altLang="en-US"/>
          </a:p>
        </p:txBody>
      </p:sp>
    </p:spTree>
    <p:extLst>
      <p:ext uri="{BB962C8B-B14F-4D97-AF65-F5344CB8AC3E}">
        <p14:creationId xmlns:p14="http://schemas.microsoft.com/office/powerpoint/2010/main" val="7252747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448206-6C99-4F65-AF4A-0ABE9AECF12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0868338-34B1-4C8A-AAE2-F3926BA2AA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8B476ADE-4077-4D8C-9733-3C5F3EC1611E}"/>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ECD8F00-1B5B-4310-AACD-9D9B661EF3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4308E43-8103-41B6-9F29-47E4723466A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45C8F09-F357-4E36-B527-E0B9CE84CED7}"/>
              </a:ext>
            </a:extLst>
          </p:cNvPr>
          <p:cNvSpPr>
            <a:spLocks noGrp="1"/>
          </p:cNvSpPr>
          <p:nvPr>
            <p:ph type="dt" sz="half" idx="10"/>
          </p:nvPr>
        </p:nvSpPr>
        <p:spPr/>
        <p:txBody>
          <a:bodyPr/>
          <a:lstStyle/>
          <a:p>
            <a:fld id="{C21B4BAD-5970-46E0-8475-000B49BB4167}" type="datetimeFigureOut">
              <a:rPr lang="zh-CN" altLang="en-US" smtClean="0"/>
              <a:t>2026/4/13</a:t>
            </a:fld>
            <a:endParaRPr lang="zh-CN" altLang="en-US"/>
          </a:p>
        </p:txBody>
      </p:sp>
      <p:sp>
        <p:nvSpPr>
          <p:cNvPr id="8" name="页脚占位符 7">
            <a:extLst>
              <a:ext uri="{FF2B5EF4-FFF2-40B4-BE49-F238E27FC236}">
                <a16:creationId xmlns:a16="http://schemas.microsoft.com/office/drawing/2014/main" id="{9FCDD67C-C95C-4B51-B7B9-D2701349C30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7E80649-B485-4C02-B25E-46299A1CDFB9}"/>
              </a:ext>
            </a:extLst>
          </p:cNvPr>
          <p:cNvSpPr>
            <a:spLocks noGrp="1"/>
          </p:cNvSpPr>
          <p:nvPr>
            <p:ph type="sldNum" sz="quarter" idx="12"/>
          </p:nvPr>
        </p:nvSpPr>
        <p:spPr/>
        <p:txBody>
          <a:bodyPr/>
          <a:lstStyle/>
          <a:p>
            <a:fld id="{F0F8F44A-7974-4B16-AD30-F40CC81E64EE}" type="slidenum">
              <a:rPr lang="zh-CN" altLang="en-US" smtClean="0"/>
              <a:t>‹#›</a:t>
            </a:fld>
            <a:endParaRPr lang="zh-CN" altLang="en-US"/>
          </a:p>
        </p:txBody>
      </p:sp>
    </p:spTree>
    <p:extLst>
      <p:ext uri="{BB962C8B-B14F-4D97-AF65-F5344CB8AC3E}">
        <p14:creationId xmlns:p14="http://schemas.microsoft.com/office/powerpoint/2010/main" val="2762984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5F40D5-C7C0-4926-A7A8-AEBCEB8723F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4B53F2E-BEE5-4727-A997-14EB53449AA3}"/>
              </a:ext>
            </a:extLst>
          </p:cNvPr>
          <p:cNvSpPr>
            <a:spLocks noGrp="1"/>
          </p:cNvSpPr>
          <p:nvPr>
            <p:ph type="dt" sz="half" idx="10"/>
          </p:nvPr>
        </p:nvSpPr>
        <p:spPr/>
        <p:txBody>
          <a:bodyPr/>
          <a:lstStyle/>
          <a:p>
            <a:fld id="{C21B4BAD-5970-46E0-8475-000B49BB4167}" type="datetimeFigureOut">
              <a:rPr lang="zh-CN" altLang="en-US" smtClean="0"/>
              <a:t>2026/4/13</a:t>
            </a:fld>
            <a:endParaRPr lang="zh-CN" altLang="en-US"/>
          </a:p>
        </p:txBody>
      </p:sp>
      <p:sp>
        <p:nvSpPr>
          <p:cNvPr id="4" name="页脚占位符 3">
            <a:extLst>
              <a:ext uri="{FF2B5EF4-FFF2-40B4-BE49-F238E27FC236}">
                <a16:creationId xmlns:a16="http://schemas.microsoft.com/office/drawing/2014/main" id="{BFEFF800-1F7E-4554-B4A1-200EABA1ACC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B053A97-E93A-48AA-8220-63B7BA25C792}"/>
              </a:ext>
            </a:extLst>
          </p:cNvPr>
          <p:cNvSpPr>
            <a:spLocks noGrp="1"/>
          </p:cNvSpPr>
          <p:nvPr>
            <p:ph type="sldNum" sz="quarter" idx="12"/>
          </p:nvPr>
        </p:nvSpPr>
        <p:spPr/>
        <p:txBody>
          <a:bodyPr/>
          <a:lstStyle/>
          <a:p>
            <a:fld id="{F0F8F44A-7974-4B16-AD30-F40CC81E64EE}" type="slidenum">
              <a:rPr lang="zh-CN" altLang="en-US" smtClean="0"/>
              <a:t>‹#›</a:t>
            </a:fld>
            <a:endParaRPr lang="zh-CN" altLang="en-US"/>
          </a:p>
        </p:txBody>
      </p:sp>
    </p:spTree>
    <p:extLst>
      <p:ext uri="{BB962C8B-B14F-4D97-AF65-F5344CB8AC3E}">
        <p14:creationId xmlns:p14="http://schemas.microsoft.com/office/powerpoint/2010/main" val="46493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3685E38-C949-4B8E-B3C7-BCB83FAB20F7}"/>
              </a:ext>
            </a:extLst>
          </p:cNvPr>
          <p:cNvSpPr>
            <a:spLocks noGrp="1"/>
          </p:cNvSpPr>
          <p:nvPr>
            <p:ph type="dt" sz="half" idx="10"/>
          </p:nvPr>
        </p:nvSpPr>
        <p:spPr/>
        <p:txBody>
          <a:bodyPr/>
          <a:lstStyle/>
          <a:p>
            <a:fld id="{C21B4BAD-5970-46E0-8475-000B49BB4167}" type="datetimeFigureOut">
              <a:rPr lang="zh-CN" altLang="en-US" smtClean="0"/>
              <a:t>2026/4/13</a:t>
            </a:fld>
            <a:endParaRPr lang="zh-CN" altLang="en-US"/>
          </a:p>
        </p:txBody>
      </p:sp>
      <p:sp>
        <p:nvSpPr>
          <p:cNvPr id="3" name="页脚占位符 2">
            <a:extLst>
              <a:ext uri="{FF2B5EF4-FFF2-40B4-BE49-F238E27FC236}">
                <a16:creationId xmlns:a16="http://schemas.microsoft.com/office/drawing/2014/main" id="{3F3E14A1-ACA7-439D-8F80-232946B968E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9C3D853-CE63-4230-9CC6-87E03B7A49E4}"/>
              </a:ext>
            </a:extLst>
          </p:cNvPr>
          <p:cNvSpPr>
            <a:spLocks noGrp="1"/>
          </p:cNvSpPr>
          <p:nvPr>
            <p:ph type="sldNum" sz="quarter" idx="12"/>
          </p:nvPr>
        </p:nvSpPr>
        <p:spPr/>
        <p:txBody>
          <a:bodyPr/>
          <a:lstStyle/>
          <a:p>
            <a:fld id="{F0F8F44A-7974-4B16-AD30-F40CC81E64EE}" type="slidenum">
              <a:rPr lang="zh-CN" altLang="en-US" smtClean="0"/>
              <a:t>‹#›</a:t>
            </a:fld>
            <a:endParaRPr lang="zh-CN" altLang="en-US"/>
          </a:p>
        </p:txBody>
      </p:sp>
    </p:spTree>
    <p:extLst>
      <p:ext uri="{BB962C8B-B14F-4D97-AF65-F5344CB8AC3E}">
        <p14:creationId xmlns:p14="http://schemas.microsoft.com/office/powerpoint/2010/main" val="1571514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6F7FEA-22A3-4F90-ACE3-DD49FB89F3F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DF0B145-476E-485F-8F9F-E1C4E0126D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1B96591-70A4-4179-83FE-58033D1D53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379593A-FB6F-4417-AB55-2FDE8F7B0C84}"/>
              </a:ext>
            </a:extLst>
          </p:cNvPr>
          <p:cNvSpPr>
            <a:spLocks noGrp="1"/>
          </p:cNvSpPr>
          <p:nvPr>
            <p:ph type="dt" sz="half" idx="10"/>
          </p:nvPr>
        </p:nvSpPr>
        <p:spPr/>
        <p:txBody>
          <a:bodyPr/>
          <a:lstStyle/>
          <a:p>
            <a:fld id="{C21B4BAD-5970-46E0-8475-000B49BB4167}" type="datetimeFigureOut">
              <a:rPr lang="zh-CN" altLang="en-US" smtClean="0"/>
              <a:t>2026/4/13</a:t>
            </a:fld>
            <a:endParaRPr lang="zh-CN" altLang="en-US"/>
          </a:p>
        </p:txBody>
      </p:sp>
      <p:sp>
        <p:nvSpPr>
          <p:cNvPr id="6" name="页脚占位符 5">
            <a:extLst>
              <a:ext uri="{FF2B5EF4-FFF2-40B4-BE49-F238E27FC236}">
                <a16:creationId xmlns:a16="http://schemas.microsoft.com/office/drawing/2014/main" id="{7CEC3DD3-41E1-4F71-8E88-D2FDC4485C9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F328239-BFF2-4FB7-A8F6-F06ED55D6D41}"/>
              </a:ext>
            </a:extLst>
          </p:cNvPr>
          <p:cNvSpPr>
            <a:spLocks noGrp="1"/>
          </p:cNvSpPr>
          <p:nvPr>
            <p:ph type="sldNum" sz="quarter" idx="12"/>
          </p:nvPr>
        </p:nvSpPr>
        <p:spPr/>
        <p:txBody>
          <a:bodyPr/>
          <a:lstStyle/>
          <a:p>
            <a:fld id="{F0F8F44A-7974-4B16-AD30-F40CC81E64EE}" type="slidenum">
              <a:rPr lang="zh-CN" altLang="en-US" smtClean="0"/>
              <a:t>‹#›</a:t>
            </a:fld>
            <a:endParaRPr lang="zh-CN" altLang="en-US"/>
          </a:p>
        </p:txBody>
      </p:sp>
    </p:spTree>
    <p:extLst>
      <p:ext uri="{BB962C8B-B14F-4D97-AF65-F5344CB8AC3E}">
        <p14:creationId xmlns:p14="http://schemas.microsoft.com/office/powerpoint/2010/main" val="2806722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57A844-BD82-46D7-A867-25511390F61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555A8F15-6FE9-4DEE-9A96-2372B31022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1145FF2-A832-4095-89C8-2687DA859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EEF2B65-B936-4149-A688-3E88BD4C9389}"/>
              </a:ext>
            </a:extLst>
          </p:cNvPr>
          <p:cNvSpPr>
            <a:spLocks noGrp="1"/>
          </p:cNvSpPr>
          <p:nvPr>
            <p:ph type="dt" sz="half" idx="10"/>
          </p:nvPr>
        </p:nvSpPr>
        <p:spPr/>
        <p:txBody>
          <a:bodyPr/>
          <a:lstStyle/>
          <a:p>
            <a:fld id="{C21B4BAD-5970-46E0-8475-000B49BB4167}" type="datetimeFigureOut">
              <a:rPr lang="zh-CN" altLang="en-US" smtClean="0"/>
              <a:t>2026/4/13</a:t>
            </a:fld>
            <a:endParaRPr lang="zh-CN" altLang="en-US"/>
          </a:p>
        </p:txBody>
      </p:sp>
      <p:sp>
        <p:nvSpPr>
          <p:cNvPr id="6" name="页脚占位符 5">
            <a:extLst>
              <a:ext uri="{FF2B5EF4-FFF2-40B4-BE49-F238E27FC236}">
                <a16:creationId xmlns:a16="http://schemas.microsoft.com/office/drawing/2014/main" id="{903B00A1-B849-4938-A7E1-2A0A3093AD9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1FB2881-82FC-4DEF-B2FC-B5A6FFC0D300}"/>
              </a:ext>
            </a:extLst>
          </p:cNvPr>
          <p:cNvSpPr>
            <a:spLocks noGrp="1"/>
          </p:cNvSpPr>
          <p:nvPr>
            <p:ph type="sldNum" sz="quarter" idx="12"/>
          </p:nvPr>
        </p:nvSpPr>
        <p:spPr/>
        <p:txBody>
          <a:bodyPr/>
          <a:lstStyle/>
          <a:p>
            <a:fld id="{F0F8F44A-7974-4B16-AD30-F40CC81E64EE}" type="slidenum">
              <a:rPr lang="zh-CN" altLang="en-US" smtClean="0"/>
              <a:t>‹#›</a:t>
            </a:fld>
            <a:endParaRPr lang="zh-CN" altLang="en-US"/>
          </a:p>
        </p:txBody>
      </p:sp>
    </p:spTree>
    <p:extLst>
      <p:ext uri="{BB962C8B-B14F-4D97-AF65-F5344CB8AC3E}">
        <p14:creationId xmlns:p14="http://schemas.microsoft.com/office/powerpoint/2010/main" val="2747124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09BE45-816D-4D14-835A-8EBFD5E4C23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95A9D05-D43C-4984-A53F-7E194D51EE04}"/>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798E03C-585E-4D70-8275-276A0035885E}"/>
              </a:ext>
            </a:extLst>
          </p:cNvPr>
          <p:cNvSpPr>
            <a:spLocks noGrp="1"/>
          </p:cNvSpPr>
          <p:nvPr>
            <p:ph type="dt" sz="half" idx="10"/>
          </p:nvPr>
        </p:nvSpPr>
        <p:spPr/>
        <p:txBody>
          <a:bodyPr/>
          <a:lstStyle/>
          <a:p>
            <a:fld id="{C21B4BAD-5970-46E0-8475-000B49BB4167}" type="datetimeFigureOut">
              <a:rPr lang="zh-CN" altLang="en-US" smtClean="0"/>
              <a:t>2026/4/13</a:t>
            </a:fld>
            <a:endParaRPr lang="zh-CN" altLang="en-US"/>
          </a:p>
        </p:txBody>
      </p:sp>
      <p:sp>
        <p:nvSpPr>
          <p:cNvPr id="5" name="页脚占位符 4">
            <a:extLst>
              <a:ext uri="{FF2B5EF4-FFF2-40B4-BE49-F238E27FC236}">
                <a16:creationId xmlns:a16="http://schemas.microsoft.com/office/drawing/2014/main" id="{9169E47C-0E3F-428B-AD37-66203954C90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6803D80-CAFC-4FED-A7C4-39B865945DA7}"/>
              </a:ext>
            </a:extLst>
          </p:cNvPr>
          <p:cNvSpPr>
            <a:spLocks noGrp="1"/>
          </p:cNvSpPr>
          <p:nvPr>
            <p:ph type="sldNum" sz="quarter" idx="12"/>
          </p:nvPr>
        </p:nvSpPr>
        <p:spPr/>
        <p:txBody>
          <a:bodyPr/>
          <a:lstStyle/>
          <a:p>
            <a:fld id="{F0F8F44A-7974-4B16-AD30-F40CC81E64EE}" type="slidenum">
              <a:rPr lang="zh-CN" altLang="en-US" smtClean="0"/>
              <a:t>‹#›</a:t>
            </a:fld>
            <a:endParaRPr lang="zh-CN" altLang="en-US"/>
          </a:p>
        </p:txBody>
      </p:sp>
    </p:spTree>
    <p:extLst>
      <p:ext uri="{BB962C8B-B14F-4D97-AF65-F5344CB8AC3E}">
        <p14:creationId xmlns:p14="http://schemas.microsoft.com/office/powerpoint/2010/main" val="2360904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3A1B293-E3BF-47C6-951B-8B04FFB0895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F180A52-6F5F-4D7D-95F9-520D05A4775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489400B-08FB-4F81-9E46-40E6391E589B}"/>
              </a:ext>
            </a:extLst>
          </p:cNvPr>
          <p:cNvSpPr>
            <a:spLocks noGrp="1"/>
          </p:cNvSpPr>
          <p:nvPr>
            <p:ph type="dt" sz="half" idx="10"/>
          </p:nvPr>
        </p:nvSpPr>
        <p:spPr/>
        <p:txBody>
          <a:bodyPr/>
          <a:lstStyle/>
          <a:p>
            <a:fld id="{C21B4BAD-5970-46E0-8475-000B49BB4167}" type="datetimeFigureOut">
              <a:rPr lang="zh-CN" altLang="en-US" smtClean="0"/>
              <a:t>2026/4/13</a:t>
            </a:fld>
            <a:endParaRPr lang="zh-CN" altLang="en-US"/>
          </a:p>
        </p:txBody>
      </p:sp>
      <p:sp>
        <p:nvSpPr>
          <p:cNvPr id="5" name="页脚占位符 4">
            <a:extLst>
              <a:ext uri="{FF2B5EF4-FFF2-40B4-BE49-F238E27FC236}">
                <a16:creationId xmlns:a16="http://schemas.microsoft.com/office/drawing/2014/main" id="{16A87ED8-405E-4380-BBEF-7C32F4663C6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0BE67F3-8FCA-4AD9-B9E6-4DBEA9418329}"/>
              </a:ext>
            </a:extLst>
          </p:cNvPr>
          <p:cNvSpPr>
            <a:spLocks noGrp="1"/>
          </p:cNvSpPr>
          <p:nvPr>
            <p:ph type="sldNum" sz="quarter" idx="12"/>
          </p:nvPr>
        </p:nvSpPr>
        <p:spPr/>
        <p:txBody>
          <a:bodyPr/>
          <a:lstStyle/>
          <a:p>
            <a:fld id="{F0F8F44A-7974-4B16-AD30-F40CC81E64EE}" type="slidenum">
              <a:rPr lang="zh-CN" altLang="en-US" smtClean="0"/>
              <a:t>‹#›</a:t>
            </a:fld>
            <a:endParaRPr lang="zh-CN" altLang="en-US"/>
          </a:p>
        </p:txBody>
      </p:sp>
    </p:spTree>
    <p:extLst>
      <p:ext uri="{BB962C8B-B14F-4D97-AF65-F5344CB8AC3E}">
        <p14:creationId xmlns:p14="http://schemas.microsoft.com/office/powerpoint/2010/main" val="1831906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C7EF9F5-49D6-42E4-9EE2-0BFFB827A2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52E70AA-323C-4E24-B196-820E1CD281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D0607E4-46BA-4264-8F6E-89B2EC753D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1B4BAD-5970-46E0-8475-000B49BB4167}" type="datetimeFigureOut">
              <a:rPr lang="zh-CN" altLang="en-US" smtClean="0"/>
              <a:t>2026/4/13</a:t>
            </a:fld>
            <a:endParaRPr lang="zh-CN" altLang="en-US"/>
          </a:p>
        </p:txBody>
      </p:sp>
      <p:sp>
        <p:nvSpPr>
          <p:cNvPr id="5" name="页脚占位符 4">
            <a:extLst>
              <a:ext uri="{FF2B5EF4-FFF2-40B4-BE49-F238E27FC236}">
                <a16:creationId xmlns:a16="http://schemas.microsoft.com/office/drawing/2014/main" id="{54041660-FFC4-465B-A01B-1E724D9503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02D7AE87-1B23-4640-A5C7-C85C8F3052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F8F44A-7974-4B16-AD30-F40CC81E64EE}" type="slidenum">
              <a:rPr lang="zh-CN" altLang="en-US" smtClean="0"/>
              <a:t>‹#›</a:t>
            </a:fld>
            <a:endParaRPr lang="zh-CN" altLang="en-US"/>
          </a:p>
        </p:txBody>
      </p:sp>
    </p:spTree>
    <p:extLst>
      <p:ext uri="{BB962C8B-B14F-4D97-AF65-F5344CB8AC3E}">
        <p14:creationId xmlns:p14="http://schemas.microsoft.com/office/powerpoint/2010/main" val="31110035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721380-2B1C-4587-9428-6B24462500B8}"/>
              </a:ext>
            </a:extLst>
          </p:cNvPr>
          <p:cNvSpPr>
            <a:spLocks noGrp="1"/>
          </p:cNvSpPr>
          <p:nvPr>
            <p:ph type="ctrTitle"/>
          </p:nvPr>
        </p:nvSpPr>
        <p:spPr/>
        <p:txBody>
          <a:bodyPr/>
          <a:lstStyle/>
          <a:p>
            <a:r>
              <a:rPr lang="zh-CN" altLang="en-US" dirty="0"/>
              <a:t>熵、交叉熵、损失函数、极大熵原理</a:t>
            </a:r>
          </a:p>
        </p:txBody>
      </p:sp>
      <p:sp>
        <p:nvSpPr>
          <p:cNvPr id="3" name="副标题 2">
            <a:extLst>
              <a:ext uri="{FF2B5EF4-FFF2-40B4-BE49-F238E27FC236}">
                <a16:creationId xmlns:a16="http://schemas.microsoft.com/office/drawing/2014/main" id="{30C175E3-3C19-4DCD-9F8C-4D8EA36B4917}"/>
              </a:ext>
            </a:extLst>
          </p:cNvPr>
          <p:cNvSpPr>
            <a:spLocks noGrp="1"/>
          </p:cNvSpPr>
          <p:nvPr>
            <p:ph type="subTitle" idx="1"/>
          </p:nvPr>
        </p:nvSpPr>
        <p:spPr/>
        <p:txBody>
          <a:bodyPr/>
          <a:lstStyle/>
          <a:p>
            <a:endParaRPr lang="en-US" altLang="zh-CN" dirty="0"/>
          </a:p>
          <a:p>
            <a:r>
              <a:rPr lang="zh-CN" altLang="en-US" dirty="0"/>
              <a:t>刘绍辉</a:t>
            </a:r>
          </a:p>
        </p:txBody>
      </p:sp>
    </p:spTree>
    <p:extLst>
      <p:ext uri="{BB962C8B-B14F-4D97-AF65-F5344CB8AC3E}">
        <p14:creationId xmlns:p14="http://schemas.microsoft.com/office/powerpoint/2010/main" val="2250315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11E1B6-45CB-4E49-97B3-84083ADB25B7}"/>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A897612D-B4E1-4B5A-A101-E7DAA4719308}"/>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A9035FBB-83DE-410C-8E2F-130E2971C2EE}"/>
              </a:ext>
            </a:extLst>
          </p:cNvPr>
          <p:cNvPicPr>
            <a:picLocks noChangeAspect="1"/>
          </p:cNvPicPr>
          <p:nvPr/>
        </p:nvPicPr>
        <p:blipFill>
          <a:blip r:embed="rId2"/>
          <a:stretch>
            <a:fillRect/>
          </a:stretch>
        </p:blipFill>
        <p:spPr>
          <a:xfrm>
            <a:off x="355076" y="0"/>
            <a:ext cx="11481847" cy="6858000"/>
          </a:xfrm>
          <a:prstGeom prst="rect">
            <a:avLst/>
          </a:prstGeom>
        </p:spPr>
      </p:pic>
    </p:spTree>
    <p:extLst>
      <p:ext uri="{BB962C8B-B14F-4D97-AF65-F5344CB8AC3E}">
        <p14:creationId xmlns:p14="http://schemas.microsoft.com/office/powerpoint/2010/main" val="4025227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D878E2-171D-4C16-89C8-5FB75AB96EC4}"/>
              </a:ext>
            </a:extLst>
          </p:cNvPr>
          <p:cNvSpPr>
            <a:spLocks noGrp="1"/>
          </p:cNvSpPr>
          <p:nvPr>
            <p:ph type="title"/>
          </p:nvPr>
        </p:nvSpPr>
        <p:spPr/>
        <p:txBody>
          <a:bodyPr/>
          <a:lstStyle/>
          <a:p>
            <a:r>
              <a:rPr lang="zh-CN" altLang="en-US" dirty="0"/>
              <a:t>交叉熵的计算</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B8E8946-5C6C-43E0-84EA-4FC4FF95C680}"/>
                  </a:ext>
                </a:extLst>
              </p:cNvPr>
              <p:cNvSpPr>
                <a:spLocks noGrp="1"/>
              </p:cNvSpPr>
              <p:nvPr>
                <p:ph idx="1"/>
              </p:nvPr>
            </p:nvSpPr>
            <p:spPr/>
            <p:txBody>
              <a:bodyPr/>
              <a:lstStyle/>
              <a:p>
                <a:pPr>
                  <a:lnSpc>
                    <a:spcPct val="100000"/>
                  </a:lnSpc>
                </a:pPr>
                <a:r>
                  <a:rPr lang="zh-CN" altLang="en-US" dirty="0"/>
                  <a:t>分类任务中，交叉熵</a:t>
                </a:r>
                <a:r>
                  <a:rPr lang="en-US" altLang="zh-CN" dirty="0"/>
                  <a:t>(Cross-Entropy)</a:t>
                </a:r>
                <a:r>
                  <a:rPr lang="zh-CN" altLang="en-US" dirty="0"/>
                  <a:t>损失函数定义为</a:t>
                </a:r>
                <a:endParaRPr lang="en-US" altLang="zh-CN" dirty="0"/>
              </a:p>
              <a:p>
                <a:pPr marL="0" indent="0">
                  <a:lnSpc>
                    <a:spcPct val="100000"/>
                  </a:lnSpc>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𝐶𝐸</m:t>
                          </m:r>
                        </m:sub>
                      </m:sSub>
                      <m:r>
                        <a:rPr lang="en-US" altLang="zh-CN" b="0" i="1" smtClean="0">
                          <a:latin typeface="Cambria Math" panose="02040503050406030204" pitchFamily="18" charset="0"/>
                        </a:rPr>
                        <m:t>=−</m:t>
                      </m:r>
                      <m:nary>
                        <m:naryPr>
                          <m:chr m:val="∑"/>
                          <m:supHide m:val="on"/>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𝑖</m:t>
                          </m:r>
                        </m:sub>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𝑙𝑜𝑔</m:t>
                          </m:r>
                          <m:sSub>
                            <m:sSubPr>
                              <m:ctrlPr>
                                <a:rPr lang="en-US" altLang="zh-CN" b="0" i="1" dirty="0"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𝑦</m:t>
                                  </m:r>
                                </m:e>
                              </m:acc>
                            </m:e>
                            <m:sub>
                              <m:r>
                                <a:rPr lang="en-US" altLang="zh-CN" b="0" i="1" dirty="0" smtClean="0">
                                  <a:latin typeface="Cambria Math" panose="02040503050406030204" pitchFamily="18" charset="0"/>
                                </a:rPr>
                                <m:t>𝑖</m:t>
                              </m:r>
                            </m:sub>
                          </m:sSub>
                        </m:e>
                      </m:nary>
                    </m:oMath>
                  </m:oMathPara>
                </a14:m>
                <a:endParaRPr lang="en-US" altLang="zh-CN" dirty="0"/>
              </a:p>
              <a:p>
                <a:pPr lvl="1">
                  <a:lnSpc>
                    <a:spcPct val="100000"/>
                  </a:lnSpc>
                </a:pPr>
                <a14:m>
                  <m:oMath xmlns:m="http://schemas.openxmlformats.org/officeDocument/2006/math">
                    <m:sSub>
                      <m:sSubPr>
                        <m:ctrlPr>
                          <a:rPr lang="en-US" altLang="zh-CN" b="0" i="1" dirty="0" smtClean="0">
                            <a:solidFill>
                              <a:srgbClr val="333333"/>
                            </a:solidFill>
                            <a:effectLst/>
                            <a:latin typeface="Cambria Math" panose="02040503050406030204" pitchFamily="18" charset="0"/>
                          </a:rPr>
                        </m:ctrlPr>
                      </m:sSubPr>
                      <m:e>
                        <m:r>
                          <a:rPr lang="en-US" altLang="zh-CN" b="0" i="1" dirty="0" smtClean="0">
                            <a:solidFill>
                              <a:srgbClr val="333333"/>
                            </a:solidFill>
                            <a:effectLst/>
                            <a:latin typeface="Cambria Math" panose="02040503050406030204" pitchFamily="18" charset="0"/>
                          </a:rPr>
                          <m:t>𝑦</m:t>
                        </m:r>
                      </m:e>
                      <m:sub>
                        <m:r>
                          <a:rPr lang="en-US" altLang="zh-CN" b="0" i="1" dirty="0" smtClean="0">
                            <a:solidFill>
                              <a:srgbClr val="333333"/>
                            </a:solidFill>
                            <a:effectLst/>
                            <a:latin typeface="Cambria Math" panose="02040503050406030204" pitchFamily="18" charset="0"/>
                          </a:rPr>
                          <m:t>𝑖</m:t>
                        </m:r>
                      </m:sub>
                    </m:sSub>
                    <m:r>
                      <a:rPr lang="zh-CN" altLang="en-US" b="0" i="1" dirty="0" smtClean="0">
                        <a:solidFill>
                          <a:srgbClr val="333333"/>
                        </a:solidFill>
                        <a:effectLst/>
                        <a:latin typeface="Cambria Math" panose="02040503050406030204" pitchFamily="18" charset="0"/>
                      </a:rPr>
                      <m:t>​ </m:t>
                    </m:r>
                  </m:oMath>
                </a14:m>
                <a:r>
                  <a:rPr lang="zh-CN" altLang="en-US" b="0" i="0" dirty="0">
                    <a:solidFill>
                      <a:srgbClr val="333333"/>
                    </a:solidFill>
                    <a:effectLst/>
                    <a:latin typeface="PingFang SC"/>
                  </a:rPr>
                  <a:t>是真实标签（通常使用 </a:t>
                </a:r>
                <a:r>
                  <a:rPr lang="en-US" altLang="zh-CN" b="0" i="0" dirty="0">
                    <a:solidFill>
                      <a:srgbClr val="333333"/>
                    </a:solidFill>
                    <a:effectLst/>
                    <a:latin typeface="PingFang SC"/>
                  </a:rPr>
                  <a:t>one-hot </a:t>
                </a:r>
                <a:r>
                  <a:rPr lang="zh-CN" altLang="en-US" b="0" i="0" dirty="0">
                    <a:solidFill>
                      <a:srgbClr val="333333"/>
                    </a:solidFill>
                    <a:effectLst/>
                    <a:latin typeface="PingFang SC"/>
                  </a:rPr>
                  <a:t>编码，只有一个元素为</a:t>
                </a:r>
                <a:r>
                  <a:rPr lang="en-US" altLang="zh-CN" b="0" i="0" dirty="0">
                    <a:solidFill>
                      <a:srgbClr val="333333"/>
                    </a:solidFill>
                    <a:effectLst/>
                    <a:latin typeface="PingFang SC"/>
                  </a:rPr>
                  <a:t>1</a:t>
                </a:r>
                <a:r>
                  <a:rPr lang="zh-CN" altLang="en-US" b="0" i="0" dirty="0">
                    <a:solidFill>
                      <a:srgbClr val="333333"/>
                    </a:solidFill>
                    <a:effectLst/>
                    <a:latin typeface="PingFang SC"/>
                  </a:rPr>
                  <a:t>，其余为</a:t>
                </a:r>
                <a:r>
                  <a:rPr lang="en-US" altLang="zh-CN" b="0" i="0" dirty="0">
                    <a:solidFill>
                      <a:srgbClr val="333333"/>
                    </a:solidFill>
                    <a:effectLst/>
                    <a:latin typeface="PingFang SC"/>
                  </a:rPr>
                  <a:t>0</a:t>
                </a:r>
                <a:r>
                  <a:rPr lang="zh-CN" altLang="en-US" dirty="0">
                    <a:solidFill>
                      <a:srgbClr val="333333"/>
                    </a:solidFill>
                    <a:latin typeface="PingFang SC"/>
                  </a:rPr>
                  <a:t>）；</a:t>
                </a:r>
                <a14:m>
                  <m:oMath xmlns:m="http://schemas.openxmlformats.org/officeDocument/2006/math">
                    <m:sSub>
                      <m:sSubPr>
                        <m:ctrlPr>
                          <a:rPr lang="en-US" altLang="zh-CN" b="0" i="1" dirty="0" smtClean="0">
                            <a:solidFill>
                              <a:srgbClr val="333333"/>
                            </a:solidFill>
                            <a:latin typeface="Cambria Math" panose="02040503050406030204" pitchFamily="18" charset="0"/>
                          </a:rPr>
                        </m:ctrlPr>
                      </m:sSubPr>
                      <m:e>
                        <m:acc>
                          <m:accPr>
                            <m:chr m:val="̂"/>
                            <m:ctrlPr>
                              <a:rPr lang="en-US" altLang="zh-CN" b="0" i="1" smtClean="0">
                                <a:solidFill>
                                  <a:srgbClr val="333333"/>
                                </a:solidFill>
                                <a:latin typeface="Cambria Math" panose="02040503050406030204" pitchFamily="18" charset="0"/>
                              </a:rPr>
                            </m:ctrlPr>
                          </m:accPr>
                          <m:e>
                            <m:r>
                              <a:rPr lang="en-US" altLang="zh-CN" b="0" i="1" smtClean="0">
                                <a:solidFill>
                                  <a:srgbClr val="333333"/>
                                </a:solidFill>
                                <a:latin typeface="Cambria Math" panose="02040503050406030204" pitchFamily="18" charset="0"/>
                              </a:rPr>
                              <m:t>𝑦</m:t>
                            </m:r>
                          </m:e>
                        </m:acc>
                      </m:e>
                      <m:sub>
                        <m:r>
                          <a:rPr lang="en-US" altLang="zh-CN" b="0" i="1" dirty="0" smtClean="0">
                            <a:solidFill>
                              <a:srgbClr val="333333"/>
                            </a:solidFill>
                            <a:latin typeface="Cambria Math" panose="02040503050406030204" pitchFamily="18" charset="0"/>
                          </a:rPr>
                          <m:t>𝑖</m:t>
                        </m:r>
                      </m:sub>
                    </m:sSub>
                  </m:oMath>
                </a14:m>
                <a:r>
                  <a:rPr lang="zh-CN" altLang="en-US" b="0" i="0" dirty="0">
                    <a:solidFill>
                      <a:srgbClr val="333333"/>
                    </a:solidFill>
                    <a:effectLst/>
                    <a:latin typeface="PingFang SC"/>
                  </a:rPr>
                  <a:t>是模型预测的第 </a:t>
                </a:r>
                <a14:m>
                  <m:oMath xmlns:m="http://schemas.openxmlformats.org/officeDocument/2006/math">
                    <m:r>
                      <a:rPr lang="en-US" altLang="zh-CN" b="0" i="1" dirty="0" smtClean="0">
                        <a:solidFill>
                          <a:srgbClr val="333333"/>
                        </a:solidFill>
                        <a:effectLst/>
                        <a:latin typeface="Cambria Math" panose="02040503050406030204" pitchFamily="18" charset="0"/>
                      </a:rPr>
                      <m:t>𝑖</m:t>
                    </m:r>
                  </m:oMath>
                </a14:m>
                <a:r>
                  <a:rPr lang="zh-CN" altLang="en-US" b="0" i="0" dirty="0">
                    <a:solidFill>
                      <a:srgbClr val="333333"/>
                    </a:solidFill>
                    <a:effectLst/>
                    <a:latin typeface="PingFang SC"/>
                  </a:rPr>
                  <a:t>个类别的概率</a:t>
                </a:r>
                <a:endParaRPr lang="en-US" altLang="zh-CN" b="0" i="0" dirty="0">
                  <a:solidFill>
                    <a:srgbClr val="333333"/>
                  </a:solidFill>
                  <a:effectLst/>
                  <a:latin typeface="PingFang SC"/>
                </a:endParaRPr>
              </a:p>
              <a:p>
                <a:pPr algn="l">
                  <a:lnSpc>
                    <a:spcPct val="100000"/>
                  </a:lnSpc>
                  <a:buFont typeface="Arial" panose="020B0604020202020204" pitchFamily="34" charset="0"/>
                  <a:buChar char="•"/>
                </a:pPr>
                <a:r>
                  <a:rPr lang="zh-CN" altLang="en-US" b="0" i="0" dirty="0">
                    <a:solidFill>
                      <a:srgbClr val="333333"/>
                    </a:solidFill>
                    <a:effectLst/>
                    <a:latin typeface="PingFang SC"/>
                  </a:rPr>
                  <a:t>如果是二分类问题，交叉熵损失函数表示为：</a:t>
                </a:r>
                <a:endParaRPr lang="en-US" altLang="zh-CN" b="0" i="0" dirty="0">
                  <a:solidFill>
                    <a:srgbClr val="333333"/>
                  </a:solidFill>
                  <a:effectLst/>
                  <a:latin typeface="PingFang SC"/>
                </a:endParaRPr>
              </a:p>
              <a:p>
                <a:pPr marL="0" indent="0" algn="l">
                  <a:lnSpc>
                    <a:spcPct val="100000"/>
                  </a:lnSpc>
                  <a:buNone/>
                </a:pPr>
                <a14:m>
                  <m:oMathPara xmlns:m="http://schemas.openxmlformats.org/officeDocument/2006/math">
                    <m:oMathParaPr>
                      <m:jc m:val="centerGroup"/>
                    </m:oMathParaPr>
                    <m:oMath xmlns:m="http://schemas.openxmlformats.org/officeDocument/2006/math">
                      <m:sSub>
                        <m:sSubPr>
                          <m:ctrlPr>
                            <a:rPr lang="en-US" altLang="zh-CN" b="0" i="1" smtClean="0">
                              <a:solidFill>
                                <a:srgbClr val="333333"/>
                              </a:solidFill>
                              <a:effectLst/>
                              <a:latin typeface="Cambria Math" panose="02040503050406030204" pitchFamily="18" charset="0"/>
                            </a:rPr>
                          </m:ctrlPr>
                        </m:sSubPr>
                        <m:e>
                          <m:r>
                            <a:rPr lang="en-US" altLang="zh-CN" b="0" i="1" smtClean="0">
                              <a:solidFill>
                                <a:srgbClr val="333333"/>
                              </a:solidFill>
                              <a:effectLst/>
                              <a:latin typeface="Cambria Math" panose="02040503050406030204" pitchFamily="18" charset="0"/>
                            </a:rPr>
                            <m:t>𝐿</m:t>
                          </m:r>
                        </m:e>
                        <m:sub>
                          <m:r>
                            <a:rPr lang="en-US" altLang="zh-CN" b="0" i="1" smtClean="0">
                              <a:solidFill>
                                <a:srgbClr val="333333"/>
                              </a:solidFill>
                              <a:effectLst/>
                              <a:latin typeface="Cambria Math" panose="02040503050406030204" pitchFamily="18" charset="0"/>
                            </a:rPr>
                            <m:t>𝐵𝐶𝐸</m:t>
                          </m:r>
                        </m:sub>
                      </m:sSub>
                      <m:r>
                        <a:rPr lang="en-US" altLang="zh-CN" b="0" i="1" smtClean="0">
                          <a:solidFill>
                            <a:srgbClr val="333333"/>
                          </a:solidFill>
                          <a:effectLst/>
                          <a:latin typeface="Cambria Math" panose="02040503050406030204" pitchFamily="18" charset="0"/>
                        </a:rPr>
                        <m:t>=−</m:t>
                      </m:r>
                      <m:d>
                        <m:dPr>
                          <m:begChr m:val="["/>
                          <m:endChr m:val="]"/>
                          <m:ctrlPr>
                            <a:rPr lang="en-US" altLang="zh-CN" b="0" i="1" smtClean="0">
                              <a:solidFill>
                                <a:srgbClr val="333333"/>
                              </a:solidFill>
                              <a:effectLst/>
                              <a:latin typeface="Cambria Math" panose="02040503050406030204" pitchFamily="18" charset="0"/>
                            </a:rPr>
                          </m:ctrlPr>
                        </m:dPr>
                        <m:e>
                          <m:r>
                            <a:rPr lang="en-US" altLang="zh-CN" b="0" i="1" smtClean="0">
                              <a:solidFill>
                                <a:srgbClr val="333333"/>
                              </a:solidFill>
                              <a:effectLst/>
                              <a:latin typeface="Cambria Math" panose="02040503050406030204" pitchFamily="18" charset="0"/>
                            </a:rPr>
                            <m:t>𝑦𝑙𝑜𝑔</m:t>
                          </m:r>
                          <m:acc>
                            <m:accPr>
                              <m:chr m:val="̂"/>
                              <m:ctrlPr>
                                <a:rPr lang="en-US" altLang="zh-CN" b="0" i="1" smtClean="0">
                                  <a:solidFill>
                                    <a:srgbClr val="333333"/>
                                  </a:solidFill>
                                  <a:effectLst/>
                                  <a:latin typeface="Cambria Math" panose="02040503050406030204" pitchFamily="18" charset="0"/>
                                </a:rPr>
                              </m:ctrlPr>
                            </m:accPr>
                            <m:e>
                              <m:r>
                                <a:rPr lang="en-US" altLang="zh-CN" b="0" i="1" smtClean="0">
                                  <a:solidFill>
                                    <a:srgbClr val="333333"/>
                                  </a:solidFill>
                                  <a:effectLst/>
                                  <a:latin typeface="Cambria Math" panose="02040503050406030204" pitchFamily="18" charset="0"/>
                                </a:rPr>
                                <m:t>𝑦</m:t>
                              </m:r>
                            </m:e>
                          </m:acc>
                          <m:r>
                            <a:rPr lang="en-US" altLang="zh-CN" b="0" i="1" smtClean="0">
                              <a:solidFill>
                                <a:srgbClr val="333333"/>
                              </a:solidFill>
                              <a:effectLst/>
                              <a:latin typeface="Cambria Math" panose="02040503050406030204" pitchFamily="18" charset="0"/>
                            </a:rPr>
                            <m:t>+</m:t>
                          </m:r>
                          <m:d>
                            <m:dPr>
                              <m:ctrlPr>
                                <a:rPr lang="en-US" altLang="zh-CN" b="0" i="1" smtClean="0">
                                  <a:solidFill>
                                    <a:srgbClr val="333333"/>
                                  </a:solidFill>
                                  <a:effectLst/>
                                  <a:latin typeface="Cambria Math" panose="02040503050406030204" pitchFamily="18" charset="0"/>
                                </a:rPr>
                              </m:ctrlPr>
                            </m:dPr>
                            <m:e>
                              <m:r>
                                <a:rPr lang="en-US" altLang="zh-CN" b="0" i="1" smtClean="0">
                                  <a:solidFill>
                                    <a:srgbClr val="333333"/>
                                  </a:solidFill>
                                  <a:effectLst/>
                                  <a:latin typeface="Cambria Math" panose="02040503050406030204" pitchFamily="18" charset="0"/>
                                </a:rPr>
                                <m:t>1−</m:t>
                              </m:r>
                              <m:r>
                                <a:rPr lang="en-US" altLang="zh-CN" b="0" i="1" smtClean="0">
                                  <a:solidFill>
                                    <a:srgbClr val="333333"/>
                                  </a:solidFill>
                                  <a:effectLst/>
                                  <a:latin typeface="Cambria Math" panose="02040503050406030204" pitchFamily="18" charset="0"/>
                                </a:rPr>
                                <m:t>𝑦</m:t>
                              </m:r>
                            </m:e>
                          </m:d>
                          <m:func>
                            <m:funcPr>
                              <m:ctrlPr>
                                <a:rPr lang="en-US" altLang="zh-CN" b="0" i="1" smtClean="0">
                                  <a:solidFill>
                                    <a:srgbClr val="333333"/>
                                  </a:solidFill>
                                  <a:effectLst/>
                                  <a:latin typeface="Cambria Math" panose="02040503050406030204" pitchFamily="18" charset="0"/>
                                </a:rPr>
                              </m:ctrlPr>
                            </m:funcPr>
                            <m:fName>
                              <m:r>
                                <m:rPr>
                                  <m:sty m:val="p"/>
                                </m:rPr>
                                <a:rPr lang="en-US" altLang="zh-CN" b="0" i="0" smtClean="0">
                                  <a:solidFill>
                                    <a:srgbClr val="333333"/>
                                  </a:solidFill>
                                  <a:effectLst/>
                                  <a:latin typeface="Cambria Math" panose="02040503050406030204" pitchFamily="18" charset="0"/>
                                </a:rPr>
                                <m:t>log</m:t>
                              </m:r>
                            </m:fName>
                            <m:e>
                              <m:d>
                                <m:dPr>
                                  <m:ctrlPr>
                                    <a:rPr lang="en-US" altLang="zh-CN" b="0" i="1" smtClean="0">
                                      <a:solidFill>
                                        <a:srgbClr val="333333"/>
                                      </a:solidFill>
                                      <a:effectLst/>
                                      <a:latin typeface="Cambria Math" panose="02040503050406030204" pitchFamily="18" charset="0"/>
                                    </a:rPr>
                                  </m:ctrlPr>
                                </m:dPr>
                                <m:e>
                                  <m:r>
                                    <a:rPr lang="en-US" altLang="zh-CN" b="0" i="1" smtClean="0">
                                      <a:solidFill>
                                        <a:srgbClr val="333333"/>
                                      </a:solidFill>
                                      <a:effectLst/>
                                      <a:latin typeface="Cambria Math" panose="02040503050406030204" pitchFamily="18" charset="0"/>
                                    </a:rPr>
                                    <m:t>1−</m:t>
                                  </m:r>
                                  <m:acc>
                                    <m:accPr>
                                      <m:chr m:val="̂"/>
                                      <m:ctrlPr>
                                        <a:rPr lang="en-US" altLang="zh-CN" b="0" i="1" smtClean="0">
                                          <a:solidFill>
                                            <a:srgbClr val="333333"/>
                                          </a:solidFill>
                                          <a:effectLst/>
                                          <a:latin typeface="Cambria Math" panose="02040503050406030204" pitchFamily="18" charset="0"/>
                                        </a:rPr>
                                      </m:ctrlPr>
                                    </m:accPr>
                                    <m:e>
                                      <m:r>
                                        <a:rPr lang="en-US" altLang="zh-CN" b="0" i="1" smtClean="0">
                                          <a:solidFill>
                                            <a:srgbClr val="333333"/>
                                          </a:solidFill>
                                          <a:effectLst/>
                                          <a:latin typeface="Cambria Math" panose="02040503050406030204" pitchFamily="18" charset="0"/>
                                        </a:rPr>
                                        <m:t>𝑦</m:t>
                                      </m:r>
                                    </m:e>
                                  </m:acc>
                                </m:e>
                              </m:d>
                            </m:e>
                          </m:func>
                        </m:e>
                      </m:d>
                    </m:oMath>
                  </m:oMathPara>
                </a14:m>
                <a:endParaRPr lang="en-US" altLang="zh-CN" b="0" i="0" dirty="0">
                  <a:solidFill>
                    <a:srgbClr val="333333"/>
                  </a:solidFill>
                  <a:effectLst/>
                  <a:latin typeface="PingFang SC"/>
                </a:endParaRPr>
              </a:p>
              <a:p>
                <a:pPr lvl="1">
                  <a:lnSpc>
                    <a:spcPct val="100000"/>
                  </a:lnSpc>
                </a:pPr>
                <a:r>
                  <a:rPr lang="zh-CN" altLang="en-US" b="0" i="0" dirty="0">
                    <a:solidFill>
                      <a:srgbClr val="333333"/>
                    </a:solidFill>
                    <a:effectLst/>
                    <a:latin typeface="PingFang SC"/>
                  </a:rPr>
                  <a:t>其中</a:t>
                </a:r>
                <a14:m>
                  <m:oMath xmlns:m="http://schemas.openxmlformats.org/officeDocument/2006/math">
                    <m:r>
                      <a:rPr lang="en-US" altLang="zh-CN" b="0" i="1" smtClean="0">
                        <a:solidFill>
                          <a:srgbClr val="333333"/>
                        </a:solidFill>
                        <a:effectLst/>
                        <a:latin typeface="Cambria Math" panose="02040503050406030204" pitchFamily="18" charset="0"/>
                      </a:rPr>
                      <m:t>𝑦</m:t>
                    </m:r>
                  </m:oMath>
                </a14:m>
                <a:r>
                  <a:rPr lang="zh-CN" altLang="en-US" b="0" i="0" dirty="0">
                    <a:solidFill>
                      <a:srgbClr val="333333"/>
                    </a:solidFill>
                    <a:effectLst/>
                    <a:latin typeface="PingFang SC"/>
                  </a:rPr>
                  <a:t>是真实标签（</a:t>
                </a:r>
                <a:r>
                  <a:rPr lang="en-US" altLang="zh-CN" b="0" i="0" dirty="0">
                    <a:solidFill>
                      <a:srgbClr val="333333"/>
                    </a:solidFill>
                    <a:effectLst/>
                    <a:latin typeface="PingFang SC"/>
                  </a:rPr>
                  <a:t>0</a:t>
                </a:r>
                <a:r>
                  <a:rPr lang="zh-CN" altLang="en-US" b="0" i="0" dirty="0">
                    <a:solidFill>
                      <a:srgbClr val="333333"/>
                    </a:solidFill>
                    <a:effectLst/>
                    <a:latin typeface="PingFang SC"/>
                  </a:rPr>
                  <a:t>或</a:t>
                </a:r>
                <a:r>
                  <a:rPr lang="en-US" altLang="zh-CN" b="0" i="0" dirty="0">
                    <a:solidFill>
                      <a:srgbClr val="333333"/>
                    </a:solidFill>
                    <a:effectLst/>
                    <a:latin typeface="PingFang SC"/>
                  </a:rPr>
                  <a:t>1</a:t>
                </a:r>
                <a:r>
                  <a:rPr lang="zh-CN" altLang="en-US" b="0" i="0" dirty="0">
                    <a:solidFill>
                      <a:srgbClr val="333333"/>
                    </a:solidFill>
                    <a:effectLst/>
                    <a:latin typeface="PingFang SC"/>
                  </a:rPr>
                  <a:t>），</a:t>
                </a:r>
                <a14:m>
                  <m:oMath xmlns:m="http://schemas.openxmlformats.org/officeDocument/2006/math">
                    <m:r>
                      <a:rPr lang="en-US" altLang="zh-CN" b="0" i="1" smtClean="0">
                        <a:solidFill>
                          <a:srgbClr val="333333"/>
                        </a:solidFill>
                        <a:effectLst/>
                        <a:latin typeface="Cambria Math" panose="02040503050406030204" pitchFamily="18" charset="0"/>
                      </a:rPr>
                      <m:t>𝑦</m:t>
                    </m:r>
                    <m:r>
                      <a:rPr lang="en-US" altLang="zh-CN" b="0" i="1" smtClean="0">
                        <a:solidFill>
                          <a:srgbClr val="333333"/>
                        </a:solidFill>
                        <a:effectLst/>
                        <a:latin typeface="Cambria Math" panose="02040503050406030204" pitchFamily="18" charset="0"/>
                      </a:rPr>
                      <m:t> ̂</m:t>
                    </m:r>
                    <m:r>
                      <a:rPr lang="en-US" altLang="zh-CN" b="0" i="1" smtClean="0">
                        <a:solidFill>
                          <a:srgbClr val="333333"/>
                        </a:solidFill>
                        <a:effectLst/>
                        <a:latin typeface="Cambria Math" panose="02040503050406030204" pitchFamily="18" charset="0"/>
                      </a:rPr>
                      <m:t> </m:t>
                    </m:r>
                  </m:oMath>
                </a14:m>
                <a:r>
                  <a:rPr lang="zh-CN" altLang="en-US" b="0" i="0" dirty="0">
                    <a:solidFill>
                      <a:srgbClr val="333333"/>
                    </a:solidFill>
                    <a:effectLst/>
                    <a:latin typeface="PingFang SC"/>
                  </a:rPr>
                  <a:t>是模型预测为正类的概率</a:t>
                </a:r>
                <a:endParaRPr lang="en-US" altLang="zh-CN" b="0" i="0" dirty="0">
                  <a:solidFill>
                    <a:srgbClr val="333333"/>
                  </a:solidFill>
                  <a:effectLst/>
                  <a:latin typeface="PingFang SC"/>
                </a:endParaRPr>
              </a:p>
              <a:p>
                <a:pPr lvl="1">
                  <a:lnSpc>
                    <a:spcPct val="100000"/>
                  </a:lnSpc>
                </a:pPr>
                <a:endParaRPr lang="zh-CN" altLang="en-US" b="0" i="0" dirty="0">
                  <a:solidFill>
                    <a:srgbClr val="333333"/>
                  </a:solidFill>
                  <a:effectLst/>
                  <a:latin typeface="PingFang SC"/>
                </a:endParaRPr>
              </a:p>
              <a:p>
                <a:pPr>
                  <a:lnSpc>
                    <a:spcPct val="100000"/>
                  </a:lnSpc>
                </a:pPr>
                <a:endParaRPr lang="zh-CN" altLang="en-US" dirty="0"/>
              </a:p>
            </p:txBody>
          </p:sp>
        </mc:Choice>
        <mc:Fallback xmlns="">
          <p:sp>
            <p:nvSpPr>
              <p:cNvPr id="3" name="内容占位符 2">
                <a:extLst>
                  <a:ext uri="{FF2B5EF4-FFF2-40B4-BE49-F238E27FC236}">
                    <a16:creationId xmlns:a16="http://schemas.microsoft.com/office/drawing/2014/main" id="{CB8E8946-5C6C-43E0-84EA-4FC4FF95C680}"/>
                  </a:ext>
                </a:extLst>
              </p:cNvPr>
              <p:cNvSpPr>
                <a:spLocks noGrp="1" noRot="1" noChangeAspect="1" noMove="1" noResize="1" noEditPoints="1" noAdjustHandles="1" noChangeArrowheads="1" noChangeShapeType="1" noTextEdit="1"/>
              </p:cNvSpPr>
              <p:nvPr>
                <p:ph idx="1"/>
              </p:nvPr>
            </p:nvSpPr>
            <p:spPr>
              <a:blipFill>
                <a:blip r:embed="rId2"/>
                <a:stretch>
                  <a:fillRect l="-1043" t="-154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43686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1C8F3C-93AA-4C2E-8573-E843CDB6E23C}"/>
              </a:ext>
            </a:extLst>
          </p:cNvPr>
          <p:cNvSpPr>
            <a:spLocks noGrp="1"/>
          </p:cNvSpPr>
          <p:nvPr>
            <p:ph type="title"/>
          </p:nvPr>
        </p:nvSpPr>
        <p:spPr/>
        <p:txBody>
          <a:bodyPr/>
          <a:lstStyle/>
          <a:p>
            <a:r>
              <a:rPr lang="zh-CN" altLang="en-US" dirty="0"/>
              <a:t>交叉熵的计算</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D147C58-D4C9-4D9A-AF21-A56C777CA10B}"/>
                  </a:ext>
                </a:extLst>
              </p:cNvPr>
              <p:cNvSpPr>
                <a:spLocks noGrp="1"/>
              </p:cNvSpPr>
              <p:nvPr>
                <p:ph idx="1"/>
              </p:nvPr>
            </p:nvSpPr>
            <p:spPr/>
            <p:txBody>
              <a:bodyPr>
                <a:normAutofit lnSpcReduction="10000"/>
              </a:bodyPr>
              <a:lstStyle/>
              <a:p>
                <a:r>
                  <a:rPr lang="zh-CN" altLang="en-US" dirty="0"/>
                  <a:t>多分类交叉熵</a:t>
                </a:r>
                <a:endParaRPr lang="en-US" altLang="zh-CN" dirty="0"/>
              </a:p>
              <a:p>
                <a:pPr lvl="1"/>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𝐶𝐸</m:t>
                        </m:r>
                      </m:sub>
                    </m:sSub>
                    <m:r>
                      <a:rPr lang="en-US" altLang="zh-CN" b="0" i="1" smtClean="0">
                        <a:latin typeface="Cambria Math" panose="02040503050406030204" pitchFamily="18" charset="0"/>
                      </a:rPr>
                      <m:t>=−</m:t>
                    </m:r>
                    <m:nary>
                      <m:naryPr>
                        <m:chr m:val="∑"/>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𝐶</m:t>
                        </m:r>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𝑖</m:t>
                            </m:r>
                          </m:sub>
                        </m:sSub>
                        <m:r>
                          <m:rPr>
                            <m:sty m:val="p"/>
                          </m:rPr>
                          <a:rPr lang="en-US" altLang="zh-CN" b="0" i="0" smtClean="0">
                            <a:latin typeface="Cambria Math" panose="02040503050406030204" pitchFamily="18" charset="0"/>
                          </a:rPr>
                          <m:t>log</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𝑦</m:t>
                                </m:r>
                              </m:e>
                            </m:acc>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e>
                    </m:nary>
                  </m:oMath>
                </a14:m>
                <a:endParaRPr lang="en-US" altLang="zh-CN" dirty="0"/>
              </a:p>
              <a:p>
                <a:pPr lvl="1"/>
                <a:r>
                  <a:rPr lang="zh-CN" altLang="en-US" dirty="0"/>
                  <a:t>其中</a:t>
                </a:r>
                <a14:m>
                  <m:oMath xmlns:m="http://schemas.openxmlformats.org/officeDocument/2006/math">
                    <m:r>
                      <a:rPr lang="en-US" altLang="zh-CN" b="0" i="1" smtClean="0">
                        <a:latin typeface="Cambria Math" panose="02040503050406030204" pitchFamily="18" charset="0"/>
                      </a:rPr>
                      <m:t>𝐶</m:t>
                    </m:r>
                  </m:oMath>
                </a14:m>
                <a:r>
                  <a:rPr lang="zh-CN" altLang="en-US" dirty="0"/>
                  <a:t>是类别总数目</a:t>
                </a:r>
                <a:endParaRPr lang="en-US" altLang="zh-CN" dirty="0"/>
              </a:p>
              <a:p>
                <a:pPr lvl="1"/>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𝑖</m:t>
                        </m:r>
                      </m:sub>
                    </m:sSub>
                  </m:oMath>
                </a14:m>
                <a:r>
                  <a:rPr lang="zh-CN" altLang="en-US" dirty="0"/>
                  <a:t>是真实标签的</a:t>
                </a:r>
                <a:r>
                  <a:rPr lang="en-US" altLang="zh-CN" dirty="0"/>
                  <a:t>One-hot</a:t>
                </a:r>
                <a:r>
                  <a:rPr lang="zh-CN" altLang="en-US" dirty="0"/>
                  <a:t>编码</a:t>
                </a:r>
                <a:endParaRPr lang="en-US" altLang="zh-CN" dirty="0"/>
              </a:p>
              <a:p>
                <a:pPr lvl="1"/>
                <a14:m>
                  <m:oMath xmlns:m="http://schemas.openxmlformats.org/officeDocument/2006/math">
                    <m:sSub>
                      <m:sSubPr>
                        <m:ctrlPr>
                          <a:rPr lang="en-US" altLang="zh-CN" b="0" i="1" dirty="0"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𝑦</m:t>
                            </m:r>
                          </m:e>
                        </m:acc>
                      </m:e>
                      <m:sub>
                        <m:r>
                          <a:rPr lang="en-US" altLang="zh-CN" b="0" i="1" dirty="0" smtClean="0">
                            <a:latin typeface="Cambria Math" panose="02040503050406030204" pitchFamily="18" charset="0"/>
                          </a:rPr>
                          <m:t>𝑖</m:t>
                        </m:r>
                      </m:sub>
                    </m:sSub>
                  </m:oMath>
                </a14:m>
                <a:r>
                  <a:rPr lang="zh-CN" altLang="en-US" dirty="0"/>
                  <a:t>是模型预测的第</a:t>
                </a:r>
                <a14:m>
                  <m:oMath xmlns:m="http://schemas.openxmlformats.org/officeDocument/2006/math">
                    <m:r>
                      <a:rPr lang="en-US" altLang="zh-CN" b="0" i="1" smtClean="0">
                        <a:latin typeface="Cambria Math" panose="02040503050406030204" pitchFamily="18" charset="0"/>
                      </a:rPr>
                      <m:t>𝑖</m:t>
                    </m:r>
                  </m:oMath>
                </a14:m>
                <a:r>
                  <a:rPr lang="zh-CN" altLang="en-US" dirty="0"/>
                  <a:t>个类别的概率（可以看作是最后一层</a:t>
                </a:r>
                <a:r>
                  <a:rPr lang="en-US" altLang="zh-CN" dirty="0"/>
                  <a:t>logits</a:t>
                </a:r>
                <a:r>
                  <a:rPr lang="zh-CN" altLang="en-US" dirty="0"/>
                  <a:t>进行</a:t>
                </a:r>
                <a:r>
                  <a:rPr lang="en-US" altLang="zh-CN" dirty="0" err="1"/>
                  <a:t>softmax</a:t>
                </a:r>
                <a:r>
                  <a:rPr lang="zh-CN" altLang="en-US" dirty="0"/>
                  <a:t>后的结果）</a:t>
                </a:r>
                <a:endParaRPr lang="en-US" altLang="zh-CN" dirty="0"/>
              </a:p>
              <a:p>
                <a:r>
                  <a:rPr lang="zh-CN" altLang="en-US" dirty="0"/>
                  <a:t>例如有</a:t>
                </a:r>
                <a:r>
                  <a:rPr lang="en-US" altLang="zh-CN" dirty="0"/>
                  <a:t>3</a:t>
                </a:r>
                <a:r>
                  <a:rPr lang="zh-CN" altLang="en-US" dirty="0"/>
                  <a:t>个类别</a:t>
                </a:r>
                <a14:m>
                  <m:oMath xmlns:m="http://schemas.openxmlformats.org/officeDocument/2006/math">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r>
                          <a:rPr lang="en-US" altLang="zh-CN" b="0" i="1" smtClean="0">
                            <a:latin typeface="Cambria Math" panose="02040503050406030204" pitchFamily="18" charset="0"/>
                          </a:rPr>
                          <m:t>,</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r>
                          <a:rPr lang="en-US" altLang="zh-CN" b="0" i="1" smtClean="0">
                            <a:latin typeface="Cambria Math" panose="02040503050406030204" pitchFamily="18" charset="0"/>
                          </a:rPr>
                          <m:t>𝐶</m:t>
                        </m:r>
                      </m:e>
                    </m:d>
                    <m:r>
                      <a:rPr lang="en-US" altLang="zh-CN" b="0" i="1" smtClean="0">
                        <a:latin typeface="Cambria Math" panose="02040503050406030204" pitchFamily="18" charset="0"/>
                      </a:rPr>
                      <m:t>,</m:t>
                    </m:r>
                  </m:oMath>
                </a14:m>
                <a:r>
                  <a:rPr lang="zh-CN" altLang="en-US" dirty="0"/>
                  <a:t>一共有两个样本</a:t>
                </a:r>
                <a:endParaRPr lang="en-US" altLang="zh-CN" dirty="0"/>
              </a:p>
              <a:p>
                <a:pPr lvl="1"/>
                <a:r>
                  <a:rPr lang="zh-CN" altLang="en-US" dirty="0"/>
                  <a:t>样本</a:t>
                </a:r>
                <a:r>
                  <a:rPr lang="en-US" altLang="zh-CN" dirty="0"/>
                  <a:t>1</a:t>
                </a:r>
                <a:r>
                  <a:rPr lang="zh-CN" altLang="en-US" dirty="0"/>
                  <a:t>：真实标签为</a:t>
                </a:r>
                <a:r>
                  <a:rPr lang="en-US" altLang="zh-CN" dirty="0"/>
                  <a:t>A</a:t>
                </a:r>
                <a:r>
                  <a:rPr lang="zh-CN" altLang="en-US" dirty="0"/>
                  <a:t>类，其</a:t>
                </a:r>
                <a:r>
                  <a:rPr lang="en-US" altLang="zh-CN" dirty="0"/>
                  <a:t>one-hot</a:t>
                </a:r>
                <a:r>
                  <a:rPr lang="zh-CN" altLang="en-US" dirty="0"/>
                  <a:t>编码表示为</a:t>
                </a:r>
                <a:r>
                  <a:rPr lang="en-US" altLang="zh-CN" dirty="0"/>
                  <a:t>[1,0,0]</a:t>
                </a:r>
                <a:r>
                  <a:rPr lang="zh-CN" altLang="en-US" dirty="0"/>
                  <a:t>，输入模型后，输出概率为</a:t>
                </a:r>
                <a:r>
                  <a:rPr lang="en-US" altLang="zh-CN" dirty="0"/>
                  <a:t>[0.7,0.2,0.1]</a:t>
                </a:r>
              </a:p>
              <a:p>
                <a:pPr lvl="1"/>
                <a:r>
                  <a:rPr lang="zh-CN" altLang="en-US" dirty="0"/>
                  <a:t>样本</a:t>
                </a:r>
                <a:r>
                  <a:rPr lang="en-US" altLang="zh-CN" dirty="0"/>
                  <a:t>2</a:t>
                </a:r>
                <a:r>
                  <a:rPr lang="zh-CN" altLang="en-US" dirty="0"/>
                  <a:t>：真实标签为</a:t>
                </a:r>
                <a:r>
                  <a:rPr lang="en-US" altLang="zh-CN" dirty="0"/>
                  <a:t>C</a:t>
                </a:r>
                <a:r>
                  <a:rPr lang="zh-CN" altLang="en-US" dirty="0"/>
                  <a:t>类，其</a:t>
                </a:r>
                <a:r>
                  <a:rPr lang="en-US" altLang="zh-CN" dirty="0"/>
                  <a:t>one-hot</a:t>
                </a:r>
                <a:r>
                  <a:rPr lang="zh-CN" altLang="en-US" dirty="0"/>
                  <a:t>编码表示为</a:t>
                </a:r>
                <a:r>
                  <a:rPr lang="en-US" altLang="zh-CN" dirty="0"/>
                  <a:t>[0,0,1]</a:t>
                </a:r>
                <a:r>
                  <a:rPr lang="zh-CN" altLang="en-US" dirty="0"/>
                  <a:t>，输入模型后，输出概率为</a:t>
                </a:r>
                <a:r>
                  <a:rPr lang="en-US" altLang="zh-CN" dirty="0"/>
                  <a:t>[0.2,0.3,0.5]</a:t>
                </a:r>
              </a:p>
              <a:p>
                <a:pPr lvl="1"/>
                <a:r>
                  <a:rPr lang="zh-CN" altLang="en-US" dirty="0"/>
                  <a:t>请计算及交叉熵！</a:t>
                </a:r>
                <a:endParaRPr lang="en-US" altLang="zh-CN" dirty="0"/>
              </a:p>
            </p:txBody>
          </p:sp>
        </mc:Choice>
        <mc:Fallback xmlns="">
          <p:sp>
            <p:nvSpPr>
              <p:cNvPr id="3" name="内容占位符 2">
                <a:extLst>
                  <a:ext uri="{FF2B5EF4-FFF2-40B4-BE49-F238E27FC236}">
                    <a16:creationId xmlns:a16="http://schemas.microsoft.com/office/drawing/2014/main" id="{CD147C58-D4C9-4D9A-AF21-A56C777CA10B}"/>
                  </a:ext>
                </a:extLst>
              </p:cNvPr>
              <p:cNvSpPr>
                <a:spLocks noGrp="1" noRot="1" noChangeAspect="1" noMove="1" noResize="1" noEditPoints="1" noAdjustHandles="1" noChangeArrowheads="1" noChangeShapeType="1" noTextEdit="1"/>
              </p:cNvSpPr>
              <p:nvPr>
                <p:ph idx="1"/>
              </p:nvPr>
            </p:nvSpPr>
            <p:spPr>
              <a:blipFill>
                <a:blip r:embed="rId2"/>
                <a:stretch>
                  <a:fillRect l="-1043" t="-3221" r="-116" b="-294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83315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8B6275-F9F3-439C-8099-7E6C0EE0F1D9}"/>
              </a:ext>
            </a:extLst>
          </p:cNvPr>
          <p:cNvSpPr>
            <a:spLocks noGrp="1"/>
          </p:cNvSpPr>
          <p:nvPr>
            <p:ph type="title"/>
          </p:nvPr>
        </p:nvSpPr>
        <p:spPr/>
        <p:txBody>
          <a:bodyPr/>
          <a:lstStyle/>
          <a:p>
            <a:r>
              <a:rPr lang="zh-CN" altLang="en-US" dirty="0"/>
              <a:t>交叉熵的计算</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1C84AE3-4ED0-4EA1-AB22-1200C7FC0D22}"/>
                  </a:ext>
                </a:extLst>
              </p:cNvPr>
              <p:cNvSpPr>
                <a:spLocks noGrp="1"/>
              </p:cNvSpPr>
              <p:nvPr>
                <p:ph idx="1"/>
              </p:nvPr>
            </p:nvSpPr>
            <p:spPr/>
            <p:txBody>
              <a:bodyPr/>
              <a:lstStyle/>
              <a:p>
                <a:r>
                  <a:rPr lang="zh-CN" altLang="en-US" dirty="0"/>
                  <a:t>根据公式</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𝐶𝐸</m:t>
                        </m:r>
                      </m:sub>
                    </m:sSub>
                    <m:r>
                      <a:rPr lang="en-US" altLang="zh-CN" b="0" i="1" smtClean="0">
                        <a:latin typeface="Cambria Math" panose="02040503050406030204" pitchFamily="18" charset="0"/>
                      </a:rPr>
                      <m:t>=−</m:t>
                    </m:r>
                    <m:nary>
                      <m:naryPr>
                        <m:chr m:val="∑"/>
                        <m:supHide m:val="on"/>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𝑖</m:t>
                        </m:r>
                      </m:sub>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𝑙𝑜𝑔</m:t>
                        </m:r>
                        <m:sSub>
                          <m:sSubPr>
                            <m:ctrlPr>
                              <a:rPr lang="en-US" altLang="zh-CN" b="0" i="1" dirty="0"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𝑦</m:t>
                                </m:r>
                              </m:e>
                            </m:acc>
                          </m:e>
                          <m:sub>
                            <m:r>
                              <a:rPr lang="en-US" altLang="zh-CN" b="0" i="1" dirty="0" smtClean="0">
                                <a:latin typeface="Cambria Math" panose="02040503050406030204" pitchFamily="18" charset="0"/>
                              </a:rPr>
                              <m:t>𝑖</m:t>
                            </m:r>
                          </m:sub>
                        </m:sSub>
                      </m:e>
                    </m:nary>
                  </m:oMath>
                </a14:m>
                <a:endParaRPr lang="en-US" altLang="zh-CN" dirty="0"/>
              </a:p>
              <a:p>
                <a:pPr lvl="1"/>
                <a:r>
                  <a:rPr lang="zh-CN" altLang="en-US" dirty="0"/>
                  <a:t>样本</a:t>
                </a:r>
                <a:r>
                  <a:rPr lang="en-US" altLang="zh-CN" dirty="0"/>
                  <a:t>1</a:t>
                </a:r>
                <a:r>
                  <a:rPr lang="zh-CN" altLang="en-US" dirty="0"/>
                  <a:t>的真实标签</a:t>
                </a:r>
                <a14:m>
                  <m:oMath xmlns:m="http://schemas.openxmlformats.org/officeDocument/2006/math">
                    <m:r>
                      <a:rPr lang="en-US" altLang="zh-CN" b="0" i="1" smtClean="0">
                        <a:latin typeface="Cambria Math" panose="02040503050406030204" pitchFamily="18" charset="0"/>
                      </a:rPr>
                      <m:t>𝑦</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1,0,0</m:t>
                        </m:r>
                      </m:e>
                    </m:d>
                    <m:r>
                      <a:rPr lang="en-US" altLang="zh-CN" b="0" i="1" smtClean="0">
                        <a:latin typeface="Cambria Math" panose="02040503050406030204" pitchFamily="18" charset="0"/>
                      </a:rPr>
                      <m:t>,</m:t>
                    </m:r>
                  </m:oMath>
                </a14:m>
                <a:r>
                  <a:rPr lang="zh-CN" altLang="en-US" dirty="0"/>
                  <a:t>预测标签为</a:t>
                </a:r>
                <a14:m>
                  <m:oMath xmlns:m="http://schemas.openxmlformats.org/officeDocument/2006/math">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𝑦</m:t>
                        </m:r>
                      </m:e>
                    </m:acc>
                    <m:r>
                      <a:rPr lang="en-US" altLang="zh-CN" b="0" i="1" dirty="0" smtClean="0">
                        <a:latin typeface="Cambria Math" panose="02040503050406030204" pitchFamily="18" charset="0"/>
                      </a:rPr>
                      <m:t>=[0.7,0.2,0.1]</m:t>
                    </m:r>
                  </m:oMath>
                </a14:m>
                <a:endParaRPr lang="en-US" altLang="zh-CN" dirty="0"/>
              </a:p>
              <a:p>
                <a:pPr lvl="1"/>
                <a:r>
                  <a:rPr lang="zh-CN" altLang="en-US" dirty="0"/>
                  <a:t>样本</a:t>
                </a:r>
                <a:r>
                  <a:rPr lang="en-US" altLang="zh-CN" dirty="0"/>
                  <a:t>1</a:t>
                </a:r>
                <a:r>
                  <a:rPr lang="zh-CN" altLang="en-US" dirty="0"/>
                  <a:t>的损失计算如下：</a:t>
                </a:r>
                <a:endParaRPr lang="en-US" altLang="zh-CN" dirty="0"/>
              </a:p>
              <a:p>
                <a:pPr lvl="1"/>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r>
                          <m:rPr>
                            <m:sty m:val="p"/>
                          </m:rPr>
                          <a:rPr lang="en-US" altLang="zh-CN" b="0" i="0" smtClean="0">
                            <a:latin typeface="Cambria Math" panose="02040503050406030204" pitchFamily="18" charset="0"/>
                          </a:rPr>
                          <m:t>log</m:t>
                        </m:r>
                        <m:r>
                          <a:rPr lang="en-US" altLang="zh-CN" b="0" i="1" smtClean="0">
                            <a:latin typeface="Cambria Math" panose="02040503050406030204" pitchFamily="18" charset="0"/>
                          </a:rPr>
                          <m:t>⁡(0.7</m:t>
                        </m:r>
                      </m:e>
                    </m:d>
                    <m:r>
                      <a:rPr lang="en-US" altLang="zh-CN" b="0" i="1" smtClean="0">
                        <a:latin typeface="Cambria Math" panose="02040503050406030204" pitchFamily="18" charset="0"/>
                      </a:rPr>
                      <m:t>+0⋅</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log</m:t>
                        </m:r>
                      </m:fName>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0.2</m:t>
                            </m:r>
                          </m:e>
                        </m:d>
                      </m:e>
                    </m:func>
                    <m:r>
                      <a:rPr lang="en-US" altLang="zh-CN" b="0" i="1" smtClean="0">
                        <a:latin typeface="Cambria Math" panose="02040503050406030204" pitchFamily="18" charset="0"/>
                      </a:rPr>
                      <m:t>+0⋅</m:t>
                    </m:r>
                    <m:r>
                      <m:rPr>
                        <m:sty m:val="p"/>
                      </m:rPr>
                      <a:rPr lang="en-US" altLang="zh-CN" b="0" i="0" smtClean="0">
                        <a:latin typeface="Cambria Math" panose="02040503050406030204" pitchFamily="18" charset="0"/>
                      </a:rPr>
                      <m:t>log</m:t>
                    </m:r>
                    <m:r>
                      <a:rPr lang="en-US" altLang="zh-CN" b="0" i="1" smtClean="0">
                        <a:latin typeface="Cambria Math" panose="02040503050406030204" pitchFamily="18" charset="0"/>
                      </a:rPr>
                      <m:t>⁡(0.1))=−</m:t>
                    </m:r>
                    <m:r>
                      <a:rPr lang="en-US" altLang="zh-CN" b="0" i="1" smtClean="0">
                        <a:latin typeface="Cambria Math" panose="02040503050406030204" pitchFamily="18" charset="0"/>
                      </a:rPr>
                      <m:t>𝑙𝑜𝑔</m:t>
                    </m:r>
                    <m:r>
                      <a:rPr lang="en-US" altLang="zh-CN" b="0" i="1" smtClean="0">
                        <a:latin typeface="Cambria Math" panose="02040503050406030204" pitchFamily="18" charset="0"/>
                      </a:rPr>
                      <m:t>0.7=0.3567</m:t>
                    </m:r>
                  </m:oMath>
                </a14:m>
                <a:endParaRPr lang="en-US" altLang="zh-CN" b="0" dirty="0"/>
              </a:p>
              <a:p>
                <a:pPr lvl="1"/>
                <a:r>
                  <a:rPr lang="zh-CN" altLang="en-US" dirty="0"/>
                  <a:t>样本</a:t>
                </a:r>
                <a:r>
                  <a:rPr lang="en-US" altLang="zh-CN" dirty="0"/>
                  <a:t>1</a:t>
                </a:r>
                <a:r>
                  <a:rPr lang="zh-CN" altLang="en-US" dirty="0"/>
                  <a:t>的真实标签</a:t>
                </a:r>
                <a14:m>
                  <m:oMath xmlns:m="http://schemas.openxmlformats.org/officeDocument/2006/math">
                    <m:r>
                      <a:rPr lang="en-US" altLang="zh-CN" b="0" i="1" smtClean="0">
                        <a:latin typeface="Cambria Math" panose="02040503050406030204" pitchFamily="18" charset="0"/>
                      </a:rPr>
                      <m:t>𝑦</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0,0,1</m:t>
                        </m:r>
                      </m:e>
                    </m:d>
                    <m:r>
                      <a:rPr lang="en-US" altLang="zh-CN" b="0" i="1" smtClean="0">
                        <a:latin typeface="Cambria Math" panose="02040503050406030204" pitchFamily="18" charset="0"/>
                      </a:rPr>
                      <m:t>,</m:t>
                    </m:r>
                  </m:oMath>
                </a14:m>
                <a:r>
                  <a:rPr lang="zh-CN" altLang="en-US" dirty="0"/>
                  <a:t>预测标签为</a:t>
                </a:r>
                <a14:m>
                  <m:oMath xmlns:m="http://schemas.openxmlformats.org/officeDocument/2006/math">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𝑦</m:t>
                        </m:r>
                      </m:e>
                    </m:acc>
                    <m:r>
                      <a:rPr lang="en-US" altLang="zh-CN" b="0" i="1" dirty="0" smtClean="0">
                        <a:latin typeface="Cambria Math" panose="02040503050406030204" pitchFamily="18" charset="0"/>
                      </a:rPr>
                      <m:t>=[0.2,0.3,0.5]</m:t>
                    </m:r>
                  </m:oMath>
                </a14:m>
                <a:endParaRPr lang="en-US" altLang="zh-CN" dirty="0"/>
              </a:p>
              <a:p>
                <a:pPr lvl="1"/>
                <a:r>
                  <a:rPr lang="zh-CN" altLang="en-US" dirty="0"/>
                  <a:t>样本</a:t>
                </a:r>
                <a:r>
                  <a:rPr lang="en-US" altLang="zh-CN" dirty="0"/>
                  <a:t>2</a:t>
                </a:r>
                <a:r>
                  <a:rPr lang="zh-CN" altLang="en-US" dirty="0"/>
                  <a:t>的损失计算如下：</a:t>
                </a:r>
                <a:endParaRPr lang="en-US" altLang="zh-CN" dirty="0"/>
              </a:p>
              <a:p>
                <a:pPr lvl="1"/>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oMath>
                </a14:m>
                <a:r>
                  <a:rPr lang="en-US" altLang="zh-CN" b="0" dirty="0"/>
                  <a:t> </a:t>
                </a:r>
                <a14:m>
                  <m:oMath xmlns:m="http://schemas.openxmlformats.org/officeDocument/2006/math">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m:t>
                        </m:r>
                        <m:r>
                          <m:rPr>
                            <m:sty m:val="p"/>
                          </m:rPr>
                          <a:rPr lang="en-US" altLang="zh-CN" b="0" i="0" smtClean="0">
                            <a:latin typeface="Cambria Math" panose="02040503050406030204" pitchFamily="18" charset="0"/>
                          </a:rPr>
                          <m:t>log</m:t>
                        </m:r>
                        <m:r>
                          <a:rPr lang="en-US" altLang="zh-CN" b="0" i="1" smtClean="0">
                            <a:latin typeface="Cambria Math" panose="02040503050406030204" pitchFamily="18" charset="0"/>
                          </a:rPr>
                          <m:t>⁡(0.2</m:t>
                        </m:r>
                      </m:e>
                    </m:d>
                    <m:r>
                      <a:rPr lang="en-US" altLang="zh-CN" b="0" i="1" smtClean="0">
                        <a:latin typeface="Cambria Math" panose="02040503050406030204" pitchFamily="18" charset="0"/>
                      </a:rPr>
                      <m:t>+0⋅</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log</m:t>
                        </m:r>
                      </m:fName>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0.3</m:t>
                            </m:r>
                          </m:e>
                        </m:d>
                      </m:e>
                    </m:func>
                    <m:r>
                      <a:rPr lang="en-US" altLang="zh-CN" b="0" i="1" smtClean="0">
                        <a:latin typeface="Cambria Math" panose="02040503050406030204" pitchFamily="18" charset="0"/>
                      </a:rPr>
                      <m:t>+1⋅</m:t>
                    </m:r>
                    <m:r>
                      <m:rPr>
                        <m:sty m:val="p"/>
                      </m:rPr>
                      <a:rPr lang="en-US" altLang="zh-CN" b="0" i="0" smtClean="0">
                        <a:latin typeface="Cambria Math" panose="02040503050406030204" pitchFamily="18" charset="0"/>
                      </a:rPr>
                      <m:t>log</m:t>
                    </m:r>
                    <m:r>
                      <a:rPr lang="en-US" altLang="zh-CN" b="0" i="1" smtClean="0">
                        <a:latin typeface="Cambria Math" panose="02040503050406030204" pitchFamily="18" charset="0"/>
                      </a:rPr>
                      <m:t>⁡(0.5))=−</m:t>
                    </m:r>
                    <m:r>
                      <a:rPr lang="en-US" altLang="zh-CN" b="0" i="1" smtClean="0">
                        <a:latin typeface="Cambria Math" panose="02040503050406030204" pitchFamily="18" charset="0"/>
                      </a:rPr>
                      <m:t>𝑙𝑜𝑔</m:t>
                    </m:r>
                    <m:r>
                      <a:rPr lang="en-US" altLang="zh-CN" b="0" i="1" smtClean="0">
                        <a:latin typeface="Cambria Math" panose="02040503050406030204" pitchFamily="18" charset="0"/>
                      </a:rPr>
                      <m:t>0.5=0.6931</m:t>
                    </m:r>
                  </m:oMath>
                </a14:m>
                <a:endParaRPr lang="en-US" altLang="zh-CN" dirty="0"/>
              </a:p>
              <a:p>
                <a:r>
                  <a:rPr lang="zh-CN" altLang="en-US" dirty="0"/>
                  <a:t>因此，</a:t>
                </a:r>
                <a:r>
                  <a:rPr lang="en-US" altLang="zh-CN" dirty="0"/>
                  <a:t>2</a:t>
                </a:r>
                <a:r>
                  <a:rPr lang="zh-CN" altLang="en-US" dirty="0"/>
                  <a:t>个训练样本的总损失为：</a:t>
                </a:r>
                <a:endParaRPr lang="en-US" altLang="zh-CN" dirty="0"/>
              </a:p>
              <a:p>
                <a:pPr lvl="1"/>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𝑡𝑜𝑡𝑎𝑙</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2</m:t>
                            </m:r>
                          </m:sub>
                        </m:sSub>
                      </m:num>
                      <m:den>
                        <m:r>
                          <a:rPr lang="en-US" altLang="zh-CN" b="0" i="1" smtClean="0">
                            <a:latin typeface="Cambria Math" panose="02040503050406030204" pitchFamily="18" charset="0"/>
                          </a:rPr>
                          <m:t>2</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0.3567+0.6931</m:t>
                        </m:r>
                      </m:num>
                      <m:den>
                        <m:r>
                          <a:rPr lang="en-US" altLang="zh-CN" b="0" i="1" smtClean="0">
                            <a:latin typeface="Cambria Math" panose="02040503050406030204" pitchFamily="18" charset="0"/>
                          </a:rPr>
                          <m:t>2</m:t>
                        </m:r>
                      </m:den>
                    </m:f>
                    <m:r>
                      <a:rPr lang="en-US" altLang="zh-CN" b="0" i="1" smtClean="0">
                        <a:latin typeface="Cambria Math" panose="02040503050406030204" pitchFamily="18" charset="0"/>
                      </a:rPr>
                      <m:t>=0.5249</m:t>
                    </m:r>
                  </m:oMath>
                </a14:m>
                <a:endParaRPr lang="zh-CN" altLang="en-US" dirty="0"/>
              </a:p>
            </p:txBody>
          </p:sp>
        </mc:Choice>
        <mc:Fallback xmlns="">
          <p:sp>
            <p:nvSpPr>
              <p:cNvPr id="3" name="内容占位符 2">
                <a:extLst>
                  <a:ext uri="{FF2B5EF4-FFF2-40B4-BE49-F238E27FC236}">
                    <a16:creationId xmlns:a16="http://schemas.microsoft.com/office/drawing/2014/main" id="{A1C84AE3-4ED0-4EA1-AB22-1200C7FC0D22}"/>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432197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6E865C-6595-4A43-94C9-A674D66C0429}"/>
              </a:ext>
            </a:extLst>
          </p:cNvPr>
          <p:cNvSpPr>
            <a:spLocks noGrp="1"/>
          </p:cNvSpPr>
          <p:nvPr>
            <p:ph type="title"/>
          </p:nvPr>
        </p:nvSpPr>
        <p:spPr/>
        <p:txBody>
          <a:bodyPr/>
          <a:lstStyle/>
          <a:p>
            <a:r>
              <a:rPr lang="zh-CN" altLang="en-US" dirty="0"/>
              <a:t>交叉熵的直观理解</a:t>
            </a:r>
          </a:p>
        </p:txBody>
      </p:sp>
      <p:sp>
        <p:nvSpPr>
          <p:cNvPr id="3" name="内容占位符 2">
            <a:extLst>
              <a:ext uri="{FF2B5EF4-FFF2-40B4-BE49-F238E27FC236}">
                <a16:creationId xmlns:a16="http://schemas.microsoft.com/office/drawing/2014/main" id="{D44465C6-D315-4FA1-9AB5-CE3B3356C147}"/>
              </a:ext>
            </a:extLst>
          </p:cNvPr>
          <p:cNvSpPr>
            <a:spLocks noGrp="1"/>
          </p:cNvSpPr>
          <p:nvPr>
            <p:ph idx="1"/>
          </p:nvPr>
        </p:nvSpPr>
        <p:spPr/>
        <p:txBody>
          <a:bodyPr/>
          <a:lstStyle/>
          <a:p>
            <a:pPr algn="l"/>
            <a:r>
              <a:rPr lang="zh-CN" altLang="en-US" b="0" i="0" dirty="0">
                <a:solidFill>
                  <a:srgbClr val="333333"/>
                </a:solidFill>
                <a:effectLst/>
                <a:latin typeface="PingFang SC"/>
              </a:rPr>
              <a:t>交叉熵损失函数的设计有其深刻的直觉：</a:t>
            </a:r>
          </a:p>
          <a:p>
            <a:pPr algn="l">
              <a:buFont typeface="+mj-lt"/>
              <a:buAutoNum type="arabicPeriod"/>
            </a:pPr>
            <a:r>
              <a:rPr lang="zh-CN" altLang="en-US" b="0" i="0" dirty="0">
                <a:solidFill>
                  <a:srgbClr val="333333"/>
                </a:solidFill>
                <a:effectLst/>
                <a:latin typeface="PingFang SC"/>
              </a:rPr>
              <a:t>‌</a:t>
            </a:r>
            <a:r>
              <a:rPr lang="zh-CN" altLang="en-US" b="1" i="0" dirty="0">
                <a:solidFill>
                  <a:srgbClr val="333333"/>
                </a:solidFill>
                <a:effectLst/>
                <a:latin typeface="PingFang SC"/>
              </a:rPr>
              <a:t>惩罚机制</a:t>
            </a:r>
            <a:r>
              <a:rPr lang="zh-CN" altLang="en-US" b="0" i="0" dirty="0">
                <a:solidFill>
                  <a:srgbClr val="333333"/>
                </a:solidFill>
                <a:effectLst/>
                <a:latin typeface="PingFang SC"/>
              </a:rPr>
              <a:t>‌：当模型预测非常自信但错误时（如预测概率为</a:t>
            </a:r>
            <a:r>
              <a:rPr lang="en-US" altLang="zh-CN" b="0" i="0" dirty="0">
                <a:solidFill>
                  <a:srgbClr val="333333"/>
                </a:solidFill>
                <a:effectLst/>
                <a:latin typeface="PingFang SC"/>
              </a:rPr>
              <a:t>0.9</a:t>
            </a:r>
            <a:r>
              <a:rPr lang="zh-CN" altLang="en-US" b="0" i="0" dirty="0">
                <a:solidFill>
                  <a:srgbClr val="333333"/>
                </a:solidFill>
                <a:effectLst/>
                <a:latin typeface="PingFang SC"/>
              </a:rPr>
              <a:t>但实际标签是</a:t>
            </a:r>
            <a:r>
              <a:rPr lang="en-US" altLang="zh-CN" b="0" i="0" dirty="0">
                <a:solidFill>
                  <a:srgbClr val="333333"/>
                </a:solidFill>
                <a:effectLst/>
                <a:latin typeface="PingFang SC"/>
              </a:rPr>
              <a:t>0</a:t>
            </a:r>
            <a:r>
              <a:rPr lang="zh-CN" altLang="en-US" b="0" i="0" dirty="0">
                <a:solidFill>
                  <a:srgbClr val="333333"/>
                </a:solidFill>
                <a:effectLst/>
                <a:latin typeface="PingFang SC"/>
              </a:rPr>
              <a:t>），损失值会很大。</a:t>
            </a:r>
          </a:p>
          <a:p>
            <a:pPr algn="l">
              <a:buFont typeface="+mj-lt"/>
              <a:buAutoNum type="arabicPeriod"/>
            </a:pPr>
            <a:r>
              <a:rPr lang="zh-CN" altLang="en-US" b="0" i="0" dirty="0">
                <a:solidFill>
                  <a:srgbClr val="333333"/>
                </a:solidFill>
                <a:effectLst/>
                <a:latin typeface="PingFang SC"/>
              </a:rPr>
              <a:t>‌</a:t>
            </a:r>
            <a:r>
              <a:rPr lang="zh-CN" altLang="en-US" b="1" i="0" dirty="0">
                <a:solidFill>
                  <a:srgbClr val="333333"/>
                </a:solidFill>
                <a:effectLst/>
                <a:latin typeface="PingFang SC"/>
              </a:rPr>
              <a:t>对数函数特性</a:t>
            </a:r>
            <a:r>
              <a:rPr lang="zh-CN" altLang="en-US" b="0" i="0" dirty="0">
                <a:solidFill>
                  <a:srgbClr val="333333"/>
                </a:solidFill>
                <a:effectLst/>
                <a:latin typeface="PingFang SC"/>
              </a:rPr>
              <a:t>‌：使用对数函数可以放大预测错误的惩罚力度，使得模型更倾向于给出准确的概率预测。</a:t>
            </a:r>
          </a:p>
          <a:p>
            <a:pPr algn="l">
              <a:buFont typeface="+mj-lt"/>
              <a:buAutoNum type="arabicPeriod"/>
            </a:pPr>
            <a:r>
              <a:rPr lang="zh-CN" altLang="en-US" b="0" i="0" dirty="0">
                <a:solidFill>
                  <a:srgbClr val="333333"/>
                </a:solidFill>
                <a:effectLst/>
                <a:latin typeface="PingFang SC"/>
              </a:rPr>
              <a:t>‌</a:t>
            </a:r>
            <a:r>
              <a:rPr lang="zh-CN" altLang="en-US" b="1" i="0" dirty="0">
                <a:solidFill>
                  <a:srgbClr val="333333"/>
                </a:solidFill>
                <a:effectLst/>
                <a:latin typeface="PingFang SC"/>
              </a:rPr>
              <a:t>非负性</a:t>
            </a:r>
            <a:r>
              <a:rPr lang="zh-CN" altLang="en-US" b="0" i="0" dirty="0">
                <a:solidFill>
                  <a:srgbClr val="333333"/>
                </a:solidFill>
                <a:effectLst/>
                <a:latin typeface="PingFang SC"/>
              </a:rPr>
              <a:t>‌：交叉熵损失值总是非负的，完美预测时损失为</a:t>
            </a:r>
            <a:r>
              <a:rPr lang="en-US" altLang="zh-CN" b="0" i="0" dirty="0">
                <a:solidFill>
                  <a:srgbClr val="333333"/>
                </a:solidFill>
                <a:effectLst/>
                <a:latin typeface="PingFang SC"/>
              </a:rPr>
              <a:t>0</a:t>
            </a:r>
            <a:r>
              <a:rPr lang="zh-CN" altLang="en-US" b="0" i="0" dirty="0">
                <a:solidFill>
                  <a:srgbClr val="333333"/>
                </a:solidFill>
                <a:effectLst/>
                <a:latin typeface="PingFang SC"/>
              </a:rPr>
              <a:t>。</a:t>
            </a:r>
          </a:p>
          <a:p>
            <a:pPr algn="l"/>
            <a:r>
              <a:rPr lang="zh-CN" altLang="en-US" b="0" i="0" dirty="0">
                <a:solidFill>
                  <a:srgbClr val="333333"/>
                </a:solidFill>
                <a:effectLst/>
                <a:latin typeface="PingFang SC"/>
              </a:rPr>
              <a:t>通过这种方式，交叉熵损失函数能够有效地指导模型学习，使其预测分布尽可能接近真实标签分布。</a:t>
            </a:r>
          </a:p>
          <a:p>
            <a:endParaRPr lang="zh-CN" altLang="en-US" dirty="0"/>
          </a:p>
        </p:txBody>
      </p:sp>
    </p:spTree>
    <p:extLst>
      <p:ext uri="{BB962C8B-B14F-4D97-AF65-F5344CB8AC3E}">
        <p14:creationId xmlns:p14="http://schemas.microsoft.com/office/powerpoint/2010/main" val="1462042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D75BEE-DD50-45E0-B998-9A029BDF3BEB}"/>
              </a:ext>
            </a:extLst>
          </p:cNvPr>
          <p:cNvSpPr>
            <a:spLocks noGrp="1"/>
          </p:cNvSpPr>
          <p:nvPr>
            <p:ph type="title"/>
          </p:nvPr>
        </p:nvSpPr>
        <p:spPr/>
        <p:txBody>
          <a:bodyPr/>
          <a:lstStyle/>
          <a:p>
            <a:r>
              <a:rPr lang="zh-CN" altLang="en-US" dirty="0"/>
              <a:t>极大熵原理</a:t>
            </a:r>
          </a:p>
        </p:txBody>
      </p:sp>
      <p:sp>
        <p:nvSpPr>
          <p:cNvPr id="3" name="内容占位符 2">
            <a:extLst>
              <a:ext uri="{FF2B5EF4-FFF2-40B4-BE49-F238E27FC236}">
                <a16:creationId xmlns:a16="http://schemas.microsoft.com/office/drawing/2014/main" id="{D07FBF80-1DD6-4099-BF31-28BF9E8B653F}"/>
              </a:ext>
            </a:extLst>
          </p:cNvPr>
          <p:cNvSpPr>
            <a:spLocks noGrp="1"/>
          </p:cNvSpPr>
          <p:nvPr>
            <p:ph idx="1"/>
          </p:nvPr>
        </p:nvSpPr>
        <p:spPr/>
        <p:txBody>
          <a:bodyPr/>
          <a:lstStyle/>
          <a:p>
            <a:r>
              <a:rPr lang="zh-CN" altLang="en-US" b="1" i="0" dirty="0">
                <a:solidFill>
                  <a:srgbClr val="333333"/>
                </a:solidFill>
                <a:effectLst/>
                <a:latin typeface="PingFang SC"/>
              </a:rPr>
              <a:t>核心结论</a:t>
            </a:r>
            <a:r>
              <a:rPr lang="zh-CN" altLang="en-US" b="0" i="0" dirty="0">
                <a:solidFill>
                  <a:srgbClr val="333333"/>
                </a:solidFill>
                <a:effectLst/>
                <a:latin typeface="PingFang SC"/>
              </a:rPr>
              <a:t>‌：极大熵原理（</a:t>
            </a:r>
            <a:r>
              <a:rPr lang="en-US" altLang="zh-CN" b="0" i="0" dirty="0">
                <a:solidFill>
                  <a:srgbClr val="333333"/>
                </a:solidFill>
                <a:effectLst/>
                <a:latin typeface="PingFang SC"/>
              </a:rPr>
              <a:t>Maximum Entropy Principle</a:t>
            </a:r>
            <a:r>
              <a:rPr lang="zh-CN" altLang="en-US" b="0" i="0" dirty="0">
                <a:solidFill>
                  <a:srgbClr val="333333"/>
                </a:solidFill>
                <a:effectLst/>
                <a:latin typeface="PingFang SC"/>
              </a:rPr>
              <a:t>）是一种在‌</a:t>
            </a:r>
            <a:r>
              <a:rPr lang="zh-CN" altLang="en-US" b="1" i="0" dirty="0">
                <a:solidFill>
                  <a:srgbClr val="333333"/>
                </a:solidFill>
                <a:effectLst/>
                <a:latin typeface="PingFang SC"/>
              </a:rPr>
              <a:t>已知信息约束下，对未知部分不做任何额外假设</a:t>
            </a:r>
            <a:r>
              <a:rPr lang="zh-CN" altLang="en-US" b="0" i="0" dirty="0">
                <a:solidFill>
                  <a:srgbClr val="333333"/>
                </a:solidFill>
                <a:effectLst/>
                <a:latin typeface="PingFang SC"/>
              </a:rPr>
              <a:t>‌的推理原则，它指出：在满足所有已知约束条件的前提下，</a:t>
            </a:r>
            <a:r>
              <a:rPr lang="zh-CN" altLang="en-US" b="1" i="0" dirty="0">
                <a:solidFill>
                  <a:srgbClr val="FF0000"/>
                </a:solidFill>
                <a:effectLst/>
                <a:latin typeface="PingFang SC"/>
              </a:rPr>
              <a:t>熵最大</a:t>
            </a:r>
            <a:r>
              <a:rPr lang="zh-CN" altLang="en-US" b="0" i="0" dirty="0">
                <a:solidFill>
                  <a:srgbClr val="333333"/>
                </a:solidFill>
                <a:effectLst/>
                <a:latin typeface="PingFang SC"/>
              </a:rPr>
              <a:t>的概率分布是最合理、最无偏的分布。</a:t>
            </a:r>
            <a:endParaRPr lang="en-US" altLang="zh-CN" b="0" i="0" dirty="0">
              <a:solidFill>
                <a:srgbClr val="333333"/>
              </a:solidFill>
              <a:effectLst/>
              <a:latin typeface="PingFang SC"/>
            </a:endParaRPr>
          </a:p>
          <a:p>
            <a:r>
              <a:rPr lang="zh-CN" altLang="en-US" b="0" i="0" dirty="0">
                <a:solidFill>
                  <a:srgbClr val="333333"/>
                </a:solidFill>
                <a:effectLst/>
                <a:latin typeface="PingFang SC"/>
              </a:rPr>
              <a:t>这个原理的本质是‌</a:t>
            </a:r>
            <a:r>
              <a:rPr lang="zh-CN" altLang="en-US" b="1" i="0" dirty="0">
                <a:solidFill>
                  <a:srgbClr val="333333"/>
                </a:solidFill>
                <a:effectLst/>
                <a:latin typeface="PingFang SC"/>
              </a:rPr>
              <a:t>保留全部不确定性</a:t>
            </a:r>
            <a:r>
              <a:rPr lang="zh-CN" altLang="en-US" b="0" i="0" dirty="0">
                <a:solidFill>
                  <a:srgbClr val="333333"/>
                </a:solidFill>
                <a:effectLst/>
                <a:latin typeface="PingFang SC"/>
              </a:rPr>
              <a:t>‌，避免人为引入主观偏见。换句话说，我们不应该“脑补”任何没有证据支持的信息。</a:t>
            </a:r>
            <a:r>
              <a:rPr lang="zh-CN" altLang="en-US" b="1" i="0" dirty="0">
                <a:solidFill>
                  <a:srgbClr val="FF0000"/>
                </a:solidFill>
                <a:effectLst/>
                <a:latin typeface="PingFang SC"/>
              </a:rPr>
              <a:t>意味着没有任何先验信息</a:t>
            </a:r>
            <a:r>
              <a:rPr lang="zh-CN" altLang="en-US" b="0" i="0" dirty="0">
                <a:solidFill>
                  <a:srgbClr val="333333"/>
                </a:solidFill>
                <a:effectLst/>
                <a:latin typeface="PingFang SC"/>
              </a:rPr>
              <a:t>！</a:t>
            </a:r>
            <a:endParaRPr lang="en-US" altLang="zh-CN" b="0" i="0" dirty="0">
              <a:solidFill>
                <a:srgbClr val="333333"/>
              </a:solidFill>
              <a:effectLst/>
              <a:latin typeface="PingFang SC"/>
            </a:endParaRPr>
          </a:p>
          <a:p>
            <a:r>
              <a:rPr lang="zh-CN" altLang="en-US" b="1" i="0" dirty="0">
                <a:solidFill>
                  <a:srgbClr val="333333"/>
                </a:solidFill>
                <a:effectLst/>
                <a:latin typeface="PingFang SC"/>
              </a:rPr>
              <a:t>关键点</a:t>
            </a:r>
            <a:r>
              <a:rPr lang="zh-CN" altLang="en-US" b="0" i="0" dirty="0">
                <a:solidFill>
                  <a:srgbClr val="333333"/>
                </a:solidFill>
                <a:effectLst/>
                <a:latin typeface="PingFang SC"/>
              </a:rPr>
              <a:t>‌：当一个概率分布越均匀（即各种可能性被平等地对待），它的熵就越大</a:t>
            </a:r>
            <a:r>
              <a:rPr lang="zh-CN" altLang="en-US" dirty="0">
                <a:solidFill>
                  <a:srgbClr val="333333"/>
                </a:solidFill>
                <a:latin typeface="PingFang SC"/>
              </a:rPr>
              <a:t>！</a:t>
            </a:r>
            <a:endParaRPr lang="zh-CN" altLang="en-US" dirty="0"/>
          </a:p>
        </p:txBody>
      </p:sp>
    </p:spTree>
    <p:extLst>
      <p:ext uri="{BB962C8B-B14F-4D97-AF65-F5344CB8AC3E}">
        <p14:creationId xmlns:p14="http://schemas.microsoft.com/office/powerpoint/2010/main" val="1146452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093135-BF78-4628-ABFD-CD95BE5C73B1}"/>
              </a:ext>
            </a:extLst>
          </p:cNvPr>
          <p:cNvSpPr>
            <a:spLocks noGrp="1"/>
          </p:cNvSpPr>
          <p:nvPr>
            <p:ph type="title"/>
          </p:nvPr>
        </p:nvSpPr>
        <p:spPr/>
        <p:txBody>
          <a:bodyPr/>
          <a:lstStyle/>
          <a:p>
            <a:r>
              <a:rPr lang="zh-CN" altLang="en-US" dirty="0"/>
              <a:t>极大熵原理</a:t>
            </a:r>
          </a:p>
        </p:txBody>
      </p:sp>
      <p:sp>
        <p:nvSpPr>
          <p:cNvPr id="3" name="内容占位符 2">
            <a:extLst>
              <a:ext uri="{FF2B5EF4-FFF2-40B4-BE49-F238E27FC236}">
                <a16:creationId xmlns:a16="http://schemas.microsoft.com/office/drawing/2014/main" id="{F4D9F03C-677F-4E6F-A154-B88F042700A4}"/>
              </a:ext>
            </a:extLst>
          </p:cNvPr>
          <p:cNvSpPr>
            <a:spLocks noGrp="1"/>
          </p:cNvSpPr>
          <p:nvPr>
            <p:ph idx="1"/>
          </p:nvPr>
        </p:nvSpPr>
        <p:spPr>
          <a:xfrm>
            <a:off x="838200" y="1825624"/>
            <a:ext cx="10515600" cy="4810845"/>
          </a:xfrm>
        </p:spPr>
        <p:txBody>
          <a:bodyPr>
            <a:normAutofit/>
          </a:bodyPr>
          <a:lstStyle/>
          <a:p>
            <a:pPr eaLnBrk="0" fontAlgn="base" hangingPunct="0">
              <a:lnSpc>
                <a:spcPct val="100000"/>
              </a:lnSpc>
              <a:spcBef>
                <a:spcPct val="0"/>
              </a:spcBef>
              <a:spcAft>
                <a:spcPct val="0"/>
              </a:spcAft>
            </a:pPr>
            <a:r>
              <a:rPr lang="zh-CN" altLang="zh-CN" sz="2400" dirty="0">
                <a:solidFill>
                  <a:srgbClr val="333333"/>
                </a:solidFill>
                <a:latin typeface="Arial" panose="020B0604020202020204" pitchFamily="34" charset="0"/>
              </a:rPr>
              <a:t>想象你正在预测一个事件，但信息不完整。极大熵原理告诉你：“在不违背你已知事实的前提下，选择那个让你最‘不确定’（即熵最大）的猜测。”</a:t>
            </a:r>
          </a:p>
          <a:p>
            <a:pPr eaLnBrk="0" fontAlgn="base" hangingPunct="0">
              <a:lnSpc>
                <a:spcPct val="100000"/>
              </a:lnSpc>
              <a:spcBef>
                <a:spcPct val="0"/>
              </a:spcBef>
              <a:spcAft>
                <a:spcPct val="0"/>
              </a:spcAft>
            </a:pPr>
            <a:r>
              <a:rPr kumimoji="0" lang="zh-CN" altLang="zh-CN" sz="2000" b="0" i="0" u="none" strike="noStrike" cap="none" normalizeH="0" baseline="0" dirty="0">
                <a:ln>
                  <a:noFill/>
                </a:ln>
                <a:solidFill>
                  <a:srgbClr val="333333"/>
                </a:solidFill>
                <a:effectLst/>
                <a:latin typeface="Arial" panose="020B0604020202020204" pitchFamily="34" charset="0"/>
                <a:ea typeface="PingFang SC"/>
              </a:rPr>
              <a:t>这听起来反直觉，实则非常严谨：</a:t>
            </a:r>
            <a:endParaRPr kumimoji="0" lang="zh-CN" altLang="zh-CN" sz="600" b="0" i="0" u="none" strike="noStrike" cap="none" normalizeH="0" baseline="0" dirty="0">
              <a:ln>
                <a:noFill/>
              </a:ln>
              <a:solidFill>
                <a:schemeClr val="tx1"/>
              </a:solidFill>
              <a:effectLst/>
              <a:latin typeface="Arial" panose="020B0604020202020204" pitchFamily="34" charset="0"/>
            </a:endParaRPr>
          </a:p>
          <a:p>
            <a:pPr lvl="1" eaLnBrk="0" fontAlgn="base" hangingPunct="0">
              <a:lnSpc>
                <a:spcPct val="100000"/>
              </a:lnSpc>
              <a:spcBef>
                <a:spcPct val="0"/>
              </a:spcBef>
              <a:spcAft>
                <a:spcPct val="0"/>
              </a:spcAft>
            </a:pPr>
            <a:r>
              <a:rPr kumimoji="0" lang="zh-CN" altLang="zh-CN" sz="1800" b="0" i="0" u="none" strike="noStrike" cap="none" normalizeH="0" baseline="0" dirty="0">
                <a:ln>
                  <a:noFill/>
                </a:ln>
                <a:solidFill>
                  <a:srgbClr val="333333"/>
                </a:solidFill>
                <a:effectLst/>
                <a:latin typeface="+mj-lt"/>
                <a:ea typeface="PingFang SC"/>
              </a:rPr>
              <a:t>‌</a:t>
            </a:r>
            <a:r>
              <a:rPr kumimoji="0" lang="zh-CN" altLang="zh-CN" sz="1800" b="1" i="0" u="none" strike="noStrike" cap="none" normalizeH="0" baseline="0" dirty="0">
                <a:ln>
                  <a:noFill/>
                </a:ln>
                <a:solidFill>
                  <a:srgbClr val="333333"/>
                </a:solidFill>
                <a:effectLst/>
                <a:latin typeface="+mj-lt"/>
                <a:ea typeface="PingFang SC"/>
              </a:rPr>
              <a:t>无信息时</a:t>
            </a:r>
            <a:r>
              <a:rPr kumimoji="0" lang="zh-CN" altLang="zh-CN" sz="1800" b="0" i="0" u="none" strike="noStrike" cap="none" normalizeH="0" baseline="0" dirty="0">
                <a:ln>
                  <a:noFill/>
                </a:ln>
                <a:solidFill>
                  <a:srgbClr val="333333"/>
                </a:solidFill>
                <a:effectLst/>
                <a:latin typeface="+mj-lt"/>
                <a:ea typeface="PingFang SC"/>
              </a:rPr>
              <a:t>‌：如果你对一个事件一无所知，极大熵原理会建议你采用‌</a:t>
            </a:r>
            <a:r>
              <a:rPr kumimoji="0" lang="zh-CN" altLang="zh-CN" sz="1800" b="1" i="0" u="none" strike="noStrike" cap="none" normalizeH="0" baseline="0" dirty="0">
                <a:ln>
                  <a:noFill/>
                </a:ln>
                <a:solidFill>
                  <a:srgbClr val="333333"/>
                </a:solidFill>
                <a:effectLst/>
                <a:latin typeface="+mj-lt"/>
                <a:ea typeface="PingFang SC"/>
              </a:rPr>
              <a:t>均匀分布</a:t>
            </a:r>
            <a:r>
              <a:rPr kumimoji="0" lang="zh-CN" altLang="zh-CN" sz="1800" b="0" i="0" u="none" strike="noStrike" cap="none" normalizeH="0" baseline="0" dirty="0">
                <a:ln>
                  <a:noFill/>
                </a:ln>
                <a:solidFill>
                  <a:srgbClr val="333333"/>
                </a:solidFill>
                <a:effectLst/>
                <a:latin typeface="+mj-lt"/>
                <a:ea typeface="PingFang SC"/>
              </a:rPr>
              <a:t>‌（比如掷一个公平的骰子，每个面概率都是1/6）。</a:t>
            </a:r>
          </a:p>
          <a:p>
            <a:pPr lvl="1" eaLnBrk="0" fontAlgn="base" hangingPunct="0">
              <a:lnSpc>
                <a:spcPct val="100000"/>
              </a:lnSpc>
              <a:spcBef>
                <a:spcPct val="0"/>
              </a:spcBef>
              <a:spcAft>
                <a:spcPct val="0"/>
              </a:spcAft>
            </a:pPr>
            <a:r>
              <a:rPr kumimoji="0" lang="zh-CN" altLang="zh-CN" sz="1800" b="0" i="0" u="none" strike="noStrike" cap="none" normalizeH="0" baseline="0" dirty="0">
                <a:ln>
                  <a:noFill/>
                </a:ln>
                <a:solidFill>
                  <a:srgbClr val="333333"/>
                </a:solidFill>
                <a:effectLst/>
                <a:latin typeface="+mj-lt"/>
                <a:ea typeface="PingFang SC"/>
              </a:rPr>
              <a:t>‌</a:t>
            </a:r>
            <a:r>
              <a:rPr kumimoji="0" lang="zh-CN" altLang="zh-CN" sz="1800" b="1" i="0" u="none" strike="noStrike" cap="none" normalizeH="0" baseline="0" dirty="0">
                <a:ln>
                  <a:noFill/>
                </a:ln>
                <a:solidFill>
                  <a:srgbClr val="333333"/>
                </a:solidFill>
                <a:effectLst/>
                <a:latin typeface="+mj-lt"/>
                <a:ea typeface="PingFang SC"/>
              </a:rPr>
              <a:t>有约束时</a:t>
            </a:r>
            <a:r>
              <a:rPr kumimoji="0" lang="zh-CN" altLang="zh-CN" sz="1800" b="0" i="0" u="none" strike="noStrike" cap="none" normalizeH="0" baseline="0" dirty="0">
                <a:ln>
                  <a:noFill/>
                </a:ln>
                <a:solidFill>
                  <a:srgbClr val="333333"/>
                </a:solidFill>
                <a:effectLst/>
                <a:latin typeface="+mj-lt"/>
                <a:ea typeface="PingFang SC"/>
              </a:rPr>
              <a:t>‌：如果你知道一些信息（例如“这个骰子平均点数是4”），那么就在所有平均点数为4的分布中，选择熵最大的那个。</a:t>
            </a:r>
            <a:endParaRPr kumimoji="0" lang="en-US" altLang="zh-CN" sz="1800" b="0" i="0" u="none" strike="noStrike" cap="none" normalizeH="0" baseline="0" dirty="0">
              <a:ln>
                <a:noFill/>
              </a:ln>
              <a:solidFill>
                <a:srgbClr val="333333"/>
              </a:solidFill>
              <a:effectLst/>
              <a:latin typeface="+mj-lt"/>
              <a:ea typeface="PingFang SC"/>
            </a:endParaRPr>
          </a:p>
          <a:p>
            <a:pPr eaLnBrk="0" fontAlgn="base" hangingPunct="0">
              <a:lnSpc>
                <a:spcPct val="100000"/>
              </a:lnSpc>
              <a:spcBef>
                <a:spcPct val="0"/>
              </a:spcBef>
              <a:spcAft>
                <a:spcPct val="0"/>
              </a:spcAft>
            </a:pPr>
            <a:r>
              <a:rPr kumimoji="0" lang="zh-CN" altLang="zh-CN" sz="2400" b="0" i="0" u="none" strike="noStrike" cap="none" normalizeH="0" baseline="0" dirty="0">
                <a:ln>
                  <a:noFill/>
                </a:ln>
                <a:solidFill>
                  <a:srgbClr val="333333"/>
                </a:solidFill>
                <a:effectLst/>
                <a:latin typeface="Arial" panose="020B0604020202020204" pitchFamily="34" charset="0"/>
                <a:ea typeface="PingFang SC"/>
              </a:rPr>
              <a:t>这种方法得到的分布，包含了最少的“脑补”，因此被认为是最客观、最合理的。</a:t>
            </a:r>
            <a:endParaRPr kumimoji="0" lang="zh-CN" altLang="zh-CN" sz="3600" b="0" i="0" u="none" strike="noStrike" cap="none" normalizeH="0" baseline="0" dirty="0">
              <a:ln>
                <a:noFill/>
              </a:ln>
              <a:solidFill>
                <a:schemeClr val="tx1"/>
              </a:solidFill>
              <a:effectLst/>
              <a:latin typeface="Arial" panose="020B0604020202020204" pitchFamily="34" charset="0"/>
            </a:endParaRPr>
          </a:p>
          <a:p>
            <a:pPr algn="l"/>
            <a:r>
              <a:rPr lang="zh-CN" altLang="en-US" sz="2400" dirty="0">
                <a:solidFill>
                  <a:srgbClr val="333333"/>
                </a:solidFill>
                <a:latin typeface="Arial" panose="020B0604020202020204" pitchFamily="34" charset="0"/>
              </a:rPr>
              <a:t>极大熵原理提供了一种通用的、基于逻辑的建模方法，广泛应用于：</a:t>
            </a:r>
            <a:endParaRPr lang="en-US" altLang="zh-CN" sz="2400" dirty="0">
              <a:solidFill>
                <a:srgbClr val="333333"/>
              </a:solidFill>
              <a:latin typeface="Arial" panose="020B0604020202020204" pitchFamily="34" charset="0"/>
            </a:endParaRPr>
          </a:p>
          <a:p>
            <a:pPr lvl="1"/>
            <a:r>
              <a:rPr lang="zh-CN" altLang="en-US" sz="1800" b="1" dirty="0">
                <a:solidFill>
                  <a:srgbClr val="333333"/>
                </a:solidFill>
                <a:latin typeface="+mj-lt"/>
              </a:rPr>
              <a:t>自然语言处理</a:t>
            </a:r>
            <a:r>
              <a:rPr lang="zh-CN" altLang="en-US" sz="1800" dirty="0">
                <a:solidFill>
                  <a:srgbClr val="333333"/>
                </a:solidFill>
                <a:latin typeface="+mj-lt"/>
              </a:rPr>
              <a:t>‌：如最大熵模型用于文本分类、词性标注。</a:t>
            </a:r>
            <a:endParaRPr lang="en-US" altLang="zh-CN" sz="1800" dirty="0">
              <a:solidFill>
                <a:srgbClr val="333333"/>
              </a:solidFill>
              <a:latin typeface="+mj-lt"/>
            </a:endParaRPr>
          </a:p>
          <a:p>
            <a:pPr lvl="1"/>
            <a:r>
              <a:rPr lang="zh-CN" altLang="en-US" sz="1800" b="1" dirty="0">
                <a:solidFill>
                  <a:srgbClr val="333333"/>
                </a:solidFill>
                <a:latin typeface="+mj-lt"/>
              </a:rPr>
              <a:t>机器学习</a:t>
            </a:r>
            <a:r>
              <a:rPr lang="zh-CN" altLang="en-US" sz="1800" dirty="0">
                <a:solidFill>
                  <a:srgbClr val="333333"/>
                </a:solidFill>
                <a:latin typeface="+mj-lt"/>
              </a:rPr>
              <a:t>‌：是许多概率模型（如逻辑回归）的理论基础。</a:t>
            </a:r>
            <a:endParaRPr lang="en-US" altLang="zh-CN" sz="1800" dirty="0">
              <a:solidFill>
                <a:srgbClr val="333333"/>
              </a:solidFill>
              <a:latin typeface="+mj-lt"/>
            </a:endParaRPr>
          </a:p>
          <a:p>
            <a:pPr lvl="1"/>
            <a:r>
              <a:rPr lang="zh-CN" altLang="en-US" sz="1800" b="1" dirty="0">
                <a:solidFill>
                  <a:srgbClr val="333333"/>
                </a:solidFill>
                <a:latin typeface="+mj-lt"/>
              </a:rPr>
              <a:t>复杂系统研究</a:t>
            </a:r>
            <a:r>
              <a:rPr lang="zh-CN" altLang="en-US" sz="1800" dirty="0">
                <a:solidFill>
                  <a:srgbClr val="333333"/>
                </a:solidFill>
                <a:latin typeface="+mj-lt"/>
              </a:rPr>
              <a:t>‌：在生态、经济、气候等信息不完全的领域，用于进行最保守的推断。</a:t>
            </a:r>
            <a:endParaRPr lang="zh-CN" altLang="en-US" sz="2000" dirty="0"/>
          </a:p>
        </p:txBody>
      </p:sp>
    </p:spTree>
    <p:extLst>
      <p:ext uri="{BB962C8B-B14F-4D97-AF65-F5344CB8AC3E}">
        <p14:creationId xmlns:p14="http://schemas.microsoft.com/office/powerpoint/2010/main" val="8181150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C80E9F-BFBF-4ADC-893D-FA8F7BFB9E3C}"/>
              </a:ext>
            </a:extLst>
          </p:cNvPr>
          <p:cNvSpPr>
            <a:spLocks noGrp="1"/>
          </p:cNvSpPr>
          <p:nvPr>
            <p:ph type="title"/>
          </p:nvPr>
        </p:nvSpPr>
        <p:spPr/>
        <p:txBody>
          <a:bodyPr/>
          <a:lstStyle/>
          <a:p>
            <a:r>
              <a:rPr lang="zh-CN" altLang="en-US" dirty="0"/>
              <a:t>实验内容</a:t>
            </a:r>
          </a:p>
        </p:txBody>
      </p:sp>
      <p:sp>
        <p:nvSpPr>
          <p:cNvPr id="3" name="内容占位符 2">
            <a:extLst>
              <a:ext uri="{FF2B5EF4-FFF2-40B4-BE49-F238E27FC236}">
                <a16:creationId xmlns:a16="http://schemas.microsoft.com/office/drawing/2014/main" id="{1C0C1370-239C-4E65-BD54-E55E17EC656B}"/>
              </a:ext>
            </a:extLst>
          </p:cNvPr>
          <p:cNvSpPr>
            <a:spLocks noGrp="1"/>
          </p:cNvSpPr>
          <p:nvPr>
            <p:ph idx="1"/>
          </p:nvPr>
        </p:nvSpPr>
        <p:spPr/>
        <p:txBody>
          <a:bodyPr/>
          <a:lstStyle/>
          <a:p>
            <a:pPr algn="l"/>
            <a:r>
              <a:rPr lang="zh-CN" altLang="en-US" b="1" i="0" dirty="0">
                <a:solidFill>
                  <a:srgbClr val="333333"/>
                </a:solidFill>
                <a:effectLst/>
                <a:latin typeface="PingFang SC"/>
              </a:rPr>
              <a:t>实验目标</a:t>
            </a:r>
          </a:p>
          <a:p>
            <a:pPr algn="l">
              <a:buFont typeface="+mj-lt"/>
              <a:buAutoNum type="arabicPeriod"/>
            </a:pPr>
            <a:r>
              <a:rPr lang="zh-CN" altLang="en-US" b="0" i="0" dirty="0">
                <a:solidFill>
                  <a:srgbClr val="333333"/>
                </a:solidFill>
                <a:effectLst/>
                <a:latin typeface="PingFang SC"/>
              </a:rPr>
              <a:t>‌</a:t>
            </a:r>
            <a:r>
              <a:rPr lang="zh-CN" altLang="en-US" b="1" i="0" dirty="0">
                <a:solidFill>
                  <a:srgbClr val="333333"/>
                </a:solidFill>
                <a:effectLst/>
                <a:latin typeface="PingFang SC"/>
              </a:rPr>
              <a:t>验证等价性</a:t>
            </a:r>
            <a:r>
              <a:rPr lang="zh-CN" altLang="en-US" b="0" i="0" dirty="0">
                <a:solidFill>
                  <a:srgbClr val="333333"/>
                </a:solidFill>
                <a:effectLst/>
                <a:latin typeface="PingFang SC"/>
              </a:rPr>
              <a:t>‌：通过实验数据，直观展示最小化交叉熵损失确实能有效减小模型预测分布与真实分布之间的</a:t>
            </a:r>
            <a:r>
              <a:rPr lang="en-US" altLang="zh-CN" b="0" i="0" dirty="0">
                <a:solidFill>
                  <a:srgbClr val="333333"/>
                </a:solidFill>
                <a:effectLst/>
                <a:latin typeface="PingFang SC"/>
              </a:rPr>
              <a:t>KL</a:t>
            </a:r>
            <a:r>
              <a:rPr lang="zh-CN" altLang="en-US" b="0" i="0" dirty="0">
                <a:solidFill>
                  <a:srgbClr val="333333"/>
                </a:solidFill>
                <a:effectLst/>
                <a:latin typeface="PingFang SC"/>
              </a:rPr>
              <a:t>散度。</a:t>
            </a:r>
          </a:p>
          <a:p>
            <a:pPr algn="l">
              <a:buFont typeface="+mj-lt"/>
              <a:buAutoNum type="arabicPeriod"/>
            </a:pPr>
            <a:r>
              <a:rPr lang="zh-CN" altLang="en-US" b="0" i="0" dirty="0">
                <a:solidFill>
                  <a:srgbClr val="333333"/>
                </a:solidFill>
                <a:effectLst/>
                <a:latin typeface="PingFang SC"/>
              </a:rPr>
              <a:t>‌</a:t>
            </a:r>
            <a:r>
              <a:rPr lang="zh-CN" altLang="en-US" b="1" i="0" dirty="0">
                <a:solidFill>
                  <a:srgbClr val="333333"/>
                </a:solidFill>
                <a:effectLst/>
                <a:latin typeface="PingFang SC"/>
              </a:rPr>
              <a:t>性能对比</a:t>
            </a:r>
            <a:r>
              <a:rPr lang="zh-CN" altLang="en-US" b="0" i="0" dirty="0">
                <a:solidFill>
                  <a:srgbClr val="333333"/>
                </a:solidFill>
                <a:effectLst/>
                <a:latin typeface="PingFang SC"/>
              </a:rPr>
              <a:t>‌：比较交叉熵损失与均方误差（</a:t>
            </a:r>
            <a:r>
              <a:rPr lang="en-US" altLang="zh-CN" b="0" i="0" dirty="0">
                <a:solidFill>
                  <a:srgbClr val="333333"/>
                </a:solidFill>
                <a:effectLst/>
                <a:latin typeface="PingFang SC"/>
              </a:rPr>
              <a:t>MSE</a:t>
            </a:r>
            <a:r>
              <a:rPr lang="zh-CN" altLang="en-US" b="0" i="0" dirty="0">
                <a:solidFill>
                  <a:srgbClr val="333333"/>
                </a:solidFill>
                <a:effectLst/>
                <a:latin typeface="PingFang SC"/>
              </a:rPr>
              <a:t>）在分类任务上的收敛速度和最终准确率。</a:t>
            </a:r>
          </a:p>
          <a:p>
            <a:pPr algn="l">
              <a:buFont typeface="+mj-lt"/>
              <a:buAutoNum type="arabicPeriod"/>
            </a:pPr>
            <a:r>
              <a:rPr lang="zh-CN" altLang="en-US" b="0" i="0" dirty="0">
                <a:solidFill>
                  <a:srgbClr val="333333"/>
                </a:solidFill>
                <a:effectLst/>
                <a:latin typeface="PingFang SC"/>
              </a:rPr>
              <a:t>‌</a:t>
            </a:r>
            <a:r>
              <a:rPr lang="zh-CN" altLang="en-US" b="1" i="0" dirty="0">
                <a:solidFill>
                  <a:srgbClr val="333333"/>
                </a:solidFill>
                <a:effectLst/>
                <a:latin typeface="PingFang SC"/>
              </a:rPr>
              <a:t>可视化理解</a:t>
            </a:r>
            <a:r>
              <a:rPr lang="zh-CN" altLang="en-US" b="0" i="0" dirty="0">
                <a:solidFill>
                  <a:srgbClr val="333333"/>
                </a:solidFill>
                <a:effectLst/>
                <a:latin typeface="PingFang SC"/>
              </a:rPr>
              <a:t>‌：绘制训练过程中损失值、</a:t>
            </a:r>
            <a:r>
              <a:rPr lang="en-US" altLang="zh-CN" b="0" i="0" dirty="0">
                <a:solidFill>
                  <a:srgbClr val="333333"/>
                </a:solidFill>
                <a:effectLst/>
                <a:latin typeface="PingFang SC"/>
              </a:rPr>
              <a:t>KL</a:t>
            </a:r>
            <a:r>
              <a:rPr lang="zh-CN" altLang="en-US" b="0" i="0" dirty="0">
                <a:solidFill>
                  <a:srgbClr val="333333"/>
                </a:solidFill>
                <a:effectLst/>
                <a:latin typeface="PingFang SC"/>
              </a:rPr>
              <a:t>散度和分类准确率的变化曲线。</a:t>
            </a:r>
          </a:p>
          <a:p>
            <a:endParaRPr lang="zh-CN" altLang="en-US" dirty="0"/>
          </a:p>
        </p:txBody>
      </p:sp>
    </p:spTree>
    <p:extLst>
      <p:ext uri="{BB962C8B-B14F-4D97-AF65-F5344CB8AC3E}">
        <p14:creationId xmlns:p14="http://schemas.microsoft.com/office/powerpoint/2010/main" val="38344516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83F51B-2F9D-402F-8D88-144EF752007C}"/>
              </a:ext>
            </a:extLst>
          </p:cNvPr>
          <p:cNvSpPr>
            <a:spLocks noGrp="1"/>
          </p:cNvSpPr>
          <p:nvPr>
            <p:ph type="title"/>
          </p:nvPr>
        </p:nvSpPr>
        <p:spPr/>
        <p:txBody>
          <a:bodyPr/>
          <a:lstStyle/>
          <a:p>
            <a:r>
              <a:rPr lang="zh-CN" altLang="en-US" dirty="0"/>
              <a:t>实验内容</a:t>
            </a:r>
          </a:p>
        </p:txBody>
      </p:sp>
      <p:sp>
        <p:nvSpPr>
          <p:cNvPr id="3" name="内容占位符 2">
            <a:extLst>
              <a:ext uri="{FF2B5EF4-FFF2-40B4-BE49-F238E27FC236}">
                <a16:creationId xmlns:a16="http://schemas.microsoft.com/office/drawing/2014/main" id="{DA23F71C-0B47-4850-A3F1-9010C8D58833}"/>
              </a:ext>
            </a:extLst>
          </p:cNvPr>
          <p:cNvSpPr>
            <a:spLocks noGrp="1"/>
          </p:cNvSpPr>
          <p:nvPr>
            <p:ph idx="1"/>
          </p:nvPr>
        </p:nvSpPr>
        <p:spPr/>
        <p:txBody>
          <a:bodyPr>
            <a:normAutofit fontScale="92500" lnSpcReduction="10000"/>
          </a:bodyPr>
          <a:lstStyle/>
          <a:p>
            <a:r>
              <a:rPr kumimoji="0" lang="zh-CN" altLang="zh-CN" sz="2400" b="0" i="0" u="none" strike="noStrike" cap="none" normalizeH="0" baseline="0" dirty="0">
                <a:ln>
                  <a:noFill/>
                </a:ln>
                <a:solidFill>
                  <a:srgbClr val="333333"/>
                </a:solidFill>
                <a:effectLst/>
                <a:latin typeface="Arial" panose="020B0604020202020204" pitchFamily="34" charset="0"/>
                <a:ea typeface="PingFang SC"/>
              </a:rPr>
              <a:t> 使用Python和PyTorch框架</a:t>
            </a:r>
            <a:endParaRPr lang="en-US" altLang="zh-CN" sz="2400" dirty="0">
              <a:latin typeface="Arial" panose="020B0604020202020204" pitchFamily="34" charset="0"/>
              <a:ea typeface="PingFang SC"/>
            </a:endParaRPr>
          </a:p>
          <a:p>
            <a:pPr lvl="1"/>
            <a:r>
              <a:rPr kumimoji="0" lang="zh-CN" altLang="zh-CN" sz="2000" b="0" i="0" u="none" strike="noStrike" cap="none" normalizeH="0" baseline="0" dirty="0">
                <a:ln>
                  <a:noFill/>
                </a:ln>
                <a:solidFill>
                  <a:srgbClr val="333333"/>
                </a:solidFill>
                <a:effectLst/>
                <a:latin typeface="Arial" panose="020B0604020202020204" pitchFamily="34" charset="0"/>
                <a:ea typeface="PingFang SC"/>
              </a:rPr>
              <a:t>数据集：</a:t>
            </a:r>
            <a:r>
              <a:rPr kumimoji="0" lang="zh-CN" altLang="zh-CN" sz="2000" b="0" i="0" u="none" strike="noStrike" cap="none" normalizeH="0" baseline="0" dirty="0">
                <a:ln>
                  <a:noFill/>
                </a:ln>
                <a:solidFill>
                  <a:srgbClr val="333333"/>
                </a:solidFill>
                <a:effectLst/>
                <a:latin typeface="Arial Unicode MS"/>
              </a:rPr>
              <a:t>MNIST</a:t>
            </a:r>
            <a:r>
              <a:rPr kumimoji="0" lang="zh-CN" altLang="zh-CN" sz="2000" b="0" i="0" u="none" strike="noStrike" cap="none" normalizeH="0" baseline="0" dirty="0">
                <a:ln>
                  <a:noFill/>
                </a:ln>
                <a:solidFill>
                  <a:srgbClr val="333333"/>
                </a:solidFill>
                <a:effectLst/>
                <a:ea typeface="PingFang SC"/>
              </a:rPr>
              <a:t>手写数字数据集（60000训练，10000测试）</a:t>
            </a:r>
            <a:r>
              <a:rPr kumimoji="0" lang="zh-CN" altLang="en-US" sz="2000" b="0" i="0" u="none" strike="noStrike" cap="none" normalizeH="0" baseline="0" dirty="0">
                <a:ln>
                  <a:noFill/>
                </a:ln>
                <a:solidFill>
                  <a:srgbClr val="333333"/>
                </a:solidFill>
                <a:effectLst/>
                <a:ea typeface="PingFang SC"/>
              </a:rPr>
              <a:t>，或者别的分类数据集都可以</a:t>
            </a:r>
            <a:endParaRPr lang="en-US" altLang="zh-CN" sz="2000" dirty="0">
              <a:latin typeface="Arial" panose="020B0604020202020204" pitchFamily="34" charset="0"/>
              <a:ea typeface="PingFang SC"/>
            </a:endParaRPr>
          </a:p>
          <a:p>
            <a:pPr lvl="1"/>
            <a:r>
              <a:rPr kumimoji="0" lang="zh-CN" altLang="zh-CN" sz="2000" b="0" i="0" u="none" strike="noStrike" cap="none" normalizeH="0" baseline="0" dirty="0">
                <a:ln>
                  <a:noFill/>
                </a:ln>
                <a:solidFill>
                  <a:srgbClr val="333333"/>
                </a:solidFill>
                <a:effectLst/>
                <a:latin typeface="Arial" panose="020B0604020202020204" pitchFamily="34" charset="0"/>
                <a:ea typeface="PingFang SC"/>
              </a:rPr>
              <a:t>划分训练集（50000）和验证集（10000）</a:t>
            </a:r>
            <a:r>
              <a:rPr kumimoji="0" lang="zh-CN" altLang="zh-CN" sz="2000" b="0" i="0" u="none" strike="noStrike" cap="none" normalizeH="0" baseline="0" dirty="0">
                <a:ln>
                  <a:noFill/>
                </a:ln>
                <a:solidFill>
                  <a:schemeClr val="tx1"/>
                </a:solidFill>
                <a:effectLst/>
                <a:latin typeface="Arial" panose="020B0604020202020204" pitchFamily="34" charset="0"/>
              </a:rPr>
              <a:t> </a:t>
            </a:r>
            <a:endParaRPr kumimoji="0" lang="en-US" altLang="zh-CN" sz="2000" b="0" i="0" u="none" strike="noStrike" cap="none" normalizeH="0" baseline="0" dirty="0">
              <a:ln>
                <a:noFill/>
              </a:ln>
              <a:solidFill>
                <a:schemeClr val="tx1"/>
              </a:solidFill>
              <a:effectLst/>
              <a:latin typeface="Arial" panose="020B0604020202020204" pitchFamily="34" charset="0"/>
            </a:endParaRPr>
          </a:p>
          <a:p>
            <a:r>
              <a:rPr kumimoji="0" lang="zh-CN" altLang="zh-CN" sz="2400" b="0" i="0" u="none" strike="noStrike" cap="none" normalizeH="0" baseline="0" dirty="0">
                <a:ln>
                  <a:noFill/>
                </a:ln>
                <a:solidFill>
                  <a:srgbClr val="333333"/>
                </a:solidFill>
                <a:effectLst/>
                <a:latin typeface="Arial" panose="020B0604020202020204" pitchFamily="34" charset="0"/>
                <a:ea typeface="PingFang SC"/>
              </a:rPr>
              <a:t>网络结构：</a:t>
            </a:r>
            <a:r>
              <a:rPr kumimoji="0" lang="zh-CN" altLang="zh-CN" sz="2400" b="0" i="0" u="none" strike="noStrike" cap="none" normalizeH="0" baseline="0" dirty="0">
                <a:ln>
                  <a:noFill/>
                </a:ln>
                <a:solidFill>
                  <a:srgbClr val="333333"/>
                </a:solidFill>
                <a:effectLst/>
                <a:latin typeface="Arial Unicode MS"/>
              </a:rPr>
              <a:t>784 -&gt; 128 -&gt; 64 -&gt; 10</a:t>
            </a:r>
            <a:r>
              <a:rPr kumimoji="0" lang="zh-CN" altLang="zh-CN" sz="2400" b="0" i="0" u="none" strike="noStrike" cap="none" normalizeH="0" baseline="0" dirty="0">
                <a:ln>
                  <a:noFill/>
                </a:ln>
                <a:solidFill>
                  <a:srgbClr val="333333"/>
                </a:solidFill>
                <a:effectLst/>
                <a:ea typeface="PingFang SC"/>
              </a:rPr>
              <a:t> </a:t>
            </a:r>
            <a:r>
              <a:rPr kumimoji="0" lang="zh-CN" altLang="zh-CN" sz="2400" b="0" i="0" u="none" strike="noStrike" cap="none" normalizeH="0" baseline="0" dirty="0">
                <a:ln>
                  <a:noFill/>
                </a:ln>
                <a:solidFill>
                  <a:srgbClr val="333333"/>
                </a:solidFill>
                <a:effectLst/>
                <a:latin typeface="Arial" panose="020B0604020202020204" pitchFamily="34" charset="0"/>
                <a:ea typeface="PingFang SC"/>
              </a:rPr>
              <a:t>的全连接网络</a:t>
            </a:r>
            <a:endParaRPr kumimoji="0" lang="en-US" altLang="zh-CN" sz="2400" b="0" i="0" u="none" strike="noStrike" cap="none" normalizeH="0" baseline="0" dirty="0">
              <a:ln>
                <a:noFill/>
              </a:ln>
              <a:solidFill>
                <a:srgbClr val="333333"/>
              </a:solidFill>
              <a:effectLst/>
              <a:latin typeface="Arial" panose="020B0604020202020204" pitchFamily="34" charset="0"/>
              <a:ea typeface="PingFang SC"/>
            </a:endParaRPr>
          </a:p>
          <a:p>
            <a:pPr lvl="1"/>
            <a:r>
              <a:rPr lang="zh-CN" altLang="zh-CN" sz="2000" dirty="0">
                <a:solidFill>
                  <a:srgbClr val="333333"/>
                </a:solidFill>
                <a:latin typeface="Arial" panose="020B0604020202020204" pitchFamily="34" charset="0"/>
              </a:rPr>
              <a:t>激活函数：ReLU</a:t>
            </a:r>
            <a:r>
              <a:rPr lang="zh-CN" altLang="en-US" sz="2000" dirty="0">
                <a:solidFill>
                  <a:srgbClr val="333333"/>
                </a:solidFill>
                <a:latin typeface="Arial" panose="020B0604020202020204" pitchFamily="34" charset="0"/>
              </a:rPr>
              <a:t>，</a:t>
            </a:r>
            <a:r>
              <a:rPr lang="en-US" altLang="zh-CN" sz="2000" dirty="0">
                <a:solidFill>
                  <a:srgbClr val="333333"/>
                </a:solidFill>
                <a:latin typeface="Arial" panose="020B0604020202020204" pitchFamily="34" charset="0"/>
              </a:rPr>
              <a:t>sigmoid</a:t>
            </a:r>
            <a:r>
              <a:rPr lang="zh-CN" altLang="en-US" sz="2000" dirty="0">
                <a:solidFill>
                  <a:srgbClr val="333333"/>
                </a:solidFill>
                <a:latin typeface="Arial" panose="020B0604020202020204" pitchFamily="34" charset="0"/>
              </a:rPr>
              <a:t>等</a:t>
            </a:r>
            <a:endParaRPr lang="en-US" altLang="zh-CN" sz="2000" dirty="0">
              <a:solidFill>
                <a:srgbClr val="333333"/>
              </a:solidFill>
              <a:latin typeface="Arial" panose="020B0604020202020204" pitchFamily="34" charset="0"/>
            </a:endParaRPr>
          </a:p>
          <a:p>
            <a:pPr lvl="1"/>
            <a:r>
              <a:rPr lang="zh-CN" altLang="zh-CN" sz="2000" dirty="0">
                <a:solidFill>
                  <a:srgbClr val="333333"/>
                </a:solidFill>
                <a:latin typeface="Arial" panose="020B0604020202020204" pitchFamily="34" charset="0"/>
              </a:rPr>
              <a:t>输出层：无激活（Logits）</a:t>
            </a:r>
            <a:r>
              <a:rPr lang="zh-CN" altLang="en-US" sz="2000" dirty="0">
                <a:solidFill>
                  <a:srgbClr val="333333"/>
                </a:solidFill>
                <a:latin typeface="Arial" panose="020B0604020202020204" pitchFamily="34" charset="0"/>
              </a:rPr>
              <a:t>或接入</a:t>
            </a:r>
            <a:r>
              <a:rPr lang="en-US" altLang="zh-CN" sz="2000" dirty="0" err="1">
                <a:solidFill>
                  <a:srgbClr val="333333"/>
                </a:solidFill>
                <a:latin typeface="Arial" panose="020B0604020202020204" pitchFamily="34" charset="0"/>
              </a:rPr>
              <a:t>softmax</a:t>
            </a:r>
            <a:r>
              <a:rPr lang="zh-CN" altLang="en-US" sz="2000" dirty="0">
                <a:solidFill>
                  <a:srgbClr val="333333"/>
                </a:solidFill>
                <a:latin typeface="Arial" panose="020B0604020202020204" pitchFamily="34" charset="0"/>
              </a:rPr>
              <a:t>层</a:t>
            </a:r>
            <a:endParaRPr lang="en-US" altLang="zh-CN" sz="2000" dirty="0">
              <a:solidFill>
                <a:srgbClr val="333333"/>
              </a:solidFill>
              <a:latin typeface="Arial" panose="020B0604020202020204" pitchFamily="34" charset="0"/>
            </a:endParaRPr>
          </a:p>
          <a:p>
            <a:r>
              <a:rPr kumimoji="0" lang="zh-CN" altLang="zh-CN" sz="2400" b="1" i="0" u="none" strike="noStrike" cap="none" normalizeH="0" baseline="0" dirty="0">
                <a:ln>
                  <a:noFill/>
                </a:ln>
                <a:solidFill>
                  <a:srgbClr val="333333"/>
                </a:solidFill>
                <a:effectLst/>
                <a:latin typeface="Arial" panose="020B0604020202020204" pitchFamily="34" charset="0"/>
                <a:ea typeface="PingFang SC"/>
              </a:rPr>
              <a:t>实验组</a:t>
            </a:r>
            <a:r>
              <a:rPr kumimoji="0" lang="zh-CN" altLang="zh-CN" sz="2400" b="0" i="0" u="none" strike="noStrike" cap="none" normalizeH="0" baseline="0" dirty="0">
                <a:ln>
                  <a:noFill/>
                </a:ln>
                <a:solidFill>
                  <a:srgbClr val="333333"/>
                </a:solidFill>
                <a:effectLst/>
                <a:latin typeface="Arial" panose="020B0604020202020204" pitchFamily="34" charset="0"/>
                <a:ea typeface="PingFang SC"/>
              </a:rPr>
              <a:t>‌：使用 </a:t>
            </a:r>
            <a:r>
              <a:rPr kumimoji="0" lang="zh-CN" altLang="zh-CN" sz="2400" b="0" i="0" u="none" strike="noStrike" cap="none" normalizeH="0" baseline="0" dirty="0">
                <a:ln>
                  <a:noFill/>
                </a:ln>
                <a:solidFill>
                  <a:srgbClr val="333333"/>
                </a:solidFill>
                <a:effectLst/>
                <a:latin typeface="Arial Unicode MS"/>
              </a:rPr>
              <a:t>CrossEntropyLoss</a:t>
            </a:r>
            <a:r>
              <a:rPr kumimoji="0" lang="zh-CN" altLang="en-US" sz="2400" b="0" i="0" u="none" strike="noStrike" cap="none" normalizeH="0" baseline="0" dirty="0">
                <a:ln>
                  <a:noFill/>
                </a:ln>
                <a:solidFill>
                  <a:srgbClr val="333333"/>
                </a:solidFill>
                <a:effectLst/>
                <a:latin typeface="Arial Unicode MS"/>
              </a:rPr>
              <a:t>，</a:t>
            </a:r>
            <a:r>
              <a:rPr kumimoji="0" lang="zh-CN" altLang="zh-CN" sz="2400" b="0" i="0" u="none" strike="noStrike" cap="none" normalizeH="0" baseline="0" dirty="0">
                <a:ln>
                  <a:noFill/>
                </a:ln>
                <a:solidFill>
                  <a:srgbClr val="333333"/>
                </a:solidFill>
                <a:effectLst/>
                <a:latin typeface="Arial" panose="020B0604020202020204" pitchFamily="34" charset="0"/>
                <a:ea typeface="PingFang SC"/>
              </a:rPr>
              <a:t>‌</a:t>
            </a:r>
            <a:r>
              <a:rPr kumimoji="0" lang="zh-CN" altLang="zh-CN" sz="2400" b="1" i="0" u="none" strike="noStrike" cap="none" normalizeH="0" baseline="0" dirty="0">
                <a:ln>
                  <a:noFill/>
                </a:ln>
                <a:solidFill>
                  <a:srgbClr val="333333"/>
                </a:solidFill>
                <a:effectLst/>
                <a:latin typeface="Arial" panose="020B0604020202020204" pitchFamily="34" charset="0"/>
                <a:ea typeface="PingFang SC"/>
              </a:rPr>
              <a:t>对照组</a:t>
            </a:r>
            <a:r>
              <a:rPr kumimoji="0" lang="zh-CN" altLang="zh-CN" sz="2400" b="0" i="0" u="none" strike="noStrike" cap="none" normalizeH="0" baseline="0" dirty="0">
                <a:ln>
                  <a:noFill/>
                </a:ln>
                <a:solidFill>
                  <a:srgbClr val="333333"/>
                </a:solidFill>
                <a:effectLst/>
                <a:latin typeface="Arial" panose="020B0604020202020204" pitchFamily="34" charset="0"/>
                <a:ea typeface="PingFang SC"/>
              </a:rPr>
              <a:t>‌：使用 </a:t>
            </a:r>
            <a:r>
              <a:rPr kumimoji="0" lang="zh-CN" altLang="zh-CN" sz="2400" b="0" i="0" u="none" strike="noStrike" cap="none" normalizeH="0" baseline="0" dirty="0">
                <a:ln>
                  <a:noFill/>
                </a:ln>
                <a:solidFill>
                  <a:srgbClr val="333333"/>
                </a:solidFill>
                <a:effectLst/>
                <a:latin typeface="Arial Unicode MS"/>
              </a:rPr>
              <a:t>MSELoss</a:t>
            </a:r>
            <a:r>
              <a:rPr kumimoji="0" lang="zh-CN" altLang="zh-CN" sz="2400" b="0" i="0" u="none" strike="noStrike" cap="none" normalizeH="0" baseline="0" dirty="0">
                <a:ln>
                  <a:noFill/>
                </a:ln>
                <a:solidFill>
                  <a:srgbClr val="333333"/>
                </a:solidFill>
                <a:effectLst/>
                <a:ea typeface="PingFang SC"/>
              </a:rPr>
              <a:t>（将标签转为one-hot编码）</a:t>
            </a:r>
            <a:r>
              <a:rPr kumimoji="0" lang="zh-CN" altLang="zh-CN" sz="2400" b="0" i="0" u="none" strike="noStrike" cap="none" normalizeH="0" baseline="0" dirty="0">
                <a:ln>
                  <a:noFill/>
                </a:ln>
                <a:solidFill>
                  <a:schemeClr val="tx1"/>
                </a:solidFill>
                <a:effectLst/>
                <a:latin typeface="Arial" panose="020B0604020202020204" pitchFamily="34" charset="0"/>
              </a:rPr>
              <a:t> </a:t>
            </a:r>
            <a:endParaRPr kumimoji="0" lang="en-US" altLang="zh-CN" sz="2400" b="0" i="0" u="none" strike="noStrike" cap="none" normalizeH="0" baseline="0" dirty="0">
              <a:ln>
                <a:noFill/>
              </a:ln>
              <a:solidFill>
                <a:schemeClr val="tx1"/>
              </a:solidFill>
              <a:effectLst/>
              <a:latin typeface="Arial" panose="020B0604020202020204" pitchFamily="34" charset="0"/>
            </a:endParaRPr>
          </a:p>
          <a:p>
            <a:r>
              <a:rPr lang="zh-CN" altLang="en-US" sz="2400" dirty="0">
                <a:solidFill>
                  <a:srgbClr val="333333"/>
                </a:solidFill>
              </a:rPr>
              <a:t>绘制三条曲线：损失值、</a:t>
            </a:r>
            <a:r>
              <a:rPr lang="en-US" altLang="zh-CN" sz="2400" dirty="0">
                <a:solidFill>
                  <a:srgbClr val="333333"/>
                </a:solidFill>
              </a:rPr>
              <a:t>KL</a:t>
            </a:r>
            <a:r>
              <a:rPr lang="zh-CN" altLang="en-US" sz="2400" dirty="0">
                <a:solidFill>
                  <a:srgbClr val="333333"/>
                </a:solidFill>
              </a:rPr>
              <a:t>散度、准确率随训练轮次的变化</a:t>
            </a:r>
            <a:endParaRPr lang="en-US" altLang="zh-CN" sz="2400" dirty="0">
              <a:solidFill>
                <a:srgbClr val="333333"/>
              </a:solidFill>
            </a:endParaRPr>
          </a:p>
          <a:p>
            <a:pPr lvl="1"/>
            <a:r>
              <a:rPr lang="zh-CN" altLang="en-US" sz="2000" dirty="0">
                <a:solidFill>
                  <a:srgbClr val="333333"/>
                </a:solidFill>
                <a:latin typeface="Arial" panose="020B0604020202020204" pitchFamily="34" charset="0"/>
              </a:rPr>
              <a:t>比较两组实验的最终性能</a:t>
            </a:r>
            <a:endParaRPr lang="en-US" altLang="zh-CN" sz="2000" dirty="0">
              <a:solidFill>
                <a:srgbClr val="333333"/>
              </a:solidFill>
              <a:latin typeface="Arial" panose="020B0604020202020204" pitchFamily="34" charset="0"/>
            </a:endParaRPr>
          </a:p>
          <a:p>
            <a:pPr lvl="1"/>
            <a:r>
              <a:rPr lang="en-US" altLang="zh-CN" sz="2000" dirty="0">
                <a:solidFill>
                  <a:srgbClr val="333333"/>
                </a:solidFill>
                <a:latin typeface="Arial" panose="020B0604020202020204" pitchFamily="34" charset="0"/>
              </a:rPr>
              <a:t>‌</a:t>
            </a:r>
            <a:r>
              <a:rPr lang="zh-CN" altLang="en-US" sz="2000" dirty="0">
                <a:solidFill>
                  <a:srgbClr val="333333"/>
                </a:solidFill>
                <a:latin typeface="Arial" panose="020B0604020202020204" pitchFamily="34" charset="0"/>
              </a:rPr>
              <a:t>核心观察‌：交叉熵组的</a:t>
            </a:r>
            <a:r>
              <a:rPr lang="en-US" altLang="zh-CN" sz="2000" dirty="0">
                <a:solidFill>
                  <a:srgbClr val="333333"/>
                </a:solidFill>
                <a:latin typeface="Arial" panose="020B0604020202020204" pitchFamily="34" charset="0"/>
              </a:rPr>
              <a:t>KL</a:t>
            </a:r>
            <a:r>
              <a:rPr lang="zh-CN" altLang="en-US" sz="2000" dirty="0">
                <a:solidFill>
                  <a:srgbClr val="333333"/>
                </a:solidFill>
                <a:latin typeface="Arial" panose="020B0604020202020204" pitchFamily="34" charset="0"/>
              </a:rPr>
              <a:t>散度是否与损失值同步下降？</a:t>
            </a:r>
            <a:endParaRPr lang="en-US" altLang="zh-CN" sz="2000" dirty="0">
              <a:solidFill>
                <a:srgbClr val="333333"/>
              </a:solidFill>
              <a:latin typeface="Arial" panose="020B0604020202020204" pitchFamily="34" charset="0"/>
            </a:endParaRPr>
          </a:p>
          <a:p>
            <a:r>
              <a:rPr lang="zh-CN" altLang="en-US" sz="2400" dirty="0">
                <a:solidFill>
                  <a:srgbClr val="333333"/>
                </a:solidFill>
                <a:latin typeface="Arial" panose="020B0604020202020204" pitchFamily="34" charset="0"/>
              </a:rPr>
              <a:t>阅读一篇</a:t>
            </a:r>
            <a:r>
              <a:rPr lang="en-US" altLang="zh-CN" sz="2400" dirty="0">
                <a:solidFill>
                  <a:srgbClr val="333333"/>
                </a:solidFill>
                <a:latin typeface="Arial" panose="020B0604020202020204" pitchFamily="34" charset="0"/>
              </a:rPr>
              <a:t>NLP</a:t>
            </a:r>
            <a:r>
              <a:rPr lang="zh-CN" altLang="en-US" sz="2400" dirty="0">
                <a:solidFill>
                  <a:srgbClr val="333333"/>
                </a:solidFill>
                <a:latin typeface="Arial" panose="020B0604020202020204" pitchFamily="34" charset="0"/>
              </a:rPr>
              <a:t>或别的</a:t>
            </a:r>
            <a:r>
              <a:rPr lang="en-US" altLang="zh-CN" sz="2400" dirty="0">
                <a:solidFill>
                  <a:srgbClr val="333333"/>
                </a:solidFill>
                <a:latin typeface="Arial" panose="020B0604020202020204" pitchFamily="34" charset="0"/>
              </a:rPr>
              <a:t>AI</a:t>
            </a:r>
            <a:r>
              <a:rPr lang="zh-CN" altLang="en-US" sz="2400" dirty="0">
                <a:solidFill>
                  <a:srgbClr val="333333"/>
                </a:solidFill>
                <a:latin typeface="Arial" panose="020B0604020202020204" pitchFamily="34" charset="0"/>
              </a:rPr>
              <a:t>领域的极大熵模型，给出其基本思想！</a:t>
            </a:r>
            <a:endParaRPr lang="zh-CN" altLang="en-US" sz="2400" dirty="0"/>
          </a:p>
        </p:txBody>
      </p:sp>
    </p:spTree>
    <p:extLst>
      <p:ext uri="{BB962C8B-B14F-4D97-AF65-F5344CB8AC3E}">
        <p14:creationId xmlns:p14="http://schemas.microsoft.com/office/powerpoint/2010/main" val="313440558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1049</Words>
  <Application>Microsoft Office PowerPoint</Application>
  <PresentationFormat>宽屏</PresentationFormat>
  <Paragraphs>67</Paragraphs>
  <Slides>10</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10</vt:i4>
      </vt:variant>
    </vt:vector>
  </HeadingPairs>
  <TitlesOfParts>
    <vt:vector size="17" baseType="lpstr">
      <vt:lpstr>Arial Unicode MS</vt:lpstr>
      <vt:lpstr>PingFang SC</vt:lpstr>
      <vt:lpstr>等线</vt:lpstr>
      <vt:lpstr>等线 Light</vt:lpstr>
      <vt:lpstr>Arial</vt:lpstr>
      <vt:lpstr>Cambria Math</vt:lpstr>
      <vt:lpstr>Office 主题​​</vt:lpstr>
      <vt:lpstr>熵、交叉熵、损失函数、极大熵原理</vt:lpstr>
      <vt:lpstr>PowerPoint 演示文稿</vt:lpstr>
      <vt:lpstr>交叉熵的计算</vt:lpstr>
      <vt:lpstr>交叉熵的计算</vt:lpstr>
      <vt:lpstr>交叉熵的计算</vt:lpstr>
      <vt:lpstr>交叉熵的直观理解</vt:lpstr>
      <vt:lpstr>极大熵原理</vt:lpstr>
      <vt:lpstr>极大熵原理</vt:lpstr>
      <vt:lpstr>实验内容</vt:lpstr>
      <vt:lpstr>实验内容</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熵、交叉熵、损失函数、极大熵原理</dc:title>
  <dc:creator>刘绍辉</dc:creator>
  <cp:lastModifiedBy>刘绍辉</cp:lastModifiedBy>
  <cp:revision>8</cp:revision>
  <dcterms:created xsi:type="dcterms:W3CDTF">2026-04-13T06:43:27Z</dcterms:created>
  <dcterms:modified xsi:type="dcterms:W3CDTF">2026-04-13T07:47:14Z</dcterms:modified>
</cp:coreProperties>
</file>