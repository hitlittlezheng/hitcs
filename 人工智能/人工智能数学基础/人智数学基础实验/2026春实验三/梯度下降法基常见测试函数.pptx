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929" r:id="rId3"/>
    <p:sldId id="949" r:id="rId4"/>
    <p:sldId id="1026" r:id="rId5"/>
    <p:sldId id="1036" r:id="rId6"/>
    <p:sldId id="1035" r:id="rId7"/>
    <p:sldId id="1027" r:id="rId8"/>
    <p:sldId id="1028" r:id="rId9"/>
    <p:sldId id="996" r:id="rId10"/>
    <p:sldId id="1018" r:id="rId11"/>
    <p:sldId id="1019" r:id="rId12"/>
    <p:sldId id="1020" r:id="rId13"/>
    <p:sldId id="1021" r:id="rId14"/>
    <p:sldId id="1022" r:id="rId15"/>
    <p:sldId id="1023" r:id="rId16"/>
    <p:sldId id="1029" r:id="rId17"/>
    <p:sldId id="1030" r:id="rId18"/>
    <p:sldId id="1031" r:id="rId19"/>
    <p:sldId id="1032" r:id="rId20"/>
    <p:sldId id="1024" r:id="rId21"/>
    <p:sldId id="1025" r:id="rId22"/>
    <p:sldId id="978" r:id="rId23"/>
    <p:sldId id="979" r:id="rId24"/>
    <p:sldId id="980" r:id="rId25"/>
    <p:sldId id="981" r:id="rId26"/>
    <p:sldId id="982" r:id="rId27"/>
    <p:sldId id="983" r:id="rId28"/>
    <p:sldId id="990" r:id="rId29"/>
    <p:sldId id="1033" r:id="rId30"/>
    <p:sldId id="1034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53" y="1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756056-EF34-4301-BC4F-2A6531755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7774AE9-8727-4B8C-9950-D78C75EA36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0FED97-2064-44A6-A043-D51758D97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674E-AFB5-4E20-94F0-069A4874628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6D3BD3-44AB-45CB-AB73-E51A68A00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C364E3-D351-4CB8-AD11-6FEDCD5AE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AC9A0-0C73-4FAA-B817-1CAC1DB913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890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A004F3-A87B-4685-8A84-BCF92E7CD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00759B-62D9-4AD8-85D6-89FF21347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E66D81-9CF6-4843-81BC-1819E0F7F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674E-AFB5-4E20-94F0-069A4874628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2DB2E4-660A-4EA3-8A65-432D000A7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B8C63B-3BFE-4D17-BA50-24CE828D7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AC9A0-0C73-4FAA-B817-1CAC1DB913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951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6CE733-AD0E-4873-B0DB-A893E095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B4EF08-6804-4099-A46B-4DBFD1CAF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211AD3-01B3-41AA-8B8D-C749613A3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674E-AFB5-4E20-94F0-069A4874628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60CB4F-7D75-423C-9FD4-372E06627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7D5C74-DAD1-440E-85CD-BCABD51D9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AC9A0-0C73-4FAA-B817-1CAC1DB913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227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F5DD07-0A97-41FB-AC9F-B4B86A6CF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F5FC9-AE79-49A9-B6D0-9BCFD15B06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64B5E5-82EA-4B7B-A369-6241C90E5E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D3C4C8-117C-4519-94D3-0E7392195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674E-AFB5-4E20-94F0-069A4874628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9D7AB7-B8EF-449A-8647-07DA9637E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43EDF6-A589-4B87-8008-468D03F6C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AC9A0-0C73-4FAA-B817-1CAC1DB913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983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22E3FE-F2C4-4E92-B364-AB948B783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C5250F-70A6-4FC3-8459-FDC92EA27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7AE267-06BA-4D9B-AC1A-67EAE236EA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FCA0514-1204-4B53-8601-034B83706E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27227D4-F1F6-46CA-9591-65447E7271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FBDD89D-C87D-4F96-97E2-19E9ACBBE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674E-AFB5-4E20-94F0-069A4874628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DB35619-1AB2-482E-9F9E-0C7400440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767267C-0D7F-4419-B819-2CE88B1E1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AC9A0-0C73-4FAA-B817-1CAC1DB913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4399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AA92D3-4D03-4394-8A6C-6FCCA6DF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9EEE01B-3CD4-4BE6-B399-BBDF7F463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674E-AFB5-4E20-94F0-069A4874628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7DB332-47BC-4145-84C9-B735A0564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224F58C-69CC-4186-A2D7-EF35B187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AC9A0-0C73-4FAA-B817-1CAC1DB913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7497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E8FC0B-C557-4D59-9FAF-0F1ABCBCE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674E-AFB5-4E20-94F0-069A4874628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F7A9F64-0678-411E-B255-D7DB2552B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84FAF4-7482-41A1-A4E3-E742EB4FD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AC9A0-0C73-4FAA-B817-1CAC1DB913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428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28B213-CC12-4E25-A9CF-A3FD869EB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C5ACC7-BE2D-4F5C-ADA8-2970AC422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A50FAFF-FE1D-49BE-A459-992CB02E5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EC0E97-D866-4460-BF59-5C16658CC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674E-AFB5-4E20-94F0-069A4874628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901B6A-871F-48A6-BA57-A140A727B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F16CBD-F3AE-4AC0-905C-2099BBEA3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AC9A0-0C73-4FAA-B817-1CAC1DB913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793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B6F0EC-F90C-4609-8510-C506A7D63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BB6E9ED-49B3-4C7D-8D79-88AAD4B5C0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775C00-B74A-4D56-BD20-DBDE6EF34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E8D05F-9CFD-4954-872B-EA1D33AA6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674E-AFB5-4E20-94F0-069A4874628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0CAEAA-FE7C-4667-87B2-C823A3CDE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13105D-7F47-49DE-8FBD-753EA5399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AC9A0-0C73-4FAA-B817-1CAC1DB913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457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8B6686-1EA8-4988-B495-ECAE2D143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D984EF-24E3-4E08-A717-0DD58F73E4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53EE3F-0200-47F6-B235-E63B9A0D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674E-AFB5-4E20-94F0-069A4874628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B33D5B-ECDC-452F-9E7C-D6BD20EDE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DF4497-3285-428C-8124-5C281EEED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AC9A0-0C73-4FAA-B817-1CAC1DB913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088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9532187-6AF6-450E-9D37-B07947F88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104095-FCAE-4F03-9CA3-113F6E7DE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C6663C-ACE5-4840-A9E3-9EB0562FE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674E-AFB5-4E20-94F0-069A4874628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95D7F2-3090-433E-9200-40CA24FFD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FBCAC4-1DB2-49B4-9976-19F15B152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AC9A0-0C73-4FAA-B817-1CAC1DB913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883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E7E9243-4497-4509-8151-A84AA9D47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086FE2-16FD-4B14-BD2D-344B39621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C8E7A7-62C0-4D1E-A770-273ED1D940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D674E-AFB5-4E20-94F0-069A4874628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990E89-170D-4122-8A04-C25B0CA6FF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81DCC5-D9D0-4274-86D5-A34AB106F2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3AC9A0-0C73-4FAA-B817-1CAC1DB913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655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image" Target="NUL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13" Type="http://schemas.openxmlformats.org/officeDocument/2006/relationships/image" Target="../media/image65.png"/><Relationship Id="rId3" Type="http://schemas.openxmlformats.org/officeDocument/2006/relationships/image" Target="../media/image40.png"/><Relationship Id="rId7" Type="http://schemas.openxmlformats.org/officeDocument/2006/relationships/oleObject" Target="../embeddings/oleObject1.bin"/><Relationship Id="rId12" Type="http://schemas.openxmlformats.org/officeDocument/2006/relationships/image" Target="NUL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8.png"/><Relationship Id="rId1" Type="http://schemas.openxmlformats.org/officeDocument/2006/relationships/vmlDrawing" Target="../drawings/vmlDrawing1.v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../media/image67.png"/><Relationship Id="rId10" Type="http://schemas.openxmlformats.org/officeDocument/2006/relationships/image" Target="NULL"/><Relationship Id="rId4" Type="http://schemas.openxmlformats.org/officeDocument/2006/relationships/image" Target="../media/image50.png"/><Relationship Id="rId9" Type="http://schemas.openxmlformats.org/officeDocument/2006/relationships/oleObject" Target="NULL"/><Relationship Id="rId14" Type="http://schemas.openxmlformats.org/officeDocument/2006/relationships/image" Target="../media/image6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5.png"/><Relationship Id="rId7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03.05499" TargetMode="External"/><Relationship Id="rId2" Type="http://schemas.openxmlformats.org/officeDocument/2006/relationships/hyperlink" Target="https://wires.onlinelibrary.wiley.com/doi/epdf/10.1002/wics.70028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deeplearning.ai/the-batch/optimizer-shootout/" TargetMode="External"/><Relationship Id="rId4" Type="http://schemas.openxmlformats.org/officeDocument/2006/relationships/hyperlink" Target="https://deepobs.github.io/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xpl/tocresult.jsp?isnumber=9241485&amp;punumber=5" TargetMode="External"/><Relationship Id="rId7" Type="http://schemas.openxmlformats.org/officeDocument/2006/relationships/hyperlink" Target="https://ieeexplore.ieee.org/xpl/tocresult.jsp?isnumber=8065092&amp;punumber=10207" TargetMode="External"/><Relationship Id="rId2" Type="http://schemas.openxmlformats.org/officeDocument/2006/relationships/hyperlink" Target="https://ieeexplore.ieee.org/xpl/RecentIssue.jsp?punumber=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/xpl/RecentIssue.jsp?punumber=10207" TargetMode="External"/><Relationship Id="rId5" Type="http://schemas.openxmlformats.org/officeDocument/2006/relationships/hyperlink" Target="https://doi.org/10.3390/math13132210" TargetMode="External"/><Relationship Id="rId4" Type="http://schemas.openxmlformats.org/officeDocument/2006/relationships/hyperlink" Target="https://www.mdpi.com/2227-7390/13/13/221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BD0AA7-BA2C-45EC-AA35-A6AA25F240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梯度下降法及常见</a:t>
            </a:r>
            <a:r>
              <a:rPr lang="zh-CN" altLang="en-US" dirty="0"/>
              <a:t>测试函数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E4289A-D3F2-4DAC-8522-5052DF50B5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梯度类算法的测试函数</a:t>
            </a:r>
            <a:endParaRPr lang="en-US" altLang="zh-CN" dirty="0"/>
          </a:p>
          <a:p>
            <a:r>
              <a:rPr lang="zh-CN" altLang="en-US" dirty="0"/>
              <a:t>刘绍辉</a:t>
            </a:r>
            <a:endParaRPr lang="en-US" altLang="zh-CN" dirty="0"/>
          </a:p>
          <a:p>
            <a:r>
              <a:rPr lang="zh-CN" altLang="en-US" dirty="0"/>
              <a:t>哈尔滨工业大学</a:t>
            </a:r>
            <a:endParaRPr lang="en-US" altLang="zh-CN" dirty="0"/>
          </a:p>
          <a:p>
            <a:r>
              <a:rPr lang="en-US" altLang="zh-CN"/>
              <a:t>2026-4-16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3505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040" dirty="0"/>
              <a:t>梯度下降法的基本思想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280" dirty="0"/>
                  <a:t>多元函数的导数与极值</a:t>
                </a:r>
                <a:endParaRPr lang="en-US" altLang="zh-CN" sz="2280" dirty="0"/>
              </a:p>
              <a:p>
                <a:pPr lvl="1"/>
                <a:r>
                  <a:rPr lang="zh-CN" altLang="en-US" sz="1900" dirty="0"/>
                  <a:t>多元函数的一阶导数</a:t>
                </a:r>
                <a:r>
                  <a:rPr lang="en-US" altLang="zh-CN" sz="1900" dirty="0"/>
                  <a:t>-</a:t>
                </a:r>
                <a:r>
                  <a:rPr lang="zh-CN" altLang="en-US" sz="1900" dirty="0"/>
                  <a:t>梯度</a:t>
                </a:r>
                <a:r>
                  <a:rPr lang="en-US" altLang="zh-CN" sz="1900" dirty="0"/>
                  <a:t>(Gradient):</a:t>
                </a:r>
                <a:r>
                  <a:rPr lang="zh-CN" altLang="en-US" sz="1900" dirty="0"/>
                  <a:t>向量</a:t>
                </a:r>
                <a:endParaRPr lang="en-US" altLang="zh-CN" sz="1900" dirty="0"/>
              </a:p>
              <a:p>
                <a:pPr lvl="1"/>
                <a:r>
                  <a:rPr lang="zh-CN" altLang="en-US" sz="1900" dirty="0"/>
                  <a:t>微分与梯度的关系：函数</a:t>
                </a:r>
                <a14:m>
                  <m:oMath xmlns:m="http://schemas.openxmlformats.org/officeDocument/2006/math">
                    <m:r>
                      <a:rPr lang="en-US" altLang="zh-CN" sz="1900" b="1" i="1">
                        <a:latin typeface="Cambria Math"/>
                      </a:rPr>
                      <m:t>𝒇</m:t>
                    </m:r>
                    <m:r>
                      <a:rPr lang="en-US" altLang="zh-CN" sz="1900" b="1" i="1">
                        <a:latin typeface="Cambria Math"/>
                      </a:rPr>
                      <m:t>(</m:t>
                    </m:r>
                    <m:r>
                      <a:rPr lang="en-US" altLang="zh-CN" sz="1900" b="1" i="1">
                        <a:latin typeface="Cambria Math"/>
                      </a:rPr>
                      <m:t>𝒙</m:t>
                    </m:r>
                    <m:r>
                      <a:rPr lang="en-US" altLang="zh-CN" sz="1900" b="1" i="1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1900" dirty="0"/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9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900" b="1" i="1" dirty="0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CN" sz="1900" b="1" i="1" dirty="0"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1900" dirty="0"/>
                  <a:t>处可微，则该点梯度也存在，并且</a:t>
                </a:r>
                <a14:m>
                  <m:oMath xmlns:m="http://schemas.openxmlformats.org/officeDocument/2006/math">
                    <m:r>
                      <a:rPr lang="en-US" altLang="zh-CN" sz="1900" b="1" i="1">
                        <a:latin typeface="Cambria Math"/>
                      </a:rPr>
                      <m:t>𝒅𝒇</m:t>
                    </m:r>
                    <m:d>
                      <m:d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900" b="1" i="1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900" b="1" i="1"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altLang="zh-CN" sz="1900" b="1" i="1">
                        <a:latin typeface="Cambria Math"/>
                      </a:rPr>
                      <m:t>=</m:t>
                    </m:r>
                    <m:r>
                      <a:rPr lang="en-US" altLang="zh-CN" sz="1900" b="1" i="1">
                        <a:latin typeface="Cambria Math"/>
                      </a:rPr>
                      <m:t>𝜵</m:t>
                    </m:r>
                    <m:r>
                      <a:rPr lang="en-US" altLang="zh-CN" sz="1900" b="1" i="1">
                        <a:latin typeface="Cambria Math"/>
                      </a:rPr>
                      <m:t>𝒇</m:t>
                    </m:r>
                    <m:sSup>
                      <m:sSup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900" b="1" i="1">
                                    <a:latin typeface="Cambria Math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1900" b="1" i="1">
                                    <a:latin typeface="Cambria Math"/>
                                  </a:rPr>
                                  <m:t>𝟎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1900" b="1" i="1">
                            <a:latin typeface="Cambria Math"/>
                          </a:rPr>
                          <m:t>𝑻</m:t>
                        </m:r>
                      </m:sup>
                    </m:sSup>
                    <m:r>
                      <a:rPr lang="en-US" altLang="zh-CN" sz="1900" b="1" i="1">
                        <a:latin typeface="Cambria Math"/>
                      </a:rPr>
                      <m:t>𝜟</m:t>
                    </m:r>
                    <m:r>
                      <a:rPr lang="en-US" altLang="zh-CN" sz="1900" b="1" i="1">
                        <a:latin typeface="Cambria Math"/>
                      </a:rPr>
                      <m:t>𝒙</m:t>
                    </m:r>
                  </m:oMath>
                </a14:m>
                <a:endParaRPr lang="en-US" altLang="zh-CN" sz="1900" b="1" dirty="0"/>
              </a:p>
              <a:p>
                <a:pPr lvl="1"/>
                <a:r>
                  <a:rPr lang="zh-CN" altLang="en-US" sz="1900" dirty="0"/>
                  <a:t>若</a:t>
                </a:r>
                <a14:m>
                  <m:oMath xmlns:m="http://schemas.openxmlformats.org/officeDocument/2006/math">
                    <m:r>
                      <a:rPr lang="en-US" altLang="zh-CN" sz="1900" b="1" i="1">
                        <a:latin typeface="Cambria Math"/>
                      </a:rPr>
                      <m:t>𝒖</m:t>
                    </m:r>
                    <m:r>
                      <a:rPr lang="en-US" altLang="zh-CN" sz="1900" b="1" i="1">
                        <a:latin typeface="Cambria Math"/>
                      </a:rPr>
                      <m:t>=</m:t>
                    </m:r>
                    <m:r>
                      <a:rPr lang="en-US" altLang="zh-CN" sz="1900" b="1" i="1">
                        <a:latin typeface="Cambria Math"/>
                      </a:rPr>
                      <m:t>𝒇</m:t>
                    </m:r>
                    <m:r>
                      <a:rPr lang="en-US" altLang="zh-CN" sz="1900" b="1" i="1">
                        <a:latin typeface="Cambria Math"/>
                      </a:rPr>
                      <m:t>(</m:t>
                    </m:r>
                    <m:r>
                      <a:rPr lang="en-US" altLang="zh-CN" sz="1900" b="1" i="1">
                        <a:latin typeface="Cambria Math"/>
                      </a:rPr>
                      <m:t>𝒙</m:t>
                    </m:r>
                    <m:r>
                      <a:rPr lang="en-US" altLang="zh-CN" sz="1900" b="1" i="1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1900" dirty="0"/>
                  <a:t>是二元函数，则</a:t>
                </a:r>
                <a14:m>
                  <m:oMath xmlns:m="http://schemas.openxmlformats.org/officeDocument/2006/math">
                    <m:r>
                      <a:rPr lang="en-US" altLang="zh-CN" sz="1900" b="1" i="1">
                        <a:latin typeface="Cambria Math"/>
                      </a:rPr>
                      <m:t>𝒇</m:t>
                    </m:r>
                  </m:oMath>
                </a14:m>
                <a:r>
                  <a:rPr lang="zh-CN" altLang="en-US" sz="1900" dirty="0"/>
                  <a:t>在点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900" b="1" i="1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CN" sz="1900" b="1" i="1"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1900" dirty="0"/>
                  <a:t>处的梯度的几何意义是：</a:t>
                </a:r>
                <a14:m>
                  <m:oMath xmlns:m="http://schemas.openxmlformats.org/officeDocument/2006/math">
                    <m:r>
                      <a:rPr lang="en-US" altLang="zh-CN" sz="1900" b="1" i="1">
                        <a:latin typeface="Cambria Math"/>
                      </a:rPr>
                      <m:t>𝜵</m:t>
                    </m:r>
                    <m:r>
                      <a:rPr lang="en-US" altLang="zh-CN" sz="1900" b="1" i="1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900" b="1" i="1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900" b="1" i="1"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900" dirty="0"/>
                  <a:t>是过点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900" b="1" i="1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CN" sz="1900" b="1" i="1"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altLang="zh-CN" sz="1900" b="1" i="1">
                        <a:latin typeface="Cambria Math"/>
                      </a:rPr>
                      <m:t> </m:t>
                    </m:r>
                  </m:oMath>
                </a14:m>
                <a:r>
                  <a:rPr lang="zh-CN" altLang="en-US" sz="1900" dirty="0"/>
                  <a:t>的</a:t>
                </a:r>
                <a14:m>
                  <m:oMath xmlns:m="http://schemas.openxmlformats.org/officeDocument/2006/math">
                    <m:r>
                      <a:rPr lang="en-US" altLang="zh-CN" sz="1900" b="1" i="1" dirty="0">
                        <a:latin typeface="Cambria Math"/>
                      </a:rPr>
                      <m:t>𝒇</m:t>
                    </m:r>
                    <m:r>
                      <a:rPr lang="en-US" altLang="zh-CN" sz="1900" b="1" i="1" dirty="0">
                        <a:latin typeface="Cambria Math"/>
                      </a:rPr>
                      <m:t>(</m:t>
                    </m:r>
                    <m:r>
                      <a:rPr lang="en-US" altLang="zh-CN" sz="1900" b="1" i="1" dirty="0">
                        <a:latin typeface="Cambria Math"/>
                      </a:rPr>
                      <m:t>𝒙</m:t>
                    </m:r>
                    <m:r>
                      <a:rPr lang="en-US" altLang="zh-CN" sz="19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1900" dirty="0"/>
                  <a:t>等值线在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900" b="1" i="1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CN" sz="1900" b="1" i="1"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1900" dirty="0"/>
                  <a:t>点处的法向量</a:t>
                </a:r>
                <a:endParaRPr lang="en-US" altLang="zh-CN" sz="1900" dirty="0"/>
              </a:p>
              <a:p>
                <a:pPr lvl="1"/>
                <a:r>
                  <a:rPr lang="zh-CN" altLang="en-US" sz="1900" dirty="0"/>
                  <a:t>若</a:t>
                </a:r>
                <a14:m>
                  <m:oMath xmlns:m="http://schemas.openxmlformats.org/officeDocument/2006/math">
                    <m:r>
                      <a:rPr lang="en-US" altLang="zh-CN" sz="1900" i="1">
                        <a:latin typeface="Cambria Math"/>
                      </a:rPr>
                      <m:t>𝒖</m:t>
                    </m:r>
                    <m:r>
                      <a:rPr lang="en-US" altLang="zh-CN" sz="1900" i="1">
                        <a:latin typeface="Cambria Math"/>
                      </a:rPr>
                      <m:t>=</m:t>
                    </m:r>
                    <m:r>
                      <a:rPr lang="en-US" altLang="zh-CN" sz="1900" i="1">
                        <a:latin typeface="Cambria Math"/>
                      </a:rPr>
                      <m:t>𝒇</m:t>
                    </m:r>
                    <m:r>
                      <a:rPr lang="en-US" altLang="zh-CN" sz="1900" i="1">
                        <a:latin typeface="Cambria Math"/>
                      </a:rPr>
                      <m:t>(</m:t>
                    </m:r>
                    <m:r>
                      <a:rPr lang="en-US" altLang="zh-CN" sz="1900" i="1">
                        <a:latin typeface="Cambria Math"/>
                      </a:rPr>
                      <m:t>𝒙</m:t>
                    </m:r>
                    <m:r>
                      <a:rPr lang="en-US" altLang="zh-CN" sz="1900" i="1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1900" dirty="0"/>
                  <a:t>是三元函数，则</a:t>
                </a:r>
                <a14:m>
                  <m:oMath xmlns:m="http://schemas.openxmlformats.org/officeDocument/2006/math">
                    <m:r>
                      <a:rPr lang="en-US" altLang="zh-CN" sz="1900" i="1">
                        <a:latin typeface="Cambria Math"/>
                      </a:rPr>
                      <m:t>𝒇</m:t>
                    </m:r>
                  </m:oMath>
                </a14:m>
                <a:r>
                  <a:rPr lang="zh-CN" altLang="en-US" sz="1900" dirty="0"/>
                  <a:t>在点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900" i="1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CN" sz="1900" i="1"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1900" dirty="0"/>
                  <a:t>处的梯度的几何意义是：</a:t>
                </a:r>
                <a14:m>
                  <m:oMath xmlns:m="http://schemas.openxmlformats.org/officeDocument/2006/math">
                    <m:r>
                      <a:rPr lang="en-US" altLang="zh-CN" sz="1900" i="1">
                        <a:latin typeface="Cambria Math"/>
                      </a:rPr>
                      <m:t>𝜵</m:t>
                    </m:r>
                    <m:r>
                      <a:rPr lang="en-US" altLang="zh-CN" sz="1900" i="1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sz="1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900" i="1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900" i="1"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900" dirty="0"/>
                  <a:t>是过点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900" i="1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CN" sz="1900" i="1"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altLang="zh-CN" sz="1900" i="1">
                        <a:latin typeface="Cambria Math"/>
                      </a:rPr>
                      <m:t> </m:t>
                    </m:r>
                  </m:oMath>
                </a14:m>
                <a:r>
                  <a:rPr lang="zh-CN" altLang="en-US" sz="1900" dirty="0"/>
                  <a:t>的</a:t>
                </a:r>
                <a14:m>
                  <m:oMath xmlns:m="http://schemas.openxmlformats.org/officeDocument/2006/math">
                    <m:r>
                      <a:rPr lang="en-US" altLang="zh-CN" sz="1900" i="1" dirty="0">
                        <a:latin typeface="Cambria Math"/>
                      </a:rPr>
                      <m:t>𝒇</m:t>
                    </m:r>
                    <m:r>
                      <a:rPr lang="en-US" altLang="zh-CN" sz="1900" i="1" dirty="0">
                        <a:latin typeface="Cambria Math"/>
                      </a:rPr>
                      <m:t>(</m:t>
                    </m:r>
                    <m:r>
                      <a:rPr lang="en-US" altLang="zh-CN" sz="1900" i="1" dirty="0">
                        <a:latin typeface="Cambria Math"/>
                      </a:rPr>
                      <m:t>𝒙</m:t>
                    </m:r>
                    <m:r>
                      <a:rPr lang="en-US" altLang="zh-CN" sz="19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1900" dirty="0"/>
                  <a:t>等值面在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900" i="1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CN" sz="1900" i="1"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1900" dirty="0"/>
                  <a:t>点处的法向量</a:t>
                </a:r>
                <a:endParaRPr lang="en-US" altLang="zh-CN" sz="1900" dirty="0"/>
              </a:p>
              <a:p>
                <a:pPr lvl="1"/>
                <a:endParaRPr lang="zh-CN" altLang="en-US" sz="19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5"/>
                <a:stretch>
                  <a:fillRect l="-926" t="-11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2538517" y="4318371"/>
            <a:ext cx="2941765" cy="1710329"/>
            <a:chOff x="1064568" y="4905325"/>
            <a:chExt cx="3096344" cy="1800200"/>
          </a:xfrm>
        </p:grpSpPr>
        <p:cxnSp>
          <p:nvCxnSpPr>
            <p:cNvPr id="5" name="Straight Arrow Connector 4"/>
            <p:cNvCxnSpPr/>
            <p:nvPr/>
          </p:nvCxnSpPr>
          <p:spPr bwMode="auto">
            <a:xfrm>
              <a:off x="1064568" y="6417493"/>
              <a:ext cx="252028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" name="Straight Arrow Connector 6"/>
            <p:cNvCxnSpPr/>
            <p:nvPr/>
          </p:nvCxnSpPr>
          <p:spPr bwMode="auto">
            <a:xfrm flipV="1">
              <a:off x="1424608" y="4905325"/>
              <a:ext cx="0" cy="18002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" name="Freeform 8"/>
            <p:cNvSpPr/>
            <p:nvPr/>
          </p:nvSpPr>
          <p:spPr bwMode="auto">
            <a:xfrm>
              <a:off x="2028978" y="5565148"/>
              <a:ext cx="505995" cy="530225"/>
            </a:xfrm>
            <a:custGeom>
              <a:avLst/>
              <a:gdLst>
                <a:gd name="connsiteX0" fmla="*/ 88580 w 505995"/>
                <a:gd name="connsiteY0" fmla="*/ 41568 h 530225"/>
                <a:gd name="connsiteX1" fmla="*/ 4359 w 505995"/>
                <a:gd name="connsiteY1" fmla="*/ 258136 h 530225"/>
                <a:gd name="connsiteX2" fmla="*/ 232959 w 505995"/>
                <a:gd name="connsiteY2" fmla="*/ 522831 h 530225"/>
                <a:gd name="connsiteX3" fmla="*/ 389369 w 505995"/>
                <a:gd name="connsiteY3" fmla="*/ 426578 h 530225"/>
                <a:gd name="connsiteX4" fmla="*/ 497654 w 505995"/>
                <a:gd name="connsiteY4" fmla="*/ 113757 h 530225"/>
                <a:gd name="connsiteX5" fmla="*/ 160769 w 505995"/>
                <a:gd name="connsiteY5" fmla="*/ 5473 h 530225"/>
                <a:gd name="connsiteX6" fmla="*/ 88580 w 505995"/>
                <a:gd name="connsiteY6" fmla="*/ 41568 h 530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5995" h="530225">
                  <a:moveTo>
                    <a:pt x="88580" y="41568"/>
                  </a:moveTo>
                  <a:cubicBezTo>
                    <a:pt x="62512" y="83679"/>
                    <a:pt x="-19704" y="177926"/>
                    <a:pt x="4359" y="258136"/>
                  </a:cubicBezTo>
                  <a:cubicBezTo>
                    <a:pt x="28422" y="338347"/>
                    <a:pt x="168791" y="494757"/>
                    <a:pt x="232959" y="522831"/>
                  </a:cubicBezTo>
                  <a:cubicBezTo>
                    <a:pt x="297127" y="550905"/>
                    <a:pt x="345253" y="494757"/>
                    <a:pt x="389369" y="426578"/>
                  </a:cubicBezTo>
                  <a:cubicBezTo>
                    <a:pt x="433485" y="358399"/>
                    <a:pt x="535754" y="183941"/>
                    <a:pt x="497654" y="113757"/>
                  </a:cubicBezTo>
                  <a:cubicBezTo>
                    <a:pt x="459554" y="43573"/>
                    <a:pt x="230953" y="17504"/>
                    <a:pt x="160769" y="5473"/>
                  </a:cubicBezTo>
                  <a:cubicBezTo>
                    <a:pt x="90585" y="-6558"/>
                    <a:pt x="114648" y="-543"/>
                    <a:pt x="88580" y="41568"/>
                  </a:cubicBezTo>
                  <a:close/>
                </a:path>
              </a:pathLst>
            </a:custGeom>
            <a:solidFill>
              <a:schemeClr val="accent1">
                <a:alpha val="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875" tIns="43438" rIns="86875" bIns="43438" numCol="1" rtlCol="0" anchor="t" anchorCtr="0" compatLnSpc="1"/>
            <a:lstStyle/>
            <a:p>
              <a:pPr algn="ctr" defTabSz="868771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28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" name="Freeform 9"/>
            <p:cNvSpPr/>
            <p:nvPr/>
          </p:nvSpPr>
          <p:spPr bwMode="auto">
            <a:xfrm>
              <a:off x="1630176" y="5274653"/>
              <a:ext cx="1389064" cy="1061544"/>
            </a:xfrm>
            <a:custGeom>
              <a:avLst/>
              <a:gdLst>
                <a:gd name="connsiteX0" fmla="*/ 288758 w 1389064"/>
                <a:gd name="connsiteY0" fmla="*/ 130918 h 1061544"/>
                <a:gd name="connsiteX1" fmla="*/ 0 w 1389064"/>
                <a:gd name="connsiteY1" fmla="*/ 539992 h 1061544"/>
                <a:gd name="connsiteX2" fmla="*/ 288758 w 1389064"/>
                <a:gd name="connsiteY2" fmla="*/ 961097 h 1061544"/>
                <a:gd name="connsiteX3" fmla="*/ 1215189 w 1389064"/>
                <a:gd name="connsiteY3" fmla="*/ 1033287 h 1061544"/>
                <a:gd name="connsiteX4" fmla="*/ 1383631 w 1389064"/>
                <a:gd name="connsiteY4" fmla="*/ 576087 h 1061544"/>
                <a:gd name="connsiteX5" fmla="*/ 1130968 w 1389064"/>
                <a:gd name="connsiteY5" fmla="*/ 46697 h 1061544"/>
                <a:gd name="connsiteX6" fmla="*/ 481263 w 1389064"/>
                <a:gd name="connsiteY6" fmla="*/ 34666 h 1061544"/>
                <a:gd name="connsiteX7" fmla="*/ 288758 w 1389064"/>
                <a:gd name="connsiteY7" fmla="*/ 130918 h 1061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89064" h="1061544">
                  <a:moveTo>
                    <a:pt x="288758" y="130918"/>
                  </a:moveTo>
                  <a:cubicBezTo>
                    <a:pt x="208548" y="215139"/>
                    <a:pt x="0" y="401629"/>
                    <a:pt x="0" y="539992"/>
                  </a:cubicBezTo>
                  <a:cubicBezTo>
                    <a:pt x="0" y="678355"/>
                    <a:pt x="86226" y="878881"/>
                    <a:pt x="288758" y="961097"/>
                  </a:cubicBezTo>
                  <a:cubicBezTo>
                    <a:pt x="491290" y="1043313"/>
                    <a:pt x="1032710" y="1097455"/>
                    <a:pt x="1215189" y="1033287"/>
                  </a:cubicBezTo>
                  <a:cubicBezTo>
                    <a:pt x="1397668" y="969119"/>
                    <a:pt x="1397668" y="740519"/>
                    <a:pt x="1383631" y="576087"/>
                  </a:cubicBezTo>
                  <a:cubicBezTo>
                    <a:pt x="1369594" y="411655"/>
                    <a:pt x="1281363" y="136934"/>
                    <a:pt x="1130968" y="46697"/>
                  </a:cubicBezTo>
                  <a:cubicBezTo>
                    <a:pt x="980573" y="-43540"/>
                    <a:pt x="625642" y="22634"/>
                    <a:pt x="481263" y="34666"/>
                  </a:cubicBezTo>
                  <a:cubicBezTo>
                    <a:pt x="336884" y="46698"/>
                    <a:pt x="368968" y="46697"/>
                    <a:pt x="288758" y="130918"/>
                  </a:cubicBezTo>
                  <a:close/>
                </a:path>
              </a:pathLst>
            </a:custGeom>
            <a:solidFill>
              <a:schemeClr val="accent1">
                <a:alpha val="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875" tIns="43438" rIns="86875" bIns="43438" numCol="1" rtlCol="0" anchor="t" anchorCtr="0" compatLnSpc="1"/>
            <a:lstStyle/>
            <a:p>
              <a:pPr algn="ctr" defTabSz="868771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28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 bwMode="auto">
            <a:xfrm>
              <a:off x="1784648" y="4905325"/>
              <a:ext cx="1656184" cy="165618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Straight Arrow Connector 13"/>
            <p:cNvCxnSpPr/>
            <p:nvPr/>
          </p:nvCxnSpPr>
          <p:spPr bwMode="auto">
            <a:xfrm flipV="1">
              <a:off x="2534973" y="5193357"/>
              <a:ext cx="545819" cy="45876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2807882" y="5565148"/>
                  <a:ext cx="1353030" cy="6447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710" b="1" i="1">
                            <a:latin typeface="Cambria Math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sz="171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710" b="1" i="1">
                                <a:latin typeface="Cambria Math"/>
                              </a:rPr>
                              <m:t>𝒙</m:t>
                            </m:r>
                          </m:e>
                        </m:d>
                        <m:r>
                          <a:rPr lang="zh-CN" altLang="en-US" sz="1710" b="1" i="1">
                            <a:latin typeface="Cambria Math"/>
                          </a:rPr>
                          <m:t>的</m:t>
                        </m:r>
                        <m:r>
                          <a:rPr lang="zh-CN" altLang="en-US" sz="1710" i="1">
                            <a:latin typeface="Cambria Math"/>
                          </a:rPr>
                          <m:t>等值线</m:t>
                        </m:r>
                      </m:oMath>
                    </m:oMathPara>
                  </a14:m>
                  <a:endParaRPr lang="zh-CN" altLang="en-US" sz="1710" dirty="0"/>
                </a:p>
              </p:txBody>
            </p:sp>
          </mc:Choice>
          <mc:Fallback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7882" y="5565148"/>
                  <a:ext cx="1353030" cy="644727"/>
                </a:xfrm>
                <a:prstGeom prst="rect">
                  <a:avLst/>
                </a:prstGeom>
                <a:blipFill>
                  <a:blip r:embed="rId6"/>
                  <a:stretch>
                    <a:fillRect l="-948" b="-69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2328375" y="4908353"/>
                  <a:ext cx="1379957" cy="3741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710" dirty="0"/>
                    <a:t>梯度</a:t>
                  </a:r>
                  <a14:m>
                    <m:oMath xmlns:m="http://schemas.openxmlformats.org/officeDocument/2006/math">
                      <m:r>
                        <a:rPr lang="en-US" altLang="zh-CN" sz="1710" b="1" i="1">
                          <a:latin typeface="Cambria Math"/>
                        </a:rPr>
                        <m:t>𝜵</m:t>
                      </m:r>
                      <m:r>
                        <a:rPr lang="en-US" altLang="zh-CN" sz="1710" b="1" i="1">
                          <a:latin typeface="Cambria Math"/>
                        </a:rPr>
                        <m:t>𝒇</m:t>
                      </m:r>
                      <m:r>
                        <a:rPr lang="en-US" altLang="zh-CN" sz="1710" b="1" i="1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altLang="zh-CN" sz="171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710" b="1" i="1"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710" b="1" i="1">
                              <a:latin typeface="Cambria Math"/>
                            </a:rPr>
                            <m:t>𝟎</m:t>
                          </m:r>
                        </m:sub>
                      </m:sSub>
                      <m:r>
                        <a:rPr lang="en-US" altLang="zh-CN" sz="1710" b="1" i="1">
                          <a:latin typeface="Cambria Math"/>
                        </a:rPr>
                        <m:t>)</m:t>
                      </m:r>
                    </m:oMath>
                  </a14:m>
                  <a:endParaRPr lang="zh-CN" altLang="en-US" sz="1710" i="1" dirty="0"/>
                </a:p>
              </p:txBody>
            </p:sp>
          </mc:Choice>
          <mc:Fallback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8375" y="4908353"/>
                  <a:ext cx="1379957" cy="374161"/>
                </a:xfrm>
                <a:prstGeom prst="rect">
                  <a:avLst/>
                </a:prstGeom>
                <a:blipFill>
                  <a:blip r:embed="rId7"/>
                  <a:stretch>
                    <a:fillRect l="-3256" t="-8621" r="-930" b="-224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TextBox 17"/>
          <p:cNvSpPr txBox="1"/>
          <p:nvPr/>
        </p:nvSpPr>
        <p:spPr>
          <a:xfrm>
            <a:off x="2910365" y="6342628"/>
            <a:ext cx="5580096" cy="355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710" dirty="0">
                <a:solidFill>
                  <a:srgbClr val="FF0000"/>
                </a:solidFill>
              </a:rPr>
              <a:t>梯度方向表明函数值在该方向上增加最快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7125071" y="3841885"/>
            <a:ext cx="4156514" cy="2856225"/>
            <a:chOff x="1548" y="2110"/>
            <a:chExt cx="2829" cy="1944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/>
          </p:nvSpPr>
          <p:spPr bwMode="auto">
            <a:xfrm>
              <a:off x="1559" y="2110"/>
              <a:ext cx="2736" cy="192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86875" tIns="43438" rIns="86875" bIns="43438" numCol="1" anchor="t" anchorCtr="0" compatLnSpc="1"/>
            <a:lstStyle/>
            <a:p>
              <a:endParaRPr lang="zh-CN" altLang="en-US" sz="1710"/>
            </a:p>
          </p:txBody>
        </p:sp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1559" y="2145"/>
              <a:ext cx="41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endParaRPr lang="zh-CN" altLang="zh-CN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1719" y="3822"/>
              <a:ext cx="2125" cy="62"/>
            </a:xfrm>
            <a:custGeom>
              <a:avLst/>
              <a:gdLst>
                <a:gd name="T0" fmla="*/ 8 w 3081"/>
                <a:gd name="T1" fmla="*/ 34 h 85"/>
                <a:gd name="T2" fmla="*/ 2985 w 3081"/>
                <a:gd name="T3" fmla="*/ 35 h 85"/>
                <a:gd name="T4" fmla="*/ 2993 w 3081"/>
                <a:gd name="T5" fmla="*/ 43 h 85"/>
                <a:gd name="T6" fmla="*/ 2985 w 3081"/>
                <a:gd name="T7" fmla="*/ 51 h 85"/>
                <a:gd name="T8" fmla="*/ 8 w 3081"/>
                <a:gd name="T9" fmla="*/ 50 h 85"/>
                <a:gd name="T10" fmla="*/ 0 w 3081"/>
                <a:gd name="T11" fmla="*/ 42 h 85"/>
                <a:gd name="T12" fmla="*/ 8 w 3081"/>
                <a:gd name="T13" fmla="*/ 34 h 85"/>
                <a:gd name="T14" fmla="*/ 2868 w 3081"/>
                <a:gd name="T15" fmla="*/ 0 h 85"/>
                <a:gd name="T16" fmla="*/ 3081 w 3081"/>
                <a:gd name="T17" fmla="*/ 43 h 85"/>
                <a:gd name="T18" fmla="*/ 2868 w 3081"/>
                <a:gd name="T19" fmla="*/ 85 h 85"/>
                <a:gd name="T20" fmla="*/ 2868 w 3081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081" h="85">
                  <a:moveTo>
                    <a:pt x="8" y="34"/>
                  </a:moveTo>
                  <a:lnTo>
                    <a:pt x="2985" y="35"/>
                  </a:lnTo>
                  <a:cubicBezTo>
                    <a:pt x="2989" y="35"/>
                    <a:pt x="2993" y="38"/>
                    <a:pt x="2993" y="43"/>
                  </a:cubicBezTo>
                  <a:cubicBezTo>
                    <a:pt x="2993" y="47"/>
                    <a:pt x="2989" y="51"/>
                    <a:pt x="2985" y="51"/>
                  </a:cubicBezTo>
                  <a:lnTo>
                    <a:pt x="8" y="50"/>
                  </a:lnTo>
                  <a:cubicBezTo>
                    <a:pt x="4" y="50"/>
                    <a:pt x="0" y="46"/>
                    <a:pt x="0" y="42"/>
                  </a:cubicBezTo>
                  <a:cubicBezTo>
                    <a:pt x="0" y="37"/>
                    <a:pt x="4" y="34"/>
                    <a:pt x="8" y="34"/>
                  </a:cubicBezTo>
                  <a:close/>
                  <a:moveTo>
                    <a:pt x="2868" y="0"/>
                  </a:moveTo>
                  <a:lnTo>
                    <a:pt x="3081" y="43"/>
                  </a:lnTo>
                  <a:lnTo>
                    <a:pt x="2868" y="85"/>
                  </a:lnTo>
                  <a:lnTo>
                    <a:pt x="2868" y="0"/>
                  </a:lnTo>
                  <a:close/>
                </a:path>
              </a:pathLst>
            </a:custGeom>
            <a:solidFill>
              <a:srgbClr val="000000"/>
            </a:solidFill>
            <a:ln w="11" cap="flat">
              <a:solidFill>
                <a:srgbClr val="000000"/>
              </a:solidFill>
              <a:prstDash val="solid"/>
              <a:bevel/>
            </a:ln>
          </p:spPr>
          <p:txBody>
            <a:bodyPr vert="horz" wrap="square" lIns="86875" tIns="43438" rIns="86875" bIns="43438" numCol="1" anchor="t" anchorCtr="0" compatLnSpc="1"/>
            <a:lstStyle/>
            <a:p>
              <a:endParaRPr lang="zh-CN" altLang="en-US" sz="1710"/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1695" y="2158"/>
              <a:ext cx="59" cy="1700"/>
            </a:xfrm>
            <a:custGeom>
              <a:avLst/>
              <a:gdLst>
                <a:gd name="T0" fmla="*/ 35 w 86"/>
                <a:gd name="T1" fmla="*/ 2330 h 2338"/>
                <a:gd name="T2" fmla="*/ 35 w 86"/>
                <a:gd name="T3" fmla="*/ 96 h 2338"/>
                <a:gd name="T4" fmla="*/ 43 w 86"/>
                <a:gd name="T5" fmla="*/ 88 h 2338"/>
                <a:gd name="T6" fmla="*/ 51 w 86"/>
                <a:gd name="T7" fmla="*/ 96 h 2338"/>
                <a:gd name="T8" fmla="*/ 51 w 86"/>
                <a:gd name="T9" fmla="*/ 2330 h 2338"/>
                <a:gd name="T10" fmla="*/ 43 w 86"/>
                <a:gd name="T11" fmla="*/ 2338 h 2338"/>
                <a:gd name="T12" fmla="*/ 35 w 86"/>
                <a:gd name="T13" fmla="*/ 2330 h 2338"/>
                <a:gd name="T14" fmla="*/ 0 w 86"/>
                <a:gd name="T15" fmla="*/ 213 h 2338"/>
                <a:gd name="T16" fmla="*/ 43 w 86"/>
                <a:gd name="T17" fmla="*/ 0 h 2338"/>
                <a:gd name="T18" fmla="*/ 86 w 86"/>
                <a:gd name="T19" fmla="*/ 213 h 2338"/>
                <a:gd name="T20" fmla="*/ 0 w 86"/>
                <a:gd name="T21" fmla="*/ 213 h 2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6" h="2338">
                  <a:moveTo>
                    <a:pt x="35" y="2330"/>
                  </a:moveTo>
                  <a:lnTo>
                    <a:pt x="35" y="96"/>
                  </a:lnTo>
                  <a:cubicBezTo>
                    <a:pt x="35" y="92"/>
                    <a:pt x="39" y="88"/>
                    <a:pt x="43" y="88"/>
                  </a:cubicBezTo>
                  <a:cubicBezTo>
                    <a:pt x="47" y="88"/>
                    <a:pt x="51" y="92"/>
                    <a:pt x="51" y="96"/>
                  </a:cubicBezTo>
                  <a:lnTo>
                    <a:pt x="51" y="2330"/>
                  </a:lnTo>
                  <a:cubicBezTo>
                    <a:pt x="51" y="2334"/>
                    <a:pt x="47" y="2338"/>
                    <a:pt x="43" y="2338"/>
                  </a:cubicBezTo>
                  <a:cubicBezTo>
                    <a:pt x="39" y="2338"/>
                    <a:pt x="35" y="2334"/>
                    <a:pt x="35" y="2330"/>
                  </a:cubicBezTo>
                  <a:close/>
                  <a:moveTo>
                    <a:pt x="0" y="213"/>
                  </a:moveTo>
                  <a:lnTo>
                    <a:pt x="43" y="0"/>
                  </a:lnTo>
                  <a:lnTo>
                    <a:pt x="86" y="213"/>
                  </a:lnTo>
                  <a:lnTo>
                    <a:pt x="0" y="213"/>
                  </a:lnTo>
                  <a:close/>
                </a:path>
              </a:pathLst>
            </a:custGeom>
            <a:solidFill>
              <a:srgbClr val="000000"/>
            </a:solidFill>
            <a:ln w="11" cap="flat">
              <a:solidFill>
                <a:srgbClr val="000000"/>
              </a:solidFill>
              <a:prstDash val="solid"/>
              <a:bevel/>
            </a:ln>
          </p:spPr>
          <p:txBody>
            <a:bodyPr vert="horz" wrap="square" lIns="86875" tIns="43438" rIns="86875" bIns="43438" numCol="1" anchor="t" anchorCtr="0" compatLnSpc="1"/>
            <a:lstStyle/>
            <a:p>
              <a:endParaRPr lang="zh-CN" altLang="en-US" sz="1710"/>
            </a:p>
          </p:txBody>
        </p:sp>
        <p:sp>
          <p:nvSpPr>
            <p:cNvPr id="21" name="Rectangle 8"/>
            <p:cNvSpPr>
              <a:spLocks noChangeArrowheads="1"/>
            </p:cNvSpPr>
            <p:nvPr/>
          </p:nvSpPr>
          <p:spPr bwMode="auto">
            <a:xfrm>
              <a:off x="1570" y="3844"/>
              <a:ext cx="120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9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O</a:t>
              </a:r>
              <a:endParaRPr lang="zh-CN" altLang="zh-CN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2" name="Rectangle 9"/>
            <p:cNvSpPr>
              <a:spLocks noChangeArrowheads="1"/>
            </p:cNvSpPr>
            <p:nvPr/>
          </p:nvSpPr>
          <p:spPr bwMode="auto">
            <a:xfrm>
              <a:off x="1680" y="3844"/>
              <a:ext cx="41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9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endParaRPr lang="zh-CN" altLang="zh-CN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3" name="Rectangle 10"/>
            <p:cNvSpPr>
              <a:spLocks noChangeArrowheads="1"/>
            </p:cNvSpPr>
            <p:nvPr/>
          </p:nvSpPr>
          <p:spPr bwMode="auto">
            <a:xfrm>
              <a:off x="1548" y="2145"/>
              <a:ext cx="73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9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x</a:t>
              </a:r>
              <a:endParaRPr lang="zh-CN" altLang="zh-CN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4" name="Rectangle 11"/>
            <p:cNvSpPr>
              <a:spLocks noChangeArrowheads="1"/>
            </p:cNvSpPr>
            <p:nvPr/>
          </p:nvSpPr>
          <p:spPr bwMode="auto">
            <a:xfrm>
              <a:off x="1614" y="2226"/>
              <a:ext cx="53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235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2</a:t>
              </a:r>
              <a:endParaRPr lang="zh-CN" altLang="zh-CN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5" name="Rectangle 12"/>
            <p:cNvSpPr>
              <a:spLocks noChangeArrowheads="1"/>
            </p:cNvSpPr>
            <p:nvPr/>
          </p:nvSpPr>
          <p:spPr bwMode="auto">
            <a:xfrm>
              <a:off x="1669" y="2226"/>
              <a:ext cx="27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235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endParaRPr lang="zh-CN" altLang="zh-CN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6" name="Rectangle 13"/>
            <p:cNvSpPr>
              <a:spLocks noChangeArrowheads="1"/>
            </p:cNvSpPr>
            <p:nvPr/>
          </p:nvSpPr>
          <p:spPr bwMode="auto">
            <a:xfrm>
              <a:off x="1548" y="2378"/>
              <a:ext cx="41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endParaRPr lang="zh-CN" altLang="zh-CN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7" name="Rectangle 14"/>
            <p:cNvSpPr>
              <a:spLocks noChangeArrowheads="1"/>
            </p:cNvSpPr>
            <p:nvPr/>
          </p:nvSpPr>
          <p:spPr bwMode="auto">
            <a:xfrm>
              <a:off x="3622" y="3844"/>
              <a:ext cx="73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9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x</a:t>
              </a:r>
              <a:endParaRPr lang="zh-CN" altLang="zh-CN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8" name="Rectangle 15"/>
            <p:cNvSpPr>
              <a:spLocks noChangeArrowheads="1"/>
            </p:cNvSpPr>
            <p:nvPr/>
          </p:nvSpPr>
          <p:spPr bwMode="auto">
            <a:xfrm>
              <a:off x="3689" y="3925"/>
              <a:ext cx="53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235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1</a:t>
              </a:r>
              <a:endParaRPr lang="zh-CN" altLang="zh-CN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9" name="Rectangle 16"/>
            <p:cNvSpPr>
              <a:spLocks noChangeArrowheads="1"/>
            </p:cNvSpPr>
            <p:nvPr/>
          </p:nvSpPr>
          <p:spPr bwMode="auto">
            <a:xfrm>
              <a:off x="3744" y="3925"/>
              <a:ext cx="27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235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endParaRPr lang="zh-CN" altLang="zh-CN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grpSp>
          <p:nvGrpSpPr>
            <p:cNvPr id="30" name="Group 26"/>
            <p:cNvGrpSpPr/>
            <p:nvPr/>
          </p:nvGrpSpPr>
          <p:grpSpPr bwMode="auto">
            <a:xfrm>
              <a:off x="2135" y="2230"/>
              <a:ext cx="1243" cy="1306"/>
              <a:chOff x="2135" y="2230"/>
              <a:chExt cx="1243" cy="1306"/>
            </a:xfrm>
          </p:grpSpPr>
          <p:grpSp>
            <p:nvGrpSpPr>
              <p:cNvPr id="62" name="Group 20"/>
              <p:cNvGrpSpPr/>
              <p:nvPr/>
            </p:nvGrpSpPr>
            <p:grpSpPr bwMode="auto">
              <a:xfrm>
                <a:off x="2261" y="2230"/>
                <a:ext cx="890" cy="1306"/>
                <a:chOff x="2261" y="2230"/>
                <a:chExt cx="890" cy="1306"/>
              </a:xfrm>
            </p:grpSpPr>
            <p:sp>
              <p:nvSpPr>
                <p:cNvPr id="68" name="Freeform 17"/>
                <p:cNvSpPr>
                  <a:spLocks noEditPoints="1"/>
                </p:cNvSpPr>
                <p:nvPr/>
              </p:nvSpPr>
              <p:spPr bwMode="auto">
                <a:xfrm>
                  <a:off x="2329" y="2463"/>
                  <a:ext cx="579" cy="965"/>
                </a:xfrm>
                <a:custGeom>
                  <a:avLst/>
                  <a:gdLst>
                    <a:gd name="T0" fmla="*/ 118 w 839"/>
                    <a:gd name="T1" fmla="*/ 34 h 1327"/>
                    <a:gd name="T2" fmla="*/ 113 w 839"/>
                    <a:gd name="T3" fmla="*/ 50 h 1327"/>
                    <a:gd name="T4" fmla="*/ 1 w 839"/>
                    <a:gd name="T5" fmla="*/ 6 h 1327"/>
                    <a:gd name="T6" fmla="*/ 177 w 839"/>
                    <a:gd name="T7" fmla="*/ 60 h 1327"/>
                    <a:gd name="T8" fmla="*/ 278 w 839"/>
                    <a:gd name="T9" fmla="*/ 110 h 1327"/>
                    <a:gd name="T10" fmla="*/ 271 w 839"/>
                    <a:gd name="T11" fmla="*/ 124 h 1327"/>
                    <a:gd name="T12" fmla="*/ 171 w 839"/>
                    <a:gd name="T13" fmla="*/ 74 h 1327"/>
                    <a:gd name="T14" fmla="*/ 177 w 839"/>
                    <a:gd name="T15" fmla="*/ 60 h 1327"/>
                    <a:gd name="T16" fmla="*/ 406 w 839"/>
                    <a:gd name="T17" fmla="*/ 193 h 1327"/>
                    <a:gd name="T18" fmla="*/ 426 w 839"/>
                    <a:gd name="T19" fmla="*/ 220 h 1327"/>
                    <a:gd name="T20" fmla="*/ 397 w 839"/>
                    <a:gd name="T21" fmla="*/ 206 h 1327"/>
                    <a:gd name="T22" fmla="*/ 323 w 839"/>
                    <a:gd name="T23" fmla="*/ 145 h 1327"/>
                    <a:gd name="T24" fmla="*/ 474 w 839"/>
                    <a:gd name="T25" fmla="*/ 250 h 1327"/>
                    <a:gd name="T26" fmla="*/ 554 w 839"/>
                    <a:gd name="T27" fmla="*/ 330 h 1327"/>
                    <a:gd name="T28" fmla="*/ 543 w 839"/>
                    <a:gd name="T29" fmla="*/ 341 h 1327"/>
                    <a:gd name="T30" fmla="*/ 464 w 839"/>
                    <a:gd name="T31" fmla="*/ 262 h 1327"/>
                    <a:gd name="T32" fmla="*/ 474 w 839"/>
                    <a:gd name="T33" fmla="*/ 250 h 1327"/>
                    <a:gd name="T34" fmla="*/ 630 w 839"/>
                    <a:gd name="T35" fmla="*/ 422 h 1327"/>
                    <a:gd name="T36" fmla="*/ 659 w 839"/>
                    <a:gd name="T37" fmla="*/ 482 h 1327"/>
                    <a:gd name="T38" fmla="*/ 617 w 839"/>
                    <a:gd name="T39" fmla="*/ 432 h 1327"/>
                    <a:gd name="T40" fmla="*/ 584 w 839"/>
                    <a:gd name="T41" fmla="*/ 378 h 1327"/>
                    <a:gd name="T42" fmla="*/ 696 w 839"/>
                    <a:gd name="T43" fmla="*/ 526 h 1327"/>
                    <a:gd name="T44" fmla="*/ 746 w 839"/>
                    <a:gd name="T45" fmla="*/ 626 h 1327"/>
                    <a:gd name="T46" fmla="*/ 731 w 839"/>
                    <a:gd name="T47" fmla="*/ 632 h 1327"/>
                    <a:gd name="T48" fmla="*/ 682 w 839"/>
                    <a:gd name="T49" fmla="*/ 533 h 1327"/>
                    <a:gd name="T50" fmla="*/ 696 w 839"/>
                    <a:gd name="T51" fmla="*/ 526 h 1327"/>
                    <a:gd name="T52" fmla="*/ 778 w 839"/>
                    <a:gd name="T53" fmla="*/ 704 h 1327"/>
                    <a:gd name="T54" fmla="*/ 799 w 839"/>
                    <a:gd name="T55" fmla="*/ 803 h 1327"/>
                    <a:gd name="T56" fmla="*/ 763 w 839"/>
                    <a:gd name="T57" fmla="*/ 710 h 1327"/>
                    <a:gd name="T58" fmla="*/ 760 w 839"/>
                    <a:gd name="T59" fmla="*/ 681 h 1327"/>
                    <a:gd name="T60" fmla="*/ 818 w 839"/>
                    <a:gd name="T61" fmla="*/ 856 h 1327"/>
                    <a:gd name="T62" fmla="*/ 835 w 839"/>
                    <a:gd name="T63" fmla="*/ 968 h 1327"/>
                    <a:gd name="T64" fmla="*/ 819 w 839"/>
                    <a:gd name="T65" fmla="*/ 969 h 1327"/>
                    <a:gd name="T66" fmla="*/ 803 w 839"/>
                    <a:gd name="T67" fmla="*/ 859 h 1327"/>
                    <a:gd name="T68" fmla="*/ 818 w 839"/>
                    <a:gd name="T69" fmla="*/ 856 h 1327"/>
                    <a:gd name="T70" fmla="*/ 839 w 839"/>
                    <a:gd name="T71" fmla="*/ 1129 h 1327"/>
                    <a:gd name="T72" fmla="*/ 829 w 839"/>
                    <a:gd name="T73" fmla="*/ 1152 h 1327"/>
                    <a:gd name="T74" fmla="*/ 823 w 839"/>
                    <a:gd name="T75" fmla="*/ 1129 h 1327"/>
                    <a:gd name="T76" fmla="*/ 831 w 839"/>
                    <a:gd name="T77" fmla="*/ 1024 h 1327"/>
                    <a:gd name="T78" fmla="*/ 832 w 839"/>
                    <a:gd name="T79" fmla="*/ 1209 h 1327"/>
                    <a:gd name="T80" fmla="*/ 812 w 839"/>
                    <a:gd name="T81" fmla="*/ 1320 h 1327"/>
                    <a:gd name="T82" fmla="*/ 796 w 839"/>
                    <a:gd name="T83" fmla="*/ 1316 h 1327"/>
                    <a:gd name="T84" fmla="*/ 816 w 839"/>
                    <a:gd name="T85" fmla="*/ 1207 h 1327"/>
                    <a:gd name="T86" fmla="*/ 832 w 839"/>
                    <a:gd name="T87" fmla="*/ 1209 h 1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839" h="1327">
                      <a:moveTo>
                        <a:pt x="11" y="1"/>
                      </a:moveTo>
                      <a:lnTo>
                        <a:pt x="118" y="34"/>
                      </a:lnTo>
                      <a:cubicBezTo>
                        <a:pt x="122" y="36"/>
                        <a:pt x="124" y="40"/>
                        <a:pt x="123" y="45"/>
                      </a:cubicBezTo>
                      <a:cubicBezTo>
                        <a:pt x="122" y="49"/>
                        <a:pt x="117" y="51"/>
                        <a:pt x="113" y="50"/>
                      </a:cubicBezTo>
                      <a:lnTo>
                        <a:pt x="6" y="16"/>
                      </a:lnTo>
                      <a:cubicBezTo>
                        <a:pt x="2" y="15"/>
                        <a:pt x="0" y="10"/>
                        <a:pt x="1" y="6"/>
                      </a:cubicBezTo>
                      <a:cubicBezTo>
                        <a:pt x="2" y="2"/>
                        <a:pt x="7" y="0"/>
                        <a:pt x="11" y="1"/>
                      </a:cubicBezTo>
                      <a:close/>
                      <a:moveTo>
                        <a:pt x="177" y="60"/>
                      </a:moveTo>
                      <a:lnTo>
                        <a:pt x="221" y="78"/>
                      </a:lnTo>
                      <a:lnTo>
                        <a:pt x="278" y="110"/>
                      </a:lnTo>
                      <a:cubicBezTo>
                        <a:pt x="282" y="112"/>
                        <a:pt x="284" y="117"/>
                        <a:pt x="281" y="121"/>
                      </a:cubicBezTo>
                      <a:cubicBezTo>
                        <a:pt x="279" y="125"/>
                        <a:pt x="274" y="126"/>
                        <a:pt x="271" y="124"/>
                      </a:cubicBezTo>
                      <a:lnTo>
                        <a:pt x="214" y="93"/>
                      </a:lnTo>
                      <a:lnTo>
                        <a:pt x="171" y="74"/>
                      </a:lnTo>
                      <a:cubicBezTo>
                        <a:pt x="167" y="73"/>
                        <a:pt x="165" y="68"/>
                        <a:pt x="167" y="64"/>
                      </a:cubicBezTo>
                      <a:cubicBezTo>
                        <a:pt x="169" y="60"/>
                        <a:pt x="173" y="58"/>
                        <a:pt x="177" y="60"/>
                      </a:cubicBezTo>
                      <a:close/>
                      <a:moveTo>
                        <a:pt x="334" y="143"/>
                      </a:moveTo>
                      <a:lnTo>
                        <a:pt x="406" y="193"/>
                      </a:lnTo>
                      <a:lnTo>
                        <a:pt x="425" y="209"/>
                      </a:lnTo>
                      <a:cubicBezTo>
                        <a:pt x="429" y="212"/>
                        <a:pt x="429" y="217"/>
                        <a:pt x="426" y="220"/>
                      </a:cubicBezTo>
                      <a:cubicBezTo>
                        <a:pt x="423" y="224"/>
                        <a:pt x="418" y="224"/>
                        <a:pt x="415" y="221"/>
                      </a:cubicBezTo>
                      <a:lnTo>
                        <a:pt x="397" y="206"/>
                      </a:lnTo>
                      <a:lnTo>
                        <a:pt x="325" y="156"/>
                      </a:lnTo>
                      <a:cubicBezTo>
                        <a:pt x="321" y="154"/>
                        <a:pt x="320" y="149"/>
                        <a:pt x="323" y="145"/>
                      </a:cubicBezTo>
                      <a:cubicBezTo>
                        <a:pt x="325" y="141"/>
                        <a:pt x="330" y="140"/>
                        <a:pt x="334" y="143"/>
                      </a:cubicBezTo>
                      <a:close/>
                      <a:moveTo>
                        <a:pt x="474" y="250"/>
                      </a:moveTo>
                      <a:lnTo>
                        <a:pt x="489" y="262"/>
                      </a:lnTo>
                      <a:lnTo>
                        <a:pt x="554" y="330"/>
                      </a:lnTo>
                      <a:cubicBezTo>
                        <a:pt x="557" y="333"/>
                        <a:pt x="557" y="338"/>
                        <a:pt x="554" y="341"/>
                      </a:cubicBezTo>
                      <a:cubicBezTo>
                        <a:pt x="551" y="344"/>
                        <a:pt x="546" y="344"/>
                        <a:pt x="543" y="341"/>
                      </a:cubicBezTo>
                      <a:lnTo>
                        <a:pt x="478" y="275"/>
                      </a:lnTo>
                      <a:lnTo>
                        <a:pt x="464" y="262"/>
                      </a:lnTo>
                      <a:cubicBezTo>
                        <a:pt x="460" y="260"/>
                        <a:pt x="460" y="255"/>
                        <a:pt x="463" y="251"/>
                      </a:cubicBezTo>
                      <a:cubicBezTo>
                        <a:pt x="466" y="248"/>
                        <a:pt x="471" y="247"/>
                        <a:pt x="474" y="250"/>
                      </a:cubicBezTo>
                      <a:close/>
                      <a:moveTo>
                        <a:pt x="595" y="379"/>
                      </a:moveTo>
                      <a:lnTo>
                        <a:pt x="630" y="422"/>
                      </a:lnTo>
                      <a:lnTo>
                        <a:pt x="662" y="471"/>
                      </a:lnTo>
                      <a:cubicBezTo>
                        <a:pt x="664" y="474"/>
                        <a:pt x="663" y="479"/>
                        <a:pt x="659" y="482"/>
                      </a:cubicBezTo>
                      <a:cubicBezTo>
                        <a:pt x="656" y="484"/>
                        <a:pt x="651" y="483"/>
                        <a:pt x="648" y="479"/>
                      </a:cubicBezTo>
                      <a:lnTo>
                        <a:pt x="617" y="432"/>
                      </a:lnTo>
                      <a:lnTo>
                        <a:pt x="583" y="389"/>
                      </a:lnTo>
                      <a:cubicBezTo>
                        <a:pt x="580" y="386"/>
                        <a:pt x="581" y="381"/>
                        <a:pt x="584" y="378"/>
                      </a:cubicBezTo>
                      <a:cubicBezTo>
                        <a:pt x="588" y="375"/>
                        <a:pt x="593" y="376"/>
                        <a:pt x="595" y="379"/>
                      </a:cubicBezTo>
                      <a:close/>
                      <a:moveTo>
                        <a:pt x="696" y="526"/>
                      </a:moveTo>
                      <a:lnTo>
                        <a:pt x="738" y="606"/>
                      </a:lnTo>
                      <a:lnTo>
                        <a:pt x="746" y="626"/>
                      </a:lnTo>
                      <a:cubicBezTo>
                        <a:pt x="748" y="631"/>
                        <a:pt x="746" y="635"/>
                        <a:pt x="742" y="637"/>
                      </a:cubicBezTo>
                      <a:cubicBezTo>
                        <a:pt x="738" y="639"/>
                        <a:pt x="733" y="637"/>
                        <a:pt x="731" y="632"/>
                      </a:cubicBezTo>
                      <a:lnTo>
                        <a:pt x="723" y="613"/>
                      </a:lnTo>
                      <a:lnTo>
                        <a:pt x="682" y="533"/>
                      </a:lnTo>
                      <a:cubicBezTo>
                        <a:pt x="680" y="529"/>
                        <a:pt x="681" y="524"/>
                        <a:pt x="685" y="522"/>
                      </a:cubicBezTo>
                      <a:cubicBezTo>
                        <a:pt x="689" y="520"/>
                        <a:pt x="694" y="522"/>
                        <a:pt x="696" y="526"/>
                      </a:cubicBezTo>
                      <a:close/>
                      <a:moveTo>
                        <a:pt x="770" y="686"/>
                      </a:moveTo>
                      <a:lnTo>
                        <a:pt x="778" y="704"/>
                      </a:lnTo>
                      <a:lnTo>
                        <a:pt x="804" y="793"/>
                      </a:lnTo>
                      <a:cubicBezTo>
                        <a:pt x="806" y="797"/>
                        <a:pt x="803" y="802"/>
                        <a:pt x="799" y="803"/>
                      </a:cubicBezTo>
                      <a:cubicBezTo>
                        <a:pt x="795" y="804"/>
                        <a:pt x="790" y="802"/>
                        <a:pt x="789" y="798"/>
                      </a:cubicBezTo>
                      <a:lnTo>
                        <a:pt x="763" y="710"/>
                      </a:lnTo>
                      <a:lnTo>
                        <a:pt x="755" y="692"/>
                      </a:lnTo>
                      <a:cubicBezTo>
                        <a:pt x="754" y="688"/>
                        <a:pt x="756" y="683"/>
                        <a:pt x="760" y="681"/>
                      </a:cubicBezTo>
                      <a:cubicBezTo>
                        <a:pt x="764" y="680"/>
                        <a:pt x="769" y="682"/>
                        <a:pt x="770" y="686"/>
                      </a:cubicBezTo>
                      <a:close/>
                      <a:moveTo>
                        <a:pt x="818" y="856"/>
                      </a:moveTo>
                      <a:lnTo>
                        <a:pt x="829" y="912"/>
                      </a:lnTo>
                      <a:lnTo>
                        <a:pt x="835" y="968"/>
                      </a:lnTo>
                      <a:cubicBezTo>
                        <a:pt x="835" y="972"/>
                        <a:pt x="832" y="976"/>
                        <a:pt x="827" y="976"/>
                      </a:cubicBezTo>
                      <a:cubicBezTo>
                        <a:pt x="823" y="977"/>
                        <a:pt x="819" y="974"/>
                        <a:pt x="819" y="969"/>
                      </a:cubicBezTo>
                      <a:lnTo>
                        <a:pt x="814" y="915"/>
                      </a:lnTo>
                      <a:lnTo>
                        <a:pt x="803" y="859"/>
                      </a:lnTo>
                      <a:cubicBezTo>
                        <a:pt x="802" y="855"/>
                        <a:pt x="804" y="851"/>
                        <a:pt x="809" y="850"/>
                      </a:cubicBezTo>
                      <a:cubicBezTo>
                        <a:pt x="813" y="849"/>
                        <a:pt x="817" y="852"/>
                        <a:pt x="818" y="856"/>
                      </a:cubicBezTo>
                      <a:close/>
                      <a:moveTo>
                        <a:pt x="839" y="1032"/>
                      </a:moveTo>
                      <a:lnTo>
                        <a:pt x="839" y="1129"/>
                      </a:lnTo>
                      <a:lnTo>
                        <a:pt x="838" y="1145"/>
                      </a:lnTo>
                      <a:cubicBezTo>
                        <a:pt x="838" y="1149"/>
                        <a:pt x="834" y="1153"/>
                        <a:pt x="829" y="1152"/>
                      </a:cubicBezTo>
                      <a:cubicBezTo>
                        <a:pt x="825" y="1152"/>
                        <a:pt x="822" y="1148"/>
                        <a:pt x="822" y="1143"/>
                      </a:cubicBezTo>
                      <a:lnTo>
                        <a:pt x="823" y="1129"/>
                      </a:lnTo>
                      <a:lnTo>
                        <a:pt x="823" y="1032"/>
                      </a:lnTo>
                      <a:cubicBezTo>
                        <a:pt x="823" y="1028"/>
                        <a:pt x="827" y="1024"/>
                        <a:pt x="831" y="1024"/>
                      </a:cubicBezTo>
                      <a:cubicBezTo>
                        <a:pt x="836" y="1024"/>
                        <a:pt x="839" y="1028"/>
                        <a:pt x="839" y="1032"/>
                      </a:cubicBezTo>
                      <a:close/>
                      <a:moveTo>
                        <a:pt x="832" y="1209"/>
                      </a:moveTo>
                      <a:lnTo>
                        <a:pt x="828" y="1241"/>
                      </a:lnTo>
                      <a:lnTo>
                        <a:pt x="812" y="1320"/>
                      </a:lnTo>
                      <a:cubicBezTo>
                        <a:pt x="811" y="1324"/>
                        <a:pt x="807" y="1327"/>
                        <a:pt x="803" y="1326"/>
                      </a:cubicBezTo>
                      <a:cubicBezTo>
                        <a:pt x="798" y="1325"/>
                        <a:pt x="796" y="1321"/>
                        <a:pt x="796" y="1316"/>
                      </a:cubicBezTo>
                      <a:lnTo>
                        <a:pt x="813" y="1240"/>
                      </a:lnTo>
                      <a:lnTo>
                        <a:pt x="816" y="1207"/>
                      </a:lnTo>
                      <a:cubicBezTo>
                        <a:pt x="816" y="1203"/>
                        <a:pt x="820" y="1200"/>
                        <a:pt x="824" y="1200"/>
                      </a:cubicBezTo>
                      <a:cubicBezTo>
                        <a:pt x="829" y="1200"/>
                        <a:pt x="832" y="1204"/>
                        <a:pt x="832" y="120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1" cap="flat">
                  <a:solidFill>
                    <a:srgbClr val="000000"/>
                  </a:solidFill>
                  <a:prstDash val="solid"/>
                  <a:bevel/>
                </a:ln>
              </p:spPr>
              <p:txBody>
                <a:bodyPr vert="horz" wrap="square" lIns="86875" tIns="43438" rIns="86875" bIns="43438" numCol="1" anchor="t" anchorCtr="0" compatLnSpc="1"/>
                <a:lstStyle/>
                <a:p>
                  <a:endParaRPr lang="zh-CN" altLang="en-US" sz="1710"/>
                </a:p>
              </p:txBody>
            </p:sp>
            <p:sp>
              <p:nvSpPr>
                <p:cNvPr id="69" name="Freeform 18"/>
                <p:cNvSpPr>
                  <a:spLocks noEditPoints="1"/>
                </p:cNvSpPr>
                <p:nvPr/>
              </p:nvSpPr>
              <p:spPr bwMode="auto">
                <a:xfrm>
                  <a:off x="2387" y="2230"/>
                  <a:ext cx="764" cy="1306"/>
                </a:xfrm>
                <a:custGeom>
                  <a:avLst/>
                  <a:gdLst>
                    <a:gd name="T0" fmla="*/ 118 w 1108"/>
                    <a:gd name="T1" fmla="*/ 34 h 1796"/>
                    <a:gd name="T2" fmla="*/ 113 w 1108"/>
                    <a:gd name="T3" fmla="*/ 50 h 1796"/>
                    <a:gd name="T4" fmla="*/ 1 w 1108"/>
                    <a:gd name="T5" fmla="*/ 6 h 1796"/>
                    <a:gd name="T6" fmla="*/ 179 w 1108"/>
                    <a:gd name="T7" fmla="*/ 56 h 1796"/>
                    <a:gd name="T8" fmla="*/ 286 w 1108"/>
                    <a:gd name="T9" fmla="*/ 111 h 1796"/>
                    <a:gd name="T10" fmla="*/ 172 w 1108"/>
                    <a:gd name="T11" fmla="*/ 71 h 1796"/>
                    <a:gd name="T12" fmla="*/ 179 w 1108"/>
                    <a:gd name="T13" fmla="*/ 56 h 1796"/>
                    <a:gd name="T14" fmla="*/ 416 w 1108"/>
                    <a:gd name="T15" fmla="*/ 173 h 1796"/>
                    <a:gd name="T16" fmla="*/ 438 w 1108"/>
                    <a:gd name="T17" fmla="*/ 199 h 1796"/>
                    <a:gd name="T18" fmla="*/ 409 w 1108"/>
                    <a:gd name="T19" fmla="*/ 187 h 1796"/>
                    <a:gd name="T20" fmla="*/ 328 w 1108"/>
                    <a:gd name="T21" fmla="*/ 134 h 1796"/>
                    <a:gd name="T22" fmla="*/ 489 w 1108"/>
                    <a:gd name="T23" fmla="*/ 224 h 1796"/>
                    <a:gd name="T24" fmla="*/ 578 w 1108"/>
                    <a:gd name="T25" fmla="*/ 293 h 1796"/>
                    <a:gd name="T26" fmla="*/ 568 w 1108"/>
                    <a:gd name="T27" fmla="*/ 305 h 1796"/>
                    <a:gd name="T28" fmla="*/ 479 w 1108"/>
                    <a:gd name="T29" fmla="*/ 237 h 1796"/>
                    <a:gd name="T30" fmla="*/ 489 w 1108"/>
                    <a:gd name="T31" fmla="*/ 224 h 1796"/>
                    <a:gd name="T32" fmla="*/ 643 w 1108"/>
                    <a:gd name="T33" fmla="*/ 347 h 1796"/>
                    <a:gd name="T34" fmla="*/ 707 w 1108"/>
                    <a:gd name="T35" fmla="*/ 425 h 1796"/>
                    <a:gd name="T36" fmla="*/ 632 w 1108"/>
                    <a:gd name="T37" fmla="*/ 360 h 1796"/>
                    <a:gd name="T38" fmla="*/ 616 w 1108"/>
                    <a:gd name="T39" fmla="*/ 335 h 1796"/>
                    <a:gd name="T40" fmla="*/ 751 w 1108"/>
                    <a:gd name="T41" fmla="*/ 461 h 1796"/>
                    <a:gd name="T42" fmla="*/ 820 w 1108"/>
                    <a:gd name="T43" fmla="*/ 560 h 1796"/>
                    <a:gd name="T44" fmla="*/ 738 w 1108"/>
                    <a:gd name="T45" fmla="*/ 471 h 1796"/>
                    <a:gd name="T46" fmla="*/ 751 w 1108"/>
                    <a:gd name="T47" fmla="*/ 461 h 1796"/>
                    <a:gd name="T48" fmla="*/ 907 w 1108"/>
                    <a:gd name="T49" fmla="*/ 677 h 1796"/>
                    <a:gd name="T50" fmla="*/ 914 w 1108"/>
                    <a:gd name="T51" fmla="*/ 708 h 1796"/>
                    <a:gd name="T52" fmla="*/ 894 w 1108"/>
                    <a:gd name="T53" fmla="*/ 686 h 1796"/>
                    <a:gd name="T54" fmla="*/ 846 w 1108"/>
                    <a:gd name="T55" fmla="*/ 599 h 1796"/>
                    <a:gd name="T56" fmla="*/ 947 w 1108"/>
                    <a:gd name="T57" fmla="*/ 754 h 1796"/>
                    <a:gd name="T58" fmla="*/ 995 w 1108"/>
                    <a:gd name="T59" fmla="*/ 856 h 1796"/>
                    <a:gd name="T60" fmla="*/ 980 w 1108"/>
                    <a:gd name="T61" fmla="*/ 862 h 1796"/>
                    <a:gd name="T62" fmla="*/ 933 w 1108"/>
                    <a:gd name="T63" fmla="*/ 761 h 1796"/>
                    <a:gd name="T64" fmla="*/ 947 w 1108"/>
                    <a:gd name="T65" fmla="*/ 754 h 1796"/>
                    <a:gd name="T66" fmla="*/ 1026 w 1108"/>
                    <a:gd name="T67" fmla="*/ 932 h 1796"/>
                    <a:gd name="T68" fmla="*/ 1047 w 1108"/>
                    <a:gd name="T69" fmla="*/ 1033 h 1796"/>
                    <a:gd name="T70" fmla="*/ 1011 w 1108"/>
                    <a:gd name="T71" fmla="*/ 938 h 1796"/>
                    <a:gd name="T72" fmla="*/ 1008 w 1108"/>
                    <a:gd name="T73" fmla="*/ 911 h 1796"/>
                    <a:gd name="T74" fmla="*/ 1070 w 1108"/>
                    <a:gd name="T75" fmla="*/ 1085 h 1796"/>
                    <a:gd name="T76" fmla="*/ 1086 w 1108"/>
                    <a:gd name="T77" fmla="*/ 1204 h 1796"/>
                    <a:gd name="T78" fmla="*/ 1054 w 1108"/>
                    <a:gd name="T79" fmla="*/ 1088 h 1796"/>
                    <a:gd name="T80" fmla="*/ 1070 w 1108"/>
                    <a:gd name="T81" fmla="*/ 1085 h 1796"/>
                    <a:gd name="T82" fmla="*/ 1108 w 1108"/>
                    <a:gd name="T83" fmla="*/ 1350 h 1796"/>
                    <a:gd name="T84" fmla="*/ 1100 w 1108"/>
                    <a:gd name="T85" fmla="*/ 1379 h 1796"/>
                    <a:gd name="T86" fmla="*/ 1093 w 1108"/>
                    <a:gd name="T87" fmla="*/ 1351 h 1796"/>
                    <a:gd name="T88" fmla="*/ 1091 w 1108"/>
                    <a:gd name="T89" fmla="*/ 1252 h 1796"/>
                    <a:gd name="T90" fmla="*/ 1108 w 1108"/>
                    <a:gd name="T91" fmla="*/ 1435 h 1796"/>
                    <a:gd name="T92" fmla="*/ 1102 w 1108"/>
                    <a:gd name="T93" fmla="*/ 1548 h 1796"/>
                    <a:gd name="T94" fmla="*/ 1086 w 1108"/>
                    <a:gd name="T95" fmla="*/ 1546 h 1796"/>
                    <a:gd name="T96" fmla="*/ 1092 w 1108"/>
                    <a:gd name="T97" fmla="*/ 1435 h 1796"/>
                    <a:gd name="T98" fmla="*/ 1108 w 1108"/>
                    <a:gd name="T99" fmla="*/ 1435 h 1796"/>
                    <a:gd name="T100" fmla="*/ 1092 w 1108"/>
                    <a:gd name="T101" fmla="*/ 1642 h 1796"/>
                    <a:gd name="T102" fmla="*/ 1067 w 1108"/>
                    <a:gd name="T103" fmla="*/ 1729 h 1796"/>
                    <a:gd name="T104" fmla="*/ 1077 w 1108"/>
                    <a:gd name="T105" fmla="*/ 1641 h 1796"/>
                    <a:gd name="T106" fmla="*/ 1088 w 1108"/>
                    <a:gd name="T107" fmla="*/ 1603 h 1796"/>
                    <a:gd name="T108" fmla="*/ 1063 w 1108"/>
                    <a:gd name="T109" fmla="*/ 1785 h 1796"/>
                    <a:gd name="T110" fmla="*/ 1053 w 1108"/>
                    <a:gd name="T111" fmla="*/ 1795 h 1796"/>
                    <a:gd name="T112" fmla="*/ 1047 w 1108"/>
                    <a:gd name="T113" fmla="*/ 1782 h 1796"/>
                    <a:gd name="T114" fmla="*/ 1063 w 1108"/>
                    <a:gd name="T115" fmla="*/ 1785 h 17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1108" h="1796">
                      <a:moveTo>
                        <a:pt x="11" y="1"/>
                      </a:moveTo>
                      <a:lnTo>
                        <a:pt x="118" y="34"/>
                      </a:lnTo>
                      <a:cubicBezTo>
                        <a:pt x="122" y="36"/>
                        <a:pt x="124" y="40"/>
                        <a:pt x="123" y="44"/>
                      </a:cubicBezTo>
                      <a:cubicBezTo>
                        <a:pt x="122" y="49"/>
                        <a:pt x="117" y="51"/>
                        <a:pt x="113" y="50"/>
                      </a:cubicBezTo>
                      <a:lnTo>
                        <a:pt x="6" y="16"/>
                      </a:lnTo>
                      <a:cubicBezTo>
                        <a:pt x="2" y="15"/>
                        <a:pt x="0" y="10"/>
                        <a:pt x="1" y="6"/>
                      </a:cubicBezTo>
                      <a:cubicBezTo>
                        <a:pt x="2" y="2"/>
                        <a:pt x="7" y="0"/>
                        <a:pt x="11" y="1"/>
                      </a:cubicBezTo>
                      <a:close/>
                      <a:moveTo>
                        <a:pt x="179" y="56"/>
                      </a:moveTo>
                      <a:lnTo>
                        <a:pt x="282" y="100"/>
                      </a:lnTo>
                      <a:cubicBezTo>
                        <a:pt x="286" y="102"/>
                        <a:pt x="288" y="107"/>
                        <a:pt x="286" y="111"/>
                      </a:cubicBezTo>
                      <a:cubicBezTo>
                        <a:pt x="284" y="115"/>
                        <a:pt x="279" y="117"/>
                        <a:pt x="275" y="115"/>
                      </a:cubicBezTo>
                      <a:lnTo>
                        <a:pt x="172" y="71"/>
                      </a:lnTo>
                      <a:cubicBezTo>
                        <a:pt x="168" y="69"/>
                        <a:pt x="166" y="65"/>
                        <a:pt x="168" y="61"/>
                      </a:cubicBezTo>
                      <a:cubicBezTo>
                        <a:pt x="170" y="56"/>
                        <a:pt x="175" y="55"/>
                        <a:pt x="179" y="56"/>
                      </a:cubicBezTo>
                      <a:close/>
                      <a:moveTo>
                        <a:pt x="339" y="131"/>
                      </a:moveTo>
                      <a:lnTo>
                        <a:pt x="416" y="173"/>
                      </a:lnTo>
                      <a:lnTo>
                        <a:pt x="436" y="187"/>
                      </a:lnTo>
                      <a:cubicBezTo>
                        <a:pt x="440" y="190"/>
                        <a:pt x="441" y="195"/>
                        <a:pt x="438" y="199"/>
                      </a:cubicBezTo>
                      <a:cubicBezTo>
                        <a:pt x="436" y="202"/>
                        <a:pt x="431" y="203"/>
                        <a:pt x="427" y="200"/>
                      </a:cubicBezTo>
                      <a:lnTo>
                        <a:pt x="409" y="187"/>
                      </a:lnTo>
                      <a:lnTo>
                        <a:pt x="331" y="145"/>
                      </a:lnTo>
                      <a:cubicBezTo>
                        <a:pt x="327" y="143"/>
                        <a:pt x="326" y="138"/>
                        <a:pt x="328" y="134"/>
                      </a:cubicBezTo>
                      <a:cubicBezTo>
                        <a:pt x="330" y="130"/>
                        <a:pt x="335" y="129"/>
                        <a:pt x="339" y="131"/>
                      </a:cubicBezTo>
                      <a:close/>
                      <a:moveTo>
                        <a:pt x="489" y="224"/>
                      </a:moveTo>
                      <a:lnTo>
                        <a:pt x="534" y="256"/>
                      </a:lnTo>
                      <a:lnTo>
                        <a:pt x="578" y="293"/>
                      </a:lnTo>
                      <a:cubicBezTo>
                        <a:pt x="581" y="296"/>
                        <a:pt x="582" y="301"/>
                        <a:pt x="579" y="304"/>
                      </a:cubicBezTo>
                      <a:cubicBezTo>
                        <a:pt x="576" y="307"/>
                        <a:pt x="571" y="308"/>
                        <a:pt x="568" y="305"/>
                      </a:cubicBezTo>
                      <a:lnTo>
                        <a:pt x="525" y="269"/>
                      </a:lnTo>
                      <a:lnTo>
                        <a:pt x="479" y="237"/>
                      </a:lnTo>
                      <a:cubicBezTo>
                        <a:pt x="476" y="235"/>
                        <a:pt x="475" y="230"/>
                        <a:pt x="478" y="226"/>
                      </a:cubicBezTo>
                      <a:cubicBezTo>
                        <a:pt x="480" y="222"/>
                        <a:pt x="485" y="222"/>
                        <a:pt x="489" y="224"/>
                      </a:cubicBezTo>
                      <a:close/>
                      <a:moveTo>
                        <a:pt x="627" y="334"/>
                      </a:moveTo>
                      <a:lnTo>
                        <a:pt x="643" y="347"/>
                      </a:lnTo>
                      <a:lnTo>
                        <a:pt x="707" y="413"/>
                      </a:lnTo>
                      <a:cubicBezTo>
                        <a:pt x="710" y="417"/>
                        <a:pt x="710" y="422"/>
                        <a:pt x="707" y="425"/>
                      </a:cubicBezTo>
                      <a:cubicBezTo>
                        <a:pt x="703" y="428"/>
                        <a:pt x="698" y="428"/>
                        <a:pt x="695" y="425"/>
                      </a:cubicBezTo>
                      <a:lnTo>
                        <a:pt x="632" y="360"/>
                      </a:lnTo>
                      <a:lnTo>
                        <a:pt x="617" y="346"/>
                      </a:lnTo>
                      <a:cubicBezTo>
                        <a:pt x="613" y="343"/>
                        <a:pt x="613" y="338"/>
                        <a:pt x="616" y="335"/>
                      </a:cubicBezTo>
                      <a:cubicBezTo>
                        <a:pt x="618" y="332"/>
                        <a:pt x="623" y="331"/>
                        <a:pt x="627" y="334"/>
                      </a:cubicBezTo>
                      <a:close/>
                      <a:moveTo>
                        <a:pt x="751" y="461"/>
                      </a:moveTo>
                      <a:lnTo>
                        <a:pt x="821" y="548"/>
                      </a:lnTo>
                      <a:cubicBezTo>
                        <a:pt x="824" y="552"/>
                        <a:pt x="823" y="557"/>
                        <a:pt x="820" y="560"/>
                      </a:cubicBezTo>
                      <a:cubicBezTo>
                        <a:pt x="816" y="562"/>
                        <a:pt x="811" y="562"/>
                        <a:pt x="808" y="558"/>
                      </a:cubicBezTo>
                      <a:lnTo>
                        <a:pt x="738" y="471"/>
                      </a:lnTo>
                      <a:cubicBezTo>
                        <a:pt x="736" y="467"/>
                        <a:pt x="736" y="462"/>
                        <a:pt x="740" y="460"/>
                      </a:cubicBezTo>
                      <a:cubicBezTo>
                        <a:pt x="743" y="457"/>
                        <a:pt x="748" y="457"/>
                        <a:pt x="751" y="461"/>
                      </a:cubicBezTo>
                      <a:close/>
                      <a:moveTo>
                        <a:pt x="858" y="602"/>
                      </a:moveTo>
                      <a:lnTo>
                        <a:pt x="907" y="677"/>
                      </a:lnTo>
                      <a:lnTo>
                        <a:pt x="918" y="697"/>
                      </a:lnTo>
                      <a:cubicBezTo>
                        <a:pt x="920" y="701"/>
                        <a:pt x="918" y="706"/>
                        <a:pt x="914" y="708"/>
                      </a:cubicBezTo>
                      <a:cubicBezTo>
                        <a:pt x="910" y="710"/>
                        <a:pt x="906" y="708"/>
                        <a:pt x="903" y="704"/>
                      </a:cubicBezTo>
                      <a:lnTo>
                        <a:pt x="894" y="686"/>
                      </a:lnTo>
                      <a:lnTo>
                        <a:pt x="844" y="610"/>
                      </a:lnTo>
                      <a:cubicBezTo>
                        <a:pt x="842" y="607"/>
                        <a:pt x="843" y="602"/>
                        <a:pt x="846" y="599"/>
                      </a:cubicBezTo>
                      <a:cubicBezTo>
                        <a:pt x="850" y="597"/>
                        <a:pt x="855" y="598"/>
                        <a:pt x="858" y="602"/>
                      </a:cubicBezTo>
                      <a:close/>
                      <a:moveTo>
                        <a:pt x="947" y="754"/>
                      </a:moveTo>
                      <a:lnTo>
                        <a:pt x="973" y="802"/>
                      </a:lnTo>
                      <a:lnTo>
                        <a:pt x="995" y="856"/>
                      </a:lnTo>
                      <a:cubicBezTo>
                        <a:pt x="996" y="860"/>
                        <a:pt x="994" y="865"/>
                        <a:pt x="990" y="866"/>
                      </a:cubicBezTo>
                      <a:cubicBezTo>
                        <a:pt x="986" y="868"/>
                        <a:pt x="982" y="866"/>
                        <a:pt x="980" y="862"/>
                      </a:cubicBezTo>
                      <a:lnTo>
                        <a:pt x="958" y="809"/>
                      </a:lnTo>
                      <a:lnTo>
                        <a:pt x="933" y="761"/>
                      </a:lnTo>
                      <a:cubicBezTo>
                        <a:pt x="931" y="757"/>
                        <a:pt x="933" y="752"/>
                        <a:pt x="937" y="750"/>
                      </a:cubicBezTo>
                      <a:cubicBezTo>
                        <a:pt x="940" y="748"/>
                        <a:pt x="945" y="750"/>
                        <a:pt x="947" y="754"/>
                      </a:cubicBezTo>
                      <a:close/>
                      <a:moveTo>
                        <a:pt x="1019" y="915"/>
                      </a:moveTo>
                      <a:lnTo>
                        <a:pt x="1026" y="932"/>
                      </a:lnTo>
                      <a:lnTo>
                        <a:pt x="1053" y="1023"/>
                      </a:lnTo>
                      <a:cubicBezTo>
                        <a:pt x="1054" y="1027"/>
                        <a:pt x="1052" y="1031"/>
                        <a:pt x="1047" y="1033"/>
                      </a:cubicBezTo>
                      <a:cubicBezTo>
                        <a:pt x="1043" y="1034"/>
                        <a:pt x="1039" y="1031"/>
                        <a:pt x="1037" y="1027"/>
                      </a:cubicBezTo>
                      <a:lnTo>
                        <a:pt x="1011" y="938"/>
                      </a:lnTo>
                      <a:lnTo>
                        <a:pt x="1004" y="921"/>
                      </a:lnTo>
                      <a:cubicBezTo>
                        <a:pt x="1002" y="917"/>
                        <a:pt x="1004" y="912"/>
                        <a:pt x="1008" y="911"/>
                      </a:cubicBezTo>
                      <a:cubicBezTo>
                        <a:pt x="1012" y="909"/>
                        <a:pt x="1017" y="911"/>
                        <a:pt x="1019" y="915"/>
                      </a:cubicBezTo>
                      <a:close/>
                      <a:moveTo>
                        <a:pt x="1070" y="1085"/>
                      </a:moveTo>
                      <a:lnTo>
                        <a:pt x="1092" y="1195"/>
                      </a:lnTo>
                      <a:cubicBezTo>
                        <a:pt x="1093" y="1199"/>
                        <a:pt x="1090" y="1203"/>
                        <a:pt x="1086" y="1204"/>
                      </a:cubicBezTo>
                      <a:cubicBezTo>
                        <a:pt x="1081" y="1205"/>
                        <a:pt x="1077" y="1202"/>
                        <a:pt x="1076" y="1198"/>
                      </a:cubicBezTo>
                      <a:lnTo>
                        <a:pt x="1054" y="1088"/>
                      </a:lnTo>
                      <a:cubicBezTo>
                        <a:pt x="1053" y="1084"/>
                        <a:pt x="1056" y="1080"/>
                        <a:pt x="1060" y="1079"/>
                      </a:cubicBezTo>
                      <a:cubicBezTo>
                        <a:pt x="1065" y="1078"/>
                        <a:pt x="1069" y="1081"/>
                        <a:pt x="1070" y="1085"/>
                      </a:cubicBezTo>
                      <a:close/>
                      <a:moveTo>
                        <a:pt x="1099" y="1259"/>
                      </a:moveTo>
                      <a:lnTo>
                        <a:pt x="1108" y="1350"/>
                      </a:lnTo>
                      <a:lnTo>
                        <a:pt x="1108" y="1371"/>
                      </a:lnTo>
                      <a:cubicBezTo>
                        <a:pt x="1108" y="1376"/>
                        <a:pt x="1105" y="1379"/>
                        <a:pt x="1100" y="1379"/>
                      </a:cubicBezTo>
                      <a:cubicBezTo>
                        <a:pt x="1096" y="1379"/>
                        <a:pt x="1092" y="1376"/>
                        <a:pt x="1092" y="1371"/>
                      </a:cubicBezTo>
                      <a:lnTo>
                        <a:pt x="1093" y="1351"/>
                      </a:lnTo>
                      <a:lnTo>
                        <a:pt x="1084" y="1261"/>
                      </a:lnTo>
                      <a:cubicBezTo>
                        <a:pt x="1083" y="1256"/>
                        <a:pt x="1086" y="1252"/>
                        <a:pt x="1091" y="1252"/>
                      </a:cubicBezTo>
                      <a:cubicBezTo>
                        <a:pt x="1095" y="1251"/>
                        <a:pt x="1099" y="1255"/>
                        <a:pt x="1099" y="1259"/>
                      </a:cubicBezTo>
                      <a:close/>
                      <a:moveTo>
                        <a:pt x="1108" y="1435"/>
                      </a:moveTo>
                      <a:lnTo>
                        <a:pt x="1107" y="1496"/>
                      </a:lnTo>
                      <a:lnTo>
                        <a:pt x="1102" y="1548"/>
                      </a:lnTo>
                      <a:cubicBezTo>
                        <a:pt x="1102" y="1552"/>
                        <a:pt x="1098" y="1556"/>
                        <a:pt x="1093" y="1555"/>
                      </a:cubicBezTo>
                      <a:cubicBezTo>
                        <a:pt x="1089" y="1555"/>
                        <a:pt x="1086" y="1551"/>
                        <a:pt x="1086" y="1546"/>
                      </a:cubicBezTo>
                      <a:lnTo>
                        <a:pt x="1091" y="1495"/>
                      </a:lnTo>
                      <a:lnTo>
                        <a:pt x="1092" y="1435"/>
                      </a:lnTo>
                      <a:cubicBezTo>
                        <a:pt x="1092" y="1431"/>
                        <a:pt x="1096" y="1427"/>
                        <a:pt x="1100" y="1427"/>
                      </a:cubicBezTo>
                      <a:cubicBezTo>
                        <a:pt x="1104" y="1427"/>
                        <a:pt x="1108" y="1431"/>
                        <a:pt x="1108" y="1435"/>
                      </a:cubicBezTo>
                      <a:close/>
                      <a:moveTo>
                        <a:pt x="1096" y="1612"/>
                      </a:moveTo>
                      <a:lnTo>
                        <a:pt x="1092" y="1642"/>
                      </a:lnTo>
                      <a:lnTo>
                        <a:pt x="1076" y="1723"/>
                      </a:lnTo>
                      <a:cubicBezTo>
                        <a:pt x="1075" y="1727"/>
                        <a:pt x="1071" y="1730"/>
                        <a:pt x="1067" y="1729"/>
                      </a:cubicBezTo>
                      <a:cubicBezTo>
                        <a:pt x="1062" y="1728"/>
                        <a:pt x="1059" y="1724"/>
                        <a:pt x="1060" y="1719"/>
                      </a:cubicBezTo>
                      <a:lnTo>
                        <a:pt x="1077" y="1641"/>
                      </a:lnTo>
                      <a:lnTo>
                        <a:pt x="1080" y="1610"/>
                      </a:lnTo>
                      <a:cubicBezTo>
                        <a:pt x="1080" y="1606"/>
                        <a:pt x="1084" y="1602"/>
                        <a:pt x="1088" y="1603"/>
                      </a:cubicBezTo>
                      <a:cubicBezTo>
                        <a:pt x="1093" y="1603"/>
                        <a:pt x="1096" y="1607"/>
                        <a:pt x="1096" y="1612"/>
                      </a:cubicBezTo>
                      <a:close/>
                      <a:moveTo>
                        <a:pt x="1063" y="1785"/>
                      </a:moveTo>
                      <a:lnTo>
                        <a:pt x="1062" y="1789"/>
                      </a:lnTo>
                      <a:cubicBezTo>
                        <a:pt x="1061" y="1793"/>
                        <a:pt x="1057" y="1796"/>
                        <a:pt x="1053" y="1795"/>
                      </a:cubicBezTo>
                      <a:cubicBezTo>
                        <a:pt x="1049" y="1794"/>
                        <a:pt x="1046" y="1790"/>
                        <a:pt x="1047" y="1786"/>
                      </a:cubicBezTo>
                      <a:lnTo>
                        <a:pt x="1047" y="1782"/>
                      </a:lnTo>
                      <a:cubicBezTo>
                        <a:pt x="1048" y="1778"/>
                        <a:pt x="1053" y="1775"/>
                        <a:pt x="1057" y="1776"/>
                      </a:cubicBezTo>
                      <a:cubicBezTo>
                        <a:pt x="1061" y="1777"/>
                        <a:pt x="1064" y="1781"/>
                        <a:pt x="1063" y="178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1" cap="flat">
                  <a:solidFill>
                    <a:srgbClr val="000000"/>
                  </a:solidFill>
                  <a:prstDash val="solid"/>
                  <a:bevel/>
                </a:ln>
              </p:spPr>
              <p:txBody>
                <a:bodyPr vert="horz" wrap="square" lIns="86875" tIns="43438" rIns="86875" bIns="43438" numCol="1" anchor="t" anchorCtr="0" compatLnSpc="1"/>
                <a:lstStyle/>
                <a:p>
                  <a:endParaRPr lang="zh-CN" altLang="en-US" sz="1710"/>
                </a:p>
              </p:txBody>
            </p:sp>
            <p:sp>
              <p:nvSpPr>
                <p:cNvPr id="70" name="Freeform 19"/>
                <p:cNvSpPr>
                  <a:spLocks noEditPoints="1"/>
                </p:cNvSpPr>
                <p:nvPr/>
              </p:nvSpPr>
              <p:spPr bwMode="auto">
                <a:xfrm>
                  <a:off x="2261" y="2742"/>
                  <a:ext cx="368" cy="625"/>
                </a:xfrm>
                <a:custGeom>
                  <a:avLst/>
                  <a:gdLst>
                    <a:gd name="T0" fmla="*/ 78 w 533"/>
                    <a:gd name="T1" fmla="*/ 22 h 859"/>
                    <a:gd name="T2" fmla="*/ 121 w 533"/>
                    <a:gd name="T3" fmla="*/ 49 h 859"/>
                    <a:gd name="T4" fmla="*/ 73 w 533"/>
                    <a:gd name="T5" fmla="*/ 37 h 859"/>
                    <a:gd name="T6" fmla="*/ 1 w 533"/>
                    <a:gd name="T7" fmla="*/ 6 h 859"/>
                    <a:gd name="T8" fmla="*/ 174 w 533"/>
                    <a:gd name="T9" fmla="*/ 69 h 859"/>
                    <a:gd name="T10" fmla="*/ 261 w 533"/>
                    <a:gd name="T11" fmla="*/ 123 h 859"/>
                    <a:gd name="T12" fmla="*/ 270 w 533"/>
                    <a:gd name="T13" fmla="*/ 142 h 859"/>
                    <a:gd name="T14" fmla="*/ 250 w 533"/>
                    <a:gd name="T15" fmla="*/ 134 h 859"/>
                    <a:gd name="T16" fmla="*/ 166 w 533"/>
                    <a:gd name="T17" fmla="*/ 83 h 859"/>
                    <a:gd name="T18" fmla="*/ 174 w 533"/>
                    <a:gd name="T19" fmla="*/ 69 h 859"/>
                    <a:gd name="T20" fmla="*/ 358 w 533"/>
                    <a:gd name="T21" fmla="*/ 214 h 859"/>
                    <a:gd name="T22" fmla="*/ 391 w 533"/>
                    <a:gd name="T23" fmla="*/ 259 h 859"/>
                    <a:gd name="T24" fmla="*/ 378 w 533"/>
                    <a:gd name="T25" fmla="*/ 269 h 859"/>
                    <a:gd name="T26" fmla="*/ 347 w 533"/>
                    <a:gd name="T27" fmla="*/ 225 h 859"/>
                    <a:gd name="T28" fmla="*/ 305 w 533"/>
                    <a:gd name="T29" fmla="*/ 175 h 859"/>
                    <a:gd name="T30" fmla="*/ 429 w 533"/>
                    <a:gd name="T31" fmla="*/ 311 h 859"/>
                    <a:gd name="T32" fmla="*/ 438 w 533"/>
                    <a:gd name="T33" fmla="*/ 324 h 859"/>
                    <a:gd name="T34" fmla="*/ 475 w 533"/>
                    <a:gd name="T35" fmla="*/ 423 h 859"/>
                    <a:gd name="T36" fmla="*/ 423 w 533"/>
                    <a:gd name="T37" fmla="*/ 331 h 859"/>
                    <a:gd name="T38" fmla="*/ 416 w 533"/>
                    <a:gd name="T39" fmla="*/ 321 h 859"/>
                    <a:gd name="T40" fmla="*/ 429 w 533"/>
                    <a:gd name="T41" fmla="*/ 311 h 859"/>
                    <a:gd name="T42" fmla="*/ 513 w 533"/>
                    <a:gd name="T43" fmla="*/ 509 h 859"/>
                    <a:gd name="T44" fmla="*/ 527 w 533"/>
                    <a:gd name="T45" fmla="*/ 584 h 859"/>
                    <a:gd name="T46" fmla="*/ 511 w 533"/>
                    <a:gd name="T47" fmla="*/ 585 h 859"/>
                    <a:gd name="T48" fmla="*/ 498 w 533"/>
                    <a:gd name="T49" fmla="*/ 514 h 859"/>
                    <a:gd name="T50" fmla="*/ 493 w 533"/>
                    <a:gd name="T51" fmla="*/ 468 h 859"/>
                    <a:gd name="T52" fmla="*/ 533 w 533"/>
                    <a:gd name="T53" fmla="*/ 648 h 859"/>
                    <a:gd name="T54" fmla="*/ 528 w 533"/>
                    <a:gd name="T55" fmla="*/ 761 h 859"/>
                    <a:gd name="T56" fmla="*/ 512 w 533"/>
                    <a:gd name="T57" fmla="*/ 759 h 859"/>
                    <a:gd name="T58" fmla="*/ 517 w 533"/>
                    <a:gd name="T59" fmla="*/ 648 h 859"/>
                    <a:gd name="T60" fmla="*/ 533 w 533"/>
                    <a:gd name="T61" fmla="*/ 648 h 859"/>
                    <a:gd name="T62" fmla="*/ 511 w 533"/>
                    <a:gd name="T63" fmla="*/ 852 h 859"/>
                    <a:gd name="T64" fmla="*/ 496 w 533"/>
                    <a:gd name="T65" fmla="*/ 849 h 859"/>
                    <a:gd name="T66" fmla="*/ 511 w 533"/>
                    <a:gd name="T67" fmla="*/ 815 h 8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533" h="859">
                      <a:moveTo>
                        <a:pt x="11" y="1"/>
                      </a:moveTo>
                      <a:lnTo>
                        <a:pt x="78" y="22"/>
                      </a:lnTo>
                      <a:lnTo>
                        <a:pt x="117" y="39"/>
                      </a:lnTo>
                      <a:cubicBezTo>
                        <a:pt x="121" y="41"/>
                        <a:pt x="123" y="45"/>
                        <a:pt x="121" y="49"/>
                      </a:cubicBezTo>
                      <a:cubicBezTo>
                        <a:pt x="119" y="53"/>
                        <a:pt x="115" y="55"/>
                        <a:pt x="111" y="54"/>
                      </a:cubicBezTo>
                      <a:lnTo>
                        <a:pt x="73" y="37"/>
                      </a:lnTo>
                      <a:lnTo>
                        <a:pt x="6" y="16"/>
                      </a:lnTo>
                      <a:cubicBezTo>
                        <a:pt x="2" y="15"/>
                        <a:pt x="0" y="10"/>
                        <a:pt x="1" y="6"/>
                      </a:cubicBezTo>
                      <a:cubicBezTo>
                        <a:pt x="2" y="2"/>
                        <a:pt x="7" y="0"/>
                        <a:pt x="11" y="1"/>
                      </a:cubicBezTo>
                      <a:close/>
                      <a:moveTo>
                        <a:pt x="174" y="69"/>
                      </a:moveTo>
                      <a:lnTo>
                        <a:pt x="260" y="122"/>
                      </a:lnTo>
                      <a:cubicBezTo>
                        <a:pt x="260" y="122"/>
                        <a:pt x="261" y="122"/>
                        <a:pt x="261" y="123"/>
                      </a:cubicBezTo>
                      <a:lnTo>
                        <a:pt x="270" y="131"/>
                      </a:lnTo>
                      <a:cubicBezTo>
                        <a:pt x="273" y="134"/>
                        <a:pt x="273" y="139"/>
                        <a:pt x="270" y="142"/>
                      </a:cubicBezTo>
                      <a:cubicBezTo>
                        <a:pt x="267" y="145"/>
                        <a:pt x="262" y="145"/>
                        <a:pt x="259" y="142"/>
                      </a:cubicBezTo>
                      <a:lnTo>
                        <a:pt x="250" y="134"/>
                      </a:lnTo>
                      <a:lnTo>
                        <a:pt x="251" y="135"/>
                      </a:lnTo>
                      <a:lnTo>
                        <a:pt x="166" y="83"/>
                      </a:lnTo>
                      <a:cubicBezTo>
                        <a:pt x="162" y="81"/>
                        <a:pt x="161" y="76"/>
                        <a:pt x="163" y="72"/>
                      </a:cubicBezTo>
                      <a:cubicBezTo>
                        <a:pt x="166" y="68"/>
                        <a:pt x="171" y="67"/>
                        <a:pt x="174" y="69"/>
                      </a:cubicBezTo>
                      <a:close/>
                      <a:moveTo>
                        <a:pt x="316" y="175"/>
                      </a:moveTo>
                      <a:lnTo>
                        <a:pt x="358" y="214"/>
                      </a:lnTo>
                      <a:cubicBezTo>
                        <a:pt x="358" y="214"/>
                        <a:pt x="359" y="214"/>
                        <a:pt x="359" y="215"/>
                      </a:cubicBezTo>
                      <a:lnTo>
                        <a:pt x="391" y="259"/>
                      </a:lnTo>
                      <a:cubicBezTo>
                        <a:pt x="394" y="263"/>
                        <a:pt x="393" y="268"/>
                        <a:pt x="389" y="270"/>
                      </a:cubicBezTo>
                      <a:cubicBezTo>
                        <a:pt x="386" y="273"/>
                        <a:pt x="381" y="272"/>
                        <a:pt x="378" y="269"/>
                      </a:cubicBezTo>
                      <a:lnTo>
                        <a:pt x="346" y="224"/>
                      </a:lnTo>
                      <a:lnTo>
                        <a:pt x="347" y="225"/>
                      </a:lnTo>
                      <a:lnTo>
                        <a:pt x="305" y="186"/>
                      </a:lnTo>
                      <a:cubicBezTo>
                        <a:pt x="302" y="183"/>
                        <a:pt x="302" y="178"/>
                        <a:pt x="305" y="175"/>
                      </a:cubicBezTo>
                      <a:cubicBezTo>
                        <a:pt x="308" y="172"/>
                        <a:pt x="313" y="172"/>
                        <a:pt x="316" y="175"/>
                      </a:cubicBezTo>
                      <a:close/>
                      <a:moveTo>
                        <a:pt x="429" y="311"/>
                      </a:moveTo>
                      <a:lnTo>
                        <a:pt x="437" y="323"/>
                      </a:lnTo>
                      <a:cubicBezTo>
                        <a:pt x="437" y="323"/>
                        <a:pt x="438" y="324"/>
                        <a:pt x="438" y="324"/>
                      </a:cubicBezTo>
                      <a:lnTo>
                        <a:pt x="479" y="413"/>
                      </a:lnTo>
                      <a:cubicBezTo>
                        <a:pt x="481" y="417"/>
                        <a:pt x="479" y="421"/>
                        <a:pt x="475" y="423"/>
                      </a:cubicBezTo>
                      <a:cubicBezTo>
                        <a:pt x="471" y="425"/>
                        <a:pt x="466" y="423"/>
                        <a:pt x="465" y="419"/>
                      </a:cubicBezTo>
                      <a:lnTo>
                        <a:pt x="423" y="331"/>
                      </a:lnTo>
                      <a:lnTo>
                        <a:pt x="424" y="332"/>
                      </a:lnTo>
                      <a:lnTo>
                        <a:pt x="416" y="321"/>
                      </a:lnTo>
                      <a:cubicBezTo>
                        <a:pt x="413" y="317"/>
                        <a:pt x="414" y="312"/>
                        <a:pt x="417" y="309"/>
                      </a:cubicBezTo>
                      <a:cubicBezTo>
                        <a:pt x="421" y="307"/>
                        <a:pt x="426" y="308"/>
                        <a:pt x="429" y="311"/>
                      </a:cubicBezTo>
                      <a:close/>
                      <a:moveTo>
                        <a:pt x="502" y="473"/>
                      </a:moveTo>
                      <a:lnTo>
                        <a:pt x="513" y="509"/>
                      </a:lnTo>
                      <a:lnTo>
                        <a:pt x="526" y="575"/>
                      </a:lnTo>
                      <a:lnTo>
                        <a:pt x="527" y="584"/>
                      </a:lnTo>
                      <a:cubicBezTo>
                        <a:pt x="528" y="588"/>
                        <a:pt x="525" y="592"/>
                        <a:pt x="520" y="593"/>
                      </a:cubicBezTo>
                      <a:cubicBezTo>
                        <a:pt x="516" y="593"/>
                        <a:pt x="512" y="590"/>
                        <a:pt x="511" y="585"/>
                      </a:cubicBezTo>
                      <a:lnTo>
                        <a:pt x="511" y="578"/>
                      </a:lnTo>
                      <a:lnTo>
                        <a:pt x="498" y="514"/>
                      </a:lnTo>
                      <a:lnTo>
                        <a:pt x="487" y="478"/>
                      </a:lnTo>
                      <a:cubicBezTo>
                        <a:pt x="486" y="474"/>
                        <a:pt x="488" y="469"/>
                        <a:pt x="493" y="468"/>
                      </a:cubicBezTo>
                      <a:cubicBezTo>
                        <a:pt x="497" y="467"/>
                        <a:pt x="501" y="469"/>
                        <a:pt x="502" y="473"/>
                      </a:cubicBezTo>
                      <a:close/>
                      <a:moveTo>
                        <a:pt x="533" y="648"/>
                      </a:moveTo>
                      <a:lnTo>
                        <a:pt x="532" y="713"/>
                      </a:lnTo>
                      <a:lnTo>
                        <a:pt x="528" y="761"/>
                      </a:lnTo>
                      <a:cubicBezTo>
                        <a:pt x="527" y="765"/>
                        <a:pt x="523" y="768"/>
                        <a:pt x="519" y="768"/>
                      </a:cubicBezTo>
                      <a:cubicBezTo>
                        <a:pt x="514" y="768"/>
                        <a:pt x="511" y="764"/>
                        <a:pt x="512" y="759"/>
                      </a:cubicBezTo>
                      <a:lnTo>
                        <a:pt x="516" y="712"/>
                      </a:lnTo>
                      <a:lnTo>
                        <a:pt x="517" y="648"/>
                      </a:lnTo>
                      <a:cubicBezTo>
                        <a:pt x="517" y="644"/>
                        <a:pt x="521" y="640"/>
                        <a:pt x="526" y="640"/>
                      </a:cubicBezTo>
                      <a:cubicBezTo>
                        <a:pt x="530" y="640"/>
                        <a:pt x="533" y="644"/>
                        <a:pt x="533" y="648"/>
                      </a:cubicBezTo>
                      <a:close/>
                      <a:moveTo>
                        <a:pt x="517" y="825"/>
                      </a:moveTo>
                      <a:lnTo>
                        <a:pt x="511" y="852"/>
                      </a:lnTo>
                      <a:cubicBezTo>
                        <a:pt x="510" y="856"/>
                        <a:pt x="506" y="859"/>
                        <a:pt x="502" y="858"/>
                      </a:cubicBezTo>
                      <a:cubicBezTo>
                        <a:pt x="498" y="857"/>
                        <a:pt x="495" y="853"/>
                        <a:pt x="496" y="849"/>
                      </a:cubicBezTo>
                      <a:lnTo>
                        <a:pt x="501" y="822"/>
                      </a:lnTo>
                      <a:cubicBezTo>
                        <a:pt x="502" y="817"/>
                        <a:pt x="506" y="814"/>
                        <a:pt x="511" y="815"/>
                      </a:cubicBezTo>
                      <a:cubicBezTo>
                        <a:pt x="515" y="816"/>
                        <a:pt x="518" y="820"/>
                        <a:pt x="517" y="82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1" cap="flat">
                  <a:solidFill>
                    <a:srgbClr val="000000"/>
                  </a:solidFill>
                  <a:prstDash val="solid"/>
                  <a:bevel/>
                </a:ln>
              </p:spPr>
              <p:txBody>
                <a:bodyPr vert="horz" wrap="square" lIns="86875" tIns="43438" rIns="86875" bIns="43438" numCol="1" anchor="t" anchorCtr="0" compatLnSpc="1"/>
                <a:lstStyle/>
                <a:p>
                  <a:endParaRPr lang="zh-CN" altLang="en-US" sz="1710"/>
                </a:p>
              </p:txBody>
            </p:sp>
          </p:grpSp>
          <p:grpSp>
            <p:nvGrpSpPr>
              <p:cNvPr id="63" name="Group 23"/>
              <p:cNvGrpSpPr/>
              <p:nvPr/>
            </p:nvGrpSpPr>
            <p:grpSpPr bwMode="auto">
              <a:xfrm>
                <a:off x="2718" y="2728"/>
                <a:ext cx="59" cy="62"/>
                <a:chOff x="2718" y="2728"/>
                <a:chExt cx="59" cy="62"/>
              </a:xfrm>
            </p:grpSpPr>
            <p:sp>
              <p:nvSpPr>
                <p:cNvPr id="66" name="Freeform 21"/>
                <p:cNvSpPr/>
                <p:nvPr/>
              </p:nvSpPr>
              <p:spPr bwMode="auto">
                <a:xfrm>
                  <a:off x="2718" y="2728"/>
                  <a:ext cx="59" cy="62"/>
                </a:xfrm>
                <a:custGeom>
                  <a:avLst/>
                  <a:gdLst>
                    <a:gd name="T0" fmla="*/ 52 w 85"/>
                    <a:gd name="T1" fmla="*/ 6 h 85"/>
                    <a:gd name="T2" fmla="*/ 6 w 85"/>
                    <a:gd name="T3" fmla="*/ 33 h 85"/>
                    <a:gd name="T4" fmla="*/ 33 w 85"/>
                    <a:gd name="T5" fmla="*/ 80 h 85"/>
                    <a:gd name="T6" fmla="*/ 80 w 85"/>
                    <a:gd name="T7" fmla="*/ 52 h 85"/>
                    <a:gd name="T8" fmla="*/ 52 w 85"/>
                    <a:gd name="T9" fmla="*/ 6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5" h="85">
                      <a:moveTo>
                        <a:pt x="52" y="6"/>
                      </a:moveTo>
                      <a:cubicBezTo>
                        <a:pt x="32" y="0"/>
                        <a:pt x="11" y="13"/>
                        <a:pt x="6" y="33"/>
                      </a:cubicBezTo>
                      <a:cubicBezTo>
                        <a:pt x="0" y="54"/>
                        <a:pt x="12" y="75"/>
                        <a:pt x="33" y="80"/>
                      </a:cubicBezTo>
                      <a:cubicBezTo>
                        <a:pt x="54" y="85"/>
                        <a:pt x="75" y="73"/>
                        <a:pt x="80" y="52"/>
                      </a:cubicBezTo>
                      <a:cubicBezTo>
                        <a:pt x="85" y="32"/>
                        <a:pt x="73" y="11"/>
                        <a:pt x="52" y="6"/>
                      </a:cubicBezTo>
                    </a:path>
                  </a:pathLst>
                </a:custGeom>
                <a:solidFill>
                  <a:srgbClr val="000000"/>
                </a:solidFill>
                <a:ln w="0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vert="horz" wrap="square" lIns="86875" tIns="43438" rIns="86875" bIns="43438" numCol="1" anchor="t" anchorCtr="0" compatLnSpc="1"/>
                <a:lstStyle/>
                <a:p>
                  <a:endParaRPr lang="zh-CN" altLang="en-US" sz="1710"/>
                </a:p>
              </p:txBody>
            </p:sp>
            <p:sp>
              <p:nvSpPr>
                <p:cNvPr id="67" name="Freeform 22"/>
                <p:cNvSpPr/>
                <p:nvPr/>
              </p:nvSpPr>
              <p:spPr bwMode="auto">
                <a:xfrm>
                  <a:off x="2718" y="2728"/>
                  <a:ext cx="59" cy="62"/>
                </a:xfrm>
                <a:custGeom>
                  <a:avLst/>
                  <a:gdLst>
                    <a:gd name="T0" fmla="*/ 36 w 59"/>
                    <a:gd name="T1" fmla="*/ 5 h 62"/>
                    <a:gd name="T2" fmla="*/ 4 w 59"/>
                    <a:gd name="T3" fmla="*/ 24 h 62"/>
                    <a:gd name="T4" fmla="*/ 23 w 59"/>
                    <a:gd name="T5" fmla="*/ 58 h 62"/>
                    <a:gd name="T6" fmla="*/ 55 w 59"/>
                    <a:gd name="T7" fmla="*/ 38 h 62"/>
                    <a:gd name="T8" fmla="*/ 36 w 59"/>
                    <a:gd name="T9" fmla="*/ 5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9" h="62">
                      <a:moveTo>
                        <a:pt x="36" y="5"/>
                      </a:moveTo>
                      <a:cubicBezTo>
                        <a:pt x="22" y="0"/>
                        <a:pt x="8" y="10"/>
                        <a:pt x="4" y="24"/>
                      </a:cubicBezTo>
                      <a:cubicBezTo>
                        <a:pt x="0" y="39"/>
                        <a:pt x="9" y="55"/>
                        <a:pt x="23" y="58"/>
                      </a:cubicBezTo>
                      <a:cubicBezTo>
                        <a:pt x="37" y="62"/>
                        <a:pt x="52" y="53"/>
                        <a:pt x="55" y="38"/>
                      </a:cubicBezTo>
                      <a:cubicBezTo>
                        <a:pt x="59" y="23"/>
                        <a:pt x="51" y="8"/>
                        <a:pt x="36" y="5"/>
                      </a:cubicBezTo>
                    </a:path>
                  </a:pathLst>
                </a:custGeom>
                <a:noFill/>
                <a:ln w="11" cap="rnd">
                  <a:solidFill>
                    <a:srgbClr val="000000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86875" tIns="43438" rIns="86875" bIns="43438" numCol="1" anchor="t" anchorCtr="0" compatLnSpc="1"/>
                <a:lstStyle/>
                <a:p>
                  <a:endParaRPr lang="zh-CN" altLang="en-US" sz="1710"/>
                </a:p>
              </p:txBody>
            </p:sp>
          </p:grpSp>
          <p:sp>
            <p:nvSpPr>
              <p:cNvPr id="64" name="Freeform 24"/>
              <p:cNvSpPr>
                <a:spLocks noEditPoints="1"/>
              </p:cNvSpPr>
              <p:nvPr/>
            </p:nvSpPr>
            <p:spPr bwMode="auto">
              <a:xfrm>
                <a:off x="2135" y="2307"/>
                <a:ext cx="1243" cy="902"/>
              </a:xfrm>
              <a:custGeom>
                <a:avLst/>
                <a:gdLst>
                  <a:gd name="T0" fmla="*/ 75 w 1803"/>
                  <a:gd name="T1" fmla="*/ 1179 h 1240"/>
                  <a:gd name="T2" fmla="*/ 1719 w 1803"/>
                  <a:gd name="T3" fmla="*/ 47 h 1240"/>
                  <a:gd name="T4" fmla="*/ 1730 w 1803"/>
                  <a:gd name="T5" fmla="*/ 49 h 1240"/>
                  <a:gd name="T6" fmla="*/ 1728 w 1803"/>
                  <a:gd name="T7" fmla="*/ 61 h 1240"/>
                  <a:gd name="T8" fmla="*/ 84 w 1803"/>
                  <a:gd name="T9" fmla="*/ 1192 h 1240"/>
                  <a:gd name="T10" fmla="*/ 72 w 1803"/>
                  <a:gd name="T11" fmla="*/ 1190 h 1240"/>
                  <a:gd name="T12" fmla="*/ 75 w 1803"/>
                  <a:gd name="T13" fmla="*/ 1179 h 1240"/>
                  <a:gd name="T14" fmla="*/ 200 w 1803"/>
                  <a:gd name="T15" fmla="*/ 1154 h 1240"/>
                  <a:gd name="T16" fmla="*/ 0 w 1803"/>
                  <a:gd name="T17" fmla="*/ 1240 h 1240"/>
                  <a:gd name="T18" fmla="*/ 152 w 1803"/>
                  <a:gd name="T19" fmla="*/ 1084 h 1240"/>
                  <a:gd name="T20" fmla="*/ 200 w 1803"/>
                  <a:gd name="T21" fmla="*/ 1154 h 1240"/>
                  <a:gd name="T22" fmla="*/ 1603 w 1803"/>
                  <a:gd name="T23" fmla="*/ 85 h 1240"/>
                  <a:gd name="T24" fmla="*/ 1803 w 1803"/>
                  <a:gd name="T25" fmla="*/ 0 h 1240"/>
                  <a:gd name="T26" fmla="*/ 1651 w 1803"/>
                  <a:gd name="T27" fmla="*/ 156 h 1240"/>
                  <a:gd name="T28" fmla="*/ 1603 w 1803"/>
                  <a:gd name="T29" fmla="*/ 85 h 1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803" h="1240">
                    <a:moveTo>
                      <a:pt x="75" y="1179"/>
                    </a:moveTo>
                    <a:lnTo>
                      <a:pt x="1719" y="47"/>
                    </a:lnTo>
                    <a:cubicBezTo>
                      <a:pt x="1723" y="45"/>
                      <a:pt x="1728" y="46"/>
                      <a:pt x="1730" y="49"/>
                    </a:cubicBezTo>
                    <a:cubicBezTo>
                      <a:pt x="1733" y="53"/>
                      <a:pt x="1732" y="58"/>
                      <a:pt x="1728" y="61"/>
                    </a:cubicBezTo>
                    <a:lnTo>
                      <a:pt x="84" y="1192"/>
                    </a:lnTo>
                    <a:cubicBezTo>
                      <a:pt x="80" y="1194"/>
                      <a:pt x="75" y="1193"/>
                      <a:pt x="72" y="1190"/>
                    </a:cubicBezTo>
                    <a:cubicBezTo>
                      <a:pt x="70" y="1186"/>
                      <a:pt x="71" y="1181"/>
                      <a:pt x="75" y="1179"/>
                    </a:cubicBezTo>
                    <a:close/>
                    <a:moveTo>
                      <a:pt x="200" y="1154"/>
                    </a:moveTo>
                    <a:lnTo>
                      <a:pt x="0" y="1240"/>
                    </a:lnTo>
                    <a:lnTo>
                      <a:pt x="152" y="1084"/>
                    </a:lnTo>
                    <a:lnTo>
                      <a:pt x="200" y="1154"/>
                    </a:lnTo>
                    <a:close/>
                    <a:moveTo>
                      <a:pt x="1603" y="85"/>
                    </a:moveTo>
                    <a:lnTo>
                      <a:pt x="1803" y="0"/>
                    </a:lnTo>
                    <a:lnTo>
                      <a:pt x="1651" y="156"/>
                    </a:lnTo>
                    <a:lnTo>
                      <a:pt x="1603" y="85"/>
                    </a:lnTo>
                    <a:close/>
                  </a:path>
                </a:pathLst>
              </a:custGeom>
              <a:solidFill>
                <a:srgbClr val="000000"/>
              </a:solidFill>
              <a:ln w="11" cap="flat">
                <a:solidFill>
                  <a:srgbClr val="000000"/>
                </a:solidFill>
                <a:prstDash val="solid"/>
                <a:bevel/>
              </a:ln>
            </p:spPr>
            <p:txBody>
              <a:bodyPr vert="horz" wrap="square" lIns="86875" tIns="43438" rIns="86875" bIns="43438" numCol="1" anchor="t" anchorCtr="0" compatLnSpc="1"/>
              <a:lstStyle/>
              <a:p>
                <a:endParaRPr lang="zh-CN" altLang="en-US" sz="1710"/>
              </a:p>
            </p:txBody>
          </p:sp>
          <p:sp>
            <p:nvSpPr>
              <p:cNvPr id="65" name="Freeform 25"/>
              <p:cNvSpPr>
                <a:spLocks noEditPoints="1"/>
              </p:cNvSpPr>
              <p:nvPr/>
            </p:nvSpPr>
            <p:spPr bwMode="auto">
              <a:xfrm>
                <a:off x="2540" y="2421"/>
                <a:ext cx="672" cy="1083"/>
              </a:xfrm>
              <a:custGeom>
                <a:avLst/>
                <a:gdLst>
                  <a:gd name="T0" fmla="*/ 16 w 974"/>
                  <a:gd name="T1" fmla="*/ 5 h 1490"/>
                  <a:gd name="T2" fmla="*/ 928 w 974"/>
                  <a:gd name="T3" fmla="*/ 1405 h 1490"/>
                  <a:gd name="T4" fmla="*/ 926 w 974"/>
                  <a:gd name="T5" fmla="*/ 1416 h 1490"/>
                  <a:gd name="T6" fmla="*/ 915 w 974"/>
                  <a:gd name="T7" fmla="*/ 1414 h 1490"/>
                  <a:gd name="T8" fmla="*/ 3 w 974"/>
                  <a:gd name="T9" fmla="*/ 14 h 1490"/>
                  <a:gd name="T10" fmla="*/ 5 w 974"/>
                  <a:gd name="T11" fmla="*/ 3 h 1490"/>
                  <a:gd name="T12" fmla="*/ 16 w 974"/>
                  <a:gd name="T13" fmla="*/ 5 h 1490"/>
                  <a:gd name="T14" fmla="*/ 893 w 974"/>
                  <a:gd name="T15" fmla="*/ 1288 h 1490"/>
                  <a:gd name="T16" fmla="*/ 974 w 974"/>
                  <a:gd name="T17" fmla="*/ 1490 h 1490"/>
                  <a:gd name="T18" fmla="*/ 822 w 974"/>
                  <a:gd name="T19" fmla="*/ 1334 h 1490"/>
                  <a:gd name="T20" fmla="*/ 893 w 974"/>
                  <a:gd name="T21" fmla="*/ 1288 h 14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74" h="1490">
                    <a:moveTo>
                      <a:pt x="16" y="5"/>
                    </a:moveTo>
                    <a:lnTo>
                      <a:pt x="928" y="1405"/>
                    </a:lnTo>
                    <a:cubicBezTo>
                      <a:pt x="931" y="1409"/>
                      <a:pt x="930" y="1413"/>
                      <a:pt x="926" y="1416"/>
                    </a:cubicBezTo>
                    <a:cubicBezTo>
                      <a:pt x="922" y="1418"/>
                      <a:pt x="917" y="1417"/>
                      <a:pt x="915" y="1414"/>
                    </a:cubicBezTo>
                    <a:lnTo>
                      <a:pt x="3" y="14"/>
                    </a:lnTo>
                    <a:cubicBezTo>
                      <a:pt x="0" y="10"/>
                      <a:pt x="1" y="5"/>
                      <a:pt x="5" y="3"/>
                    </a:cubicBezTo>
                    <a:cubicBezTo>
                      <a:pt x="9" y="0"/>
                      <a:pt x="14" y="1"/>
                      <a:pt x="16" y="5"/>
                    </a:cubicBezTo>
                    <a:close/>
                    <a:moveTo>
                      <a:pt x="893" y="1288"/>
                    </a:moveTo>
                    <a:lnTo>
                      <a:pt x="974" y="1490"/>
                    </a:lnTo>
                    <a:lnTo>
                      <a:pt x="822" y="1334"/>
                    </a:lnTo>
                    <a:lnTo>
                      <a:pt x="893" y="1288"/>
                    </a:lnTo>
                    <a:close/>
                  </a:path>
                </a:pathLst>
              </a:custGeom>
              <a:solidFill>
                <a:srgbClr val="000000"/>
              </a:solidFill>
              <a:ln w="11" cap="flat">
                <a:solidFill>
                  <a:srgbClr val="000000"/>
                </a:solidFill>
                <a:prstDash val="solid"/>
                <a:bevel/>
              </a:ln>
            </p:spPr>
            <p:txBody>
              <a:bodyPr vert="horz" wrap="square" lIns="86875" tIns="43438" rIns="86875" bIns="43438" numCol="1" anchor="t" anchorCtr="0" compatLnSpc="1"/>
              <a:lstStyle/>
              <a:p>
                <a:endParaRPr lang="zh-CN" altLang="en-US" sz="1710"/>
              </a:p>
            </p:txBody>
          </p:sp>
        </p:grpSp>
        <p:sp>
          <p:nvSpPr>
            <p:cNvPr id="31" name="Rectangle 27"/>
            <p:cNvSpPr>
              <a:spLocks noChangeArrowheads="1"/>
            </p:cNvSpPr>
            <p:nvPr/>
          </p:nvSpPr>
          <p:spPr bwMode="auto">
            <a:xfrm>
              <a:off x="2684" y="2529"/>
              <a:ext cx="73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9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x</a:t>
              </a:r>
              <a:endParaRPr lang="zh-CN" altLang="zh-CN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2" name="Rectangle 28"/>
            <p:cNvSpPr>
              <a:spLocks noChangeArrowheads="1"/>
            </p:cNvSpPr>
            <p:nvPr/>
          </p:nvSpPr>
          <p:spPr bwMode="auto">
            <a:xfrm>
              <a:off x="2751" y="2610"/>
              <a:ext cx="53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235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0</a:t>
              </a:r>
              <a:endParaRPr lang="zh-CN" altLang="zh-CN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3" name="Rectangle 29"/>
            <p:cNvSpPr>
              <a:spLocks noChangeArrowheads="1"/>
            </p:cNvSpPr>
            <p:nvPr/>
          </p:nvSpPr>
          <p:spPr bwMode="auto">
            <a:xfrm>
              <a:off x="2806" y="2610"/>
              <a:ext cx="27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235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endParaRPr lang="zh-CN" altLang="zh-CN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4" name="Rectangle 30"/>
            <p:cNvSpPr>
              <a:spLocks noChangeArrowheads="1"/>
            </p:cNvSpPr>
            <p:nvPr/>
          </p:nvSpPr>
          <p:spPr bwMode="auto">
            <a:xfrm>
              <a:off x="3181" y="3449"/>
              <a:ext cx="1196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71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变化率为零的方向</a:t>
              </a:r>
              <a:endParaRPr lang="zh-CN" altLang="en-US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5" name="Rectangle 31"/>
            <p:cNvSpPr>
              <a:spLocks noChangeArrowheads="1"/>
            </p:cNvSpPr>
            <p:nvPr/>
          </p:nvSpPr>
          <p:spPr bwMode="auto">
            <a:xfrm>
              <a:off x="4240" y="3507"/>
              <a:ext cx="25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14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endParaRPr lang="zh-CN" altLang="zh-CN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6" name="Rectangle 32"/>
            <p:cNvSpPr>
              <a:spLocks noChangeArrowheads="1"/>
            </p:cNvSpPr>
            <p:nvPr/>
          </p:nvSpPr>
          <p:spPr bwMode="auto">
            <a:xfrm>
              <a:off x="1802" y="3239"/>
              <a:ext cx="897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71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最速下降方向</a:t>
              </a:r>
              <a:endParaRPr lang="zh-CN" altLang="en-US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7" name="Rectangle 33"/>
            <p:cNvSpPr>
              <a:spLocks noChangeArrowheads="1"/>
            </p:cNvSpPr>
            <p:nvPr/>
          </p:nvSpPr>
          <p:spPr bwMode="auto">
            <a:xfrm>
              <a:off x="2596" y="3297"/>
              <a:ext cx="25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14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endParaRPr lang="zh-CN" altLang="zh-CN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8" name="Freeform 34"/>
            <p:cNvSpPr>
              <a:spLocks noEditPoints="1"/>
            </p:cNvSpPr>
            <p:nvPr/>
          </p:nvSpPr>
          <p:spPr bwMode="auto">
            <a:xfrm>
              <a:off x="2650" y="2747"/>
              <a:ext cx="105" cy="751"/>
            </a:xfrm>
            <a:custGeom>
              <a:avLst/>
              <a:gdLst>
                <a:gd name="T0" fmla="*/ 152 w 152"/>
                <a:gd name="T1" fmla="*/ 9 h 1033"/>
                <a:gd name="T2" fmla="*/ 36 w 152"/>
                <a:gd name="T3" fmla="*/ 939 h 1033"/>
                <a:gd name="T4" fmla="*/ 27 w 152"/>
                <a:gd name="T5" fmla="*/ 946 h 1033"/>
                <a:gd name="T6" fmla="*/ 20 w 152"/>
                <a:gd name="T7" fmla="*/ 937 h 1033"/>
                <a:gd name="T8" fmla="*/ 136 w 152"/>
                <a:gd name="T9" fmla="*/ 7 h 1033"/>
                <a:gd name="T10" fmla="*/ 145 w 152"/>
                <a:gd name="T11" fmla="*/ 0 h 1033"/>
                <a:gd name="T12" fmla="*/ 152 w 152"/>
                <a:gd name="T13" fmla="*/ 9 h 1033"/>
                <a:gd name="T14" fmla="*/ 85 w 152"/>
                <a:gd name="T15" fmla="*/ 827 h 1033"/>
                <a:gd name="T16" fmla="*/ 16 w 152"/>
                <a:gd name="T17" fmla="*/ 1033 h 1033"/>
                <a:gd name="T18" fmla="*/ 0 w 152"/>
                <a:gd name="T19" fmla="*/ 816 h 1033"/>
                <a:gd name="T20" fmla="*/ 85 w 152"/>
                <a:gd name="T21" fmla="*/ 827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2" h="1033">
                  <a:moveTo>
                    <a:pt x="152" y="9"/>
                  </a:moveTo>
                  <a:lnTo>
                    <a:pt x="36" y="939"/>
                  </a:lnTo>
                  <a:cubicBezTo>
                    <a:pt x="35" y="943"/>
                    <a:pt x="31" y="946"/>
                    <a:pt x="27" y="946"/>
                  </a:cubicBezTo>
                  <a:cubicBezTo>
                    <a:pt x="22" y="945"/>
                    <a:pt x="19" y="941"/>
                    <a:pt x="20" y="937"/>
                  </a:cubicBezTo>
                  <a:lnTo>
                    <a:pt x="136" y="7"/>
                  </a:lnTo>
                  <a:cubicBezTo>
                    <a:pt x="136" y="3"/>
                    <a:pt x="140" y="0"/>
                    <a:pt x="145" y="0"/>
                  </a:cubicBezTo>
                  <a:cubicBezTo>
                    <a:pt x="149" y="1"/>
                    <a:pt x="152" y="5"/>
                    <a:pt x="152" y="9"/>
                  </a:cubicBezTo>
                  <a:close/>
                  <a:moveTo>
                    <a:pt x="85" y="827"/>
                  </a:moveTo>
                  <a:lnTo>
                    <a:pt x="16" y="1033"/>
                  </a:lnTo>
                  <a:lnTo>
                    <a:pt x="0" y="816"/>
                  </a:lnTo>
                  <a:lnTo>
                    <a:pt x="85" y="827"/>
                  </a:lnTo>
                  <a:close/>
                </a:path>
              </a:pathLst>
            </a:custGeom>
            <a:solidFill>
              <a:srgbClr val="000000"/>
            </a:solidFill>
            <a:ln w="11" cap="flat">
              <a:solidFill>
                <a:srgbClr val="000000"/>
              </a:solidFill>
              <a:prstDash val="solid"/>
              <a:bevel/>
            </a:ln>
          </p:spPr>
          <p:txBody>
            <a:bodyPr vert="horz" wrap="square" lIns="86875" tIns="43438" rIns="86875" bIns="43438" numCol="1" anchor="t" anchorCtr="0" compatLnSpc="1"/>
            <a:lstStyle/>
            <a:p>
              <a:endParaRPr lang="zh-CN" altLang="en-US" sz="1710"/>
            </a:p>
          </p:txBody>
        </p:sp>
        <p:sp>
          <p:nvSpPr>
            <p:cNvPr id="39" name="Rectangle 35"/>
            <p:cNvSpPr>
              <a:spLocks noChangeArrowheads="1"/>
            </p:cNvSpPr>
            <p:nvPr/>
          </p:nvSpPr>
          <p:spPr bwMode="auto">
            <a:xfrm>
              <a:off x="2398" y="3518"/>
              <a:ext cx="598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71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下降方向</a:t>
              </a:r>
              <a:endParaRPr lang="zh-CN" altLang="en-US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0" name="Rectangle 36"/>
            <p:cNvSpPr>
              <a:spLocks noChangeArrowheads="1"/>
            </p:cNvSpPr>
            <p:nvPr/>
          </p:nvSpPr>
          <p:spPr bwMode="auto">
            <a:xfrm>
              <a:off x="2927" y="3577"/>
              <a:ext cx="25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14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endParaRPr lang="zh-CN" altLang="zh-CN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1" name="Freeform 37"/>
            <p:cNvSpPr>
              <a:spLocks noEditPoints="1"/>
            </p:cNvSpPr>
            <p:nvPr/>
          </p:nvSpPr>
          <p:spPr bwMode="auto">
            <a:xfrm>
              <a:off x="2743" y="2746"/>
              <a:ext cx="641" cy="152"/>
            </a:xfrm>
            <a:custGeom>
              <a:avLst/>
              <a:gdLst>
                <a:gd name="T0" fmla="*/ 10 w 930"/>
                <a:gd name="T1" fmla="*/ 1 h 208"/>
                <a:gd name="T2" fmla="*/ 838 w 930"/>
                <a:gd name="T3" fmla="*/ 180 h 208"/>
                <a:gd name="T4" fmla="*/ 844 w 930"/>
                <a:gd name="T5" fmla="*/ 189 h 208"/>
                <a:gd name="T6" fmla="*/ 835 w 930"/>
                <a:gd name="T7" fmla="*/ 195 h 208"/>
                <a:gd name="T8" fmla="*/ 7 w 930"/>
                <a:gd name="T9" fmla="*/ 17 h 208"/>
                <a:gd name="T10" fmla="*/ 1 w 930"/>
                <a:gd name="T11" fmla="*/ 8 h 208"/>
                <a:gd name="T12" fmla="*/ 10 w 930"/>
                <a:gd name="T13" fmla="*/ 1 h 208"/>
                <a:gd name="T14" fmla="*/ 731 w 930"/>
                <a:gd name="T15" fmla="*/ 121 h 208"/>
                <a:gd name="T16" fmla="*/ 930 w 930"/>
                <a:gd name="T17" fmla="*/ 208 h 208"/>
                <a:gd name="T18" fmla="*/ 713 w 930"/>
                <a:gd name="T19" fmla="*/ 204 h 208"/>
                <a:gd name="T20" fmla="*/ 731 w 930"/>
                <a:gd name="T21" fmla="*/ 121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30" h="208">
                  <a:moveTo>
                    <a:pt x="10" y="1"/>
                  </a:moveTo>
                  <a:lnTo>
                    <a:pt x="838" y="180"/>
                  </a:lnTo>
                  <a:cubicBezTo>
                    <a:pt x="843" y="181"/>
                    <a:pt x="845" y="185"/>
                    <a:pt x="844" y="189"/>
                  </a:cubicBezTo>
                  <a:cubicBezTo>
                    <a:pt x="843" y="193"/>
                    <a:pt x="839" y="196"/>
                    <a:pt x="835" y="195"/>
                  </a:cubicBezTo>
                  <a:lnTo>
                    <a:pt x="7" y="17"/>
                  </a:lnTo>
                  <a:cubicBezTo>
                    <a:pt x="3" y="16"/>
                    <a:pt x="0" y="12"/>
                    <a:pt x="1" y="8"/>
                  </a:cubicBezTo>
                  <a:cubicBezTo>
                    <a:pt x="2" y="3"/>
                    <a:pt x="6" y="0"/>
                    <a:pt x="10" y="1"/>
                  </a:cubicBezTo>
                  <a:close/>
                  <a:moveTo>
                    <a:pt x="731" y="121"/>
                  </a:moveTo>
                  <a:lnTo>
                    <a:pt x="930" y="208"/>
                  </a:lnTo>
                  <a:lnTo>
                    <a:pt x="713" y="204"/>
                  </a:lnTo>
                  <a:lnTo>
                    <a:pt x="731" y="121"/>
                  </a:lnTo>
                  <a:close/>
                </a:path>
              </a:pathLst>
            </a:custGeom>
            <a:solidFill>
              <a:srgbClr val="000000"/>
            </a:solidFill>
            <a:ln w="11" cap="flat">
              <a:solidFill>
                <a:srgbClr val="000000"/>
              </a:solidFill>
              <a:prstDash val="solid"/>
              <a:bevel/>
            </a:ln>
          </p:spPr>
          <p:txBody>
            <a:bodyPr vert="horz" wrap="square" lIns="86875" tIns="43438" rIns="86875" bIns="43438" numCol="1" anchor="t" anchorCtr="0" compatLnSpc="1"/>
            <a:lstStyle/>
            <a:p>
              <a:endParaRPr lang="zh-CN" altLang="en-US" sz="1710"/>
            </a:p>
          </p:txBody>
        </p:sp>
        <p:sp>
          <p:nvSpPr>
            <p:cNvPr id="42" name="Rectangle 38"/>
            <p:cNvSpPr>
              <a:spLocks noChangeArrowheads="1"/>
            </p:cNvSpPr>
            <p:nvPr/>
          </p:nvSpPr>
          <p:spPr bwMode="auto">
            <a:xfrm>
              <a:off x="3280" y="2925"/>
              <a:ext cx="299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71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上升</a:t>
              </a:r>
              <a:endParaRPr lang="zh-CN" altLang="en-US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3" name="Rectangle 39"/>
            <p:cNvSpPr>
              <a:spLocks noChangeArrowheads="1"/>
            </p:cNvSpPr>
            <p:nvPr/>
          </p:nvSpPr>
          <p:spPr bwMode="auto">
            <a:xfrm>
              <a:off x="3545" y="2925"/>
              <a:ext cx="299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71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方向</a:t>
              </a:r>
              <a:endParaRPr lang="zh-CN" altLang="en-US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4" name="Rectangle 40"/>
            <p:cNvSpPr>
              <a:spLocks noChangeArrowheads="1"/>
            </p:cNvSpPr>
            <p:nvPr/>
          </p:nvSpPr>
          <p:spPr bwMode="auto">
            <a:xfrm>
              <a:off x="3810" y="2983"/>
              <a:ext cx="25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14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endParaRPr lang="zh-CN" altLang="zh-CN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5" name="Rectangle 41"/>
            <p:cNvSpPr>
              <a:spLocks noChangeArrowheads="1"/>
            </p:cNvSpPr>
            <p:nvPr/>
          </p:nvSpPr>
          <p:spPr bwMode="auto">
            <a:xfrm>
              <a:off x="3357" y="2366"/>
              <a:ext cx="299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71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最速</a:t>
              </a:r>
              <a:endParaRPr lang="zh-CN" altLang="en-US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6" name="Rectangle 42"/>
            <p:cNvSpPr>
              <a:spLocks noChangeArrowheads="1"/>
            </p:cNvSpPr>
            <p:nvPr/>
          </p:nvSpPr>
          <p:spPr bwMode="auto">
            <a:xfrm>
              <a:off x="3622" y="2366"/>
              <a:ext cx="299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71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上升</a:t>
              </a:r>
              <a:endParaRPr lang="zh-CN" altLang="en-US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7" name="Rectangle 43"/>
            <p:cNvSpPr>
              <a:spLocks noChangeArrowheads="1"/>
            </p:cNvSpPr>
            <p:nvPr/>
          </p:nvSpPr>
          <p:spPr bwMode="auto">
            <a:xfrm>
              <a:off x="3887" y="2366"/>
              <a:ext cx="299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71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方向</a:t>
              </a:r>
              <a:endParaRPr lang="zh-CN" altLang="en-US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8" name="Rectangle 44"/>
            <p:cNvSpPr>
              <a:spLocks noChangeArrowheads="1"/>
            </p:cNvSpPr>
            <p:nvPr/>
          </p:nvSpPr>
          <p:spPr bwMode="auto">
            <a:xfrm>
              <a:off x="4152" y="2425"/>
              <a:ext cx="25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14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endParaRPr lang="zh-CN" altLang="zh-CN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9" name="Rectangle 45"/>
            <p:cNvSpPr>
              <a:spLocks noChangeArrowheads="1"/>
            </p:cNvSpPr>
            <p:nvPr/>
          </p:nvSpPr>
          <p:spPr bwMode="auto">
            <a:xfrm>
              <a:off x="1857" y="2913"/>
              <a:ext cx="149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71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－</a:t>
              </a:r>
              <a:endParaRPr lang="zh-CN" altLang="en-US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1989" y="2889"/>
              <a:ext cx="107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710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  <a:cs typeface="宋体" panose="02010600030101010101" pitchFamily="2" charset="-122"/>
                </a:rPr>
                <a:t>Ñ</a:t>
              </a:r>
              <a:endParaRPr lang="zh-CN" altLang="zh-CN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1" name="Rectangle 47"/>
            <p:cNvSpPr>
              <a:spLocks noChangeArrowheads="1"/>
            </p:cNvSpPr>
            <p:nvPr/>
          </p:nvSpPr>
          <p:spPr bwMode="auto">
            <a:xfrm>
              <a:off x="2089" y="2901"/>
              <a:ext cx="41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71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f</a:t>
              </a:r>
              <a:endParaRPr lang="zh-CN" altLang="zh-CN" sz="171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2" name="Rectangle 48"/>
            <p:cNvSpPr>
              <a:spLocks noChangeArrowheads="1"/>
            </p:cNvSpPr>
            <p:nvPr/>
          </p:nvSpPr>
          <p:spPr bwMode="auto">
            <a:xfrm>
              <a:off x="2122" y="2901"/>
              <a:ext cx="124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71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(x</a:t>
              </a:r>
              <a:endParaRPr lang="zh-CN" altLang="zh-CN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3" name="Rectangle 49"/>
            <p:cNvSpPr>
              <a:spLocks noChangeArrowheads="1"/>
            </p:cNvSpPr>
            <p:nvPr/>
          </p:nvSpPr>
          <p:spPr bwMode="auto">
            <a:xfrm>
              <a:off x="2221" y="2972"/>
              <a:ext cx="50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14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0</a:t>
              </a:r>
              <a:endParaRPr lang="zh-CN" altLang="zh-CN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4" name="Rectangle 50"/>
            <p:cNvSpPr>
              <a:spLocks noChangeArrowheads="1"/>
            </p:cNvSpPr>
            <p:nvPr/>
          </p:nvSpPr>
          <p:spPr bwMode="auto">
            <a:xfrm>
              <a:off x="2265" y="2901"/>
              <a:ext cx="50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71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lang="zh-CN" altLang="zh-CN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5" name="Rectangle 51"/>
            <p:cNvSpPr>
              <a:spLocks noChangeArrowheads="1"/>
            </p:cNvSpPr>
            <p:nvPr/>
          </p:nvSpPr>
          <p:spPr bwMode="auto">
            <a:xfrm>
              <a:off x="2309" y="2901"/>
              <a:ext cx="37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71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endParaRPr lang="zh-CN" altLang="zh-CN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6" name="Rectangle 52"/>
            <p:cNvSpPr>
              <a:spLocks noChangeArrowheads="1"/>
            </p:cNvSpPr>
            <p:nvPr/>
          </p:nvSpPr>
          <p:spPr bwMode="auto">
            <a:xfrm>
              <a:off x="2982" y="2145"/>
              <a:ext cx="107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710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  <a:cs typeface="宋体" panose="02010600030101010101" pitchFamily="2" charset="-122"/>
                </a:rPr>
                <a:t>Ñ</a:t>
              </a:r>
              <a:endParaRPr lang="zh-CN" altLang="zh-CN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7" name="Rectangle 53"/>
            <p:cNvSpPr>
              <a:spLocks noChangeArrowheads="1"/>
            </p:cNvSpPr>
            <p:nvPr/>
          </p:nvSpPr>
          <p:spPr bwMode="auto">
            <a:xfrm>
              <a:off x="3082" y="2157"/>
              <a:ext cx="41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71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f</a:t>
              </a:r>
              <a:endParaRPr lang="zh-CN" altLang="zh-CN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8" name="Rectangle 54"/>
            <p:cNvSpPr>
              <a:spLocks noChangeArrowheads="1"/>
            </p:cNvSpPr>
            <p:nvPr/>
          </p:nvSpPr>
          <p:spPr bwMode="auto">
            <a:xfrm>
              <a:off x="3115" y="2157"/>
              <a:ext cx="124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71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(x</a:t>
              </a:r>
              <a:endParaRPr lang="zh-CN" altLang="zh-CN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9" name="Rectangle 55"/>
            <p:cNvSpPr>
              <a:spLocks noChangeArrowheads="1"/>
            </p:cNvSpPr>
            <p:nvPr/>
          </p:nvSpPr>
          <p:spPr bwMode="auto">
            <a:xfrm>
              <a:off x="3214" y="2227"/>
              <a:ext cx="50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14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0</a:t>
              </a:r>
              <a:endParaRPr lang="zh-CN" altLang="zh-CN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0" name="Rectangle 56"/>
            <p:cNvSpPr>
              <a:spLocks noChangeArrowheads="1"/>
            </p:cNvSpPr>
            <p:nvPr/>
          </p:nvSpPr>
          <p:spPr bwMode="auto">
            <a:xfrm>
              <a:off x="3258" y="2157"/>
              <a:ext cx="50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71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lang="zh-CN" altLang="zh-CN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1" name="Rectangle 57"/>
            <p:cNvSpPr>
              <a:spLocks noChangeArrowheads="1"/>
            </p:cNvSpPr>
            <p:nvPr/>
          </p:nvSpPr>
          <p:spPr bwMode="auto">
            <a:xfrm>
              <a:off x="3302" y="2157"/>
              <a:ext cx="37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defTabSz="868771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71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endParaRPr lang="zh-CN" altLang="zh-CN" sz="171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CA745A5F-1B82-41AD-BE03-74BFD76933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4310" y="358661"/>
            <a:ext cx="2867912" cy="150963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 非线性规划</a:t>
            </a:r>
            <a:r>
              <a:rPr lang="en-US" altLang="zh-CN" dirty="0"/>
              <a:t>-</a:t>
            </a:r>
            <a:r>
              <a:rPr lang="zh-CN" altLang="en-US" dirty="0"/>
              <a:t>基本思路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zh-CN" altLang="en-US" sz="2280" dirty="0"/>
                  <a:t>设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8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80" b="1" i="1">
                            <a:latin typeface="Cambria Math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80" b="1" i="1">
                                <a:latin typeface="Cambria Math"/>
                              </a:rPr>
                              <m:t>𝒌</m:t>
                            </m:r>
                          </m:e>
                        </m:d>
                      </m:sup>
                    </m:sSup>
                    <m:r>
                      <a:rPr lang="en-US" altLang="zh-CN" sz="2280" b="1" i="1"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28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80" b="1" i="1">
                            <a:latin typeface="Cambria Math"/>
                          </a:rPr>
                          <m:t>𝑹</m:t>
                        </m:r>
                      </m:e>
                      <m:sup>
                        <m:r>
                          <a:rPr lang="en-US" altLang="zh-CN" sz="2280" b="1" i="1">
                            <a:latin typeface="Cambria Math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zh-CN" altLang="en-US" sz="2280" dirty="0"/>
                  <a:t>是某迭代算法的第</a:t>
                </a:r>
                <a14:m>
                  <m:oMath xmlns:m="http://schemas.openxmlformats.org/officeDocument/2006/math">
                    <m:r>
                      <a:rPr lang="en-US" altLang="zh-CN" sz="2280" b="1" i="1">
                        <a:latin typeface="Cambria Math"/>
                      </a:rPr>
                      <m:t>𝒌</m:t>
                    </m:r>
                  </m:oMath>
                </a14:m>
                <a:r>
                  <a:rPr lang="zh-CN" altLang="en-US" sz="2280" dirty="0"/>
                  <a:t>轮迭代点，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8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80" b="1" i="1">
                            <a:latin typeface="Cambria Math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80" b="1" i="1">
                                <a:latin typeface="Cambria Math"/>
                              </a:rPr>
                              <m:t>𝒌</m:t>
                            </m:r>
                            <m:r>
                              <a:rPr lang="en-US" altLang="zh-CN" sz="2280" b="1" i="1">
                                <a:latin typeface="Cambria Math"/>
                              </a:rPr>
                              <m:t>+</m:t>
                            </m:r>
                            <m:r>
                              <a:rPr lang="en-US" altLang="zh-CN" sz="2280" b="1" i="1">
                                <a:latin typeface="Cambria Math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en-US" altLang="zh-CN" sz="2280" b="1" i="1"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28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80" b="1" i="1">
                            <a:latin typeface="Cambria Math"/>
                          </a:rPr>
                          <m:t>𝑹</m:t>
                        </m:r>
                      </m:e>
                      <m:sup>
                        <m:r>
                          <a:rPr lang="en-US" altLang="zh-CN" sz="2280" b="1" i="1">
                            <a:latin typeface="Cambria Math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zh-CN" altLang="en-US" sz="2280" dirty="0"/>
                  <a:t>是第</a:t>
                </a:r>
                <a14:m>
                  <m:oMath xmlns:m="http://schemas.openxmlformats.org/officeDocument/2006/math">
                    <m:r>
                      <a:rPr lang="en-US" altLang="zh-CN" sz="2280" b="1" i="1">
                        <a:latin typeface="Cambria Math"/>
                      </a:rPr>
                      <m:t>𝒌</m:t>
                    </m:r>
                    <m:r>
                      <a:rPr lang="en-US" altLang="zh-CN" sz="2280" b="1" i="1">
                        <a:latin typeface="Cambria Math"/>
                      </a:rPr>
                      <m:t>+</m:t>
                    </m:r>
                    <m:r>
                      <a:rPr lang="en-US" altLang="zh-CN" sz="2280" b="1" i="1">
                        <a:latin typeface="Cambria Math"/>
                      </a:rPr>
                      <m:t>𝟏</m:t>
                    </m:r>
                  </m:oMath>
                </a14:m>
                <a:r>
                  <a:rPr lang="zh-CN" altLang="en-US" sz="2280" dirty="0"/>
                  <a:t>轮迭代点，令</a:t>
                </a:r>
                <a14:m>
                  <m:oMath xmlns:m="http://schemas.openxmlformats.org/officeDocument/2006/math">
                    <m:r>
                      <a:rPr lang="en-US" altLang="zh-CN" sz="2280" b="1">
                        <a:latin typeface="Cambria Math"/>
                      </a:rPr>
                      <m:t>𝚫</m:t>
                    </m:r>
                    <m:sSub>
                      <m:sSubPr>
                        <m:ctrlPr>
                          <a:rPr lang="en-US" altLang="zh-CN" sz="228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80" b="1" i="1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CN" sz="2280" b="1" i="1">
                            <a:latin typeface="Cambria Math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altLang="zh-CN" sz="2280" i="1" dirty="0"/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8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80" b="1" i="1" dirty="0">
                            <a:latin typeface="Cambria Math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sz="228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80" b="1" i="1" dirty="0">
                                <a:latin typeface="Cambria Math"/>
                              </a:rPr>
                              <m:t>𝒌</m:t>
                            </m:r>
                            <m:r>
                              <a:rPr lang="en-US" altLang="zh-CN" sz="2280" b="1" i="1" dirty="0">
                                <a:latin typeface="Cambria Math"/>
                              </a:rPr>
                              <m:t>+</m:t>
                            </m:r>
                            <m:r>
                              <a:rPr lang="en-US" altLang="zh-CN" sz="2280" b="1" i="1" dirty="0">
                                <a:latin typeface="Cambria Math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en-US" altLang="zh-CN" sz="2280" b="1" i="1" dirty="0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altLang="zh-CN" sz="228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80" b="1" i="1" dirty="0">
                            <a:latin typeface="Cambria Math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sz="228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80" b="1" i="1" dirty="0">
                                <a:latin typeface="Cambria Math"/>
                              </a:rPr>
                              <m:t>𝒌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CN" sz="2280" i="1" dirty="0"/>
                  <a:t>,</a:t>
                </a:r>
                <a:r>
                  <a:rPr lang="zh-CN" altLang="en-US" sz="2280" dirty="0"/>
                  <a:t>此时有</a:t>
                </a:r>
                <a:endParaRPr lang="en-US" altLang="zh-CN" sz="228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8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8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sz="228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8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𝒌</m:t>
                            </m:r>
                            <m:r>
                              <a:rPr lang="en-US" altLang="zh-CN" sz="228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a:rPr lang="en-US" altLang="zh-CN" sz="228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en-US" altLang="zh-CN" sz="2280" b="1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CN" sz="228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8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sz="228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8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𝒌</m:t>
                            </m:r>
                          </m:e>
                        </m:d>
                      </m:sup>
                    </m:sSup>
                    <m:r>
                      <a:rPr lang="en-US" altLang="zh-CN" sz="2280" b="1" i="1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US" altLang="zh-CN" sz="2280" b="1">
                        <a:solidFill>
                          <a:srgbClr val="FF0000"/>
                        </a:solidFill>
                        <a:latin typeface="Cambria Math"/>
                      </a:rPr>
                      <m:t>𝚫</m:t>
                    </m:r>
                    <m:sSub>
                      <m:sSubPr>
                        <m:ctrlPr>
                          <a:rPr lang="en-US" altLang="zh-CN" sz="228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8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CN" sz="228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altLang="zh-CN" sz="2280" b="1" i="1" dirty="0"/>
                  <a:t>,</a:t>
                </a:r>
              </a:p>
              <a:p>
                <a:r>
                  <a:rPr lang="zh-CN" altLang="en-US" sz="2280" b="1" dirty="0"/>
                  <a:t>由于</a:t>
                </a:r>
                <a14:m>
                  <m:oMath xmlns:m="http://schemas.openxmlformats.org/officeDocument/2006/math">
                    <m:r>
                      <a:rPr lang="en-US" altLang="zh-CN" sz="2280">
                        <a:latin typeface="Cambria Math"/>
                      </a:rPr>
                      <m:t>𝚫</m:t>
                    </m:r>
                    <m:sSub>
                      <m:sSubPr>
                        <m:ctrlPr>
                          <a:rPr lang="en-US" altLang="zh-CN" sz="228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80" i="1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CN" sz="2280" i="1">
                            <a:latin typeface="Cambria Math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zh-CN" altLang="en-US" sz="2280" b="1" dirty="0"/>
                  <a:t>是一个向量，且表示以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8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80" i="1">
                            <a:latin typeface="Cambria Math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sz="228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80" i="1">
                                <a:latin typeface="Cambria Math"/>
                              </a:rPr>
                              <m:t>𝒌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280" b="1" dirty="0"/>
                  <a:t>为起点</a:t>
                </a:r>
                <a:r>
                  <a:rPr lang="zh-CN" altLang="en-US" sz="2280" b="1" i="1" dirty="0"/>
                  <a:t>，</a:t>
                </a:r>
                <a:r>
                  <a:rPr lang="en-US" altLang="zh-CN" sz="228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8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80" i="1">
                            <a:latin typeface="Cambria Math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sz="228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80" i="1">
                                <a:latin typeface="Cambria Math"/>
                              </a:rPr>
                              <m:t>𝒌</m:t>
                            </m:r>
                            <m:r>
                              <a:rPr lang="en-US" altLang="zh-CN" sz="2280" i="1">
                                <a:latin typeface="Cambria Math"/>
                              </a:rPr>
                              <m:t>+</m:t>
                            </m:r>
                            <m:r>
                              <a:rPr lang="en-US" altLang="zh-CN" sz="2280" i="1">
                                <a:latin typeface="Cambria Math"/>
                              </a:rPr>
                              <m:t>𝟏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280" b="1" dirty="0"/>
                  <a:t>为终点的</a:t>
                </a:r>
                <a14:m>
                  <m:oMath xmlns:m="http://schemas.openxmlformats.org/officeDocument/2006/math">
                    <m:r>
                      <a:rPr lang="en-US" altLang="zh-CN" sz="2280" b="1" i="1">
                        <a:latin typeface="Cambria Math"/>
                      </a:rPr>
                      <m:t>𝒏</m:t>
                    </m:r>
                  </m:oMath>
                </a14:m>
                <a:r>
                  <a:rPr lang="zh-CN" altLang="en-US" sz="2280" b="1" dirty="0"/>
                  <a:t>维向量，如果令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8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80" b="1" i="1">
                            <a:latin typeface="Cambria Math"/>
                          </a:rPr>
                          <m:t>𝒑</m:t>
                        </m:r>
                      </m:e>
                      <m:sup>
                        <m:d>
                          <m:dPr>
                            <m:ctrlP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80" b="1" i="1">
                                <a:latin typeface="Cambria Math"/>
                              </a:rPr>
                              <m:t>𝒌</m:t>
                            </m:r>
                          </m:e>
                        </m:d>
                      </m:sup>
                    </m:sSup>
                    <m:r>
                      <a:rPr lang="en-US" altLang="zh-CN" sz="2280" b="1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CN" sz="228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80" i="1">
                            <a:latin typeface="Cambria Math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sz="228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80" i="1">
                                <a:latin typeface="Cambria Math"/>
                              </a:rPr>
                              <m:t>𝒌</m:t>
                            </m:r>
                            <m:r>
                              <a:rPr lang="en-US" altLang="zh-CN" sz="2280" i="1">
                                <a:latin typeface="Cambria Math"/>
                              </a:rPr>
                              <m:t>+</m:t>
                            </m:r>
                            <m:r>
                              <a:rPr lang="en-US" altLang="zh-CN" sz="2280" i="1">
                                <a:latin typeface="Cambria Math"/>
                              </a:rPr>
                              <m:t>𝟏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CN" sz="2280" b="1" dirty="0"/>
                  <a:t>/||</a:t>
                </a:r>
                <a:r>
                  <a:rPr lang="en-US" altLang="zh-CN" sz="228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8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80" i="1">
                            <a:latin typeface="Cambria Math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sz="228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80" i="1">
                                <a:latin typeface="Cambria Math"/>
                              </a:rPr>
                              <m:t>𝒌</m:t>
                            </m:r>
                            <m:r>
                              <a:rPr lang="en-US" altLang="zh-CN" sz="2280" i="1">
                                <a:latin typeface="Cambria Math"/>
                              </a:rPr>
                              <m:t>+</m:t>
                            </m:r>
                            <m:r>
                              <a:rPr lang="en-US" altLang="zh-CN" sz="2280" i="1">
                                <a:latin typeface="Cambria Math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en-US" altLang="zh-CN" sz="2280" b="1">
                        <a:latin typeface="Cambria Math"/>
                      </a:rPr>
                      <m:t>||</m:t>
                    </m:r>
                  </m:oMath>
                </a14:m>
                <a:r>
                  <a:rPr lang="en-US" altLang="zh-CN" sz="2280" b="1" dirty="0"/>
                  <a:t>,</a:t>
                </a:r>
                <a:r>
                  <a:rPr lang="zh-CN" altLang="en-US" sz="2280" b="1" dirty="0"/>
                  <a:t>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8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80" b="1" i="1" dirty="0">
                            <a:latin typeface="Cambria Math"/>
                          </a:rPr>
                          <m:t>𝒑</m:t>
                        </m:r>
                      </m:e>
                      <m:sup>
                        <m:d>
                          <m:dPr>
                            <m:ctrlPr>
                              <a:rPr lang="en-US" altLang="zh-CN" sz="228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80" b="1" i="1" dirty="0">
                                <a:latin typeface="Cambria Math"/>
                              </a:rPr>
                              <m:t>𝒌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280" b="1" dirty="0"/>
                  <a:t>为</a:t>
                </a:r>
                <a14:m>
                  <m:oMath xmlns:m="http://schemas.openxmlformats.org/officeDocument/2006/math">
                    <m:r>
                      <a:rPr lang="en-US" altLang="zh-CN" sz="2280">
                        <a:latin typeface="Cambria Math"/>
                      </a:rPr>
                      <m:t>𝚫</m:t>
                    </m:r>
                    <m:sSub>
                      <m:sSubPr>
                        <m:ctrlPr>
                          <a:rPr lang="en-US" altLang="zh-CN" sz="228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80" i="1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CN" sz="2280" i="1">
                            <a:latin typeface="Cambria Math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zh-CN" altLang="en-US" sz="2280" b="1" dirty="0"/>
                  <a:t>方向的单位向量，此时</a:t>
                </a:r>
                <a14:m>
                  <m:oMath xmlns:m="http://schemas.openxmlformats.org/officeDocument/2006/math">
                    <m:r>
                      <a:rPr lang="en-US" altLang="zh-CN" sz="2280">
                        <a:latin typeface="Cambria Math"/>
                      </a:rPr>
                      <m:t>𝚫</m:t>
                    </m:r>
                    <m:sSub>
                      <m:sSubPr>
                        <m:ctrlPr>
                          <a:rPr lang="en-US" altLang="zh-CN" sz="228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80" i="1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CN" sz="2280" i="1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CN" sz="2280" b="1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228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80" b="1" i="1">
                            <a:latin typeface="Cambria Math"/>
                          </a:rPr>
                          <m:t>𝝀</m:t>
                        </m:r>
                      </m:e>
                      <m:sub>
                        <m:r>
                          <a:rPr lang="en-US" altLang="zh-CN" sz="2280" b="1" i="1">
                            <a:latin typeface="Cambria Math"/>
                          </a:rPr>
                          <m:t>𝒌</m:t>
                        </m:r>
                      </m:sub>
                    </m:sSub>
                    <m:sSup>
                      <m:sSupPr>
                        <m:ctrlPr>
                          <a:rPr lang="en-US" altLang="zh-CN" sz="228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80" b="1" i="1">
                            <a:latin typeface="Cambria Math"/>
                          </a:rPr>
                          <m:t>𝒑</m:t>
                        </m:r>
                      </m:e>
                      <m:sup>
                        <m:d>
                          <m:dPr>
                            <m:ctrlP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80" b="1" i="1">
                                <a:latin typeface="Cambria Math"/>
                              </a:rPr>
                              <m:t>𝒌</m:t>
                            </m:r>
                          </m:e>
                        </m:d>
                      </m:sup>
                    </m:sSup>
                    <m:r>
                      <a:rPr lang="en-US" altLang="zh-CN" sz="2280" b="1">
                        <a:latin typeface="Cambria Math"/>
                      </a:rPr>
                      <m:t>,</m:t>
                    </m:r>
                  </m:oMath>
                </a14:m>
                <a:r>
                  <a:rPr lang="zh-CN" altLang="en-US" sz="2280" b="1" dirty="0"/>
                  <a:t>从而可以获得</a:t>
                </a:r>
                <a:r>
                  <a:rPr lang="zh-CN" altLang="en-US" sz="2280" b="1" dirty="0">
                    <a:solidFill>
                      <a:srgbClr val="FF0000"/>
                    </a:solidFill>
                  </a:rPr>
                  <a:t>求解非线性规划的基本迭代格式</a:t>
                </a:r>
                <a:endParaRPr lang="en-US" altLang="zh-CN" sz="228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28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8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8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8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altLang="zh-CN" sz="228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28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sup>
                      </m:sSup>
                      <m:r>
                        <a:rPr lang="en-US" altLang="zh-CN" sz="2280" b="1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altLang="zh-CN" sz="228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8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8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8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𝒌</m:t>
                              </m:r>
                            </m:e>
                          </m:d>
                        </m:sup>
                      </m:sSup>
                      <m:r>
                        <a:rPr lang="en-US" altLang="zh-CN" sz="2280" b="1" i="1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CN" sz="228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8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𝝀</m:t>
                          </m:r>
                        </m:e>
                        <m:sub>
                          <m:r>
                            <a:rPr lang="en-US" altLang="zh-CN" sz="228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𝒌</m:t>
                          </m:r>
                        </m:sub>
                      </m:sSub>
                      <m:sSup>
                        <m:sSupPr>
                          <m:ctrlPr>
                            <a:rPr lang="en-US" altLang="zh-CN" sz="228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8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8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8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𝒌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altLang="zh-CN" sz="2280" dirty="0"/>
              </a:p>
              <a:p>
                <a:r>
                  <a:rPr lang="zh-CN" altLang="en-US" sz="2280" dirty="0"/>
                  <a:t>这里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8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80" b="1" i="1">
                            <a:latin typeface="Cambria Math"/>
                          </a:rPr>
                          <m:t>𝝀</m:t>
                        </m:r>
                      </m:e>
                      <m:sub>
                        <m:r>
                          <a:rPr lang="en-US" altLang="zh-CN" sz="2280" b="1" i="1">
                            <a:latin typeface="Cambria Math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zh-CN" altLang="en-US" sz="2280" dirty="0"/>
                  <a:t>称为第</a:t>
                </a:r>
                <a14:m>
                  <m:oMath xmlns:m="http://schemas.openxmlformats.org/officeDocument/2006/math">
                    <m:r>
                      <a:rPr lang="en-US" altLang="zh-CN" sz="2280" b="1" i="1">
                        <a:latin typeface="Cambria Math"/>
                      </a:rPr>
                      <m:t>𝒌</m:t>
                    </m:r>
                  </m:oMath>
                </a14:m>
                <a:r>
                  <a:rPr lang="zh-CN" altLang="en-US" sz="2280" dirty="0"/>
                  <a:t>轮的步长，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8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80" b="1" i="1">
                            <a:latin typeface="Cambria Math"/>
                          </a:rPr>
                          <m:t>𝒑</m:t>
                        </m:r>
                      </m:e>
                      <m:sup>
                        <m:d>
                          <m:dPr>
                            <m:ctrlP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80" b="1" i="1">
                                <a:latin typeface="Cambria Math"/>
                              </a:rPr>
                              <m:t>𝒌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280" dirty="0"/>
                  <a:t>称为第</a:t>
                </a:r>
                <a14:m>
                  <m:oMath xmlns:m="http://schemas.openxmlformats.org/officeDocument/2006/math">
                    <m:r>
                      <a:rPr lang="en-US" altLang="zh-CN" sz="2280" b="1" i="1">
                        <a:latin typeface="Cambria Math"/>
                      </a:rPr>
                      <m:t>𝒌</m:t>
                    </m:r>
                  </m:oMath>
                </a14:m>
                <a:r>
                  <a:rPr lang="zh-CN" altLang="en-US" sz="2280" dirty="0"/>
                  <a:t>轮的搜索方向。由此可知，不同的步长因子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8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80" b="1" i="1">
                            <a:latin typeface="Cambria Math"/>
                          </a:rPr>
                          <m:t>𝝀</m:t>
                        </m:r>
                      </m:e>
                      <m:sub>
                        <m:r>
                          <a:rPr lang="en-US" altLang="zh-CN" sz="2280" b="1" i="1">
                            <a:latin typeface="Cambria Math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zh-CN" altLang="en-US" sz="2280" dirty="0"/>
                  <a:t>和不同的搜索方向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8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80" i="1">
                            <a:latin typeface="Cambria Math"/>
                          </a:rPr>
                          <m:t>𝒑</m:t>
                        </m:r>
                      </m:e>
                      <m:sup>
                        <m:d>
                          <m:dPr>
                            <m:ctrlPr>
                              <a:rPr lang="en-US" altLang="zh-CN" sz="228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80" i="1">
                                <a:latin typeface="Cambria Math"/>
                              </a:rPr>
                              <m:t>𝒌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280" dirty="0"/>
                  <a:t>构成了不同的方法，后续章节介绍如何确定步长因子和搜索方向</a:t>
                </a:r>
                <a:endParaRPr lang="en-US" altLang="zh-CN" sz="2280" dirty="0"/>
              </a:p>
              <a:p>
                <a:r>
                  <a:rPr lang="zh-CN" altLang="en-US" sz="2280" dirty="0"/>
                  <a:t>在最优化中，</a:t>
                </a:r>
                <a:r>
                  <a:rPr lang="zh-CN" altLang="en-US" sz="2280" dirty="0">
                    <a:solidFill>
                      <a:srgbClr val="FF0000"/>
                    </a:solidFill>
                  </a:rPr>
                  <a:t>搜索方向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8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8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𝒑</m:t>
                        </m:r>
                      </m:e>
                      <m:sup>
                        <m:d>
                          <m:dPr>
                            <m:ctrlPr>
                              <a:rPr lang="en-US" altLang="zh-CN" sz="228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8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𝒌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280" dirty="0">
                    <a:solidFill>
                      <a:srgbClr val="FF0000"/>
                    </a:solidFill>
                  </a:rPr>
                  <a:t>是目标函数</a:t>
                </a:r>
                <a14:m>
                  <m:oMath xmlns:m="http://schemas.openxmlformats.org/officeDocument/2006/math">
                    <m:r>
                      <a:rPr lang="en-US" altLang="zh-CN" sz="2280" b="1" i="1">
                        <a:solidFill>
                          <a:srgbClr val="FF0000"/>
                        </a:solidFill>
                        <a:latin typeface="Cambria Math"/>
                      </a:rPr>
                      <m:t>𝒇</m:t>
                    </m:r>
                  </m:oMath>
                </a14:m>
                <a:r>
                  <a:rPr lang="zh-CN" altLang="en-US" sz="2280" dirty="0">
                    <a:solidFill>
                      <a:srgbClr val="FF0000"/>
                    </a:solidFill>
                  </a:rPr>
                  <a:t>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8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8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sz="228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8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𝒌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280" dirty="0">
                    <a:solidFill>
                      <a:srgbClr val="FF0000"/>
                    </a:solidFill>
                  </a:rPr>
                  <a:t>处的下降方向</a:t>
                </a:r>
                <a:r>
                  <a:rPr lang="en-US" altLang="zh-CN" sz="2280" dirty="0">
                    <a:solidFill>
                      <a:srgbClr val="FF0000"/>
                    </a:solidFill>
                  </a:rPr>
                  <a:t>(</a:t>
                </a:r>
                <a:r>
                  <a:rPr lang="en-US" altLang="zh-CN" sz="2280" dirty="0">
                    <a:solidFill>
                      <a:srgbClr val="CC00CC"/>
                    </a:solidFill>
                  </a:rPr>
                  <a:t>Descent Directions</a:t>
                </a:r>
                <a:r>
                  <a:rPr lang="en-US" altLang="zh-CN" sz="2280" dirty="0">
                    <a:solidFill>
                      <a:srgbClr val="FF0000"/>
                    </a:solidFill>
                  </a:rPr>
                  <a:t>)</a:t>
                </a:r>
                <a:r>
                  <a:rPr lang="zh-CN" altLang="en-US" sz="2280" dirty="0">
                    <a:solidFill>
                      <a:srgbClr val="FF0000"/>
                    </a:solidFill>
                  </a:rPr>
                  <a:t>，即满足：</a:t>
                </a:r>
                <a14:m>
                  <m:oMath xmlns:m="http://schemas.openxmlformats.org/officeDocument/2006/math">
                    <m:r>
                      <a:rPr lang="en-US" altLang="zh-CN" sz="2280" b="1">
                        <a:solidFill>
                          <a:srgbClr val="FF0000"/>
                        </a:solidFill>
                        <a:latin typeface="Cambria Math"/>
                      </a:rPr>
                      <m:t>𝛁</m:t>
                    </m:r>
                    <m:r>
                      <a:rPr lang="en-US" altLang="zh-CN" sz="2280" b="1" i="1">
                        <a:solidFill>
                          <a:srgbClr val="FF0000"/>
                        </a:solidFill>
                        <a:latin typeface="Cambria Math"/>
                      </a:rPr>
                      <m:t>𝒇</m:t>
                    </m:r>
                    <m:sSup>
                      <m:sSupPr>
                        <m:ctrlPr>
                          <a:rPr lang="en-US" altLang="zh-CN" sz="228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28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28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28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228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280" b="1" i="1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𝒌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sz="228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𝑻</m:t>
                        </m:r>
                      </m:sup>
                    </m:sSup>
                    <m:sSup>
                      <m:sSupPr>
                        <m:ctrlPr>
                          <a:rPr lang="en-US" altLang="zh-CN" sz="228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8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𝒑</m:t>
                        </m:r>
                      </m:e>
                      <m:sup>
                        <m:d>
                          <m:dPr>
                            <m:ctrlPr>
                              <a:rPr lang="en-US" altLang="zh-CN" sz="228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8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𝒌</m:t>
                            </m:r>
                          </m:e>
                        </m:d>
                      </m:sup>
                    </m:sSup>
                    <m:r>
                      <a:rPr lang="en-US" altLang="zh-CN" sz="2280" b="1" i="1">
                        <a:solidFill>
                          <a:srgbClr val="FF0000"/>
                        </a:solidFill>
                        <a:latin typeface="Cambria Math"/>
                      </a:rPr>
                      <m:t>&lt;</m:t>
                    </m:r>
                    <m:r>
                      <a:rPr lang="en-US" altLang="zh-CN" sz="2280" b="1" i="1">
                        <a:solidFill>
                          <a:srgbClr val="FF0000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altLang="zh-CN" sz="2280" dirty="0">
                    <a:solidFill>
                      <a:srgbClr val="FF0000"/>
                    </a:solidFill>
                  </a:rPr>
                  <a:t>,</a:t>
                </a:r>
                <a:r>
                  <a:rPr lang="zh-CN" altLang="en-US" sz="2280" dirty="0">
                    <a:solidFill>
                      <a:srgbClr val="FF0000"/>
                    </a:solidFill>
                  </a:rPr>
                  <a:t>或者</a:t>
                </a:r>
                <a14:m>
                  <m:oMath xmlns:m="http://schemas.openxmlformats.org/officeDocument/2006/math">
                    <m:r>
                      <a:rPr lang="en-US" altLang="zh-CN" sz="2280" b="1" i="1">
                        <a:solidFill>
                          <a:srgbClr val="FF0000"/>
                        </a:solidFill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sz="228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28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8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28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28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228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28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8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zh-CN" sz="228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28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8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𝒑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28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28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280" b="1" i="1">
                        <a:solidFill>
                          <a:srgbClr val="FF0000"/>
                        </a:solidFill>
                        <a:latin typeface="Cambria Math"/>
                      </a:rPr>
                      <m:t>&lt;</m:t>
                    </m:r>
                    <m:r>
                      <a:rPr lang="en-US" altLang="zh-CN" sz="2280" b="1" i="1">
                        <a:solidFill>
                          <a:srgbClr val="FF0000"/>
                        </a:solidFill>
                        <a:latin typeface="Cambria Math"/>
                      </a:rPr>
                      <m:t>𝒇</m:t>
                    </m:r>
                    <m:r>
                      <a:rPr lang="en-US" altLang="zh-CN" sz="2280" b="1" i="1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CN" sz="228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8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CN" sz="228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CN" sz="2280" b="1" i="1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zh-CN" altLang="en-US" sz="228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101" r="-3536" b="-2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7762365" y="2084089"/>
            <a:ext cx="2873352" cy="912227"/>
            <a:chOff x="6609184" y="1493637"/>
            <a:chExt cx="3024336" cy="960160"/>
          </a:xfrm>
        </p:grpSpPr>
        <p:cxnSp>
          <p:nvCxnSpPr>
            <p:cNvPr id="5" name="Straight Arrow Connector 4"/>
            <p:cNvCxnSpPr/>
            <p:nvPr/>
          </p:nvCxnSpPr>
          <p:spPr bwMode="auto">
            <a:xfrm flipV="1">
              <a:off x="7041232" y="1736973"/>
              <a:ext cx="2088232" cy="64807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" name="Straight Arrow Connector 6"/>
            <p:cNvCxnSpPr/>
            <p:nvPr/>
          </p:nvCxnSpPr>
          <p:spPr bwMode="auto">
            <a:xfrm flipV="1">
              <a:off x="7041232" y="2241029"/>
              <a:ext cx="504056" cy="144016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/>
                <p:cNvSpPr txBox="1"/>
                <p:nvPr/>
              </p:nvSpPr>
              <p:spPr>
                <a:xfrm>
                  <a:off x="6609184" y="2061009"/>
                  <a:ext cx="432048" cy="3927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71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710" b="1" i="1"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71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710" b="1" i="1">
                                    <a:latin typeface="Cambria Math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  <a:endParaRPr lang="zh-CN" altLang="en-US" sz="1710" dirty="0"/>
                </a:p>
              </p:txBody>
            </p:sp>
          </mc:Choice>
          <mc:Fallback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9184" y="2061009"/>
                  <a:ext cx="432048" cy="392788"/>
                </a:xfrm>
                <a:prstGeom prst="rect">
                  <a:avLst/>
                </a:prstGeom>
                <a:blipFill>
                  <a:blip r:embed="rId3"/>
                  <a:stretch>
                    <a:fillRect r="-73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9201472" y="1574337"/>
                  <a:ext cx="432048" cy="3927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71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710" b="1" i="1"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71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710" b="1" i="1">
                                    <a:latin typeface="Cambria Math"/>
                                  </a:rPr>
                                  <m:t>𝒌</m:t>
                                </m:r>
                                <m:r>
                                  <a:rPr lang="en-US" altLang="zh-CN" sz="1710" b="1" i="1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CN" sz="1710" b="1" i="1">
                                    <a:latin typeface="Cambria Math"/>
                                  </a:rPr>
                                  <m:t>𝟏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  <a:endParaRPr lang="zh-CN" altLang="en-US" sz="1710" dirty="0"/>
                </a:p>
              </p:txBody>
            </p:sp>
          </mc:Choice>
          <mc:Fallback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01472" y="1574337"/>
                  <a:ext cx="432048" cy="392788"/>
                </a:xfrm>
                <a:prstGeom prst="rect">
                  <a:avLst/>
                </a:prstGeom>
                <a:blipFill>
                  <a:blip r:embed="rId4"/>
                  <a:stretch>
                    <a:fillRect r="-573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7185248" y="1682349"/>
                  <a:ext cx="432048" cy="3927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71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71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𝒑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71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71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  <a:endParaRPr lang="zh-CN" altLang="en-US" sz="171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5248" y="1682349"/>
                  <a:ext cx="432048" cy="392788"/>
                </a:xfrm>
                <a:prstGeom prst="rect">
                  <a:avLst/>
                </a:prstGeom>
                <a:blipFill>
                  <a:blip r:embed="rId5"/>
                  <a:stretch>
                    <a:fillRect r="-10448" b="-48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8409384" y="1493637"/>
                  <a:ext cx="432048" cy="374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71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710" b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𝚫</m:t>
                            </m:r>
                            <m:r>
                              <a:rPr lang="en-US" altLang="zh-CN" sz="1710" b="1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710" b="1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oMath>
                    </m:oMathPara>
                  </a14:m>
                  <a:endParaRPr lang="zh-CN" altLang="en-US" sz="1710" dirty="0">
                    <a:solidFill>
                      <a:srgbClr val="0000FF"/>
                    </a:solidFill>
                  </a:endParaRPr>
                </a:p>
              </p:txBody>
            </p:sp>
          </mc:Choice>
          <mc:Fallback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9384" y="1493637"/>
                  <a:ext cx="432048" cy="374161"/>
                </a:xfrm>
                <a:prstGeom prst="rect">
                  <a:avLst/>
                </a:prstGeom>
                <a:blipFill>
                  <a:blip r:embed="rId6"/>
                  <a:stretch>
                    <a:fillRect r="-2686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Flowchart: Connector 12"/>
            <p:cNvSpPr/>
            <p:nvPr/>
          </p:nvSpPr>
          <p:spPr bwMode="auto">
            <a:xfrm>
              <a:off x="9093552" y="1689397"/>
              <a:ext cx="45719" cy="75274"/>
            </a:xfrm>
            <a:prstGeom prst="flowChartConnector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875" tIns="43438" rIns="86875" bIns="43438" numCol="1" rtlCol="0" anchor="t" anchorCtr="0" compatLnSpc="1"/>
            <a:lstStyle/>
            <a:p>
              <a:pPr algn="ctr" defTabSz="868771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28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5" name="Flowchart: Connector 14"/>
            <p:cNvSpPr/>
            <p:nvPr/>
          </p:nvSpPr>
          <p:spPr bwMode="auto">
            <a:xfrm>
              <a:off x="7017352" y="2343414"/>
              <a:ext cx="45719" cy="75274"/>
            </a:xfrm>
            <a:prstGeom prst="flowChartConnector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875" tIns="43438" rIns="86875" bIns="43438" numCol="1" rtlCol="0" anchor="t" anchorCtr="0" compatLnSpc="1"/>
            <a:lstStyle/>
            <a:p>
              <a:pPr algn="ctr" defTabSz="868771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28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3A98EC-3359-4203-BD2D-A7DB38DFF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梯度下降法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585BCDC-94B0-42D5-81B2-767304D15B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zh-CN" altLang="en-US" b="1" dirty="0">
                    <a:latin typeface="Cambria Math" panose="02040503050406030204" pitchFamily="18" charset="0"/>
                  </a:rPr>
                  <a:t>目标函数</a:t>
                </a:r>
                <a:r>
                  <a:rPr lang="zh-CN" altLang="en-US" b="1" i="1" dirty="0">
                    <a:latin typeface="Cambria Math" panose="020405030504060302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𝒎𝒊𝒏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endParaRPr lang="en-US" altLang="zh-CN" b="1" i="1" dirty="0">
                  <a:latin typeface="Cambria Math" panose="02040503050406030204" pitchFamily="18" charset="0"/>
                </a:endParaRPr>
              </a:p>
              <a:p>
                <a:r>
                  <a:rPr lang="zh-CN" altLang="en-US" dirty="0">
                    <a:latin typeface="Cambria Math" panose="02040503050406030204" pitchFamily="18" charset="0"/>
                  </a:rPr>
                  <a:t>其迭代求解最优解的基本算法为梯度下降算法，形式如下</a:t>
                </a:r>
                <a:r>
                  <a:rPr lang="zh-CN" altLang="en-US" i="1" dirty="0">
                    <a:latin typeface="Cambria Math" panose="02040503050406030204" pitchFamily="18" charset="0"/>
                  </a:rPr>
                  <a:t>：</a:t>
                </a: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r>
                  <a:rPr lang="zh-CN" altLang="en-US" dirty="0">
                    <a:latin typeface="Cambria Math" panose="02040503050406030204" pitchFamily="18" charset="0"/>
                  </a:rPr>
                  <a:t>选定初始点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CN" dirty="0">
                    <a:latin typeface="Cambria Math" panose="02040503050406030204" pitchFamily="18" charset="0"/>
                  </a:rPr>
                  <a:t>,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设定迭代次数，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开始，按照下式迭代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p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sSup>
                      <m:sSupPr>
                        <m:ctrlP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CN" dirty="0"/>
                  <a:t>,</a:t>
                </a:r>
              </a:p>
              <a:p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r>
                  <a:rPr lang="zh-CN" altLang="en-US" dirty="0"/>
                  <a:t>表示目标函数在迭代点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dirty="0"/>
                  <a:t>处的梯度向量，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/>
                  <a:t>表示对梯度向量做偏转的矩阵，一般都是对称正定的矩阵，梯度法里面就是单位矩阵，牛顿法里面就是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表示目标函数在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dirty="0"/>
                  <a:t>处的二阶导数矩阵（即</a:t>
                </a:r>
                <a:r>
                  <a:rPr lang="en-US" altLang="zh-CN" dirty="0"/>
                  <a:t>Hessian</a:t>
                </a:r>
                <a:r>
                  <a:rPr lang="zh-CN" altLang="en-US" dirty="0"/>
                  <a:t>矩阵）的逆矩阵。</a:t>
                </a:r>
                <a:endParaRPr lang="en-US" altLang="zh-CN" dirty="0"/>
              </a:p>
              <a:p>
                <a:r>
                  <a:rPr lang="zh-CN" altLang="en-US" dirty="0"/>
                  <a:t>各种变种方法，就在于对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/>
                  <a:t>的求取上有各种变化！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585BCDC-94B0-42D5-81B2-767304D15B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221" r="-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6BE966F-5396-441A-A8A9-C5E1DDB6DDFC}"/>
                  </a:ext>
                </a:extLst>
              </p:cNvPr>
              <p:cNvSpPr txBox="1"/>
              <p:nvPr/>
            </p:nvSpPr>
            <p:spPr>
              <a:xfrm>
                <a:off x="4016828" y="5979437"/>
                <a:ext cx="4012163" cy="664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olidFill>
                      <a:srgbClr val="FF0000"/>
                    </a:solidFill>
                  </a:rPr>
                  <a:t>梯度下降法就是要确定方向和步长：方向：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en-US" altLang="zh-CN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步长：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6BE966F-5396-441A-A8A9-C5E1DDB6D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6828" y="5979437"/>
                <a:ext cx="4012163" cy="664926"/>
              </a:xfrm>
              <a:prstGeom prst="rect">
                <a:avLst/>
              </a:prstGeom>
              <a:blipFill>
                <a:blip r:embed="rId3"/>
                <a:stretch>
                  <a:fillRect l="-1368" t="-5505" b="-137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5368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004CD3-2F83-4580-B95F-2EB168A9A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梯度下降法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3275CE3-111C-4BE4-A2E6-60684ED66B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对于方向，在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的基础上，可以通过两种常用的方法来获取新的方向：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矩阵相乘：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平行四边形法则：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lvl="2"/>
                <a:r>
                  <a:rPr lang="zh-CN" altLang="en-US" dirty="0"/>
                  <a:t>或者类似的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对于步长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不确定方向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/>
                  <a:t>，在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lit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dirty="0"/>
                  <a:t>的范围内任意方向都可以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目标函数不下降，则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←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3275CE3-111C-4BE4-A2E6-60684ED66B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http://static.oschina.net/uploads/space/2015/1124/131008_WTet_1047422.gif">
            <a:extLst>
              <a:ext uri="{FF2B5EF4-FFF2-40B4-BE49-F238E27FC236}">
                <a16:creationId xmlns:a16="http://schemas.microsoft.com/office/drawing/2014/main" id="{F3BF3F49-8748-4EE0-AB9C-4F76BF28D9B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625" y="2373614"/>
            <a:ext cx="2882350" cy="162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E3305312-3C99-4756-82EE-0C6325E9595C}"/>
              </a:ext>
            </a:extLst>
          </p:cNvPr>
          <p:cNvCxnSpPr>
            <a:cxnSpLocks/>
          </p:cNvCxnSpPr>
          <p:nvPr/>
        </p:nvCxnSpPr>
        <p:spPr>
          <a:xfrm flipV="1">
            <a:off x="8222899" y="5129442"/>
            <a:ext cx="641384" cy="113414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69A4D98-5249-488D-B5F5-283797538DAF}"/>
              </a:ext>
            </a:extLst>
          </p:cNvPr>
          <p:cNvCxnSpPr>
            <a:cxnSpLocks/>
          </p:cNvCxnSpPr>
          <p:nvPr/>
        </p:nvCxnSpPr>
        <p:spPr>
          <a:xfrm flipV="1">
            <a:off x="8222899" y="6165256"/>
            <a:ext cx="2279480" cy="871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9EF557A-ADD7-49FF-8B70-CD3341356F3C}"/>
              </a:ext>
            </a:extLst>
          </p:cNvPr>
          <p:cNvCxnSpPr>
            <a:cxnSpLocks/>
          </p:cNvCxnSpPr>
          <p:nvPr/>
        </p:nvCxnSpPr>
        <p:spPr>
          <a:xfrm flipV="1">
            <a:off x="8222899" y="5118244"/>
            <a:ext cx="2837737" cy="11565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9EF32693-E355-4DA8-992C-B5C26822EDD9}"/>
              </a:ext>
            </a:extLst>
          </p:cNvPr>
          <p:cNvCxnSpPr>
            <a:cxnSpLocks/>
          </p:cNvCxnSpPr>
          <p:nvPr/>
        </p:nvCxnSpPr>
        <p:spPr>
          <a:xfrm flipV="1">
            <a:off x="8810495" y="5091206"/>
            <a:ext cx="2279480" cy="87134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5F3CE6F-AD6A-46AD-B8E4-789823C0B88F}"/>
              </a:ext>
            </a:extLst>
          </p:cNvPr>
          <p:cNvCxnSpPr>
            <a:cxnSpLocks/>
          </p:cNvCxnSpPr>
          <p:nvPr/>
        </p:nvCxnSpPr>
        <p:spPr>
          <a:xfrm flipV="1">
            <a:off x="10419252" y="5074676"/>
            <a:ext cx="641384" cy="1134147"/>
          </a:xfrm>
          <a:prstGeom prst="straightConnector1">
            <a:avLst/>
          </a:prstGeom>
          <a:ln w="381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E49B5568-8B4E-420D-AC66-F75323277CCB}"/>
                  </a:ext>
                </a:extLst>
              </p:cNvPr>
              <p:cNvSpPr txBox="1"/>
              <p:nvPr/>
            </p:nvSpPr>
            <p:spPr>
              <a:xfrm>
                <a:off x="9037261" y="6214154"/>
                <a:ext cx="9865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𝛁</m:t>
                      </m:r>
                      <m:r>
                        <a:rPr lang="en-US" altLang="zh-CN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b="1" dirty="0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E49B5568-8B4E-420D-AC66-F75323277C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7261" y="6214154"/>
                <a:ext cx="986525" cy="369332"/>
              </a:xfrm>
              <a:prstGeom prst="rect">
                <a:avLst/>
              </a:prstGeom>
              <a:blipFill>
                <a:blip r:embed="rId4"/>
                <a:stretch>
                  <a:fillRect r="-10494"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D16EA9F-444E-47A9-AF78-56B7CEFCAE5A}"/>
                  </a:ext>
                </a:extLst>
              </p:cNvPr>
              <p:cNvSpPr txBox="1"/>
              <p:nvPr/>
            </p:nvSpPr>
            <p:spPr>
              <a:xfrm>
                <a:off x="6508377" y="5137091"/>
                <a:ext cx="1965133" cy="639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zh-CN" alt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或</m:t>
                    </m:r>
                    <m:r>
                      <a:rPr lang="zh-CN" alt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其</m:t>
                    </m:r>
                    <m:r>
                      <a:rPr lang="zh-CN" alt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变种</m:t>
                    </m:r>
                    <m:r>
                      <a:rPr lang="zh-CN" alt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rgbClr val="C00000"/>
                    </a:solidFill>
                  </a:rPr>
                  <a:t>等</a:t>
                </a:r>
              </a:p>
            </p:txBody>
          </p:sp>
        </mc:Choice>
        <mc:Fallback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D16EA9F-444E-47A9-AF78-56B7CEFCA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377" y="5137091"/>
                <a:ext cx="1965133" cy="639983"/>
              </a:xfrm>
              <a:prstGeom prst="rect">
                <a:avLst/>
              </a:prstGeom>
              <a:blipFill>
                <a:blip r:embed="rId5"/>
                <a:stretch>
                  <a:fillRect l="-932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0E43AD5-54E0-49B5-A71E-73CA2411E5D8}"/>
                  </a:ext>
                </a:extLst>
              </p:cNvPr>
              <p:cNvSpPr txBox="1"/>
              <p:nvPr/>
            </p:nvSpPr>
            <p:spPr>
              <a:xfrm>
                <a:off x="9604964" y="5074567"/>
                <a:ext cx="104224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0E43AD5-54E0-49B5-A71E-73CA2411E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4964" y="5074567"/>
                <a:ext cx="1042247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椭圆 27">
            <a:extLst>
              <a:ext uri="{FF2B5EF4-FFF2-40B4-BE49-F238E27FC236}">
                <a16:creationId xmlns:a16="http://schemas.microsoft.com/office/drawing/2014/main" id="{47846425-617B-47A5-AF64-46B917222D81}"/>
              </a:ext>
            </a:extLst>
          </p:cNvPr>
          <p:cNvSpPr/>
          <p:nvPr/>
        </p:nvSpPr>
        <p:spPr>
          <a:xfrm>
            <a:off x="1153768" y="5435243"/>
            <a:ext cx="1198011" cy="11341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AF07AC1B-9516-49E8-B118-CB28724BC6A6}"/>
              </a:ext>
            </a:extLst>
          </p:cNvPr>
          <p:cNvCxnSpPr>
            <a:endCxn id="28" idx="7"/>
          </p:cNvCxnSpPr>
          <p:nvPr/>
        </p:nvCxnSpPr>
        <p:spPr>
          <a:xfrm flipV="1">
            <a:off x="1689621" y="5601335"/>
            <a:ext cx="486713" cy="43761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0D195614-2BCF-4F08-B0D5-6159A37056A6}"/>
              </a:ext>
            </a:extLst>
          </p:cNvPr>
          <p:cNvSpPr/>
          <p:nvPr/>
        </p:nvSpPr>
        <p:spPr>
          <a:xfrm>
            <a:off x="3352596" y="5755415"/>
            <a:ext cx="641385" cy="56707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50303BF7-8191-4871-81B6-EA61BA76B88B}"/>
              </a:ext>
            </a:extLst>
          </p:cNvPr>
          <p:cNvCxnSpPr>
            <a:cxnSpLocks/>
            <a:endCxn id="31" idx="5"/>
          </p:cNvCxnSpPr>
          <p:nvPr/>
        </p:nvCxnSpPr>
        <p:spPr>
          <a:xfrm>
            <a:off x="3682305" y="6068365"/>
            <a:ext cx="217747" cy="17107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箭头: 右 35">
            <a:extLst>
              <a:ext uri="{FF2B5EF4-FFF2-40B4-BE49-F238E27FC236}">
                <a16:creationId xmlns:a16="http://schemas.microsoft.com/office/drawing/2014/main" id="{F679D168-93BF-4D03-9C59-91385A402715}"/>
              </a:ext>
            </a:extLst>
          </p:cNvPr>
          <p:cNvSpPr/>
          <p:nvPr/>
        </p:nvSpPr>
        <p:spPr>
          <a:xfrm>
            <a:off x="2546358" y="5865790"/>
            <a:ext cx="641384" cy="3430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8880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  <p:bldP spid="27" grpId="0"/>
      <p:bldP spid="28" grpId="0" animBg="1"/>
      <p:bldP spid="31" grpId="0" animBg="1"/>
      <p:bldP spid="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迭代法的基本思路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显然，这种方法是一类迭代方法，令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𝑻</m:t>
                    </m:r>
                    <m:r>
                      <a:rPr lang="en-US" altLang="zh-CN" b="1" i="1" smtClean="0">
                        <a:latin typeface="Cambria Math"/>
                      </a:rPr>
                      <m:t>: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𝑹</m:t>
                        </m:r>
                      </m:e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sup>
                    </m:sSup>
                    <m:r>
                      <a:rPr lang="en-US" altLang="zh-CN" b="1" i="1" smtClean="0">
                        <a:latin typeface="Cambria Math"/>
                      </a:rPr>
                      <m:t>→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𝑹</m:t>
                        </m:r>
                      </m:e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𝒌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+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𝟏</m:t>
                          </m:r>
                        </m:sup>
                      </m:sSup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𝑻</m:t>
                      </m:r>
                      <m:r>
                        <a:rPr lang="en-US" altLang="zh-CN" b="1" i="1" smtClean="0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𝒌</m:t>
                              </m:r>
                            </m:e>
                          </m:d>
                        </m:sup>
                      </m:sSup>
                      <m:r>
                        <a:rPr lang="en-US" altLang="zh-CN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就是要找到映射的一个不动点</a:t>
                </a:r>
                <a:r>
                  <a:rPr lang="en-US" altLang="zh-CN" dirty="0"/>
                  <a:t>(a fixed point)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𝒙</m:t>
                        </m:r>
                      </m:e>
                      <m:sup>
                        <m:r>
                          <a:rPr lang="en-US" altLang="zh-CN" b="1" i="1" smtClean="0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使得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𝒙</m:t>
                        </m:r>
                      </m:e>
                      <m:sup>
                        <m:r>
                          <a:rPr lang="en-US" altLang="zh-CN" b="1" i="1" smtClean="0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𝑻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𝒙</m:t>
                        </m:r>
                      </m:e>
                      <m:sup>
                        <m:r>
                          <a:rPr lang="zh-CN" altLang="en-US" b="1" i="1" smtClean="0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/>
                  <a:t>，这只需要映射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𝑻</m:t>
                    </m:r>
                  </m:oMath>
                </a14:m>
                <a:r>
                  <a:rPr lang="zh-CN" altLang="en-US" dirty="0"/>
                  <a:t>关于某种范数是收缩映射</a:t>
                </a:r>
                <a:r>
                  <a:rPr lang="en-US" altLang="zh-CN" dirty="0"/>
                  <a:t>(Contraction mapping)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b="1" i="1" smtClean="0">
                        <a:latin typeface="Cambria Math"/>
                      </a:rPr>
                      <m:t>||</m:t>
                    </m:r>
                    <m:r>
                      <a:rPr lang="en-US" altLang="zh-CN" b="1" i="1" smtClean="0">
                        <a:latin typeface="Cambria Math"/>
                      </a:rPr>
                      <m:t>𝑻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𝒙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−</m:t>
                    </m:r>
                    <m:r>
                      <a:rPr lang="en-US" altLang="zh-CN" b="1" i="1" smtClean="0">
                        <a:latin typeface="Cambria Math"/>
                      </a:rPr>
                      <m:t>𝑻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𝒚</m:t>
                        </m:r>
                      </m:e>
                    </m:d>
                    <m:r>
                      <m:rPr>
                        <m:lit/>
                      </m:rPr>
                      <a:rPr lang="en-US" altLang="zh-CN" b="1" i="1" smtClean="0">
                        <a:latin typeface="Cambria Math"/>
                      </a:rPr>
                      <m:t>||</m:t>
                    </m:r>
                    <m:r>
                      <a:rPr lang="en-US" altLang="zh-CN" b="1" i="1" smtClean="0">
                        <a:latin typeface="Cambria Math"/>
                      </a:rPr>
                      <m:t>≤</m:t>
                    </m:r>
                    <m:r>
                      <a:rPr lang="en-US" altLang="zh-CN" b="1" i="1" smtClean="0">
                        <a:latin typeface="Cambria Math"/>
                      </a:rPr>
                      <m:t>𝜷</m:t>
                    </m:r>
                    <m:r>
                      <m:rPr>
                        <m:lit/>
                      </m:rPr>
                      <a:rPr lang="en-US" altLang="zh-CN" b="1" i="1" smtClean="0">
                        <a:latin typeface="Cambria Math"/>
                      </a:rPr>
                      <m:t>||</m:t>
                    </m:r>
                    <m:r>
                      <a:rPr lang="en-US" altLang="zh-CN" b="1" i="1" smtClean="0">
                        <a:latin typeface="Cambria Math"/>
                      </a:rPr>
                      <m:t>𝒙</m:t>
                    </m:r>
                    <m:r>
                      <a:rPr lang="en-US" altLang="zh-CN" b="1" i="1" smtClean="0">
                        <a:latin typeface="Cambria Math"/>
                      </a:rPr>
                      <m:t>−</m:t>
                    </m:r>
                    <m:r>
                      <a:rPr lang="en-US" altLang="zh-CN" b="1" i="1" smtClean="0">
                        <a:latin typeface="Cambria Math"/>
                      </a:rPr>
                      <m:t>𝒚</m:t>
                    </m:r>
                    <m:r>
                      <m:rPr>
                        <m:lit/>
                      </m:rPr>
                      <a:rPr lang="en-US" altLang="zh-CN" b="1" i="1" smtClean="0">
                        <a:latin typeface="Cambria Math"/>
                      </a:rPr>
                      <m:t>||</m:t>
                    </m:r>
                    <m:r>
                      <a:rPr lang="en-US" altLang="zh-CN" b="1" i="1" smtClean="0">
                        <a:latin typeface="Cambria Math"/>
                      </a:rPr>
                      <m:t>,∀</m:t>
                    </m:r>
                    <m:r>
                      <a:rPr lang="en-US" altLang="zh-CN" b="1" i="1" smtClean="0">
                        <a:latin typeface="Cambria Math"/>
                      </a:rPr>
                      <m:t>𝒙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𝒚</m:t>
                    </m:r>
                    <m:r>
                      <a:rPr lang="en-US" altLang="zh-CN" b="1" i="1" smtClean="0"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𝑹</m:t>
                        </m:r>
                      </m:e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altLang="zh-CN" dirty="0"/>
                  <a:t>,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𝜷</m:t>
                    </m:r>
                    <m:r>
                      <a:rPr lang="en-US" altLang="zh-CN" b="1" i="1" dirty="0" smtClean="0">
                        <a:latin typeface="Cambria Math"/>
                      </a:rPr>
                      <m:t>&lt;</m:t>
                    </m:r>
                    <m:r>
                      <a:rPr lang="en-US" altLang="zh-CN" b="1" i="1" dirty="0" smtClean="0">
                        <a:latin typeface="Cambria Math"/>
                      </a:rPr>
                      <m:t>𝟏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则意味着映射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𝑻</m:t>
                    </m:r>
                  </m:oMath>
                </a14:m>
                <a:r>
                  <a:rPr lang="zh-CN" altLang="en-US" dirty="0"/>
                  <a:t>有唯一的不动点，从任意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𝟎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dirty="0"/>
                  <a:t>点，迭代后一定收敛于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𝒙</m:t>
                        </m:r>
                      </m:e>
                      <m:sup>
                        <m:r>
                          <a:rPr lang="en-US" altLang="zh-CN" b="1" i="1" smtClean="0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dirty="0"/>
                  <a:t>点</a:t>
                </a:r>
                <a:endParaRPr lang="en-US" altLang="zh-CN" dirty="0"/>
              </a:p>
              <a:p>
                <a:r>
                  <a:rPr lang="zh-CN" altLang="en-US" dirty="0"/>
                  <a:t>如果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𝜷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且范数为欧氏范数，且有至少一个不动点，则迭代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𝒌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𝒌</m:t>
                            </m:r>
                          </m:e>
                        </m:d>
                      </m:sup>
                    </m:sSup>
                    <m:r>
                      <a:rPr lang="en-US" altLang="zh-CN" b="1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𝜶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𝑻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𝜶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∈[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  <m:r>
                      <a:rPr lang="en-US" altLang="zh-CN" b="1" i="1" smtClean="0">
                        <a:latin typeface="Cambria Math"/>
                      </a:rPr>
                      <m:t>]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且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 dirty="0" smtClean="0">
                            <a:latin typeface="Cambria Math"/>
                          </a:rPr>
                          <m:t>𝒌</m:t>
                        </m:r>
                        <m:r>
                          <a:rPr lang="en-US" altLang="zh-CN" b="1" i="1" dirty="0" smtClean="0">
                            <a:latin typeface="Cambria Math"/>
                          </a:rPr>
                          <m:t>=</m:t>
                        </m:r>
                        <m:r>
                          <a:rPr lang="en-US" altLang="zh-CN" b="1" i="1" dirty="0" smtClean="0">
                            <a:latin typeface="Cambria Math"/>
                          </a:rPr>
                          <m:t>𝟎</m:t>
                        </m:r>
                      </m:sub>
                      <m:sup>
                        <m:r>
                          <a:rPr lang="en-US" altLang="zh-CN" i="1" dirty="0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dirty="0" smtClean="0">
                                <a:latin typeface="Cambria Math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b="1" i="1" dirty="0" smtClean="0"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dirty="0" smtClean="0">
                                <a:latin typeface="Cambria Math"/>
                              </a:rPr>
                              <m:t>𝟏</m:t>
                            </m:r>
                            <m:r>
                              <a:rPr lang="en-US" altLang="zh-CN" b="1" i="1" dirty="0" smtClean="0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dirty="0" smtClean="0">
                                    <a:latin typeface="Cambria Math"/>
                                  </a:rPr>
                                  <m:t>𝜶</m:t>
                                </m:r>
                              </m:e>
                              <m:sub>
                                <m:r>
                                  <a:rPr lang="en-US" altLang="zh-CN" b="1" i="1" dirty="0" smtClean="0">
                                    <a:latin typeface="Cambria Math"/>
                                  </a:rPr>
                                  <m:t>𝒌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1" i="1" dirty="0" smtClean="0">
                            <a:latin typeface="Cambria Math"/>
                          </a:rPr>
                          <m:t>=</m:t>
                        </m:r>
                        <m:r>
                          <a:rPr lang="en-US" altLang="zh-CN" b="1" i="1" dirty="0" smtClean="0">
                            <a:latin typeface="Cambria Math"/>
                            <a:ea typeface="Cambria Math"/>
                          </a:rPr>
                          <m:t>∞</m:t>
                        </m:r>
                      </m:e>
                    </m:nary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从任意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𝟎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dirty="0"/>
                  <a:t>点出发，迭代后一定收敛于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</a:rPr>
                          <m:t>𝒙</m:t>
                        </m:r>
                      </m:e>
                      <m:sup>
                        <m:r>
                          <a:rPr lang="en-US" altLang="zh-CN" i="1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dirty="0"/>
                  <a:t>点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89" t="-1735" r="-1587" b="-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49A937-F8BA-42A4-872C-B228B51DB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梯度下降法的基本流程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961BDDE-646D-44D2-9AFB-DF23A45F9D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3861403" cy="3054284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算法流程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dirty="0"/>
                  <a:t>可选为负梯度方向</a:t>
                </a:r>
                <a:endParaRPr lang="en-US" altLang="zh-CN" dirty="0"/>
              </a:p>
              <a:p>
                <a:pPr marL="457200" lvl="1" indent="0">
                  <a:buNone/>
                </a:pPr>
                <a:r>
                  <a:rPr lang="zh-CN" altLang="en-US" dirty="0"/>
                  <a:t>，也可以选为任意与负梯度方向夹角小于</a:t>
                </a:r>
                <a:r>
                  <a:rPr lang="en-US" altLang="zh-CN" dirty="0"/>
                  <a:t>90</a:t>
                </a:r>
                <a:r>
                  <a:rPr lang="zh-CN" altLang="en-US" dirty="0"/>
                  <a:t>度的方向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𝝀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/>
                            <a:ea typeface="楷体_GB2312" pitchFamily="49" charset="-122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zh-CN" altLang="en-US" dirty="0"/>
                  <a:t>可以按照精确线索搜，也可以按照下页</a:t>
                </a:r>
                <a:r>
                  <a:rPr lang="en-US" altLang="zh-CN" dirty="0"/>
                  <a:t>ppt</a:t>
                </a:r>
                <a:r>
                  <a:rPr lang="zh-CN" altLang="en-US" dirty="0"/>
                  <a:t>中的规则选取</a:t>
                </a:r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961BDDE-646D-44D2-9AFB-DF23A45F9D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3861403" cy="3054284"/>
              </a:xfrm>
              <a:blipFill>
                <a:blip r:embed="rId3"/>
                <a:stretch>
                  <a:fillRect l="-2844" t="-3586" r="-1580" b="-2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9">
            <a:extLst>
              <a:ext uri="{FF2B5EF4-FFF2-40B4-BE49-F238E27FC236}">
                <a16:creationId xmlns:a16="http://schemas.microsoft.com/office/drawing/2014/main" id="{E457EE31-BCE7-4EDB-A829-4DD1D5150596}"/>
              </a:ext>
            </a:extLst>
          </p:cNvPr>
          <p:cNvGrpSpPr/>
          <p:nvPr/>
        </p:nvGrpSpPr>
        <p:grpSpPr>
          <a:xfrm>
            <a:off x="7041960" y="116341"/>
            <a:ext cx="5150040" cy="4503366"/>
            <a:chOff x="250825" y="620713"/>
            <a:chExt cx="8801437" cy="55685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4">
                  <a:extLst>
                    <a:ext uri="{FF2B5EF4-FFF2-40B4-BE49-F238E27FC236}">
                      <a16:creationId xmlns:a16="http://schemas.microsoft.com/office/drawing/2014/main" id="{C752A8B3-2D21-4395-B533-E6CBA482B0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1177" y="4852609"/>
                  <a:ext cx="4500913" cy="1336636"/>
                </a:xfrm>
                <a:prstGeom prst="rect">
                  <a:avLst/>
                </a:prstGeom>
                <a:noFill/>
                <a:ln w="9525">
                  <a:solidFill>
                    <a:schemeClr val="folHlink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>
                      <a:solidFill>
                        <a:srgbClr val="FF0066"/>
                      </a:solidFill>
                    </a14:hiddenFill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</a:pPr>
                  <a:r>
                    <a:rPr lang="zh-CN" altLang="en-US" sz="1200" dirty="0">
                      <a:solidFill>
                        <a:schemeClr val="tx1"/>
                      </a:solidFill>
                      <a:ea typeface="楷体_GB2312" pitchFamily="49" charset="-122"/>
                    </a:rPr>
                    <a:t>线搜索求</a:t>
                  </a:r>
                  <a:r>
                    <a:rPr lang="zh-CN" altLang="en-US" sz="1200" dirty="0">
                      <a:ea typeface="楷体_GB2312" pitchFamily="49" charset="-122"/>
                    </a:rPr>
                    <a:t>出</a:t>
                  </a:r>
                  <a:r>
                    <a:rPr lang="zh-CN" altLang="en-US" sz="1200" dirty="0">
                      <a:solidFill>
                        <a:srgbClr val="FF0000"/>
                      </a:solidFill>
                      <a:ea typeface="楷体_GB2312" pitchFamily="49" charset="-122"/>
                    </a:rPr>
                    <a:t>步长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楷体_GB2312" pitchFamily="49" charset="-122"/>
                            </a:rPr>
                            <m:t>𝝀</m:t>
                          </m:r>
                        </m:e>
                        <m:sub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楷体_GB2312" pitchFamily="49" charset="-122"/>
                            </a:rPr>
                            <m:t>𝒌</m:t>
                          </m:r>
                        </m:sub>
                      </m:sSub>
                    </m:oMath>
                  </a14:m>
                  <a:r>
                    <a:rPr lang="en-US" altLang="zh-CN" sz="1200" dirty="0">
                      <a:solidFill>
                        <a:srgbClr val="FF0000"/>
                      </a:solidFill>
                      <a:ea typeface="楷体_GB2312" pitchFamily="49" charset="-122"/>
                    </a:rPr>
                    <a:t>,</a:t>
                  </a:r>
                  <a:r>
                    <a:rPr lang="zh-CN" altLang="en-US" sz="1200" dirty="0">
                      <a:solidFill>
                        <a:schemeClr val="tx1"/>
                      </a:solidFill>
                      <a:ea typeface="楷体_GB2312" pitchFamily="49" charset="-122"/>
                    </a:rPr>
                    <a:t>使得</a:t>
                  </a:r>
                  <a:endParaRPr lang="en-US" altLang="zh-CN" sz="1200" dirty="0">
                    <a:solidFill>
                      <a:schemeClr val="tx1"/>
                    </a:solidFill>
                    <a:ea typeface="楷体_GB2312" pitchFamily="49" charset="-122"/>
                  </a:endParaRPr>
                </a:p>
                <a:p>
                  <a:pPr>
                    <a:lnSpc>
                      <a:spcPct val="9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200" b="1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楷体_GB2312" pitchFamily="49" charset="-122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楷体_GB2312" pitchFamily="49" charset="-122"/>
                                  </a:rPr>
                                  <m:t>𝒌</m:t>
                                </m:r>
                                <m:r>
                                  <a:rPr lang="en-US" altLang="zh-CN" sz="1200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楷体_GB2312" pitchFamily="49" charset="-122"/>
                                  </a:rPr>
                                  <m:t>+</m:t>
                                </m:r>
                                <m:r>
                                  <a:rPr lang="en-US" altLang="zh-CN" sz="1200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楷体_GB2312" pitchFamily="49" charset="-122"/>
                                  </a:rPr>
                                  <m:t>𝟏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1200" b="1" i="1" smtClean="0">
                            <a:solidFill>
                              <a:schemeClr val="tx1"/>
                            </a:solidFill>
                            <a:latin typeface="Cambria Math"/>
                            <a:ea typeface="楷体_GB2312" pitchFamily="49" charset="-122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1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200" b="1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楷体_GB2312" pitchFamily="49" charset="-122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楷体_GB2312" pitchFamily="49" charset="-122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1200" b="1" i="1" smtClean="0">
                            <a:solidFill>
                              <a:schemeClr val="tx1"/>
                            </a:solidFill>
                            <a:latin typeface="Cambria Math"/>
                            <a:ea typeface="楷体_GB2312" pitchFamily="49" charset="-122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1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zh-CN" sz="1200" b="1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楷体_GB2312" pitchFamily="49" charset="-122"/>
                              </a:rPr>
                              <m:t>𝒌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1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200" b="1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楷体_GB2312" pitchFamily="49" charset="-122"/>
                              </a:rPr>
                              <m:t>𝒑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楷体_GB2312" pitchFamily="49" charset="-122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1200" b="1" i="1" smtClean="0">
                            <a:solidFill>
                              <a:schemeClr val="tx1"/>
                            </a:solidFill>
                            <a:latin typeface="Cambria Math"/>
                            <a:ea typeface="楷体_GB2312" pitchFamily="49" charset="-122"/>
                          </a:rPr>
                          <m:t>,</m:t>
                        </m:r>
                      </m:oMath>
                    </m:oMathPara>
                  </a14:m>
                  <a:endParaRPr lang="en-US" altLang="zh-CN" sz="1200" dirty="0">
                    <a:solidFill>
                      <a:schemeClr val="tx1"/>
                    </a:solidFill>
                    <a:ea typeface="楷体_GB2312" pitchFamily="49" charset="-122"/>
                  </a:endParaRPr>
                </a:p>
                <a:p>
                  <a:pPr>
                    <a:lnSpc>
                      <a:spcPct val="9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solidFill>
                              <a:schemeClr val="tx1"/>
                            </a:solidFill>
                            <a:latin typeface="Cambria Math"/>
                            <a:ea typeface="楷体_GB2312" pitchFamily="49" charset="-122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sz="1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1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楷体_GB2312" pitchFamily="49" charset="-122"/>
                                  </a:rPr>
                                  <m:t>𝒙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12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楷体_GB2312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楷体_GB2312" pitchFamily="49" charset="-122"/>
                                      </a:rPr>
                                      <m:t>𝒌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altLang="zh-CN" sz="1200" b="1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楷体_GB2312" pitchFamily="49" charset="-122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1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  <m:t>𝝀</m:t>
                                </m:r>
                              </m:e>
                              <m:sub>
                                <m:r>
                                  <a:rPr lang="en-US" altLang="zh-CN" sz="1200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楷体_GB2312" pitchFamily="49" charset="-122"/>
                                  </a:rPr>
                                  <m:t>𝒌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sz="1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楷体_GB2312" pitchFamily="49" charset="-122"/>
                                  </a:rPr>
                                  <m:t>𝒑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12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楷体_GB2312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楷体_GB2312" pitchFamily="49" charset="-122"/>
                                      </a:rPr>
                                      <m:t>𝒌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a:rPr lang="en-US" altLang="zh-CN" sz="1200" b="1" i="1" smtClean="0">
                            <a:solidFill>
                              <a:schemeClr val="tx1"/>
                            </a:solidFill>
                            <a:latin typeface="Cambria Math"/>
                            <a:ea typeface="楷体_GB2312" pitchFamily="49" charset="-122"/>
                          </a:rPr>
                          <m:t>&lt;</m:t>
                        </m:r>
                        <m:r>
                          <a:rPr lang="en-US" altLang="zh-CN" sz="1200" b="1" i="1" smtClean="0">
                            <a:solidFill>
                              <a:schemeClr val="tx1"/>
                            </a:solidFill>
                            <a:latin typeface="Cambria Math"/>
                            <a:ea typeface="楷体_GB2312" pitchFamily="49" charset="-122"/>
                          </a:rPr>
                          <m:t>𝒇</m:t>
                        </m:r>
                        <m:r>
                          <a:rPr lang="en-US" altLang="zh-CN" sz="1200" b="1" i="1" smtClean="0">
                            <a:solidFill>
                              <a:schemeClr val="tx1"/>
                            </a:solidFill>
                            <a:latin typeface="Cambria Math"/>
                            <a:ea typeface="楷体_GB2312" pitchFamily="49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1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200" b="1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楷体_GB2312" pitchFamily="49" charset="-122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楷体_GB2312" pitchFamily="49" charset="-122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1200" b="1" i="1" smtClean="0">
                            <a:solidFill>
                              <a:schemeClr val="tx1"/>
                            </a:solidFill>
                            <a:latin typeface="Cambria Math"/>
                            <a:ea typeface="楷体_GB2312" pitchFamily="49" charset="-122"/>
                          </a:rPr>
                          <m:t>)</m:t>
                        </m:r>
                      </m:oMath>
                    </m:oMathPara>
                  </a14:m>
                  <a:endParaRPr lang="en-US" altLang="zh-CN" sz="1200" i="1" dirty="0">
                    <a:solidFill>
                      <a:schemeClr val="tx1"/>
                    </a:solidFill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7" name="Rectangle 4">
                  <a:extLst>
                    <a:ext uri="{FF2B5EF4-FFF2-40B4-BE49-F238E27FC236}">
                      <a16:creationId xmlns:a16="http://schemas.microsoft.com/office/drawing/2014/main" id="{C752A8B3-2D21-4395-B533-E6CBA482B0F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01177" y="4852609"/>
                  <a:ext cx="4500913" cy="133663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solidFill>
                    <a:schemeClr val="folHlink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0066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" name="Group 6">
              <a:extLst>
                <a:ext uri="{FF2B5EF4-FFF2-40B4-BE49-F238E27FC236}">
                  <a16:creationId xmlns:a16="http://schemas.microsoft.com/office/drawing/2014/main" id="{4DA5EE5C-0CE4-4846-8C39-87F5AC53AA56}"/>
                </a:ext>
              </a:extLst>
            </p:cNvPr>
            <p:cNvGrpSpPr/>
            <p:nvPr/>
          </p:nvGrpSpPr>
          <p:grpSpPr bwMode="auto">
            <a:xfrm>
              <a:off x="250825" y="620713"/>
              <a:ext cx="8801437" cy="4945714"/>
              <a:chOff x="576" y="480"/>
              <a:chExt cx="4893" cy="305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AutoShape 7">
                    <a:extLst>
                      <a:ext uri="{FF2B5EF4-FFF2-40B4-BE49-F238E27FC236}">
                        <a16:creationId xmlns:a16="http://schemas.microsoft.com/office/drawing/2014/main" id="{39FB74BD-0AE7-4F3E-A70B-EE891884C1E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28" y="480"/>
                    <a:ext cx="2240" cy="336"/>
                  </a:xfrm>
                  <a:prstGeom prst="flowChartAlternateProcess">
                    <a:avLst/>
                  </a:prstGeom>
                  <a:noFill/>
                  <a:ln w="9525">
                    <a:solidFill>
                      <a:schemeClr val="folHlink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0066"/>
                        </a:solidFill>
                      </a14:hiddenFill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>
                      <a:lnSpc>
                        <a:spcPct val="90000"/>
                      </a:lnSpc>
                    </a:pPr>
                    <a:r>
                      <a:rPr lang="zh-CN" altLang="en-US" sz="1400" dirty="0">
                        <a:solidFill>
                          <a:srgbClr val="FF0000"/>
                        </a:solidFill>
                        <a:ea typeface="楷体_GB2312" pitchFamily="49" charset="-122"/>
                      </a:rPr>
                      <a:t>初始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400" b="1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楷体_GB2312" pitchFamily="49" charset="-122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400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楷体_GB2312" pitchFamily="49" charset="-122"/>
                                  </a:rPr>
                                  <m:t>𝟎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1400" b="1" i="1" smtClean="0">
                            <a:solidFill>
                              <a:schemeClr val="tx1"/>
                            </a:solidFill>
                            <a:latin typeface="Cambria Math"/>
                            <a:ea typeface="楷体_GB2312" pitchFamily="49" charset="-122"/>
                          </a:rPr>
                          <m:t>∈</m:t>
                        </m:r>
                        <m:r>
                          <a:rPr lang="en-US" altLang="zh-CN" sz="1400" b="1" i="1" smtClean="0">
                            <a:solidFill>
                              <a:schemeClr val="tx1"/>
                            </a:solidFill>
                            <a:latin typeface="Cambria Math"/>
                            <a:ea typeface="楷体_GB2312" pitchFamily="49" charset="-122"/>
                          </a:rPr>
                          <m:t>𝑺</m:t>
                        </m:r>
                      </m:oMath>
                    </a14:m>
                    <a:r>
                      <a:rPr lang="en-US" altLang="zh-CN" sz="1400" i="1" dirty="0">
                        <a:solidFill>
                          <a:schemeClr val="tx1"/>
                        </a:solidFill>
                        <a:ea typeface="楷体_GB2312" pitchFamily="49" charset="-122"/>
                      </a:rPr>
                      <a:t>,</a:t>
                    </a:r>
                    <a14:m>
                      <m:oMath xmlns:m="http://schemas.openxmlformats.org/officeDocument/2006/math">
                        <m:r>
                          <a:rPr lang="en-US" altLang="zh-CN" sz="1400" b="1" i="1" dirty="0" smtClean="0">
                            <a:solidFill>
                              <a:schemeClr val="tx1"/>
                            </a:solidFill>
                            <a:latin typeface="Cambria Math"/>
                            <a:ea typeface="楷体_GB2312" pitchFamily="49" charset="-122"/>
                          </a:rPr>
                          <m:t>𝒌</m:t>
                        </m:r>
                        <m:r>
                          <a:rPr lang="en-US" altLang="zh-CN" sz="1400" b="1" i="1" dirty="0" smtClean="0">
                            <a:solidFill>
                              <a:schemeClr val="tx1"/>
                            </a:solidFill>
                            <a:latin typeface="Cambria Math"/>
                            <a:ea typeface="楷体_GB2312" pitchFamily="49" charset="-122"/>
                          </a:rPr>
                          <m:t>=</m:t>
                        </m:r>
                        <m:r>
                          <a:rPr lang="en-US" altLang="zh-CN" sz="1400" b="1" i="1" dirty="0" smtClean="0">
                            <a:solidFill>
                              <a:schemeClr val="tx1"/>
                            </a:solidFill>
                            <a:latin typeface="Cambria Math"/>
                            <a:ea typeface="楷体_GB2312" pitchFamily="49" charset="-122"/>
                          </a:rPr>
                          <m:t>𝟎</m:t>
                        </m:r>
                        <m:r>
                          <a:rPr lang="en-US" altLang="zh-CN" sz="1400" b="1" i="1" dirty="0" smtClean="0">
                            <a:solidFill>
                              <a:schemeClr val="tx1"/>
                            </a:solidFill>
                            <a:latin typeface="Cambria Math"/>
                            <a:ea typeface="楷体_GB2312" pitchFamily="49" charset="-122"/>
                          </a:rPr>
                          <m:t>,</m:t>
                        </m:r>
                        <m:r>
                          <a:rPr lang="en-US" altLang="zh-CN" sz="1400" b="1" i="1" dirty="0" smtClean="0">
                            <a:solidFill>
                              <a:schemeClr val="tx1"/>
                            </a:solidFill>
                            <a:latin typeface="Cambria Math"/>
                            <a:ea typeface="楷体_GB2312" pitchFamily="49" charset="-122"/>
                          </a:rPr>
                          <m:t>𝝐</m:t>
                        </m:r>
                        <m:r>
                          <a:rPr lang="en-US" altLang="zh-CN" sz="1400" b="1" i="1" dirty="0" smtClean="0">
                            <a:solidFill>
                              <a:schemeClr val="tx1"/>
                            </a:solidFill>
                            <a:latin typeface="Cambria Math"/>
                            <a:ea typeface="楷体_GB2312" pitchFamily="49" charset="-122"/>
                          </a:rPr>
                          <m:t>&gt;</m:t>
                        </m:r>
                        <m:r>
                          <a:rPr lang="en-US" altLang="zh-CN" sz="1400" b="1" i="1" dirty="0" smtClean="0">
                            <a:solidFill>
                              <a:schemeClr val="tx1"/>
                            </a:solidFill>
                            <a:latin typeface="Cambria Math"/>
                            <a:ea typeface="楷体_GB2312" pitchFamily="49" charset="-122"/>
                          </a:rPr>
                          <m:t>𝟎</m:t>
                        </m:r>
                        <m:r>
                          <a:rPr lang="en-US" altLang="zh-CN" sz="1400" b="1" i="1" dirty="0" smtClean="0">
                            <a:solidFill>
                              <a:schemeClr val="tx1"/>
                            </a:solidFill>
                            <a:latin typeface="Cambria Math"/>
                            <a:ea typeface="楷体_GB2312" pitchFamily="49" charset="-122"/>
                          </a:rPr>
                          <m:t>, </m:t>
                        </m:r>
                        <m:r>
                          <a:rPr lang="en-US" altLang="zh-CN" sz="1400" b="1" i="1" dirty="0" smtClean="0">
                            <a:solidFill>
                              <a:schemeClr val="tx1"/>
                            </a:solidFill>
                            <a:latin typeface="Cambria Math"/>
                            <a:ea typeface="楷体_GB2312" pitchFamily="49" charset="-122"/>
                          </a:rPr>
                          <m:t>𝒌</m:t>
                        </m:r>
                        <m:r>
                          <a:rPr lang="en-US" altLang="zh-CN" sz="1400" b="1" i="1" dirty="0" smtClean="0">
                            <a:solidFill>
                              <a:schemeClr val="tx1"/>
                            </a:solidFill>
                            <a:latin typeface="Cambria Math"/>
                            <a:ea typeface="楷体_GB2312" pitchFamily="49" charset="-122"/>
                          </a:rPr>
                          <m:t>=</m:t>
                        </m:r>
                        <m:r>
                          <a:rPr lang="en-US" altLang="zh-CN" sz="1400" b="1" i="1" dirty="0" smtClean="0">
                            <a:solidFill>
                              <a:schemeClr val="tx1"/>
                            </a:solidFill>
                            <a:latin typeface="Cambria Math"/>
                            <a:ea typeface="楷体_GB2312" pitchFamily="49" charset="-122"/>
                          </a:rPr>
                          <m:t>𝟎</m:t>
                        </m:r>
                      </m:oMath>
                    </a14:m>
                    <a:endParaRPr lang="en-US" altLang="zh-CN" sz="1400" i="1" dirty="0">
                      <a:solidFill>
                        <a:schemeClr val="tx1"/>
                      </a:solidFill>
                      <a:ea typeface="楷体_GB2312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15" name="AutoShape 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728" y="480"/>
                    <a:ext cx="2240" cy="336"/>
                  </a:xfrm>
                  <a:prstGeom prst="flowChartAlternateProcess">
                    <a:avLst/>
                  </a:prstGeom>
                  <a:blipFill rotWithShape="1">
                    <a:blip r:embed="rId5"/>
                    <a:stretch>
                      <a:fillRect l="-5155" t="-4054" r="-3265" b="-14865"/>
                    </a:stretch>
                  </a:blipFill>
                  <a:ln w="9525">
                    <a:solidFill>
                      <a:schemeClr val="folHlink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0066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  <a:endParaRPr lang="zh-CN" altLang="en-US">
                      <a:noFill/>
                    </a:endParaRP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ectangle 8">
                    <a:extLst>
                      <a:ext uri="{FF2B5EF4-FFF2-40B4-BE49-F238E27FC236}">
                        <a16:creationId xmlns:a16="http://schemas.microsoft.com/office/drawing/2014/main" id="{607154E6-88C4-4051-80C8-34D4C944102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12" y="2217"/>
                    <a:ext cx="1632" cy="624"/>
                  </a:xfrm>
                  <a:prstGeom prst="rect">
                    <a:avLst/>
                  </a:prstGeom>
                  <a:noFill/>
                  <a:ln w="9525">
                    <a:solidFill>
                      <a:schemeClr val="folHlink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folHlink"/>
                        </a:solidFill>
                      </a14:hiddenFill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>
                      <a:lnSpc>
                        <a:spcPct val="90000"/>
                      </a:lnSpc>
                    </a:pPr>
                    <a:r>
                      <a:rPr lang="zh-CN" altLang="en-US" sz="1200" dirty="0">
                        <a:ea typeface="楷体_GB2312" pitchFamily="49" charset="-122"/>
                      </a:rPr>
                      <a:t>在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200" b="1" i="1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200" b="1" i="1" smtClean="0">
                                <a:latin typeface="Cambria Math"/>
                                <a:ea typeface="楷体_GB2312" pitchFamily="49" charset="-122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200" b="1" i="1" smtClean="0"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b="1" i="1" smtClean="0">
                                    <a:latin typeface="Cambria Math"/>
                                    <a:ea typeface="楷体_GB2312" pitchFamily="49" charset="-122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</m:oMath>
                    </a14:m>
                    <a:r>
                      <a:rPr lang="zh-CN" altLang="en-US" sz="1200" dirty="0">
                        <a:solidFill>
                          <a:schemeClr val="tx1"/>
                        </a:solidFill>
                        <a:ea typeface="楷体_GB2312" pitchFamily="49" charset="-122"/>
                      </a:rPr>
                      <a:t>点选择</a:t>
                    </a:r>
                  </a:p>
                  <a:p>
                    <a:pPr algn="ctr">
                      <a:lnSpc>
                        <a:spcPct val="90000"/>
                      </a:lnSpc>
                    </a:pPr>
                    <a:r>
                      <a:rPr lang="zh-CN" altLang="en-US" sz="1200" dirty="0">
                        <a:solidFill>
                          <a:srgbClr val="FF0000"/>
                        </a:solidFill>
                        <a:ea typeface="楷体_GB2312" pitchFamily="49" charset="-122"/>
                      </a:rPr>
                      <a:t>可行下降方向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200" b="1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楷体_GB2312" pitchFamily="49" charset="-122"/>
                              </a:rPr>
                              <m:t>𝒑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楷体_GB2312" pitchFamily="49" charset="-122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</m:oMath>
                    </a14:m>
                    <a:endParaRPr lang="en-US" altLang="zh-CN" sz="1200" baseline="30000" dirty="0">
                      <a:solidFill>
                        <a:schemeClr val="tx1"/>
                      </a:solidFill>
                      <a:ea typeface="楷体_GB2312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16" name="Rectangle 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112" y="2217"/>
                    <a:ext cx="1632" cy="624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l="-3066" t="-8088" b="-11765"/>
                    </a:stretch>
                  </a:blipFill>
                  <a:ln w="9525">
                    <a:solidFill>
                      <a:schemeClr val="folHlink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folHlink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  <a:endParaRPr lang="zh-CN" altLang="en-US">
                      <a:noFill/>
                    </a:endParaRP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3" name="Object 9">
                    <a:extLst>
                      <a:ext uri="{FF2B5EF4-FFF2-40B4-BE49-F238E27FC236}">
                        <a16:creationId xmlns:a16="http://schemas.microsoft.com/office/drawing/2014/main" id="{516DEC68-F332-4AFF-8A18-92C9A8021425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3168" y="2304"/>
                  <a:ext cx="246" cy="294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1042" r:id="rId7" imgW="254000" imgH="304800" progId="Equation.3">
                          <p:embed/>
                        </p:oleObj>
                      </mc:Choice>
                      <mc:Fallback>
                        <p:oleObj r:id="rId7" imgW="254000" imgH="304800" progId="Equation.3">
                          <p:embed/>
                          <p:pic>
                            <p:nvPicPr>
                              <p:cNvPr id="17" name="Object 9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8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168" y="2304"/>
                                <a:ext cx="246" cy="294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chemeClr val="tx1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7" name="Object 9"/>
                  <p:cNvGraphicFramePr>
                    <a:graphicFrameLocks noChangeAspect="1"/>
                  </p:cNvGraphicFramePr>
                  <p:nvPr/>
                </p:nvGraphicFramePr>
                <p:xfrm>
                  <a:off x="3168" y="2304"/>
                  <a:ext cx="246" cy="294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36940" r:id="rId9" imgW="254000" imgH="304800" progId="Equation.3">
                          <p:embed/>
                        </p:oleObj>
                      </mc:Choice>
                      <mc:Fallback>
                        <p:oleObj r:id="rId9" imgW="254000" imgH="304800" progId="Equation.3">
                          <p:embed/>
                          <p:pic>
                            <p:nvPicPr>
                              <p:cNvPr id="0" name="图片 36935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0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168" y="2304"/>
                                <a:ext cx="246" cy="294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tx1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AutoShape 11">
                    <a:extLst>
                      <a:ext uri="{FF2B5EF4-FFF2-40B4-BE49-F238E27FC236}">
                        <a16:creationId xmlns:a16="http://schemas.microsoft.com/office/drawing/2014/main" id="{B448EEEC-3E9E-4AB2-B665-347604BE90B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04" y="1200"/>
                    <a:ext cx="2448" cy="720"/>
                  </a:xfrm>
                  <a:prstGeom prst="flowChartDecision">
                    <a:avLst/>
                  </a:prstGeom>
                  <a:noFill/>
                  <a:ln w="9525">
                    <a:solidFill>
                      <a:schemeClr val="folHlink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0066"/>
                        </a:solidFill>
                      </a14:hiddenFill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>
                      <a:lnSpc>
                        <a:spcPct val="90000"/>
                      </a:lnSpc>
                    </a:pPr>
                    <a:r>
                      <a:rPr lang="zh-CN" altLang="en-US" sz="1200" dirty="0">
                        <a:solidFill>
                          <a:schemeClr val="tx1"/>
                        </a:solidFill>
                        <a:ea typeface="楷体_GB2312" pitchFamily="49" charset="-122"/>
                      </a:rPr>
                      <a:t>是否满足</a:t>
                    </a:r>
                    <a:r>
                      <a:rPr lang="zh-CN" altLang="en-US" sz="1200" dirty="0">
                        <a:solidFill>
                          <a:srgbClr val="FF0000"/>
                        </a:solidFill>
                        <a:ea typeface="楷体_GB2312" pitchFamily="49" charset="-122"/>
                      </a:rPr>
                      <a:t>停止准则</a:t>
                    </a:r>
                    <a:r>
                      <a:rPr lang="en-US" altLang="zh-CN" sz="1200" dirty="0">
                        <a:ea typeface="楷体_GB2312" pitchFamily="49" charset="-122"/>
                      </a:rPr>
                      <a:t>:</a:t>
                    </a:r>
                    <a14:m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en-US" altLang="zh-CN" sz="1200" b="1" i="1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1200" b="1" i="1" smtClean="0"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b="1" i="0" smtClean="0">
                                    <a:latin typeface="Cambria Math"/>
                                    <a:ea typeface="楷体_GB2312" pitchFamily="49" charset="-122"/>
                                  </a:rPr>
                                  <m:t>𝛁</m:t>
                                </m:r>
                                <m:r>
                                  <a:rPr lang="en-US" altLang="zh-CN" sz="1200" b="1" i="1" smtClean="0">
                                    <a:latin typeface="Cambria Math"/>
                                    <a:ea typeface="楷体_GB2312" pitchFamily="49" charset="-122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  <a:ea typeface="楷体_GB2312" pitchFamily="49" charset="-122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sz="1200" b="1" i="1" smtClean="0">
                                            <a:latin typeface="Cambria Math" panose="02040503050406030204" pitchFamily="18" charset="0"/>
                                            <a:ea typeface="楷体_GB2312" pitchFamily="49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200" b="1" i="1" smtClean="0">
                                            <a:latin typeface="Cambria Math"/>
                                            <a:ea typeface="楷体_GB2312" pitchFamily="49" charset="-122"/>
                                          </a:rPr>
                                          <m:t>𝒙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lang="en-US" altLang="zh-CN" sz="1200" b="1" i="1" smtClean="0">
                                                <a:latin typeface="Cambria Math" panose="02040503050406030204" pitchFamily="18" charset="0"/>
                                                <a:ea typeface="楷体_GB2312" pitchFamily="49" charset="-122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sz="1200" b="1" i="1" smtClean="0">
                                                <a:latin typeface="Cambria Math"/>
                                                <a:ea typeface="楷体_GB2312" pitchFamily="49" charset="-122"/>
                                              </a:rPr>
                                              <m:t>𝒌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en-US" altLang="zh-CN" sz="1200" b="1" i="1" smtClean="0">
                            <a:latin typeface="Cambria Math"/>
                            <a:ea typeface="楷体_GB2312" pitchFamily="49" charset="-122"/>
                          </a:rPr>
                          <m:t>≤</m:t>
                        </m:r>
                        <m:r>
                          <a:rPr lang="en-US" altLang="zh-CN" sz="1200" b="1" i="1" smtClean="0">
                            <a:latin typeface="Cambria Math"/>
                            <a:ea typeface="楷体_GB2312" pitchFamily="49" charset="-122"/>
                          </a:rPr>
                          <m:t>𝝐</m:t>
                        </m:r>
                      </m:oMath>
                    </a14:m>
                    <a:r>
                      <a:rPr lang="zh-CN" altLang="en-US" sz="1200" dirty="0">
                        <a:solidFill>
                          <a:schemeClr val="tx1"/>
                        </a:solidFill>
                        <a:ea typeface="楷体_GB2312" pitchFamily="49" charset="-122"/>
                      </a:rPr>
                      <a:t>？</a:t>
                    </a:r>
                  </a:p>
                </p:txBody>
              </p:sp>
            </mc:Choice>
            <mc:Fallback xmlns="">
              <p:sp>
                <p:nvSpPr>
                  <p:cNvPr id="19" name="AutoShape 1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704" y="1200"/>
                    <a:ext cx="2448" cy="720"/>
                  </a:xfrm>
                  <a:prstGeom prst="flowChartDecision">
                    <a:avLst/>
                  </a:prstGeom>
                  <a:blipFill rotWithShape="1">
                    <a:blip r:embed="rId11"/>
                    <a:stretch>
                      <a:fillRect l="-1711" r="-1866"/>
                    </a:stretch>
                  </a:blipFill>
                  <a:ln w="9525">
                    <a:solidFill>
                      <a:schemeClr val="folHlink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0066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  <a:endParaRPr lang="zh-CN" altLang="en-US">
                      <a:noFill/>
                    </a:endParaRPr>
                  </a:p>
                </p:txBody>
              </p:sp>
            </mc:Fallback>
          </mc:AlternateContent>
          <p:sp>
            <p:nvSpPr>
              <p:cNvPr id="15" name="AutoShape 12">
                <a:extLst>
                  <a:ext uri="{FF2B5EF4-FFF2-40B4-BE49-F238E27FC236}">
                    <a16:creationId xmlns:a16="http://schemas.microsoft.com/office/drawing/2014/main" id="{A42A2BF7-F4EA-4F5B-9BB8-EA3A707586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1" y="1356"/>
                <a:ext cx="768" cy="384"/>
              </a:xfrm>
              <a:prstGeom prst="flowChartAlternateProcess">
                <a:avLst/>
              </a:prstGeom>
              <a:noFill/>
              <a:ln w="9525">
                <a:solidFill>
                  <a:schemeClr val="folHlink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6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  <a:ea typeface="楷体_GB2312" pitchFamily="49" charset="-122"/>
                  </a:rPr>
                  <a:t>停</a:t>
                </a:r>
              </a:p>
            </p:txBody>
          </p:sp>
          <p:sp>
            <p:nvSpPr>
              <p:cNvPr id="16" name="Line 13">
                <a:extLst>
                  <a:ext uri="{FF2B5EF4-FFF2-40B4-BE49-F238E27FC236}">
                    <a16:creationId xmlns:a16="http://schemas.microsoft.com/office/drawing/2014/main" id="{76246AAB-9D86-4D65-98C3-2467BE6023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816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/>
              </a:p>
            </p:txBody>
          </p:sp>
          <p:sp>
            <p:nvSpPr>
              <p:cNvPr id="17" name="Line 14">
                <a:extLst>
                  <a:ext uri="{FF2B5EF4-FFF2-40B4-BE49-F238E27FC236}">
                    <a16:creationId xmlns:a16="http://schemas.microsoft.com/office/drawing/2014/main" id="{C22873FB-E7DE-423D-B481-1F64B66F07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192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/>
              </a:p>
            </p:txBody>
          </p:sp>
          <p:sp>
            <p:nvSpPr>
              <p:cNvPr id="18" name="Line 15">
                <a:extLst>
                  <a:ext uri="{FF2B5EF4-FFF2-40B4-BE49-F238E27FC236}">
                    <a16:creationId xmlns:a16="http://schemas.microsoft.com/office/drawing/2014/main" id="{2F23A0DC-FE3C-46E0-B7D0-9D02C399AC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316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/>
              </a:p>
            </p:txBody>
          </p:sp>
          <p:sp>
            <p:nvSpPr>
              <p:cNvPr id="19" name="Line 16">
                <a:extLst>
                  <a:ext uri="{FF2B5EF4-FFF2-40B4-BE49-F238E27FC236}">
                    <a16:creationId xmlns:a16="http://schemas.microsoft.com/office/drawing/2014/main" id="{8FC17D30-1FDF-4F04-B4C5-155F61E120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40" y="1564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Rectangle 17">
                    <a:extLst>
                      <a:ext uri="{FF2B5EF4-FFF2-40B4-BE49-F238E27FC236}">
                        <a16:creationId xmlns:a16="http://schemas.microsoft.com/office/drawing/2014/main" id="{24FA7D5E-C10A-4C00-9396-53BEDE5412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76" y="1584"/>
                    <a:ext cx="1008" cy="336"/>
                  </a:xfrm>
                  <a:prstGeom prst="rect">
                    <a:avLst/>
                  </a:prstGeom>
                  <a:noFill/>
                  <a:ln w="9525">
                    <a:solidFill>
                      <a:schemeClr val="folHlink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0066"/>
                        </a:solidFill>
                      </a14:hiddenFill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>
                      <a:lnSpc>
                        <a:spcPct val="90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1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楷体_GB2312" pitchFamily="49" charset="-122"/>
                            </a:rPr>
                            <m:t>𝒌</m:t>
                          </m:r>
                          <m:r>
                            <a:rPr lang="en-US" altLang="zh-CN" sz="1200" b="1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楷体_GB2312" pitchFamily="49" charset="-122"/>
                            </a:rPr>
                            <m:t>=</m:t>
                          </m:r>
                          <m:r>
                            <a:rPr lang="en-US" altLang="zh-CN" sz="1200" b="1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楷体_GB2312" pitchFamily="49" charset="-122"/>
                            </a:rPr>
                            <m:t>𝒌</m:t>
                          </m:r>
                          <m:r>
                            <a:rPr lang="en-US" altLang="zh-CN" sz="1200" b="1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楷体_GB2312" pitchFamily="49" charset="-122"/>
                            </a:rPr>
                            <m:t>+</m:t>
                          </m:r>
                          <m:r>
                            <a:rPr lang="en-US" altLang="zh-CN" sz="1200" b="1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楷体_GB2312" pitchFamily="49" charset="-122"/>
                            </a:rPr>
                            <m:t>𝟏</m:t>
                          </m:r>
                        </m:oMath>
                      </m:oMathPara>
                    </a14:m>
                    <a:endParaRPr lang="en-US" altLang="zh-CN" sz="1200" dirty="0">
                      <a:solidFill>
                        <a:schemeClr val="tx1"/>
                      </a:solidFill>
                      <a:ea typeface="楷体_GB2312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25" name="Rectangle 1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576" y="1584"/>
                    <a:ext cx="1008" cy="336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l="-2662"/>
                    </a:stretch>
                  </a:blipFill>
                  <a:ln w="9525">
                    <a:solidFill>
                      <a:schemeClr val="folHlink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0066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  <a:endParaRPr lang="zh-CN" altLang="en-US">
                      <a:noFill/>
                    </a:endParaRPr>
                  </a:p>
                </p:txBody>
              </p:sp>
            </mc:Fallback>
          </mc:AlternateContent>
          <p:sp>
            <p:nvSpPr>
              <p:cNvPr id="21" name="Line 18">
                <a:extLst>
                  <a:ext uri="{FF2B5EF4-FFF2-40B4-BE49-F238E27FC236}">
                    <a16:creationId xmlns:a16="http://schemas.microsoft.com/office/drawing/2014/main" id="{C91AAA74-57FE-47B2-8714-088EFB4C89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56" y="3531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/>
              </a:p>
            </p:txBody>
          </p:sp>
          <p:sp>
            <p:nvSpPr>
              <p:cNvPr id="22" name="Line 19">
                <a:extLst>
                  <a:ext uri="{FF2B5EF4-FFF2-40B4-BE49-F238E27FC236}">
                    <a16:creationId xmlns:a16="http://schemas.microsoft.com/office/drawing/2014/main" id="{8D3AEDBE-E13E-436D-8E84-B1C1CD8DC1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56" y="1920"/>
                <a:ext cx="0" cy="1611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/>
              </a:p>
            </p:txBody>
          </p:sp>
          <p:sp>
            <p:nvSpPr>
              <p:cNvPr id="23" name="Line 20">
                <a:extLst>
                  <a:ext uri="{FF2B5EF4-FFF2-40B4-BE49-F238E27FC236}">
                    <a16:creationId xmlns:a16="http://schemas.microsoft.com/office/drawing/2014/main" id="{31AF82E3-C4C0-48BD-B3F4-9D7AC17EB2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56" y="1056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/>
              </a:p>
            </p:txBody>
          </p:sp>
          <p:sp>
            <p:nvSpPr>
              <p:cNvPr id="24" name="Line 21">
                <a:extLst>
                  <a:ext uri="{FF2B5EF4-FFF2-40B4-BE49-F238E27FC236}">
                    <a16:creationId xmlns:a16="http://schemas.microsoft.com/office/drawing/2014/main" id="{96A13390-9000-4F8E-8ADA-234EFCD726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1056"/>
                <a:ext cx="1872" cy="0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/>
              </a:p>
            </p:txBody>
          </p:sp>
          <p:sp>
            <p:nvSpPr>
              <p:cNvPr id="25" name="Line 14">
                <a:extLst>
                  <a:ext uri="{FF2B5EF4-FFF2-40B4-BE49-F238E27FC236}">
                    <a16:creationId xmlns:a16="http://schemas.microsoft.com/office/drawing/2014/main" id="{299EDEC6-6BC4-4FD4-AA02-694F3879AD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69" y="2841"/>
                <a:ext cx="0" cy="249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/>
              </a:p>
            </p:txBody>
          </p:sp>
        </p:grpSp>
        <p:sp>
          <p:nvSpPr>
            <p:cNvPr id="9" name="Rectangle 22">
              <a:extLst>
                <a:ext uri="{FF2B5EF4-FFF2-40B4-BE49-F238E27FC236}">
                  <a16:creationId xmlns:a16="http://schemas.microsoft.com/office/drawing/2014/main" id="{350D2200-3BA8-4DD3-8EB8-5491D5DD3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7632" y="1787843"/>
              <a:ext cx="762000" cy="457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66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>
                  <a:solidFill>
                    <a:schemeClr val="tx1"/>
                  </a:solidFill>
                  <a:ea typeface="楷体_GB2312" pitchFamily="49" charset="-122"/>
                </a:rPr>
                <a:t>yes</a:t>
              </a:r>
            </a:p>
          </p:txBody>
        </p:sp>
        <p:sp>
          <p:nvSpPr>
            <p:cNvPr id="10" name="Rectangle 23">
              <a:extLst>
                <a:ext uri="{FF2B5EF4-FFF2-40B4-BE49-F238E27FC236}">
                  <a16:creationId xmlns:a16="http://schemas.microsoft.com/office/drawing/2014/main" id="{7325756E-516A-4142-8CE2-FFD63CE221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8622" y="2888425"/>
              <a:ext cx="609600" cy="533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66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dirty="0">
                  <a:solidFill>
                    <a:schemeClr val="tx1"/>
                  </a:solidFill>
                  <a:ea typeface="楷体_GB2312" pitchFamily="49" charset="-122"/>
                </a:rPr>
                <a:t>no</a:t>
              </a:r>
            </a:p>
          </p:txBody>
        </p:sp>
      </p:grpSp>
      <p:grpSp>
        <p:nvGrpSpPr>
          <p:cNvPr id="28" name="Group 25">
            <a:extLst>
              <a:ext uri="{FF2B5EF4-FFF2-40B4-BE49-F238E27FC236}">
                <a16:creationId xmlns:a16="http://schemas.microsoft.com/office/drawing/2014/main" id="{A1BC5DC8-FA0A-4C72-833C-5B152DED0D04}"/>
              </a:ext>
            </a:extLst>
          </p:cNvPr>
          <p:cNvGrpSpPr/>
          <p:nvPr/>
        </p:nvGrpSpPr>
        <p:grpSpPr bwMode="auto">
          <a:xfrm>
            <a:off x="2775029" y="5014846"/>
            <a:ext cx="7293718" cy="1774007"/>
            <a:chOff x="432" y="628"/>
            <a:chExt cx="4944" cy="17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AutoShape 4">
                  <a:extLst>
                    <a:ext uri="{FF2B5EF4-FFF2-40B4-BE49-F238E27FC236}">
                      <a16:creationId xmlns:a16="http://schemas.microsoft.com/office/drawing/2014/main" id="{D5CCFFD5-21EC-401D-8249-48290976A6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" y="628"/>
                  <a:ext cx="4944" cy="332"/>
                </a:xfrm>
                <a:prstGeom prst="flowChartAlternateProcess">
                  <a:avLst/>
                </a:prstGeom>
                <a:noFill/>
                <a:ln w="9525">
                  <a:solidFill>
                    <a:schemeClr val="folHlink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995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𝜌</m:t>
                      </m:r>
                      <m:r>
                        <a:rPr lang="en-US" altLang="zh-CN" sz="1995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∈</m:t>
                      </m:r>
                      <m:d>
                        <m:dPr>
                          <m:ctrlPr>
                            <a:rPr lang="en-US" altLang="zh-CN" sz="1995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995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0,</m:t>
                          </m:r>
                          <m:f>
                            <m:fPr>
                              <m:ctrlPr>
                                <a:rPr lang="en-US" altLang="zh-CN" sz="1995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995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1995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sz="1995" i="1">
                          <a:solidFill>
                            <a:srgbClr val="FF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altLang="zh-CN" sz="1995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altLang="zh-CN" sz="1995" i="1">
                          <a:solidFill>
                            <a:srgbClr val="FF0000"/>
                          </a:solidFill>
                          <a:latin typeface="Cambria Math"/>
                        </a:rPr>
                        <m:t>∈(0,</m:t>
                      </m:r>
                      <m:sSub>
                        <m:sSubPr>
                          <m:ctrlPr>
                            <a:rPr lang="en-US" altLang="zh-CN" sz="1995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995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𝜆</m:t>
                          </m:r>
                        </m:e>
                        <m:sub>
                          <m:func>
                            <m:funcPr>
                              <m:ctrlPr>
                                <a:rPr lang="en-US" altLang="zh-CN" sz="1995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995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max</m:t>
                              </m:r>
                            </m:fName>
                            <m:e>
                              <m:r>
                                <a:rPr lang="en-US" altLang="zh-CN" sz="1995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e>
                          </m:func>
                        </m:sub>
                      </m:sSub>
                      <m:r>
                        <a:rPr lang="en-US" altLang="zh-CN" sz="1995" i="1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a14:m>
                  <a:r>
                    <a:rPr lang="zh-CN" altLang="en-US" sz="1995" i="1" dirty="0">
                      <a:solidFill>
                        <a:srgbClr val="FF0000"/>
                      </a:solidFill>
                    </a:rPr>
                    <a:t>，</a:t>
                  </a:r>
                  <a14:m>
                    <m:oMath xmlns:m="http://schemas.openxmlformats.org/officeDocument/2006/math">
                      <m:r>
                        <a:rPr lang="en-US" altLang="zh-CN" sz="1995" i="1">
                          <a:solidFill>
                            <a:srgbClr val="FF0000"/>
                          </a:solidFill>
                          <a:latin typeface="Cambria Math"/>
                        </a:rPr>
                        <m:t>𝛼</m:t>
                      </m:r>
                      <m:r>
                        <a:rPr lang="en-US" altLang="zh-CN" sz="1995" i="1">
                          <a:solidFill>
                            <a:srgbClr val="FF0000"/>
                          </a:solidFill>
                          <a:latin typeface="Cambria Math"/>
                        </a:rPr>
                        <m:t>&gt;1</m:t>
                      </m:r>
                    </m:oMath>
                  </a14:m>
                  <a:r>
                    <a:rPr lang="en-US" altLang="zh-CN" sz="1995" dirty="0">
                      <a:solidFill>
                        <a:srgbClr val="FF0000"/>
                      </a:solidFill>
                    </a:rPr>
                    <a:t>(</a:t>
                  </a:r>
                  <a:r>
                    <a:rPr lang="zh-CN" altLang="en-US" sz="1995" dirty="0">
                      <a:solidFill>
                        <a:srgbClr val="FF0000"/>
                      </a:solidFill>
                    </a:rPr>
                    <a:t>步长增大系数</a:t>
                  </a:r>
                  <a:r>
                    <a:rPr lang="en-US" altLang="zh-CN" sz="1995" dirty="0">
                      <a:solidFill>
                        <a:srgbClr val="FF0000"/>
                      </a:solidFill>
                    </a:rPr>
                    <a:t>)</a:t>
                  </a:r>
                  <a:r>
                    <a:rPr lang="zh-CN" altLang="en-US" sz="1995" i="1" dirty="0">
                      <a:solidFill>
                        <a:srgbClr val="FF0000"/>
                      </a:solidFill>
                    </a:rPr>
                    <a:t>，</a:t>
                  </a:r>
                  <a14:m>
                    <m:oMath xmlns:m="http://schemas.openxmlformats.org/officeDocument/2006/math">
                      <m:r>
                        <a:rPr lang="en-US" altLang="zh-CN" sz="1995" i="1" dirty="0">
                          <a:solidFill>
                            <a:srgbClr val="FF0000"/>
                          </a:solidFill>
                          <a:latin typeface="Cambria Math"/>
                        </a:rPr>
                        <m:t>𝛽</m:t>
                      </m:r>
                      <m:r>
                        <a:rPr lang="en-US" altLang="zh-CN" sz="1995" i="1" dirty="0">
                          <a:solidFill>
                            <a:srgbClr val="FF0000"/>
                          </a:solidFill>
                          <a:latin typeface="Cambria Math"/>
                        </a:rPr>
                        <m:t>&lt;1(</m:t>
                      </m:r>
                      <m:r>
                        <a:rPr lang="en-US" altLang="zh-CN" sz="1995" i="1" dirty="0">
                          <a:solidFill>
                            <a:srgbClr val="FF0000"/>
                          </a:solidFill>
                          <a:latin typeface="Cambria Math"/>
                        </a:rPr>
                        <m:t>步长缩短系数</m:t>
                      </m:r>
                      <m:r>
                        <a:rPr lang="en-US" altLang="zh-CN" sz="1995" i="1" dirty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a14:m>
                  <a:r>
                    <a:rPr lang="en-US" altLang="zh-CN" sz="1995" dirty="0"/>
                    <a:t> </a:t>
                  </a:r>
                </a:p>
              </p:txBody>
            </p:sp>
          </mc:Choice>
          <mc:Fallback xmlns="">
            <p:sp>
              <p:nvSpPr>
                <p:cNvPr id="75780" name="AutoShap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2" y="628"/>
                  <a:ext cx="4944" cy="332"/>
                </a:xfrm>
                <a:prstGeom prst="flowChartAlternateProcess">
                  <a:avLst/>
                </a:prstGeom>
                <a:blipFill rotWithShape="1">
                  <a:blip r:embed="rId13"/>
                  <a:stretch>
                    <a:fillRect l="-5155" t="-21311" r="-3410" b="-31148"/>
                  </a:stretch>
                </a:blipFill>
                <a:ln w="9525">
                  <a:solidFill>
                    <a:schemeClr val="folHlink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p:sp>
          <p:nvSpPr>
            <p:cNvPr id="30" name="AutoShape 5">
              <a:extLst>
                <a:ext uri="{FF2B5EF4-FFF2-40B4-BE49-F238E27FC236}">
                  <a16:creationId xmlns:a16="http://schemas.microsoft.com/office/drawing/2014/main" id="{7AC3FABA-B0B9-4AB3-A103-F6CDD374F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296"/>
              <a:ext cx="2064" cy="432"/>
            </a:xfrm>
            <a:prstGeom prst="flowChartDecision">
              <a:avLst/>
            </a:prstGeom>
            <a:noFill/>
            <a:ln w="9525">
              <a:solidFill>
                <a:schemeClr val="fol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995" dirty="0">
                  <a:solidFill>
                    <a:srgbClr val="FF0000"/>
                  </a:solidFill>
                </a:rPr>
                <a:t>(1)</a:t>
              </a:r>
              <a:r>
                <a:rPr lang="zh-CN" altLang="en-US" sz="1995" dirty="0">
                  <a:solidFill>
                    <a:srgbClr val="FF0000"/>
                  </a:solidFill>
                </a:rPr>
                <a:t>是否成立？</a:t>
              </a:r>
            </a:p>
          </p:txBody>
        </p:sp>
        <p:sp>
          <p:nvSpPr>
            <p:cNvPr id="31" name="Line 6">
              <a:extLst>
                <a:ext uri="{FF2B5EF4-FFF2-40B4-BE49-F238E27FC236}">
                  <a16:creationId xmlns:a16="http://schemas.microsoft.com/office/drawing/2014/main" id="{126154C3-B54B-4C2A-892A-37149006BF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536"/>
              <a:ext cx="432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710"/>
            </a:p>
          </p:txBody>
        </p:sp>
        <p:sp>
          <p:nvSpPr>
            <p:cNvPr id="32" name="Rectangle 7">
              <a:extLst>
                <a:ext uri="{FF2B5EF4-FFF2-40B4-BE49-F238E27FC236}">
                  <a16:creationId xmlns:a16="http://schemas.microsoft.com/office/drawing/2014/main" id="{871A8F05-345F-416E-BE57-FF12F6CC5E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1296"/>
              <a:ext cx="48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710" dirty="0">
                  <a:solidFill>
                    <a:srgbClr val="0000FF"/>
                  </a:solidFill>
                </a:rPr>
                <a:t>No</a:t>
              </a:r>
            </a:p>
          </p:txBody>
        </p:sp>
        <p:sp>
          <p:nvSpPr>
            <p:cNvPr id="33" name="Line 8">
              <a:extLst>
                <a:ext uri="{FF2B5EF4-FFF2-40B4-BE49-F238E27FC236}">
                  <a16:creationId xmlns:a16="http://schemas.microsoft.com/office/drawing/2014/main" id="{8FE9C088-7B08-450D-8B0B-6942119A72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728"/>
              <a:ext cx="0" cy="192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710"/>
            </a:p>
          </p:txBody>
        </p:sp>
        <p:sp>
          <p:nvSpPr>
            <p:cNvPr id="34" name="Rectangle 9">
              <a:extLst>
                <a:ext uri="{FF2B5EF4-FFF2-40B4-BE49-F238E27FC236}">
                  <a16:creationId xmlns:a16="http://schemas.microsoft.com/office/drawing/2014/main" id="{C8F50629-8EE7-46F7-BA03-80BC92D4B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1728"/>
              <a:ext cx="43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995" dirty="0">
                  <a:solidFill>
                    <a:srgbClr val="0000FF"/>
                  </a:solidFill>
                </a:rPr>
                <a:t>Yes</a:t>
              </a:r>
            </a:p>
          </p:txBody>
        </p:sp>
        <p:sp>
          <p:nvSpPr>
            <p:cNvPr id="35" name="Line 10">
              <a:extLst>
                <a:ext uri="{FF2B5EF4-FFF2-40B4-BE49-F238E27FC236}">
                  <a16:creationId xmlns:a16="http://schemas.microsoft.com/office/drawing/2014/main" id="{8A65C5A1-ED3E-47AB-ADB6-88D2735F13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960"/>
              <a:ext cx="0" cy="336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710"/>
            </a:p>
          </p:txBody>
        </p:sp>
        <p:sp>
          <p:nvSpPr>
            <p:cNvPr id="36" name="AutoShape 11">
              <a:extLst>
                <a:ext uri="{FF2B5EF4-FFF2-40B4-BE49-F238E27FC236}">
                  <a16:creationId xmlns:a16="http://schemas.microsoft.com/office/drawing/2014/main" id="{2A8904B3-7732-43BD-A262-06B92D7E6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920"/>
              <a:ext cx="2112" cy="432"/>
            </a:xfrm>
            <a:prstGeom prst="flowChartDecision">
              <a:avLst/>
            </a:prstGeom>
            <a:noFill/>
            <a:ln w="9525">
              <a:solidFill>
                <a:schemeClr val="fol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995" dirty="0">
                  <a:solidFill>
                    <a:srgbClr val="FF0000"/>
                  </a:solidFill>
                </a:rPr>
                <a:t>(2)</a:t>
              </a:r>
              <a:r>
                <a:rPr lang="zh-CN" altLang="en-US" sz="1995" dirty="0">
                  <a:solidFill>
                    <a:srgbClr val="FF0000"/>
                  </a:solidFill>
                </a:rPr>
                <a:t>是否成立？</a:t>
              </a:r>
            </a:p>
          </p:txBody>
        </p:sp>
        <p:sp>
          <p:nvSpPr>
            <p:cNvPr id="37" name="Line 12">
              <a:extLst>
                <a:ext uri="{FF2B5EF4-FFF2-40B4-BE49-F238E27FC236}">
                  <a16:creationId xmlns:a16="http://schemas.microsoft.com/office/drawing/2014/main" id="{06F5DBCB-B249-4A4F-AC45-4C02C3F4EE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2160"/>
              <a:ext cx="384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710"/>
            </a:p>
          </p:txBody>
        </p:sp>
        <p:sp>
          <p:nvSpPr>
            <p:cNvPr id="38" name="Rectangle 13">
              <a:extLst>
                <a:ext uri="{FF2B5EF4-FFF2-40B4-BE49-F238E27FC236}">
                  <a16:creationId xmlns:a16="http://schemas.microsoft.com/office/drawing/2014/main" id="{DF0F33B5-C4AD-4F83-AF91-26BB49A6D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1920"/>
              <a:ext cx="48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710" dirty="0">
                  <a:solidFill>
                    <a:srgbClr val="0000FF"/>
                  </a:solidFill>
                </a:rPr>
                <a:t>Yes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AutoShape 14">
                  <a:extLst>
                    <a:ext uri="{FF2B5EF4-FFF2-40B4-BE49-F238E27FC236}">
                      <a16:creationId xmlns:a16="http://schemas.microsoft.com/office/drawing/2014/main" id="{D33B062F-328B-4308-8F4F-91B88CBCBB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72" y="2016"/>
                  <a:ext cx="1104" cy="288"/>
                </a:xfrm>
                <a:prstGeom prst="flowChartAlternateProcess">
                  <a:avLst/>
                </a:prstGeom>
                <a:noFill/>
                <a:ln w="9525">
                  <a:solidFill>
                    <a:schemeClr val="folHlink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1995" dirty="0"/>
                    <a:t>停</a:t>
                  </a:r>
                  <a:r>
                    <a:rPr lang="en-US" altLang="zh-CN" sz="1995" dirty="0"/>
                    <a:t>: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995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995" b="1" i="1">
                              <a:latin typeface="Cambria Math"/>
                            </a:rPr>
                            <m:t>𝝀</m:t>
                          </m:r>
                        </m:e>
                        <m:sub>
                          <m:r>
                            <a:rPr lang="en-US" altLang="zh-CN" sz="1995" b="1" i="1"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altLang="zh-CN" sz="1995" b="1" i="1">
                          <a:latin typeface="Cambria Math"/>
                        </a:rPr>
                        <m:t>=</m:t>
                      </m:r>
                      <m:r>
                        <a:rPr lang="en-US" altLang="zh-CN" sz="1995" b="1" i="1">
                          <a:latin typeface="Cambria Math"/>
                        </a:rPr>
                        <m:t>𝝀</m:t>
                      </m:r>
                    </m:oMath>
                  </a14:m>
                  <a:endParaRPr lang="en-US" altLang="zh-CN" sz="1995" dirty="0"/>
                </a:p>
              </p:txBody>
            </p:sp>
          </mc:Choice>
          <mc:Fallback xmlns="">
            <p:sp>
              <p:nvSpPr>
                <p:cNvPr id="75790" name="AutoShap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72" y="2016"/>
                  <a:ext cx="1104" cy="288"/>
                </a:xfrm>
                <a:prstGeom prst="flowChartAlternateProcess">
                  <a:avLst/>
                </a:prstGeom>
                <a:blipFill rotWithShape="1">
                  <a:blip r:embed="rId14"/>
                  <a:stretch>
                    <a:fillRect t="-30189" b="-45283"/>
                  </a:stretch>
                </a:blipFill>
                <a:ln w="9525">
                  <a:solidFill>
                    <a:schemeClr val="folHlink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p:sp>
          <p:nvSpPr>
            <p:cNvPr id="40" name="Line 15">
              <a:extLst>
                <a:ext uri="{FF2B5EF4-FFF2-40B4-BE49-F238E27FC236}">
                  <a16:creationId xmlns:a16="http://schemas.microsoft.com/office/drawing/2014/main" id="{D98AF40B-0C71-4451-A2DA-340CAF4E47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0" y="2160"/>
              <a:ext cx="288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710"/>
            </a:p>
          </p:txBody>
        </p:sp>
        <p:sp>
          <p:nvSpPr>
            <p:cNvPr id="41" name="Rectangle 16">
              <a:extLst>
                <a:ext uri="{FF2B5EF4-FFF2-40B4-BE49-F238E27FC236}">
                  <a16:creationId xmlns:a16="http://schemas.microsoft.com/office/drawing/2014/main" id="{1BB17DDD-80EE-486F-8925-F75F26AE73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92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995" dirty="0">
                  <a:solidFill>
                    <a:srgbClr val="0000FF"/>
                  </a:solidFill>
                </a:rPr>
                <a:t>No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17">
                  <a:extLst>
                    <a:ext uri="{FF2B5EF4-FFF2-40B4-BE49-F238E27FC236}">
                      <a16:creationId xmlns:a16="http://schemas.microsoft.com/office/drawing/2014/main" id="{8EC87860-AB25-4EC6-ADF9-BE5BE70AB1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" y="2016"/>
                  <a:ext cx="1008" cy="288"/>
                </a:xfrm>
                <a:prstGeom prst="rect">
                  <a:avLst/>
                </a:prstGeom>
                <a:noFill/>
                <a:ln w="9525">
                  <a:solidFill>
                    <a:schemeClr val="folHlink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995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𝝀</m:t>
                        </m:r>
                        <m:r>
                          <a:rPr lang="en-US" altLang="zh-CN" sz="1995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altLang="zh-CN" sz="1995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𝜶𝝀</m:t>
                        </m:r>
                      </m:oMath>
                    </m:oMathPara>
                  </a14:m>
                  <a:endParaRPr lang="en-US" altLang="zh-CN" sz="1995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5793" name="Rectangle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2" y="2016"/>
                  <a:ext cx="1008" cy="288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b="-11321"/>
                  </a:stretch>
                </a:blipFill>
                <a:ln w="9525">
                  <a:solidFill>
                    <a:schemeClr val="folHlink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18">
                  <a:extLst>
                    <a:ext uri="{FF2B5EF4-FFF2-40B4-BE49-F238E27FC236}">
                      <a16:creationId xmlns:a16="http://schemas.microsoft.com/office/drawing/2014/main" id="{FD3C5DC3-E69D-44F5-BBF9-386C0D24C5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1344"/>
                  <a:ext cx="960" cy="336"/>
                </a:xfrm>
                <a:prstGeom prst="rect">
                  <a:avLst/>
                </a:prstGeom>
                <a:noFill/>
                <a:ln w="9525">
                  <a:solidFill>
                    <a:schemeClr val="folHlink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995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𝝀</m:t>
                        </m:r>
                        <m:r>
                          <a:rPr lang="en-US" altLang="zh-CN" sz="1995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altLang="zh-CN" sz="1995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𝜷𝝀</m:t>
                        </m:r>
                      </m:oMath>
                    </m:oMathPara>
                  </a14:m>
                  <a:endParaRPr lang="en-US" altLang="zh-CN" sz="1995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5794" name="Rectangle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20" y="1344"/>
                  <a:ext cx="960" cy="336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b="-24194"/>
                  </a:stretch>
                </a:blipFill>
                <a:ln w="9525">
                  <a:solidFill>
                    <a:schemeClr val="folHlink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p:sp>
          <p:nvSpPr>
            <p:cNvPr id="44" name="Line 19">
              <a:extLst>
                <a:ext uri="{FF2B5EF4-FFF2-40B4-BE49-F238E27FC236}">
                  <a16:creationId xmlns:a16="http://schemas.microsoft.com/office/drawing/2014/main" id="{8FA30A54-8A0C-49FC-B5E2-4D9C778610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84" y="1104"/>
              <a:ext cx="2016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710"/>
            </a:p>
          </p:txBody>
        </p:sp>
        <p:sp>
          <p:nvSpPr>
            <p:cNvPr id="45" name="Line 20">
              <a:extLst>
                <a:ext uri="{FF2B5EF4-FFF2-40B4-BE49-F238E27FC236}">
                  <a16:creationId xmlns:a16="http://schemas.microsoft.com/office/drawing/2014/main" id="{9F34B195-A86F-48EC-B19A-E5A829A136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1104"/>
              <a:ext cx="0" cy="24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710"/>
            </a:p>
          </p:txBody>
        </p:sp>
        <p:sp>
          <p:nvSpPr>
            <p:cNvPr id="46" name="Line 21">
              <a:extLst>
                <a:ext uri="{FF2B5EF4-FFF2-40B4-BE49-F238E27FC236}">
                  <a16:creationId xmlns:a16="http://schemas.microsoft.com/office/drawing/2014/main" id="{1357FB58-F5E6-43DB-9F68-FF9E572F21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0" y="1200"/>
              <a:ext cx="0" cy="816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710"/>
            </a:p>
          </p:txBody>
        </p:sp>
        <p:sp>
          <p:nvSpPr>
            <p:cNvPr id="47" name="Line 22">
              <a:extLst>
                <a:ext uri="{FF2B5EF4-FFF2-40B4-BE49-F238E27FC236}">
                  <a16:creationId xmlns:a16="http://schemas.microsoft.com/office/drawing/2014/main" id="{A2EBD784-0F8C-485B-80EF-D926689E34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200"/>
              <a:ext cx="1824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710"/>
            </a:p>
          </p:txBody>
        </p:sp>
      </p:grpSp>
    </p:spTree>
    <p:extLst>
      <p:ext uri="{BB962C8B-B14F-4D97-AF65-F5344CB8AC3E}">
        <p14:creationId xmlns:p14="http://schemas.microsoft.com/office/powerpoint/2010/main" val="1573161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CCE8003A-7C6C-44D9-AB27-08287D526B3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选取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/>
                  <a:t>的各种规则，每种规则包含</a:t>
                </a:r>
                <a:r>
                  <a:rPr lang="en-US" altLang="zh-CN" dirty="0"/>
                  <a:t>(1),(2)</a:t>
                </a:r>
                <a:r>
                  <a:rPr lang="zh-CN" altLang="en-US" dirty="0"/>
                  <a:t>两条件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CCE8003A-7C6C-44D9-AB27-08287D526B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13364" r="-2029" b="-211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4B2099A-1845-445F-8FFD-AC448DFB92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387" y="1861457"/>
                <a:ext cx="7212034" cy="4996543"/>
              </a:xfrm>
              <a:ln>
                <a:solidFill>
                  <a:srgbClr val="FF0000"/>
                </a:solidFill>
              </a:ln>
            </p:spPr>
            <p:txBody>
              <a:bodyPr>
                <a:normAutofit lnSpcReduction="10000"/>
              </a:bodyPr>
              <a:lstStyle/>
              <a:p>
                <a:r>
                  <a:rPr lang="zh-CN" altLang="en-US" sz="1800" dirty="0"/>
                  <a:t>设</a:t>
                </a:r>
                <a:r>
                  <a:rPr lang="zh-CN" altLang="en-US" sz="1800" i="1" dirty="0"/>
                  <a:t>   </a:t>
                </a:r>
                <a:r>
                  <a:rPr lang="en-US" altLang="zh-CN" sz="1800" i="1" dirty="0"/>
                  <a:t>f:R</a:t>
                </a:r>
                <a:r>
                  <a:rPr lang="en-US" altLang="zh-CN" sz="1800" i="1" baseline="30000" dirty="0"/>
                  <a:t>n</a:t>
                </a:r>
                <a:r>
                  <a:rPr lang="en-US" altLang="zh-CN" sz="1800" i="1" dirty="0"/>
                  <a:t>→R</a:t>
                </a:r>
                <a:r>
                  <a:rPr lang="zh-CN" altLang="en-US" sz="1800" i="1" dirty="0"/>
                  <a:t>。</a:t>
                </a:r>
                <a:r>
                  <a:rPr lang="zh-CN" altLang="en-US" sz="1800" dirty="0"/>
                  <a:t>在</a:t>
                </a:r>
                <a:r>
                  <a:rPr lang="en-US" altLang="zh-CN" sz="1800" i="1" dirty="0"/>
                  <a:t>x </a:t>
                </a:r>
                <a:r>
                  <a:rPr lang="zh-CN" altLang="en-US" sz="1800" dirty="0"/>
                  <a:t>取方向</a:t>
                </a:r>
                <a:r>
                  <a:rPr lang="zh-CN" altLang="en-US" sz="1800" i="1" dirty="0"/>
                  <a:t> </a:t>
                </a:r>
                <a:r>
                  <a:rPr lang="en-US" altLang="zh-CN" sz="1800" i="1" dirty="0"/>
                  <a:t>d  </a:t>
                </a:r>
                <a:r>
                  <a:rPr lang="en-US" altLang="zh-CN" sz="1800" dirty="0"/>
                  <a:t>,</a:t>
                </a:r>
                <a:r>
                  <a:rPr lang="en-US" altLang="zh-CN" sz="1800" i="1" dirty="0"/>
                  <a:t>  </a:t>
                </a:r>
                <a:r>
                  <a:rPr lang="zh-CN" altLang="en-US" sz="1800" dirty="0"/>
                  <a:t>有</a:t>
                </a:r>
                <a:r>
                  <a:rPr lang="zh-CN" altLang="en-US" sz="1800" i="1" dirty="0"/>
                  <a:t>▽</a:t>
                </a:r>
                <a:r>
                  <a:rPr lang="en-US" altLang="zh-CN" sz="1800" i="1" dirty="0"/>
                  <a:t>f </a:t>
                </a:r>
                <a:r>
                  <a:rPr lang="en-US" altLang="zh-CN" sz="1800" i="1" baseline="30000" dirty="0"/>
                  <a:t>T</a:t>
                </a:r>
                <a:r>
                  <a:rPr lang="en-US" altLang="zh-CN" sz="1800" i="1" dirty="0"/>
                  <a:t>(x)p&lt;0  </a:t>
                </a:r>
                <a:r>
                  <a:rPr lang="en-US" altLang="zh-CN" sz="1800" dirty="0"/>
                  <a:t>(</a:t>
                </a:r>
                <a:r>
                  <a:rPr lang="zh-CN" altLang="en-US" sz="1800" dirty="0"/>
                  <a:t>即</a:t>
                </a:r>
                <a:r>
                  <a:rPr lang="en-US" altLang="zh-CN" sz="1800" i="1" dirty="0"/>
                  <a:t>p</a:t>
                </a:r>
                <a:r>
                  <a:rPr lang="zh-CN" altLang="en-US" sz="1800" dirty="0"/>
                  <a:t>为下降方向</a:t>
                </a:r>
                <a:r>
                  <a:rPr lang="en-US" altLang="zh-CN" sz="1800" dirty="0"/>
                  <a:t>),</a:t>
                </a:r>
                <a:r>
                  <a:rPr lang="en-US" altLang="zh-CN" sz="1800" i="1" dirty="0">
                    <a:solidFill>
                      <a:schemeClr val="folHlink"/>
                    </a:solidFill>
                  </a:rPr>
                  <a:t> </a:t>
                </a:r>
                <a:r>
                  <a:rPr lang="zh-CN" altLang="en-US" sz="1800" dirty="0"/>
                  <a:t>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/>
                          </a:rPr>
                          <m:t>𝒔</m:t>
                        </m:r>
                      </m:e>
                      <m:sup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/>
                              </a:rPr>
                              <m:t>𝒌</m:t>
                            </m:r>
                          </m:e>
                        </m:d>
                      </m:sup>
                    </m:sSup>
                    <m:r>
                      <a:rPr lang="en-US" altLang="zh-CN" sz="1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/>
                              </a:rPr>
                              <m:t>𝒌</m:t>
                            </m:r>
                            <m:r>
                              <a:rPr lang="en-US" altLang="zh-CN" sz="1800" i="1">
                                <a:latin typeface="Cambria Math"/>
                              </a:rPr>
                              <m:t>+</m:t>
                            </m:r>
                            <m:r>
                              <a:rPr lang="en-US" altLang="zh-CN" sz="1800" i="1">
                                <a:latin typeface="Cambria Math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en-US" altLang="zh-CN" sz="1800" i="1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/>
                              </a:rPr>
                              <m:t>𝒌</m:t>
                            </m:r>
                          </m:e>
                        </m:d>
                      </m:sup>
                    </m:sSup>
                    <m:r>
                      <a:rPr lang="en-US" altLang="zh-CN" sz="18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1800" i="1">
                            <a:latin typeface="Cambria Math"/>
                          </a:rPr>
                          <m:t>𝒌</m:t>
                        </m:r>
                      </m:sub>
                    </m:sSub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/>
                              </a:rPr>
                              <m:t>𝒌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1800" dirty="0"/>
                  <a:t>求</a:t>
                </a:r>
                <a:r>
                  <a:rPr lang="en-US" altLang="zh-CN" sz="1800" dirty="0"/>
                  <a:t>λ</a:t>
                </a:r>
                <a:r>
                  <a:rPr lang="zh-CN" altLang="en-US" sz="1800" dirty="0"/>
                  <a:t>使</a:t>
                </a:r>
                <a:endParaRPr lang="en-US" altLang="zh-CN" sz="1800" dirty="0"/>
              </a:p>
              <a:p>
                <a:pPr lvl="1"/>
                <a:r>
                  <a:rPr lang="en-US" altLang="zh-CN" sz="1600" dirty="0"/>
                  <a:t>Goldstein</a:t>
                </a:r>
                <a:r>
                  <a:rPr lang="zh-CN" altLang="en-US" sz="1600" dirty="0"/>
                  <a:t>规则</a:t>
                </a:r>
                <a:endParaRPr lang="zh-CN" altLang="en-US" sz="1200" dirty="0"/>
              </a:p>
              <a:p>
                <a:pPr>
                  <a:buNone/>
                </a:pPr>
                <a:r>
                  <a:rPr lang="zh-CN" altLang="en-US" sz="1800" dirty="0">
                    <a:solidFill>
                      <a:schemeClr val="folHlink"/>
                    </a:solidFill>
                  </a:rPr>
                  <a:t>           </a:t>
                </a:r>
                <a:r>
                  <a:rPr lang="en-US" altLang="zh-CN" sz="1800" dirty="0">
                    <a:solidFill>
                      <a:schemeClr val="folHlink"/>
                    </a:solidFill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/>
                          </a:rPr>
                          <m:t>𝟏</m:t>
                        </m:r>
                      </m:e>
                    </m:d>
                    <m:r>
                      <a:rPr lang="en-US" altLang="zh-CN" sz="1800" i="1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latin typeface="Cambria Math"/>
                                  </a:rPr>
                                  <m:t>𝒌</m:t>
                                </m:r>
                                <m:r>
                                  <a:rPr lang="en-US" altLang="zh-CN" sz="1800" i="1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CN" sz="1800" i="1">
                                    <a:latin typeface="Cambria Math"/>
                                  </a:rPr>
                                  <m:t>𝟏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1800" i="1">
                        <a:latin typeface="Cambria Math"/>
                      </a:rPr>
                      <m:t>−</m:t>
                    </m:r>
                    <m:r>
                      <a:rPr lang="en-US" altLang="zh-CN" sz="1800" i="1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latin typeface="Cambria Math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1800" i="1">
                        <a:latin typeface="Cambria Math"/>
                      </a:rPr>
                      <m:t>≤</m:t>
                    </m:r>
                    <m:r>
                      <a:rPr lang="en-US" altLang="zh-CN" sz="1800" i="1">
                        <a:latin typeface="Cambria Math"/>
                      </a:rPr>
                      <m:t>𝝆</m:t>
                    </m:r>
                    <m:r>
                      <a:rPr lang="en-US" altLang="zh-CN" sz="1800" b="1" i="0" smtClean="0">
                        <a:latin typeface="Cambria Math"/>
                      </a:rPr>
                      <m:t>𝛁</m:t>
                    </m:r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/>
                          </a:rPr>
                          <m:t>𝒇</m:t>
                        </m:r>
                      </m:e>
                      <m:sup>
                        <m:r>
                          <a:rPr lang="en-US" altLang="zh-CN" sz="1800" i="1">
                            <a:latin typeface="Cambria Math"/>
                          </a:rPr>
                          <m:t>𝑻</m:t>
                        </m:r>
                      </m:sup>
                    </m:sSup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latin typeface="Cambria Math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</m:e>
                    </m:d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/>
                          </a:rPr>
                          <m:t>𝒔</m:t>
                        </m:r>
                      </m:e>
                      <m:sup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/>
                              </a:rPr>
                              <m:t>𝒌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sz="1800" i="1" dirty="0">
                  <a:solidFill>
                    <a:srgbClr val="FF0000"/>
                  </a:solidFill>
                </a:endParaRPr>
              </a:p>
              <a:p>
                <a:pPr>
                  <a:buNone/>
                </a:pPr>
                <a:r>
                  <a:rPr lang="en-US" altLang="zh-CN" sz="1800" i="1" dirty="0">
                    <a:solidFill>
                      <a:srgbClr val="FF0000"/>
                    </a:solidFill>
                  </a:rPr>
                  <a:t>	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e>
                    </m:d>
                    <m:r>
                      <a:rPr lang="en-US" altLang="zh-CN" sz="1800" i="1">
                        <a:solidFill>
                          <a:srgbClr val="FF0000"/>
                        </a:solidFill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𝒌</m:t>
                                </m:r>
                                <m:r>
                                  <a:rPr lang="en-US" altLang="zh-CN" sz="18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CN" sz="18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1800" i="1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r>
                      <a:rPr lang="en-US" altLang="zh-CN" sz="1800" i="1">
                        <a:solidFill>
                          <a:srgbClr val="FF0000"/>
                        </a:solidFill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1800" i="1">
                        <a:solidFill>
                          <a:srgbClr val="FF0000"/>
                        </a:solidFill>
                        <a:latin typeface="Cambria Math"/>
                      </a:rPr>
                      <m:t>≥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  <m: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𝝆</m:t>
                        </m:r>
                      </m:e>
                    </m:d>
                    <m:sSup>
                      <m:sSupPr>
                        <m:ctrlP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>
                            <a:solidFill>
                              <a:srgbClr val="FF0000"/>
                            </a:solidFill>
                            <a:latin typeface="Cambria Math"/>
                          </a:rPr>
                          <m:t>𝛁</m:t>
                        </m:r>
                        <m: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𝒇</m:t>
                        </m:r>
                      </m:e>
                      <m:sup>
                        <m: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𝑻</m:t>
                        </m:r>
                      </m:sup>
                    </m:sSup>
                    <m:d>
                      <m:dPr>
                        <m:ctrlP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</m:e>
                    </m:d>
                    <m:sSup>
                      <m:sSupPr>
                        <m:ctrlP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𝒔</m:t>
                        </m:r>
                      </m:e>
                      <m:sup>
                        <m:d>
                          <m:dPr>
                            <m:ctrlPr>
                              <a:rPr lang="en-US" altLang="zh-C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𝒌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 marL="441325" lvl="1" indent="0">
                  <a:buNone/>
                </a:pPr>
                <a:r>
                  <a:rPr lang="zh-CN" altLang="en-US" sz="1600" dirty="0">
                    <a:solidFill>
                      <a:srgbClr val="FF0000"/>
                    </a:solidFill>
                  </a:rPr>
                  <a:t>  其中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/>
                      </a:rPr>
                      <m:t>𝝆</m:t>
                    </m:r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/>
                      </a:rPr>
                      <m:t>∈(</m:t>
                    </m:r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/>
                      </a:rPr>
                      <m:t>𝟏</m:t>
                    </m:r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f>
                      <m:f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den>
                    </m:f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16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600" dirty="0">
                    <a:solidFill>
                      <a:srgbClr val="FF0000"/>
                    </a:solidFill>
                  </a:rPr>
                  <a:t>,</a:t>
                </a:r>
                <a:r>
                  <a:rPr lang="zh-CN" altLang="en-US" sz="1600" dirty="0">
                    <a:solidFill>
                      <a:srgbClr val="FF0000"/>
                    </a:solidFill>
                  </a:rPr>
                  <a:t>实际中常取 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solidFill>
                          <a:srgbClr val="FF0000"/>
                        </a:solidFill>
                        <a:latin typeface="Cambria Math"/>
                      </a:rPr>
                      <m:t>𝝆</m:t>
                    </m:r>
                    <m:r>
                      <a:rPr lang="en-US" altLang="zh-CN" sz="1600" i="1" dirty="0">
                        <a:solidFill>
                          <a:srgbClr val="FF0000"/>
                        </a:solidFill>
                        <a:latin typeface="Cambria Math"/>
                      </a:rPr>
                      <m:t>=0.1</m:t>
                    </m:r>
                  </m:oMath>
                </a14:m>
                <a:r>
                  <a:rPr lang="en-US" altLang="zh-CN" sz="1600" dirty="0">
                    <a:solidFill>
                      <a:srgbClr val="FF0000"/>
                    </a:solidFill>
                  </a:rPr>
                  <a:t> </a:t>
                </a:r>
                <a:r>
                  <a:rPr lang="zh-CN" altLang="en-US" sz="1600" dirty="0">
                    <a:solidFill>
                      <a:srgbClr val="FF0000"/>
                    </a:solidFill>
                  </a:rPr>
                  <a:t>或更小</a:t>
                </a:r>
                <a:endParaRPr lang="en-US" altLang="zh-CN" sz="1600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altLang="zh-CN" sz="2000" dirty="0"/>
                  <a:t>Armijo</a:t>
                </a:r>
                <a:r>
                  <a:rPr lang="zh-CN" altLang="en-US" sz="2000" dirty="0"/>
                  <a:t>规则</a:t>
                </a:r>
                <a:endParaRPr lang="zh-CN" altLang="en-US" sz="1600" dirty="0"/>
              </a:p>
              <a:p>
                <a:pPr>
                  <a:buNone/>
                </a:pPr>
                <a:r>
                  <a:rPr lang="zh-CN" altLang="en-US" sz="1800" dirty="0">
                    <a:solidFill>
                      <a:schemeClr val="folHlink"/>
                    </a:solidFill>
                  </a:rPr>
                  <a:t>           </a:t>
                </a:r>
                <a:r>
                  <a:rPr lang="en-US" altLang="zh-CN" sz="1800" dirty="0">
                    <a:solidFill>
                      <a:schemeClr val="folHlink"/>
                    </a:solidFill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/>
                          </a:rPr>
                          <m:t>𝟏</m:t>
                        </m:r>
                      </m:e>
                    </m:d>
                    <m:r>
                      <a:rPr lang="en-US" altLang="zh-CN" sz="1800" i="1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latin typeface="Cambria Math"/>
                                  </a:rPr>
                                  <m:t>𝒌</m:t>
                                </m:r>
                                <m:r>
                                  <a:rPr lang="en-US" altLang="zh-CN" sz="1800" i="1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CN" sz="1800" i="1">
                                    <a:latin typeface="Cambria Math"/>
                                  </a:rPr>
                                  <m:t>𝟏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1800" i="1">
                        <a:latin typeface="Cambria Math"/>
                      </a:rPr>
                      <m:t>−</m:t>
                    </m:r>
                    <m:r>
                      <a:rPr lang="en-US" altLang="zh-CN" sz="1800" i="1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latin typeface="Cambria Math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1800" i="1">
                        <a:latin typeface="Cambria Math"/>
                      </a:rPr>
                      <m:t>≤</m:t>
                    </m:r>
                    <m:r>
                      <a:rPr lang="en-US" altLang="zh-CN" sz="1800" i="1">
                        <a:latin typeface="Cambria Math"/>
                      </a:rPr>
                      <m:t>𝝆</m:t>
                    </m:r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>
                            <a:latin typeface="Cambria Math"/>
                          </a:rPr>
                          <m:t>𝛁</m:t>
                        </m:r>
                        <m:r>
                          <a:rPr lang="en-US" altLang="zh-CN" sz="1800" i="1">
                            <a:latin typeface="Cambria Math"/>
                          </a:rPr>
                          <m:t>𝒇</m:t>
                        </m:r>
                      </m:e>
                      <m:sup>
                        <m:r>
                          <a:rPr lang="en-US" altLang="zh-CN" sz="1800" i="1">
                            <a:latin typeface="Cambria Math"/>
                          </a:rPr>
                          <m:t>𝑻</m:t>
                        </m:r>
                      </m:sup>
                    </m:sSup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latin typeface="Cambria Math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</m:e>
                    </m:d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/>
                          </a:rPr>
                          <m:t>𝒔</m:t>
                        </m:r>
                      </m:e>
                      <m:sup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/>
                              </a:rPr>
                              <m:t>𝒌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sz="1800" i="1" dirty="0">
                  <a:solidFill>
                    <a:srgbClr val="FF0000"/>
                  </a:solidFill>
                </a:endParaRPr>
              </a:p>
              <a:p>
                <a:pPr>
                  <a:buNone/>
                </a:pPr>
                <a:r>
                  <a:rPr lang="en-US" altLang="zh-CN" sz="1800" i="1" dirty="0">
                    <a:solidFill>
                      <a:srgbClr val="FF0000"/>
                    </a:solidFill>
                  </a:rPr>
                  <a:t>	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e>
                    </m:d>
                    <m:r>
                      <a:rPr lang="en-US" altLang="zh-CN" sz="1800" i="1">
                        <a:solidFill>
                          <a:srgbClr val="FF0000"/>
                        </a:solidFill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𝒌</m:t>
                                </m:r>
                                <m:r>
                                  <a:rPr lang="en-US" altLang="zh-CN" sz="18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CN" sz="18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1800" i="1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r>
                      <a:rPr lang="en-US" altLang="zh-CN" sz="1800" i="1">
                        <a:solidFill>
                          <a:srgbClr val="FF0000"/>
                        </a:solidFill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1800" i="1">
                        <a:solidFill>
                          <a:srgbClr val="FF0000"/>
                        </a:solidFill>
                        <a:latin typeface="Cambria Math"/>
                      </a:rPr>
                      <m:t>≥</m:t>
                    </m:r>
                    <m:r>
                      <a:rPr lang="en-US" altLang="zh-CN" sz="1800" b="1" i="1" smtClean="0">
                        <a:solidFill>
                          <a:srgbClr val="FF0000"/>
                        </a:solidFill>
                        <a:latin typeface="Cambria Math"/>
                      </a:rPr>
                      <m:t>𝝁𝝆</m:t>
                    </m:r>
                    <m:sSup>
                      <m:sSupPr>
                        <m:ctrlP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>
                            <a:solidFill>
                              <a:srgbClr val="FF0000"/>
                            </a:solidFill>
                            <a:latin typeface="Cambria Math"/>
                          </a:rPr>
                          <m:t>𝛁</m:t>
                        </m:r>
                        <m: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𝒇</m:t>
                        </m:r>
                      </m:e>
                      <m:sup>
                        <m: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𝑻</m:t>
                        </m:r>
                      </m:sup>
                    </m:sSup>
                    <m:d>
                      <m:dPr>
                        <m:ctrlP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</m:e>
                    </m:d>
                    <m:sSup>
                      <m:sSupPr>
                        <m:ctrlP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𝒔</m:t>
                        </m:r>
                      </m:e>
                      <m:sup>
                        <m:d>
                          <m:dPr>
                            <m:ctrlPr>
                              <a:rPr lang="en-US" altLang="zh-C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𝒌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buNone/>
                </a:pPr>
                <a:r>
                  <a:rPr lang="en-US" altLang="zh-CN" sz="2000" dirty="0"/>
                  <a:t>        </a:t>
                </a:r>
                <a14:m>
                  <m:oMath xmlns:m="http://schemas.openxmlformats.org/officeDocument/2006/math">
                    <m:r>
                      <a:rPr lang="en-US" altLang="zh-CN" sz="1600" b="1" i="0" dirty="0" smtClean="0">
                        <a:latin typeface="Cambria Math"/>
                      </a:rPr>
                      <m:t>  </m:t>
                    </m:r>
                    <m:r>
                      <a:rPr lang="en-US" altLang="zh-CN" sz="1600" i="1" dirty="0">
                        <a:latin typeface="Cambria Math"/>
                      </a:rPr>
                      <m:t>𝝁</m:t>
                    </m:r>
                  </m:oMath>
                </a14:m>
                <a:r>
                  <a:rPr lang="zh-CN" altLang="en-US" sz="1600" dirty="0"/>
                  <a:t>取</a:t>
                </a:r>
                <a:r>
                  <a:rPr lang="en-US" altLang="zh-CN" sz="1600" dirty="0"/>
                  <a:t>5-10</a:t>
                </a:r>
              </a:p>
              <a:p>
                <a:pPr lvl="1"/>
                <a:r>
                  <a:rPr lang="en-US" altLang="zh-CN" sz="1600" dirty="0"/>
                  <a:t>1967</a:t>
                </a:r>
                <a:r>
                  <a:rPr lang="zh-CN" altLang="en-US" sz="1600" dirty="0"/>
                  <a:t>年，</a:t>
                </a:r>
                <a:r>
                  <a:rPr lang="en-US" altLang="zh-CN" sz="1600" dirty="0"/>
                  <a:t>Goldstein</a:t>
                </a:r>
                <a:r>
                  <a:rPr lang="zh-CN" altLang="en-US" sz="1600" dirty="0"/>
                  <a:t>提出更一般的方法，把</a:t>
                </a:r>
                <a:r>
                  <a:rPr lang="en-US" altLang="zh-CN" sz="1600" dirty="0"/>
                  <a:t>(2)</a:t>
                </a:r>
                <a:r>
                  <a:rPr lang="zh-CN" altLang="en-US" sz="1600" dirty="0"/>
                  <a:t>式改为：</a:t>
                </a:r>
                <a:endParaRPr lang="en-US" altLang="zh-CN" sz="1600" dirty="0"/>
              </a:p>
              <a:p>
                <a:pPr>
                  <a:buNone/>
                </a:pPr>
                <a:r>
                  <a:rPr lang="zh-CN" altLang="en-US" sz="2000" dirty="0">
                    <a:solidFill>
                      <a:schemeClr val="folHlink"/>
                    </a:solidFill>
                  </a:rPr>
                  <a:t> </a:t>
                </a:r>
                <a:r>
                  <a:rPr lang="en-US" altLang="zh-CN" sz="2000" dirty="0">
                    <a:solidFill>
                      <a:schemeClr val="folHlink"/>
                    </a:solidFill>
                  </a:rPr>
                  <a:t>	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</a:rPr>
                          <m:t>𝟏</m:t>
                        </m:r>
                      </m:e>
                    </m:d>
                    <m:r>
                      <a:rPr lang="en-US" altLang="zh-CN" sz="2400" i="1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latin typeface="Cambria Math"/>
                                  </a:rPr>
                                  <m:t>𝒌</m:t>
                                </m:r>
                                <m:r>
                                  <a:rPr lang="en-US" altLang="zh-CN" sz="2400" i="1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CN" sz="2400" i="1">
                                    <a:latin typeface="Cambria Math"/>
                                  </a:rPr>
                                  <m:t>𝟏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400" i="1">
                        <a:latin typeface="Cambria Math"/>
                      </a:rPr>
                      <m:t>−</m:t>
                    </m:r>
                    <m:r>
                      <a:rPr lang="en-US" altLang="zh-CN" sz="2400" i="1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latin typeface="Cambria Math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400" i="1">
                        <a:latin typeface="Cambria Math"/>
                      </a:rPr>
                      <m:t>≤</m:t>
                    </m:r>
                    <m:r>
                      <a:rPr lang="en-US" altLang="zh-CN" sz="2400" i="1">
                        <a:latin typeface="Cambria Math"/>
                      </a:rPr>
                      <m:t>𝝆</m:t>
                    </m:r>
                    <m:r>
                      <a:rPr lang="en-US" altLang="zh-CN" sz="2000">
                        <a:latin typeface="Cambria Math"/>
                      </a:rPr>
                      <m:t>𝛁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</a:rPr>
                          <m:t>𝒇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</a:rPr>
                          <m:t>𝑻</m:t>
                        </m:r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latin typeface="Cambria Math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</m:e>
                    </m:d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</a:rPr>
                          <m:t>𝒔</m:t>
                        </m:r>
                      </m:e>
                      <m:sup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/>
                              </a:rPr>
                              <m:t>𝒌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sz="2000" i="1" dirty="0">
                  <a:solidFill>
                    <a:srgbClr val="FF0000"/>
                  </a:solidFill>
                </a:endParaRPr>
              </a:p>
              <a:p>
                <a:pPr>
                  <a:buNone/>
                </a:pPr>
                <a:r>
                  <a:rPr lang="en-US" altLang="zh-CN" sz="2000" i="1" dirty="0">
                    <a:solidFill>
                      <a:srgbClr val="FF0000"/>
                    </a:solidFill>
                  </a:rPr>
                  <a:t>	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e>
                    </m:d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𝒌</m:t>
                                </m:r>
                                <m: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/>
                      </a:rPr>
                      <m:t>≥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/>
                      </a:rPr>
                      <m:t>𝝈</m:t>
                    </m:r>
                    <m:sSup>
                      <m:sSup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/>
                          </a:rPr>
                          <m:t>𝛁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𝒇</m:t>
                        </m:r>
                      </m:e>
                      <m:sup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𝑻</m:t>
                        </m:r>
                      </m:sup>
                    </m:sSup>
                    <m:d>
                      <m:d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</m:e>
                    </m:d>
                    <m:sSup>
                      <m:sSup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𝒔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𝒌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</a:rPr>
                  <a:t>,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/>
                      </a:rPr>
                      <m:t>𝝈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/>
                      </a:rPr>
                      <m:t>∈(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/>
                      </a:rPr>
                      <m:t>𝝆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/>
                      </a:rPr>
                      <m:t>𝟏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4B2099A-1845-445F-8FFD-AC448DFB92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387" y="1861457"/>
                <a:ext cx="7212034" cy="4996543"/>
              </a:xfrm>
              <a:blipFill>
                <a:blip r:embed="rId3"/>
                <a:stretch>
                  <a:fillRect l="-422" t="-146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9C64F8D-BE26-4517-82E1-B86D859896D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7076901" y="2407298"/>
                <a:ext cx="5027712" cy="4379326"/>
              </a:xfrm>
              <a:prstGeom prst="rect">
                <a:avLst/>
              </a:prstGeom>
              <a:noFill/>
              <a:ln w="9525">
                <a:solidFill>
                  <a:srgbClr val="66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88146" tIns="44073" rIns="88146" bIns="44073" numCol="1" anchor="t" anchorCtr="0" compatLnSpc="1"/>
              <a:lstStyle>
                <a:lvl1pPr marL="330200" indent="-330200" algn="l" defTabSz="88138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3366"/>
                  </a:buClr>
                  <a:buFont typeface="Wingdings" panose="05000000000000000000" pitchFamily="2" charset="2"/>
                  <a:buChar char="u"/>
                  <a:defRPr sz="3000" b="1">
                    <a:solidFill>
                      <a:srgbClr val="0000FF"/>
                    </a:solidFill>
                    <a:latin typeface="+mn-lt"/>
                    <a:ea typeface="+mn-ea"/>
                    <a:cs typeface="+mn-cs"/>
                  </a:defRPr>
                </a:lvl1pPr>
                <a:lvl2pPr marL="716280" indent="-274955" algn="l" defTabSz="88138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3366"/>
                  </a:buClr>
                  <a:buFont typeface="Wingdings" panose="05000000000000000000" pitchFamily="2" charset="2"/>
                  <a:buChar char="Ø"/>
                  <a:defRPr sz="2600" b="1">
                    <a:solidFill>
                      <a:schemeClr val="tx1"/>
                    </a:solidFill>
                    <a:latin typeface="+mn-lt"/>
                    <a:ea typeface="+mj-ea"/>
                  </a:defRPr>
                </a:lvl2pPr>
                <a:lvl3pPr marL="1101725" indent="-220980" algn="l" defTabSz="88138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3366"/>
                  </a:buClr>
                  <a:buFont typeface="Wingdings" panose="05000000000000000000" pitchFamily="2" charset="2"/>
                  <a:buChar char="ü"/>
                  <a:defRPr sz="2200" b="1">
                    <a:solidFill>
                      <a:schemeClr val="tx1"/>
                    </a:solidFill>
                    <a:latin typeface="+mn-lt"/>
                    <a:ea typeface="+mj-ea"/>
                  </a:defRPr>
                </a:lvl3pPr>
                <a:lvl4pPr marL="1541780" indent="-220980" algn="l" defTabSz="88138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3366"/>
                  </a:buClr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+mn-lt"/>
                    <a:ea typeface="+mj-ea"/>
                  </a:defRPr>
                </a:lvl4pPr>
                <a:lvl5pPr marL="1984375" indent="-224155" algn="l" defTabSz="88138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3366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j-ea"/>
                  </a:defRPr>
                </a:lvl5pPr>
                <a:lvl6pPr marL="2441575" indent="-224155" algn="l" defTabSz="88138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3366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j-ea"/>
                  </a:defRPr>
                </a:lvl6pPr>
                <a:lvl7pPr marL="2898775" indent="-224155" algn="l" defTabSz="88138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3366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j-ea"/>
                  </a:defRPr>
                </a:lvl7pPr>
                <a:lvl8pPr marL="3355975" indent="-224155" algn="l" defTabSz="88138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3366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j-ea"/>
                  </a:defRPr>
                </a:lvl8pPr>
                <a:lvl9pPr marL="3813175" indent="-224155" algn="l" defTabSz="88138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3366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j-ea"/>
                  </a:defRPr>
                </a:lvl9pPr>
              </a:lstStyle>
              <a:p>
                <a:pPr lvl="1"/>
                <a:r>
                  <a:rPr lang="en-US" altLang="zh-CN" sz="2000" dirty="0"/>
                  <a:t>Wolfe-Powell,</a:t>
                </a:r>
                <a:r>
                  <a:rPr lang="zh-CN" altLang="en-US" sz="2000" dirty="0"/>
                  <a:t>前面</a:t>
                </a:r>
                <a:r>
                  <a:rPr lang="en-US" altLang="zh-CN" sz="2000" dirty="0"/>
                  <a:t>Goldstein</a:t>
                </a:r>
                <a:r>
                  <a:rPr lang="zh-CN" altLang="en-US" sz="2000" dirty="0"/>
                  <a:t>方法中规则</a:t>
                </a:r>
                <a:r>
                  <a:rPr lang="en-US" altLang="zh-CN" sz="2000" dirty="0"/>
                  <a:t>(2)</a:t>
                </a:r>
                <a:r>
                  <a:rPr lang="zh-CN" altLang="en-US" sz="2000" dirty="0"/>
                  <a:t>改为对导数的要求</a:t>
                </a:r>
                <a:endParaRPr lang="en-US" altLang="zh-CN" sz="2000" dirty="0"/>
              </a:p>
              <a:p>
                <a:pPr marL="881062" lvl="2" indent="0">
                  <a:buNone/>
                </a:pPr>
                <a:r>
                  <a:rPr lang="en-US" altLang="zh-CN" sz="1800" dirty="0"/>
                  <a:t>(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WP</a:t>
                </a:r>
                <a:r>
                  <a:rPr lang="zh-CN" altLang="en-US" sz="1800" dirty="0">
                    <a:solidFill>
                      <a:srgbClr val="FF0000"/>
                    </a:solidFill>
                  </a:rPr>
                  <a:t>规则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1</a:t>
                </a:r>
                <a:r>
                  <a:rPr lang="en-US" altLang="zh-CN" sz="1800" dirty="0"/>
                  <a:t>)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latin typeface="Cambria Math"/>
                                  </a:rPr>
                                  <m:t>𝒌</m:t>
                                </m:r>
                                <m:r>
                                  <a:rPr lang="en-US" altLang="zh-CN" sz="1800" i="1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CN" sz="1800" i="1">
                                    <a:latin typeface="Cambria Math"/>
                                  </a:rPr>
                                  <m:t>𝟏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zh-CN" altLang="en-US" sz="1800" i="1">
                        <a:latin typeface="Cambria Math"/>
                      </a:rPr>
                      <m:t>≤</m:t>
                    </m:r>
                    <m:r>
                      <a:rPr lang="zh-CN" altLang="en-US" sz="1800" i="1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latin typeface="Cambria Math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1800" i="1">
                        <a:latin typeface="Cambria Math"/>
                      </a:rPr>
                      <m:t>+</m:t>
                    </m:r>
                    <m:r>
                      <a:rPr lang="en-US" altLang="zh-CN" sz="1800" i="1">
                        <a:latin typeface="Cambria Math"/>
                      </a:rPr>
                      <m:t>𝝆</m:t>
                    </m:r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>
                            <a:latin typeface="Cambria Math"/>
                          </a:rPr>
                          <m:t>𝛁</m:t>
                        </m:r>
                        <m:r>
                          <a:rPr lang="en-US" altLang="zh-CN" sz="1800" i="1">
                            <a:latin typeface="Cambria Math"/>
                          </a:rPr>
                          <m:t>𝒇</m:t>
                        </m:r>
                      </m:e>
                      <m:sup>
                        <m:r>
                          <a:rPr lang="en-US" altLang="zh-CN" sz="1800" i="1">
                            <a:latin typeface="Cambria Math"/>
                          </a:rPr>
                          <m:t>𝑻</m:t>
                        </m:r>
                      </m:sup>
                    </m:sSup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latin typeface="Cambria Math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</m:e>
                    </m:d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/>
                          </a:rPr>
                          <m:t>𝒔</m:t>
                        </m:r>
                      </m:e>
                      <m:sup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/>
                              </a:rPr>
                              <m:t>𝒌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sz="1800" dirty="0"/>
              </a:p>
              <a:p>
                <a:pPr marL="881062" lvl="2" indent="0">
                  <a:buNone/>
                </a:pPr>
                <a:r>
                  <a:rPr lang="en-US" altLang="zh-CN" sz="1800" dirty="0"/>
                  <a:t>(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WP</a:t>
                </a:r>
                <a:r>
                  <a:rPr lang="zh-CN" altLang="en-US" sz="1800" dirty="0">
                    <a:solidFill>
                      <a:srgbClr val="FF0000"/>
                    </a:solidFill>
                  </a:rPr>
                  <a:t>规则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2</a:t>
                </a:r>
                <a:r>
                  <a:rPr lang="en-US" altLang="zh-CN" sz="1800" dirty="0"/>
                  <a:t>)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>
                            <a:latin typeface="Cambria Math"/>
                          </a:rPr>
                          <m:t>𝛁</m:t>
                        </m:r>
                        <m:r>
                          <a:rPr lang="en-US" altLang="zh-CN" sz="1800" i="1">
                            <a:latin typeface="Cambria Math"/>
                          </a:rPr>
                          <m:t>𝒇</m:t>
                        </m:r>
                      </m:e>
                      <m:sup>
                        <m:r>
                          <a:rPr lang="en-US" altLang="zh-CN" sz="1800" i="1">
                            <a:latin typeface="Cambria Math"/>
                          </a:rPr>
                          <m:t>𝑻</m:t>
                        </m:r>
                      </m:sup>
                    </m:sSup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latin typeface="Cambria Math"/>
                                  </a:rPr>
                                  <m:t>𝒌</m:t>
                                </m:r>
                                <m:r>
                                  <a:rPr lang="en-US" altLang="zh-CN" sz="1800" i="1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CN" sz="1800" i="1">
                                    <a:latin typeface="Cambria Math"/>
                                  </a:rPr>
                                  <m:t>𝟏</m:t>
                                </m:r>
                              </m:e>
                            </m:d>
                          </m:sup>
                        </m:sSup>
                      </m:e>
                    </m:d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/>
                          </a:rPr>
                          <m:t>𝒔</m:t>
                        </m:r>
                      </m:e>
                      <m:sup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/>
                              </a:rPr>
                              <m:t>𝒌</m:t>
                            </m:r>
                          </m:e>
                        </m:d>
                      </m:sup>
                    </m:sSup>
                    <m:r>
                      <a:rPr lang="en-US" altLang="zh-CN" sz="1800" i="1">
                        <a:latin typeface="Cambria Math"/>
                      </a:rPr>
                      <m:t>≥</m:t>
                    </m:r>
                    <m:r>
                      <a:rPr lang="en-US" altLang="zh-CN" sz="1800" i="1">
                        <a:latin typeface="Cambria Math"/>
                      </a:rPr>
                      <m:t>𝝈</m:t>
                    </m:r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>
                            <a:latin typeface="Cambria Math"/>
                          </a:rPr>
                          <m:t>𝛁</m:t>
                        </m:r>
                        <m:r>
                          <a:rPr lang="en-US" altLang="zh-CN" sz="1800" i="1">
                            <a:latin typeface="Cambria Math"/>
                          </a:rPr>
                          <m:t>𝒇</m:t>
                        </m:r>
                      </m:e>
                      <m:sup>
                        <m:r>
                          <a:rPr lang="en-US" altLang="zh-CN" sz="1800" i="1">
                            <a:latin typeface="Cambria Math"/>
                          </a:rPr>
                          <m:t>𝑻</m:t>
                        </m:r>
                      </m:sup>
                    </m:sSup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latin typeface="Cambria Math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</m:e>
                    </m:d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/>
                          </a:rPr>
                          <m:t>𝒔</m:t>
                        </m:r>
                      </m:e>
                      <m:sup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/>
                              </a:rPr>
                              <m:t>𝒌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sz="1800" dirty="0"/>
              </a:p>
              <a:p>
                <a:pPr marL="441325" lvl="1" indent="0">
                  <a:buNone/>
                </a:pPr>
                <a:r>
                  <a:rPr lang="zh-CN" altLang="en-US" sz="1600" dirty="0"/>
                  <a:t>其中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/>
                      </a:rPr>
                      <m:t>𝝆</m:t>
                    </m:r>
                    <m:r>
                      <a:rPr lang="en-US" altLang="zh-CN" sz="1600" i="1">
                        <a:latin typeface="Cambria Math"/>
                      </a:rPr>
                      <m:t>∈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/>
                          </a:rPr>
                          <m:t>𝟎</m:t>
                        </m:r>
                        <m:r>
                          <a:rPr lang="en-US" altLang="zh-CN" sz="1600" i="1">
                            <a:latin typeface="Cambria Math"/>
                          </a:rPr>
                          <m:t>,</m:t>
                        </m:r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1600" i="1">
                                <a:latin typeface="Cambria Math"/>
                              </a:rPr>
                              <m:t>𝟐</m:t>
                            </m:r>
                          </m:den>
                        </m:f>
                      </m:e>
                    </m:d>
                    <m:r>
                      <a:rPr lang="en-US" altLang="zh-CN" sz="1600" i="1">
                        <a:latin typeface="Cambria Math"/>
                      </a:rPr>
                      <m:t>,</m:t>
                    </m:r>
                    <m:r>
                      <a:rPr lang="en-US" altLang="zh-CN" sz="1600" i="1">
                        <a:latin typeface="Cambria Math"/>
                      </a:rPr>
                      <m:t>𝝈</m:t>
                    </m:r>
                    <m:r>
                      <a:rPr lang="en-US" altLang="zh-CN" sz="1600" i="1">
                        <a:latin typeface="Cambria Math"/>
                      </a:rPr>
                      <m:t>∈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/>
                          </a:rPr>
                          <m:t>𝝆</m:t>
                        </m:r>
                        <m:r>
                          <a:rPr lang="en-US" altLang="zh-CN" sz="1600" i="1">
                            <a:latin typeface="Cambria Math"/>
                          </a:rPr>
                          <m:t>,</m:t>
                        </m:r>
                        <m:r>
                          <a:rPr lang="en-US" altLang="zh-CN" sz="1600" i="1">
                            <a:latin typeface="Cambria Math"/>
                          </a:rPr>
                          <m:t>𝟏</m:t>
                        </m:r>
                      </m:e>
                    </m:d>
                  </m:oMath>
                </a14:m>
                <a:endParaRPr lang="en-US" altLang="zh-CN" sz="1600" dirty="0"/>
              </a:p>
              <a:p>
                <a:pPr lvl="1"/>
                <a:r>
                  <a:rPr lang="zh-CN" altLang="en-US" sz="2000" dirty="0"/>
                  <a:t>如果需要较高的精度时，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WP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规则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(2)</a:t>
                </a:r>
                <a:r>
                  <a:rPr lang="zh-CN" altLang="en-US" sz="2000" dirty="0"/>
                  <a:t>可进一步改为</a:t>
                </a:r>
                <a:r>
                  <a:rPr lang="en-US" altLang="zh-CN" sz="2000" dirty="0"/>
                  <a:t>: </a:t>
                </a:r>
              </a:p>
              <a:p>
                <a:pPr marL="441325" lvl="1" indent="0">
                  <a:buNone/>
                </a:pPr>
                <a:r>
                  <a:rPr lang="en-US" altLang="zh-CN" sz="2000" dirty="0"/>
                  <a:t>	(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WP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改进规则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2</a:t>
                </a:r>
                <a:r>
                  <a:rPr lang="en-US" altLang="zh-CN" sz="2000" dirty="0"/>
                  <a:t>)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>
                                <a:latin typeface="Cambria Math"/>
                              </a:rPr>
                              <m:t>𝛁</m:t>
                            </m:r>
                            <m:r>
                              <a:rPr lang="en-US" altLang="zh-CN" sz="2000" i="1">
                                <a:latin typeface="Cambria Math"/>
                              </a:rPr>
                              <m:t>𝒇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/>
                              </a:rPr>
                              <m:t>𝑻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/>
                                  </a:rPr>
                                  <m:t>𝒙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i="1">
                                        <a:latin typeface="Cambria Math"/>
                                      </a:rPr>
                                      <m:t>𝒌</m:t>
                                    </m:r>
                                    <m:r>
                                      <a:rPr lang="en-US" altLang="zh-CN" sz="2000" i="1">
                                        <a:latin typeface="Cambria Math"/>
                                      </a:rPr>
                                      <m:t>+</m:t>
                                    </m:r>
                                    <m:r>
                                      <a:rPr lang="en-US" altLang="zh-CN" sz="2000" i="1">
                                        <a:latin typeface="Cambria Math"/>
                                      </a:rPr>
                                      <m:t>𝟏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/>
                              </a:rPr>
                              <m:t>𝒅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000" i="1">
                        <a:latin typeface="Cambria Math"/>
                      </a:rPr>
                      <m:t>≤−</m:t>
                    </m:r>
                    <m:r>
                      <a:rPr lang="en-US" altLang="zh-CN" sz="2000" i="1">
                        <a:latin typeface="Cambria Math"/>
                      </a:rPr>
                      <m:t>𝜼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>
                            <a:latin typeface="Cambria Math"/>
                          </a:rPr>
                          <m:t>𝛁</m:t>
                        </m:r>
                        <m:r>
                          <a:rPr lang="en-US" altLang="zh-CN" sz="2000" i="1">
                            <a:latin typeface="Cambria Math"/>
                          </a:rPr>
                          <m:t>𝒇</m:t>
                        </m:r>
                      </m:e>
                      <m:sup>
                        <m:r>
                          <a:rPr lang="en-US" altLang="zh-CN" sz="2000" i="1">
                            <a:latin typeface="Cambria Math"/>
                          </a:rPr>
                          <m:t>𝑻</m:t>
                        </m:r>
                      </m:sup>
                    </m:sSup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</m:e>
                    </m:d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/>
                          </a:rPr>
                          <m:t>𝒅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/>
                              </a:rPr>
                              <m:t>𝒌</m:t>
                            </m:r>
                          </m:e>
                        </m:d>
                      </m:sup>
                    </m:sSup>
                    <m:r>
                      <a:rPr lang="en-US" altLang="zh-CN" sz="2000" i="1">
                        <a:latin typeface="Cambria Math"/>
                      </a:rPr>
                      <m:t>, </m:t>
                    </m:r>
                    <m:r>
                      <a:rPr lang="en-US" altLang="zh-CN" sz="2000" i="1">
                        <a:latin typeface="Cambria Math"/>
                      </a:rPr>
                      <m:t>𝜼</m:t>
                    </m:r>
                    <m:r>
                      <a:rPr lang="en-US" altLang="zh-CN" sz="2000" i="1">
                        <a:latin typeface="Cambria Math"/>
                      </a:rPr>
                      <m:t>∈(</m:t>
                    </m:r>
                    <m:r>
                      <a:rPr lang="en-US" altLang="zh-CN" sz="2000" i="1">
                        <a:latin typeface="Cambria Math"/>
                      </a:rPr>
                      <m:t>𝟎</m:t>
                    </m:r>
                    <m:r>
                      <a:rPr lang="en-US" altLang="zh-CN" sz="2000" i="1">
                        <a:latin typeface="Cambria Math"/>
                      </a:rPr>
                      <m:t>,</m:t>
                    </m:r>
                    <m:r>
                      <a:rPr lang="en-US" altLang="zh-CN" sz="2000" i="1">
                        <a:latin typeface="Cambria Math"/>
                      </a:rPr>
                      <m:t>𝟏</m:t>
                    </m:r>
                    <m:r>
                      <a:rPr lang="en-US" altLang="zh-CN" sz="2000" i="1">
                        <a:latin typeface="Cambria Math"/>
                      </a:rPr>
                      <m:t>)</m:t>
                    </m:r>
                  </m:oMath>
                </a14:m>
                <a:endParaRPr lang="en-US" altLang="zh-CN" sz="2000" dirty="0"/>
              </a:p>
              <a:p>
                <a:endParaRPr lang="zh-CN" altLang="en-US" sz="2400" kern="0" dirty="0">
                  <a:solidFill>
                    <a:srgbClr val="FF0000"/>
                  </a:solidFill>
                </a:endParaRPr>
              </a:p>
              <a:p>
                <a:endParaRPr lang="zh-CN" altLang="en-US" sz="2400" kern="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9C64F8D-BE26-4517-82E1-B86D85989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76901" y="2407298"/>
                <a:ext cx="5027712" cy="4379326"/>
              </a:xfrm>
              <a:prstGeom prst="rect">
                <a:avLst/>
              </a:prstGeom>
              <a:blipFill>
                <a:blip r:embed="rId4"/>
                <a:stretch>
                  <a:fillRect t="-694"/>
                </a:stretch>
              </a:blipFill>
              <a:ln w="9525">
                <a:solidFill>
                  <a:srgbClr val="66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5682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577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411527" y="1221152"/>
                <a:ext cx="8780473" cy="5594861"/>
              </a:xfrm>
            </p:spPr>
            <p:txBody>
              <a:bodyPr/>
              <a:lstStyle/>
              <a:p>
                <a:r>
                  <a:rPr lang="zh-CN" altLang="en-US" sz="2280" dirty="0"/>
                  <a:t>不精确一维搜索</a:t>
                </a:r>
                <a:r>
                  <a:rPr lang="en-US" altLang="zh-CN" sz="2280" dirty="0"/>
                  <a:t>(</a:t>
                </a:r>
                <a:r>
                  <a:rPr lang="zh-CN" altLang="en-US" sz="2280" dirty="0"/>
                  <a:t>续</a:t>
                </a:r>
                <a:r>
                  <a:rPr lang="en-US" altLang="zh-CN" sz="2280" dirty="0"/>
                  <a:t>)</a:t>
                </a:r>
              </a:p>
              <a:p>
                <a:endParaRPr lang="en-US" altLang="zh-CN" sz="2280" i="1" dirty="0"/>
              </a:p>
              <a:p>
                <a:endParaRPr lang="en-US" altLang="zh-CN" sz="2280" i="1" dirty="0"/>
              </a:p>
              <a:p>
                <a:endParaRPr lang="en-US" altLang="zh-CN" sz="2280" i="1" dirty="0"/>
              </a:p>
              <a:p>
                <a:endParaRPr lang="en-US" altLang="zh-CN" sz="2280" i="1" dirty="0"/>
              </a:p>
              <a:p>
                <a:endParaRPr lang="en-US" altLang="zh-CN" sz="2280" dirty="0"/>
              </a:p>
              <a:p>
                <a:r>
                  <a:rPr lang="zh-CN" altLang="en-US" sz="2280" dirty="0"/>
                  <a:t>一般</a:t>
                </a:r>
                <a14:m>
                  <m:oMath xmlns:m="http://schemas.openxmlformats.org/officeDocument/2006/math">
                    <m:r>
                      <a:rPr lang="en-US" altLang="zh-CN" sz="2280" b="1" i="1">
                        <a:latin typeface="Cambria Math"/>
                      </a:rPr>
                      <m:t>𝜶</m:t>
                    </m:r>
                    <m:r>
                      <a:rPr lang="en-US" altLang="zh-CN" sz="2280" b="1" i="1">
                        <a:latin typeface="Cambria Math"/>
                      </a:rPr>
                      <m:t>,</m:t>
                    </m:r>
                    <m:r>
                      <a:rPr lang="en-US" altLang="zh-CN" sz="2280" b="1" i="1">
                        <a:latin typeface="Cambria Math"/>
                      </a:rPr>
                      <m:t>𝜷</m:t>
                    </m:r>
                    <m:r>
                      <a:rPr lang="zh-CN" altLang="en-US" sz="2280" b="1" i="1">
                        <a:latin typeface="Cambria Math"/>
                      </a:rPr>
                      <m:t>的</m:t>
                    </m:r>
                  </m:oMath>
                </a14:m>
                <a:r>
                  <a:rPr lang="zh-CN" altLang="en-US" sz="2280" dirty="0"/>
                  <a:t>选择要适当，一般选取</a:t>
                </a:r>
                <a14:m>
                  <m:oMath xmlns:m="http://schemas.openxmlformats.org/officeDocument/2006/math">
                    <m:r>
                      <a:rPr lang="en-US" altLang="zh-CN" sz="2280" b="1" i="1">
                        <a:latin typeface="Cambria Math"/>
                      </a:rPr>
                      <m:t>𝜶</m:t>
                    </m:r>
                    <m:r>
                      <a:rPr lang="en-US" altLang="zh-CN" sz="2280" b="1" i="1">
                        <a:latin typeface="Cambria Math"/>
                      </a:rPr>
                      <m:t>=</m:t>
                    </m:r>
                    <m:r>
                      <a:rPr lang="en-US" altLang="zh-CN" sz="2280" b="1" i="1">
                        <a:latin typeface="Cambria Math"/>
                      </a:rPr>
                      <m:t>𝟏</m:t>
                    </m:r>
                    <m:r>
                      <a:rPr lang="en-US" altLang="zh-CN" sz="2280" b="1" i="1">
                        <a:latin typeface="Cambria Math"/>
                      </a:rPr>
                      <m:t>.</m:t>
                    </m:r>
                    <m:r>
                      <a:rPr lang="en-US" altLang="zh-CN" sz="2280" b="1" i="1">
                        <a:latin typeface="Cambria Math"/>
                      </a:rPr>
                      <m:t>𝟓</m:t>
                    </m:r>
                    <m:r>
                      <a:rPr lang="en-US" altLang="zh-CN" sz="2280" b="1" i="1">
                        <a:latin typeface="Cambria Math"/>
                      </a:rPr>
                      <m:t>,</m:t>
                    </m:r>
                    <m:r>
                      <a:rPr lang="en-US" altLang="zh-CN" sz="2280" b="1" i="1">
                        <a:latin typeface="Cambria Math"/>
                      </a:rPr>
                      <m:t>𝜷</m:t>
                    </m:r>
                    <m:r>
                      <a:rPr lang="en-US" altLang="zh-CN" sz="2280" b="1" i="1">
                        <a:latin typeface="Cambria Math"/>
                      </a:rPr>
                      <m:t>=</m:t>
                    </m:r>
                    <m:r>
                      <a:rPr lang="en-US" altLang="zh-CN" sz="2280" b="1" i="1">
                        <a:latin typeface="Cambria Math"/>
                      </a:rPr>
                      <m:t>𝟎</m:t>
                    </m:r>
                    <m:r>
                      <a:rPr lang="en-US" altLang="zh-CN" sz="2280" b="1" i="1">
                        <a:latin typeface="Cambria Math"/>
                      </a:rPr>
                      <m:t>.</m:t>
                    </m:r>
                    <m:r>
                      <a:rPr lang="en-US" altLang="zh-CN" sz="2280" b="1" i="1">
                        <a:latin typeface="Cambria Math"/>
                      </a:rPr>
                      <m:t>𝟓</m:t>
                    </m:r>
                  </m:oMath>
                </a14:m>
                <a:r>
                  <a:rPr lang="zh-CN" altLang="en-US" sz="2280" dirty="0"/>
                  <a:t>，一般情况下迭代几步就可得到解，利用这种不精确一维搜索，不少算法可以得到全局收敛性结果</a:t>
                </a:r>
                <a:endParaRPr lang="en-US" altLang="zh-CN" sz="2280" dirty="0"/>
              </a:p>
              <a:p>
                <a:r>
                  <a:rPr lang="en-US" altLang="zh-CN" sz="2280" dirty="0"/>
                  <a:t>1966</a:t>
                </a:r>
                <a:r>
                  <a:rPr lang="zh-CN" altLang="en-US" sz="2280" dirty="0"/>
                  <a:t>年，</a:t>
                </a:r>
                <a:r>
                  <a:rPr lang="en-US" altLang="zh-CN" sz="2280" dirty="0"/>
                  <a:t>Armijo</a:t>
                </a:r>
                <a:r>
                  <a:rPr lang="zh-CN" altLang="en-US" sz="2280" dirty="0"/>
                  <a:t>给出与</a:t>
                </a:r>
                <a:r>
                  <a:rPr lang="en-US" altLang="zh-CN" sz="2280" dirty="0"/>
                  <a:t>Goldstein</a:t>
                </a:r>
                <a:r>
                  <a:rPr lang="zh-CN" altLang="en-US" sz="2280" dirty="0"/>
                  <a:t>法类似的不精确一维搜索规则，相当于替换</a:t>
                </a:r>
                <a:r>
                  <a:rPr lang="en-US" altLang="zh-CN" sz="2280" dirty="0"/>
                  <a:t>(2)</a:t>
                </a:r>
                <a:r>
                  <a:rPr lang="zh-CN" altLang="en-US" sz="2280" dirty="0"/>
                  <a:t>中的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8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80" b="1" i="1">
                            <a:latin typeface="Cambria Math"/>
                          </a:rPr>
                          <m:t>𝟏</m:t>
                        </m:r>
                        <m:r>
                          <a:rPr lang="en-US" altLang="zh-CN" sz="2280" b="1" i="1">
                            <a:latin typeface="Cambria Math"/>
                          </a:rPr>
                          <m:t>−</m:t>
                        </m:r>
                        <m:r>
                          <a:rPr lang="en-US" altLang="zh-CN" sz="2280" b="1" i="1">
                            <a:latin typeface="Cambria Math"/>
                          </a:rPr>
                          <m:t>𝝆</m:t>
                        </m:r>
                      </m:e>
                    </m:d>
                    <m:r>
                      <a:rPr lang="en-US" altLang="zh-CN" sz="2280" b="1" i="1">
                        <a:latin typeface="Cambria Math"/>
                      </a:rPr>
                      <m:t>→</m:t>
                    </m:r>
                    <m:r>
                      <a:rPr lang="en-US" altLang="zh-CN" sz="2280" b="1" i="1">
                        <a:latin typeface="Cambria Math"/>
                      </a:rPr>
                      <m:t>𝝁𝝆</m:t>
                    </m:r>
                  </m:oMath>
                </a14:m>
                <a:r>
                  <a:rPr lang="en-US" altLang="zh-CN" sz="2280" dirty="0"/>
                  <a:t>,</a:t>
                </a:r>
                <a14:m>
                  <m:oMath xmlns:m="http://schemas.openxmlformats.org/officeDocument/2006/math">
                    <m:r>
                      <a:rPr lang="en-US" altLang="zh-CN" sz="2280" b="1" dirty="0">
                        <a:latin typeface="Cambria Math"/>
                      </a:rPr>
                      <m:t> </m:t>
                    </m:r>
                    <m:r>
                      <a:rPr lang="en-US" altLang="zh-CN" sz="2280" b="1" i="1" dirty="0">
                        <a:latin typeface="Cambria Math"/>
                      </a:rPr>
                      <m:t>𝝁</m:t>
                    </m:r>
                  </m:oMath>
                </a14:m>
                <a:r>
                  <a:rPr lang="zh-CN" altLang="en-US" sz="2280" dirty="0"/>
                  <a:t>取</a:t>
                </a:r>
                <a:r>
                  <a:rPr lang="en-US" altLang="zh-CN" sz="2280" dirty="0"/>
                  <a:t>5-10</a:t>
                </a:r>
              </a:p>
              <a:p>
                <a:r>
                  <a:rPr lang="en-US" altLang="zh-CN" sz="2280" dirty="0"/>
                  <a:t>1967</a:t>
                </a:r>
                <a:r>
                  <a:rPr lang="zh-CN" altLang="en-US" sz="2280" dirty="0"/>
                  <a:t>年，</a:t>
                </a:r>
                <a:r>
                  <a:rPr lang="en-US" altLang="zh-CN" sz="2280" dirty="0"/>
                  <a:t>Goldstein</a:t>
                </a:r>
                <a:r>
                  <a:rPr lang="zh-CN" altLang="en-US" sz="2280" dirty="0"/>
                  <a:t>提出更一般的方法，把</a:t>
                </a:r>
                <a:r>
                  <a:rPr lang="en-US" altLang="zh-CN" sz="2280" dirty="0"/>
                  <a:t>(2)</a:t>
                </a:r>
                <a:r>
                  <a:rPr lang="zh-CN" altLang="en-US" sz="2280" dirty="0"/>
                  <a:t>式改为：</a:t>
                </a:r>
                <a:endParaRPr lang="en-US" altLang="zh-CN" sz="228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sz="2280" b="1" i="1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sz="228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80" b="1" i="1"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28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280" b="1" i="1">
                                    <a:latin typeface="Cambria Math"/>
                                  </a:rPr>
                                  <m:t>𝒌</m:t>
                                </m:r>
                                <m:r>
                                  <a:rPr lang="en-US" altLang="zh-CN" sz="2280" b="1" i="1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CN" sz="2280" b="1" i="1">
                                    <a:latin typeface="Cambria Math"/>
                                  </a:rPr>
                                  <m:t>𝟏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280" b="1" i="1">
                        <a:latin typeface="Cambria Math"/>
                      </a:rPr>
                      <m:t>≥</m:t>
                    </m:r>
                    <m:r>
                      <a:rPr lang="en-US" altLang="zh-CN" sz="2280" b="1" i="1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sz="228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80" b="1" i="1"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28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280" b="1" i="1">
                                    <a:latin typeface="Cambria Math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280" b="1" i="1">
                        <a:latin typeface="Cambria Math"/>
                      </a:rPr>
                      <m:t>+</m:t>
                    </m:r>
                    <m:r>
                      <a:rPr lang="en-US" altLang="zh-CN" sz="2280" b="1" i="1">
                        <a:latin typeface="Cambria Math"/>
                      </a:rPr>
                      <m:t>𝝈</m:t>
                    </m:r>
                    <m:sSup>
                      <m:sSupPr>
                        <m:ctrlPr>
                          <a:rPr lang="en-US" altLang="zh-CN" sz="228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80" b="1">
                            <a:latin typeface="Cambria Math"/>
                          </a:rPr>
                          <m:t>𝛁</m:t>
                        </m:r>
                        <m:r>
                          <a:rPr lang="en-US" altLang="zh-CN" sz="2280" b="1" i="1">
                            <a:latin typeface="Cambria Math"/>
                          </a:rPr>
                          <m:t>𝒇</m:t>
                        </m:r>
                      </m:e>
                      <m:sup>
                        <m:r>
                          <a:rPr lang="en-US" altLang="zh-CN" sz="2280" b="1" i="1">
                            <a:latin typeface="Cambria Math"/>
                          </a:rPr>
                          <m:t>𝑻</m:t>
                        </m:r>
                      </m:sup>
                    </m:sSup>
                    <m:d>
                      <m:dPr>
                        <m:ctrlPr>
                          <a:rPr lang="en-US" altLang="zh-CN" sz="228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80" b="1" i="1"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28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280" b="1" i="1">
                                    <a:latin typeface="Cambria Math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</m:e>
                    </m:d>
                    <m:sSup>
                      <m:sSupPr>
                        <m:ctrlPr>
                          <a:rPr lang="en-US" altLang="zh-CN" sz="228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80" b="1" i="1">
                            <a:latin typeface="Cambria Math"/>
                          </a:rPr>
                          <m:t>𝒔</m:t>
                        </m:r>
                      </m:e>
                      <m:sup>
                        <m:d>
                          <m:dPr>
                            <m:ctrlP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80" b="1" i="1">
                                <a:latin typeface="Cambria Math"/>
                              </a:rPr>
                              <m:t>𝒌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CN" sz="2280" dirty="0"/>
                  <a:t>,</a:t>
                </a:r>
                <a:r>
                  <a:rPr lang="zh-CN" altLang="en-US" sz="2280" dirty="0"/>
                  <a:t>其中</a:t>
                </a:r>
                <a14:m>
                  <m:oMath xmlns:m="http://schemas.openxmlformats.org/officeDocument/2006/math">
                    <m:r>
                      <a:rPr lang="en-US" altLang="zh-CN" sz="2280" b="1" i="1">
                        <a:latin typeface="Cambria Math"/>
                      </a:rPr>
                      <m:t>𝝈</m:t>
                    </m:r>
                    <m:r>
                      <a:rPr lang="en-US" altLang="zh-CN" sz="2280" b="1" i="1">
                        <a:latin typeface="Cambria Math"/>
                      </a:rPr>
                      <m:t>∈(</m:t>
                    </m:r>
                    <m:r>
                      <a:rPr lang="en-US" altLang="zh-CN" sz="2280" b="1" i="1">
                        <a:latin typeface="Cambria Math"/>
                      </a:rPr>
                      <m:t>𝝆</m:t>
                    </m:r>
                    <m:r>
                      <a:rPr lang="en-US" altLang="zh-CN" sz="2280" b="1" i="1">
                        <a:latin typeface="Cambria Math"/>
                      </a:rPr>
                      <m:t>,</m:t>
                    </m:r>
                    <m:r>
                      <a:rPr lang="en-US" altLang="zh-CN" sz="2280" b="1" i="1">
                        <a:latin typeface="Cambria Math"/>
                      </a:rPr>
                      <m:t>𝟏</m:t>
                    </m:r>
                    <m:r>
                      <a:rPr lang="en-US" altLang="zh-CN" sz="2280" b="1" i="1">
                        <a:latin typeface="Cambria Math"/>
                      </a:rPr>
                      <m:t>)</m:t>
                    </m:r>
                  </m:oMath>
                </a14:m>
                <a:endParaRPr lang="en-US" altLang="zh-CN" sz="2280" dirty="0"/>
              </a:p>
            </p:txBody>
          </p:sp>
        </mc:Choice>
        <mc:Fallback xmlns="">
          <p:sp>
            <p:nvSpPr>
              <p:cNvPr id="7577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411527" y="1221152"/>
                <a:ext cx="8780473" cy="5594861"/>
              </a:xfrm>
              <a:blipFill>
                <a:blip r:embed="rId2"/>
                <a:stretch>
                  <a:fillRect l="-833" t="-14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801" name="Group 25"/>
          <p:cNvGrpSpPr/>
          <p:nvPr/>
        </p:nvGrpSpPr>
        <p:grpSpPr bwMode="auto">
          <a:xfrm>
            <a:off x="838200" y="1768133"/>
            <a:ext cx="7293718" cy="1774007"/>
            <a:chOff x="432" y="628"/>
            <a:chExt cx="4944" cy="17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780" name="AutoShape 4"/>
                <p:cNvSpPr>
                  <a:spLocks noChangeArrowheads="1"/>
                </p:cNvSpPr>
                <p:nvPr/>
              </p:nvSpPr>
              <p:spPr bwMode="auto">
                <a:xfrm>
                  <a:off x="432" y="628"/>
                  <a:ext cx="4944" cy="332"/>
                </a:xfrm>
                <a:prstGeom prst="flowChartAlternateProcess">
                  <a:avLst/>
                </a:prstGeom>
                <a:noFill/>
                <a:ln w="9525">
                  <a:solidFill>
                    <a:schemeClr val="folHlink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995" i="1">
                          <a:solidFill>
                            <a:srgbClr val="FF0000"/>
                          </a:solidFill>
                          <a:latin typeface="Cambria Math"/>
                        </a:rPr>
                        <m:t>𝜌</m:t>
                      </m:r>
                      <m:r>
                        <a:rPr lang="en-US" altLang="zh-CN" sz="1995" i="1">
                          <a:solidFill>
                            <a:srgbClr val="FF0000"/>
                          </a:solidFill>
                          <a:latin typeface="Cambria Math"/>
                        </a:rPr>
                        <m:t>∈</m:t>
                      </m:r>
                      <m:d>
                        <m:dPr>
                          <m:ctrlPr>
                            <a:rPr lang="en-US" altLang="zh-CN" sz="1995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995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0,</m:t>
                          </m:r>
                          <m:f>
                            <m:fPr>
                              <m:ctrlPr>
                                <a:rPr lang="en-US" altLang="zh-CN" sz="1995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995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1995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sz="1995" i="1">
                          <a:solidFill>
                            <a:srgbClr val="FF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altLang="zh-CN" sz="1995" i="1">
                          <a:solidFill>
                            <a:srgbClr val="FF0000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altLang="zh-CN" sz="1995" i="1">
                          <a:solidFill>
                            <a:srgbClr val="FF0000"/>
                          </a:solidFill>
                          <a:latin typeface="Cambria Math"/>
                        </a:rPr>
                        <m:t>∈(0,</m:t>
                      </m:r>
                      <m:sSub>
                        <m:sSubPr>
                          <m:ctrlPr>
                            <a:rPr lang="en-US" altLang="zh-CN" sz="1995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995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𝜆</m:t>
                          </m:r>
                        </m:e>
                        <m:sub>
                          <m:func>
                            <m:funcPr>
                              <m:ctrlPr>
                                <a:rPr lang="en-US" altLang="zh-CN" sz="1995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995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max</m:t>
                              </m:r>
                            </m:fName>
                            <m:e>
                              <m:r>
                                <a:rPr lang="en-US" altLang="zh-CN" sz="1995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e>
                          </m:func>
                        </m:sub>
                      </m:sSub>
                      <m:r>
                        <a:rPr lang="en-US" altLang="zh-CN" sz="1995" i="1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a14:m>
                  <a:r>
                    <a:rPr lang="zh-CN" altLang="en-US" sz="1995" i="1" dirty="0">
                      <a:solidFill>
                        <a:srgbClr val="FF0000"/>
                      </a:solidFill>
                    </a:rPr>
                    <a:t>，</a:t>
                  </a:r>
                  <a14:m>
                    <m:oMath xmlns:m="http://schemas.openxmlformats.org/officeDocument/2006/math">
                      <m:r>
                        <a:rPr lang="en-US" altLang="zh-CN" sz="1995" i="1">
                          <a:solidFill>
                            <a:srgbClr val="FF0000"/>
                          </a:solidFill>
                          <a:latin typeface="Cambria Math"/>
                        </a:rPr>
                        <m:t>𝛼</m:t>
                      </m:r>
                      <m:r>
                        <a:rPr lang="en-US" altLang="zh-CN" sz="1995" i="1">
                          <a:solidFill>
                            <a:srgbClr val="FF0000"/>
                          </a:solidFill>
                          <a:latin typeface="Cambria Math"/>
                        </a:rPr>
                        <m:t>&gt;1</m:t>
                      </m:r>
                    </m:oMath>
                  </a14:m>
                  <a:r>
                    <a:rPr lang="en-US" altLang="zh-CN" sz="1995" dirty="0">
                      <a:solidFill>
                        <a:srgbClr val="FF0000"/>
                      </a:solidFill>
                    </a:rPr>
                    <a:t>(</a:t>
                  </a:r>
                  <a:r>
                    <a:rPr lang="zh-CN" altLang="en-US" sz="1995" dirty="0">
                      <a:solidFill>
                        <a:srgbClr val="FF0000"/>
                      </a:solidFill>
                    </a:rPr>
                    <a:t>步长增大系数</a:t>
                  </a:r>
                  <a:r>
                    <a:rPr lang="en-US" altLang="zh-CN" sz="1995" dirty="0">
                      <a:solidFill>
                        <a:srgbClr val="FF0000"/>
                      </a:solidFill>
                    </a:rPr>
                    <a:t>)</a:t>
                  </a:r>
                  <a:r>
                    <a:rPr lang="zh-CN" altLang="en-US" sz="1995" i="1" dirty="0">
                      <a:solidFill>
                        <a:srgbClr val="FF0000"/>
                      </a:solidFill>
                    </a:rPr>
                    <a:t>，</a:t>
                  </a:r>
                  <a14:m>
                    <m:oMath xmlns:m="http://schemas.openxmlformats.org/officeDocument/2006/math">
                      <m:r>
                        <a:rPr lang="en-US" altLang="zh-CN" sz="1995" i="1" dirty="0">
                          <a:solidFill>
                            <a:srgbClr val="FF0000"/>
                          </a:solidFill>
                          <a:latin typeface="Cambria Math"/>
                        </a:rPr>
                        <m:t>𝛽</m:t>
                      </m:r>
                      <m:r>
                        <a:rPr lang="en-US" altLang="zh-CN" sz="1995" i="1" dirty="0">
                          <a:solidFill>
                            <a:srgbClr val="FF0000"/>
                          </a:solidFill>
                          <a:latin typeface="Cambria Math"/>
                        </a:rPr>
                        <m:t>&lt;1(</m:t>
                      </m:r>
                      <m:r>
                        <a:rPr lang="en-US" altLang="zh-CN" sz="1995" i="1" dirty="0">
                          <a:solidFill>
                            <a:srgbClr val="FF0000"/>
                          </a:solidFill>
                          <a:latin typeface="Cambria Math"/>
                        </a:rPr>
                        <m:t>步长缩短系数</m:t>
                      </m:r>
                      <m:r>
                        <a:rPr lang="en-US" altLang="zh-CN" sz="1995" i="1" dirty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a14:m>
                  <a:r>
                    <a:rPr lang="en-US" altLang="zh-CN" sz="1995" dirty="0"/>
                    <a:t> </a:t>
                  </a:r>
                </a:p>
              </p:txBody>
            </p:sp>
          </mc:Choice>
          <mc:Fallback xmlns="">
            <p:sp>
              <p:nvSpPr>
                <p:cNvPr id="75780" name="AutoShap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2" y="628"/>
                  <a:ext cx="4944" cy="332"/>
                </a:xfrm>
                <a:prstGeom prst="flowChartAlternateProcess">
                  <a:avLst/>
                </a:prstGeom>
                <a:blipFill rotWithShape="1">
                  <a:blip r:embed="rId3"/>
                  <a:stretch>
                    <a:fillRect l="-5155" t="-21311" r="-3410" b="-31148"/>
                  </a:stretch>
                </a:blipFill>
                <a:ln w="9525">
                  <a:solidFill>
                    <a:schemeClr val="folHlink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p:sp>
          <p:nvSpPr>
            <p:cNvPr id="75781" name="AutoShape 5"/>
            <p:cNvSpPr>
              <a:spLocks noChangeArrowheads="1"/>
            </p:cNvSpPr>
            <p:nvPr/>
          </p:nvSpPr>
          <p:spPr bwMode="auto">
            <a:xfrm>
              <a:off x="1728" y="1296"/>
              <a:ext cx="2064" cy="432"/>
            </a:xfrm>
            <a:prstGeom prst="flowChartDecision">
              <a:avLst/>
            </a:prstGeom>
            <a:noFill/>
            <a:ln w="9525">
              <a:solidFill>
                <a:schemeClr val="fol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995" dirty="0">
                  <a:solidFill>
                    <a:srgbClr val="FF0000"/>
                  </a:solidFill>
                </a:rPr>
                <a:t>(1)</a:t>
              </a:r>
              <a:r>
                <a:rPr lang="zh-CN" altLang="en-US" sz="1995" dirty="0">
                  <a:solidFill>
                    <a:srgbClr val="FF0000"/>
                  </a:solidFill>
                </a:rPr>
                <a:t>是否成立？</a:t>
              </a:r>
            </a:p>
          </p:txBody>
        </p:sp>
        <p:sp>
          <p:nvSpPr>
            <p:cNvPr id="75782" name="Line 6"/>
            <p:cNvSpPr>
              <a:spLocks noChangeShapeType="1"/>
            </p:cNvSpPr>
            <p:nvPr/>
          </p:nvSpPr>
          <p:spPr bwMode="auto">
            <a:xfrm>
              <a:off x="3840" y="1536"/>
              <a:ext cx="432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710"/>
            </a:p>
          </p:txBody>
        </p:sp>
        <p:sp>
          <p:nvSpPr>
            <p:cNvPr id="75783" name="Rectangle 7"/>
            <p:cNvSpPr>
              <a:spLocks noChangeArrowheads="1"/>
            </p:cNvSpPr>
            <p:nvPr/>
          </p:nvSpPr>
          <p:spPr bwMode="auto">
            <a:xfrm>
              <a:off x="3744" y="1296"/>
              <a:ext cx="48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710" dirty="0">
                  <a:solidFill>
                    <a:srgbClr val="0000FF"/>
                  </a:solidFill>
                </a:rPr>
                <a:t>No</a:t>
              </a:r>
            </a:p>
          </p:txBody>
        </p:sp>
        <p:sp>
          <p:nvSpPr>
            <p:cNvPr id="75784" name="Line 8"/>
            <p:cNvSpPr>
              <a:spLocks noChangeShapeType="1"/>
            </p:cNvSpPr>
            <p:nvPr/>
          </p:nvSpPr>
          <p:spPr bwMode="auto">
            <a:xfrm>
              <a:off x="2784" y="1728"/>
              <a:ext cx="0" cy="192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710"/>
            </a:p>
          </p:txBody>
        </p:sp>
        <p:sp>
          <p:nvSpPr>
            <p:cNvPr id="75785" name="Rectangle 9"/>
            <p:cNvSpPr>
              <a:spLocks noChangeArrowheads="1"/>
            </p:cNvSpPr>
            <p:nvPr/>
          </p:nvSpPr>
          <p:spPr bwMode="auto">
            <a:xfrm>
              <a:off x="2832" y="1728"/>
              <a:ext cx="43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995" dirty="0">
                  <a:solidFill>
                    <a:srgbClr val="0000FF"/>
                  </a:solidFill>
                </a:rPr>
                <a:t>Yes</a:t>
              </a:r>
            </a:p>
          </p:txBody>
        </p:sp>
        <p:sp>
          <p:nvSpPr>
            <p:cNvPr id="75786" name="Line 10"/>
            <p:cNvSpPr>
              <a:spLocks noChangeShapeType="1"/>
            </p:cNvSpPr>
            <p:nvPr/>
          </p:nvSpPr>
          <p:spPr bwMode="auto">
            <a:xfrm>
              <a:off x="2784" y="960"/>
              <a:ext cx="0" cy="336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710"/>
            </a:p>
          </p:txBody>
        </p:sp>
        <p:sp>
          <p:nvSpPr>
            <p:cNvPr id="75787" name="AutoShape 11"/>
            <p:cNvSpPr>
              <a:spLocks noChangeArrowheads="1"/>
            </p:cNvSpPr>
            <p:nvPr/>
          </p:nvSpPr>
          <p:spPr bwMode="auto">
            <a:xfrm>
              <a:off x="1728" y="1920"/>
              <a:ext cx="2112" cy="432"/>
            </a:xfrm>
            <a:prstGeom prst="flowChartDecision">
              <a:avLst/>
            </a:prstGeom>
            <a:noFill/>
            <a:ln w="9525">
              <a:solidFill>
                <a:schemeClr val="fol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995" dirty="0">
                  <a:solidFill>
                    <a:srgbClr val="FF0000"/>
                  </a:solidFill>
                </a:rPr>
                <a:t>(2)</a:t>
              </a:r>
              <a:r>
                <a:rPr lang="zh-CN" altLang="en-US" sz="1995" dirty="0">
                  <a:solidFill>
                    <a:srgbClr val="FF0000"/>
                  </a:solidFill>
                </a:rPr>
                <a:t>是否成立？</a:t>
              </a:r>
            </a:p>
          </p:txBody>
        </p:sp>
        <p:sp>
          <p:nvSpPr>
            <p:cNvPr id="75788" name="Line 12"/>
            <p:cNvSpPr>
              <a:spLocks noChangeShapeType="1"/>
            </p:cNvSpPr>
            <p:nvPr/>
          </p:nvSpPr>
          <p:spPr bwMode="auto">
            <a:xfrm>
              <a:off x="3888" y="2160"/>
              <a:ext cx="384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710"/>
            </a:p>
          </p:txBody>
        </p:sp>
        <p:sp>
          <p:nvSpPr>
            <p:cNvPr id="75789" name="Rectangle 13"/>
            <p:cNvSpPr>
              <a:spLocks noChangeArrowheads="1"/>
            </p:cNvSpPr>
            <p:nvPr/>
          </p:nvSpPr>
          <p:spPr bwMode="auto">
            <a:xfrm>
              <a:off x="3744" y="1920"/>
              <a:ext cx="48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710" dirty="0">
                  <a:solidFill>
                    <a:srgbClr val="0000FF"/>
                  </a:solidFill>
                </a:rPr>
                <a:t>Yes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790" name="AutoShape 14"/>
                <p:cNvSpPr>
                  <a:spLocks noChangeArrowheads="1"/>
                </p:cNvSpPr>
                <p:nvPr/>
              </p:nvSpPr>
              <p:spPr bwMode="auto">
                <a:xfrm>
                  <a:off x="4272" y="2016"/>
                  <a:ext cx="1104" cy="288"/>
                </a:xfrm>
                <a:prstGeom prst="flowChartAlternateProcess">
                  <a:avLst/>
                </a:prstGeom>
                <a:noFill/>
                <a:ln w="9525">
                  <a:solidFill>
                    <a:schemeClr val="folHlink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1995" dirty="0"/>
                    <a:t>停</a:t>
                  </a:r>
                  <a:r>
                    <a:rPr lang="en-US" altLang="zh-CN" sz="1995" dirty="0"/>
                    <a:t>: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995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995" b="1" i="1">
                              <a:latin typeface="Cambria Math"/>
                            </a:rPr>
                            <m:t>𝝀</m:t>
                          </m:r>
                        </m:e>
                        <m:sub>
                          <m:r>
                            <a:rPr lang="en-US" altLang="zh-CN" sz="1995" b="1" i="1"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altLang="zh-CN" sz="1995" b="1" i="1">
                          <a:latin typeface="Cambria Math"/>
                        </a:rPr>
                        <m:t>=</m:t>
                      </m:r>
                      <m:r>
                        <a:rPr lang="en-US" altLang="zh-CN" sz="1995" b="1" i="1">
                          <a:latin typeface="Cambria Math"/>
                        </a:rPr>
                        <m:t>𝝀</m:t>
                      </m:r>
                    </m:oMath>
                  </a14:m>
                  <a:endParaRPr lang="en-US" altLang="zh-CN" sz="1995" dirty="0"/>
                </a:p>
              </p:txBody>
            </p:sp>
          </mc:Choice>
          <mc:Fallback xmlns="">
            <p:sp>
              <p:nvSpPr>
                <p:cNvPr id="75790" name="AutoShap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72" y="2016"/>
                  <a:ext cx="1104" cy="288"/>
                </a:xfrm>
                <a:prstGeom prst="flowChartAlternateProcess">
                  <a:avLst/>
                </a:prstGeom>
                <a:blipFill rotWithShape="1">
                  <a:blip r:embed="rId4"/>
                  <a:stretch>
                    <a:fillRect t="-30189" b="-45283"/>
                  </a:stretch>
                </a:blipFill>
                <a:ln w="9525">
                  <a:solidFill>
                    <a:schemeClr val="folHlink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p:sp>
          <p:nvSpPr>
            <p:cNvPr id="75791" name="Line 15"/>
            <p:cNvSpPr>
              <a:spLocks noChangeShapeType="1"/>
            </p:cNvSpPr>
            <p:nvPr/>
          </p:nvSpPr>
          <p:spPr bwMode="auto">
            <a:xfrm flipH="1">
              <a:off x="1440" y="2160"/>
              <a:ext cx="288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710"/>
            </a:p>
          </p:txBody>
        </p:sp>
        <p:sp>
          <p:nvSpPr>
            <p:cNvPr id="75792" name="Rectangle 16"/>
            <p:cNvSpPr>
              <a:spLocks noChangeArrowheads="1"/>
            </p:cNvSpPr>
            <p:nvPr/>
          </p:nvSpPr>
          <p:spPr bwMode="auto">
            <a:xfrm>
              <a:off x="1488" y="192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995" dirty="0">
                  <a:solidFill>
                    <a:srgbClr val="0000FF"/>
                  </a:solidFill>
                </a:rPr>
                <a:t>No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793" name="Rectangle 17"/>
                <p:cNvSpPr>
                  <a:spLocks noChangeArrowheads="1"/>
                </p:cNvSpPr>
                <p:nvPr/>
              </p:nvSpPr>
              <p:spPr bwMode="auto">
                <a:xfrm>
                  <a:off x="432" y="2016"/>
                  <a:ext cx="1008" cy="288"/>
                </a:xfrm>
                <a:prstGeom prst="rect">
                  <a:avLst/>
                </a:prstGeom>
                <a:noFill/>
                <a:ln w="9525">
                  <a:solidFill>
                    <a:schemeClr val="folHlink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995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𝝀</m:t>
                        </m:r>
                        <m:r>
                          <a:rPr lang="en-US" altLang="zh-CN" sz="1995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altLang="zh-CN" sz="1995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𝜶𝝀</m:t>
                        </m:r>
                      </m:oMath>
                    </m:oMathPara>
                  </a14:m>
                  <a:endParaRPr lang="en-US" altLang="zh-CN" sz="1995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5793" name="Rectangle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2" y="2016"/>
                  <a:ext cx="1008" cy="288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11321"/>
                  </a:stretch>
                </a:blipFill>
                <a:ln w="9525">
                  <a:solidFill>
                    <a:schemeClr val="folHlink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794" name="Rectangle 18"/>
                <p:cNvSpPr>
                  <a:spLocks noChangeArrowheads="1"/>
                </p:cNvSpPr>
                <p:nvPr/>
              </p:nvSpPr>
              <p:spPr bwMode="auto">
                <a:xfrm>
                  <a:off x="4320" y="1344"/>
                  <a:ext cx="960" cy="336"/>
                </a:xfrm>
                <a:prstGeom prst="rect">
                  <a:avLst/>
                </a:prstGeom>
                <a:noFill/>
                <a:ln w="9525">
                  <a:solidFill>
                    <a:schemeClr val="folHlink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995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𝝀</m:t>
                        </m:r>
                        <m:r>
                          <a:rPr lang="en-US" altLang="zh-CN" sz="1995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altLang="zh-CN" sz="1995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𝜷𝝀</m:t>
                        </m:r>
                      </m:oMath>
                    </m:oMathPara>
                  </a14:m>
                  <a:endParaRPr lang="en-US" altLang="zh-CN" sz="1995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5794" name="Rectangle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20" y="1344"/>
                  <a:ext cx="960" cy="336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b="-24194"/>
                  </a:stretch>
                </a:blipFill>
                <a:ln w="9525">
                  <a:solidFill>
                    <a:schemeClr val="folHlink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p:sp>
          <p:nvSpPr>
            <p:cNvPr id="75795" name="Line 19"/>
            <p:cNvSpPr>
              <a:spLocks noChangeShapeType="1"/>
            </p:cNvSpPr>
            <p:nvPr/>
          </p:nvSpPr>
          <p:spPr bwMode="auto">
            <a:xfrm flipH="1">
              <a:off x="2784" y="1104"/>
              <a:ext cx="2016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710"/>
            </a:p>
          </p:txBody>
        </p:sp>
        <p:sp>
          <p:nvSpPr>
            <p:cNvPr id="75796" name="Line 20"/>
            <p:cNvSpPr>
              <a:spLocks noChangeShapeType="1"/>
            </p:cNvSpPr>
            <p:nvPr/>
          </p:nvSpPr>
          <p:spPr bwMode="auto">
            <a:xfrm>
              <a:off x="4800" y="1104"/>
              <a:ext cx="0" cy="24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710"/>
            </a:p>
          </p:txBody>
        </p:sp>
        <p:sp>
          <p:nvSpPr>
            <p:cNvPr id="75797" name="Line 21"/>
            <p:cNvSpPr>
              <a:spLocks noChangeShapeType="1"/>
            </p:cNvSpPr>
            <p:nvPr/>
          </p:nvSpPr>
          <p:spPr bwMode="auto">
            <a:xfrm flipV="1">
              <a:off x="960" y="1200"/>
              <a:ext cx="0" cy="816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710"/>
            </a:p>
          </p:txBody>
        </p:sp>
        <p:sp>
          <p:nvSpPr>
            <p:cNvPr id="75798" name="Line 22"/>
            <p:cNvSpPr>
              <a:spLocks noChangeShapeType="1"/>
            </p:cNvSpPr>
            <p:nvPr/>
          </p:nvSpPr>
          <p:spPr bwMode="auto">
            <a:xfrm>
              <a:off x="960" y="1200"/>
              <a:ext cx="1824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71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/>
                  <a:t>的选取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5575541" y="638860"/>
                <a:ext cx="4987146" cy="696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71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710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altLang="zh-CN" sz="1710" i="1">
                          <a:solidFill>
                            <a:srgbClr val="0000FF"/>
                          </a:solidFill>
                          <a:latin typeface="Cambria Math"/>
                        </a:rPr>
                        <m:t>𝒇</m:t>
                      </m:r>
                      <m:d>
                        <m:dPr>
                          <m:ctrlPr>
                            <a:rPr lang="en-US" altLang="zh-CN" sz="171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71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710" i="1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171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710" i="1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𝒌</m:t>
                                  </m:r>
                                  <m:r>
                                    <a:rPr lang="en-US" altLang="zh-CN" sz="1710" i="1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+</m:t>
                                  </m:r>
                                  <m:r>
                                    <a:rPr lang="en-US" altLang="zh-CN" sz="1710" i="1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altLang="zh-CN" sz="1710" i="1">
                          <a:solidFill>
                            <a:srgbClr val="0000FF"/>
                          </a:solidFill>
                          <a:latin typeface="Cambria Math"/>
                        </a:rPr>
                        <m:t>−</m:t>
                      </m:r>
                      <m:r>
                        <a:rPr lang="en-US" altLang="zh-CN" sz="1710" i="1">
                          <a:solidFill>
                            <a:srgbClr val="0000FF"/>
                          </a:solidFill>
                          <a:latin typeface="Cambria Math"/>
                        </a:rPr>
                        <m:t>𝒇</m:t>
                      </m:r>
                      <m:d>
                        <m:dPr>
                          <m:ctrlPr>
                            <a:rPr lang="en-US" altLang="zh-CN" sz="171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71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710" i="1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171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710" i="1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𝒌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altLang="zh-CN" sz="1710" i="1">
                          <a:solidFill>
                            <a:srgbClr val="0000FF"/>
                          </a:solidFill>
                          <a:latin typeface="Cambria Math"/>
                        </a:rPr>
                        <m:t>≤</m:t>
                      </m:r>
                      <m:r>
                        <a:rPr lang="en-US" altLang="zh-CN" sz="1710" i="1">
                          <a:solidFill>
                            <a:srgbClr val="0000FF"/>
                          </a:solidFill>
                          <a:latin typeface="Cambria Math"/>
                        </a:rPr>
                        <m:t>𝝆</m:t>
                      </m:r>
                      <m:r>
                        <a:rPr lang="en-US" altLang="zh-CN" sz="1710">
                          <a:solidFill>
                            <a:srgbClr val="0000FF"/>
                          </a:solidFill>
                          <a:latin typeface="Cambria Math"/>
                        </a:rPr>
                        <m:t>𝛁</m:t>
                      </m:r>
                      <m:sSup>
                        <m:sSupPr>
                          <m:ctrlPr>
                            <a:rPr lang="en-US" altLang="zh-CN" sz="171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710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𝒇</m:t>
                          </m:r>
                        </m:e>
                        <m:sup>
                          <m:r>
                            <a:rPr lang="en-US" altLang="zh-CN" sz="1710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𝑻</m:t>
                          </m:r>
                        </m:sup>
                      </m:sSup>
                      <m:d>
                        <m:dPr>
                          <m:ctrlPr>
                            <a:rPr lang="en-US" altLang="zh-CN" sz="171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71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710" i="1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171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710" i="1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𝒌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altLang="zh-CN" sz="171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710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171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710" i="1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𝒌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altLang="zh-CN" sz="1710" i="1" dirty="0">
                  <a:solidFill>
                    <a:srgbClr val="0000FF"/>
                  </a:solidFill>
                  <a:latin typeface="Cambria Math" panose="02040503050406030204" pitchFamily="18" charset="0"/>
                </a:endParaRPr>
              </a:p>
              <a:p>
                <a:pPr algn="l"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71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71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</m:e>
                      </m:d>
                      <m:r>
                        <a:rPr lang="en-US" altLang="zh-CN" sz="1710" i="1">
                          <a:solidFill>
                            <a:srgbClr val="FF0000"/>
                          </a:solidFill>
                          <a:latin typeface="Cambria Math"/>
                        </a:rPr>
                        <m:t>𝒇</m:t>
                      </m:r>
                      <m:d>
                        <m:dPr>
                          <m:ctrlPr>
                            <a:rPr lang="en-US" altLang="zh-CN" sz="171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71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71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171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71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𝒌</m:t>
                                  </m:r>
                                  <m:r>
                                    <a:rPr lang="en-US" altLang="zh-CN" sz="171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+</m:t>
                                  </m:r>
                                  <m:r>
                                    <a:rPr lang="en-US" altLang="zh-CN" sz="171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altLang="zh-CN" sz="1710" i="1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altLang="zh-CN" sz="1710" i="1">
                          <a:solidFill>
                            <a:srgbClr val="FF0000"/>
                          </a:solidFill>
                          <a:latin typeface="Cambria Math"/>
                        </a:rPr>
                        <m:t>𝒇</m:t>
                      </m:r>
                      <m:d>
                        <m:dPr>
                          <m:ctrlPr>
                            <a:rPr lang="en-US" altLang="zh-CN" sz="171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71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71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171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71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𝒌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altLang="zh-CN" sz="1710" i="1">
                          <a:solidFill>
                            <a:srgbClr val="FF0000"/>
                          </a:solidFill>
                          <a:latin typeface="Cambria Math"/>
                        </a:rPr>
                        <m:t>≥</m:t>
                      </m:r>
                      <m:d>
                        <m:dPr>
                          <m:ctrlPr>
                            <a:rPr lang="en-US" altLang="zh-CN" sz="171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71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</m:t>
                          </m:r>
                          <m:r>
                            <a:rPr lang="en-US" altLang="zh-CN" sz="171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altLang="zh-CN" sz="171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𝝆</m:t>
                          </m:r>
                        </m:e>
                      </m:d>
                      <m:sSup>
                        <m:sSupPr>
                          <m:ctrlPr>
                            <a:rPr lang="en-US" altLang="zh-CN" sz="171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71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𝛁</m:t>
                          </m:r>
                          <m:r>
                            <a:rPr lang="en-US" altLang="zh-CN" sz="171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𝒇</m:t>
                          </m:r>
                        </m:e>
                        <m:sup>
                          <m:r>
                            <a:rPr lang="en-US" altLang="zh-CN" sz="171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𝑻</m:t>
                          </m:r>
                        </m:sup>
                      </m:sSup>
                      <m:d>
                        <m:dPr>
                          <m:ctrlPr>
                            <a:rPr lang="en-US" altLang="zh-CN" sz="171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71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71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171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71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𝒌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altLang="zh-CN" sz="171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71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171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71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𝒌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zh-CN" altLang="en-US" sz="1710" dirty="0"/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541" y="638860"/>
                <a:ext cx="4987146" cy="696216"/>
              </a:xfrm>
              <a:prstGeom prst="rect">
                <a:avLst/>
              </a:prstGeom>
              <a:blipFill>
                <a:blip r:embed="rId8"/>
                <a:stretch>
                  <a:fillRect b="-43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5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5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uiExpand="1" build="p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BD1CD9-C845-4D5C-9B57-E7BE72E38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几个常见的测试函数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5B3D205-DFEA-4657-82B1-EC3BF20396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Booth</a:t>
                </a:r>
                <a:r>
                  <a:rPr lang="zh-CN" altLang="en-US" dirty="0"/>
                  <a:t>函数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𝟕</m:t>
                            </m:r>
                          </m:e>
                        </m:d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</m:e>
                        </m:d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极小点在</a:t>
                </a:r>
                <a:r>
                  <a:rPr lang="en-US" altLang="zh-CN" dirty="0"/>
                  <a:t>(1,3),</a:t>
                </a:r>
                <a:r>
                  <a:rPr lang="zh-CN" altLang="en-US" dirty="0"/>
                  <a:t>最优值为</a:t>
                </a:r>
                <a:r>
                  <a:rPr lang="en-US" altLang="zh-CN" dirty="0"/>
                  <a:t>0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5B3D205-DFEA-4657-82B1-EC3BF20396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17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931B7FF3-97BD-409E-8ACA-AD2E29140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507" y="2990740"/>
            <a:ext cx="3538348" cy="332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891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5B8E2D-C9CB-4DDA-9369-CD3E425BD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760" y="171941"/>
            <a:ext cx="8218439" cy="725467"/>
          </a:xfrm>
        </p:spPr>
        <p:txBody>
          <a:bodyPr/>
          <a:lstStyle/>
          <a:p>
            <a:r>
              <a:rPr lang="zh-CN" altLang="en-US" dirty="0"/>
              <a:t>几个常见的测试函数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2210DF-E343-4A6A-980D-9A63AD728D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Branin</a:t>
                </a:r>
                <a:r>
                  <a:rPr lang="zh-CN" altLang="en-US" dirty="0"/>
                  <a:t>函数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𝒂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  <m:sSubSup>
                              <m:sSubSup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𝒔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𝒄𝒐𝒔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推荐参数：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𝝅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 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𝝅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2210DF-E343-4A6A-980D-9A63AD728D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17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E1CB6C3A-5BE5-4936-833F-B0975CF2C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550" y="3323303"/>
            <a:ext cx="3899549" cy="38253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5E473A8-231B-44DE-B300-CBAE9A82BCDC}"/>
                  </a:ext>
                </a:extLst>
              </p:cNvPr>
              <p:cNvSpPr txBox="1"/>
              <p:nvPr/>
            </p:nvSpPr>
            <p:spPr>
              <a:xfrm>
                <a:off x="2298167" y="3774301"/>
                <a:ext cx="2889782" cy="881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710" dirty="0">
                    <a:solidFill>
                      <a:srgbClr val="FF0000"/>
                    </a:solidFill>
                  </a:rPr>
                  <a:t>四个全局极小点</a:t>
                </a:r>
                <a:endParaRPr lang="en-US" altLang="zh-CN" sz="171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71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71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71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en-US" altLang="zh-CN" sz="171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71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  <m:r>
                            <a:rPr lang="en-US" altLang="zh-CN" sz="171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71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𝟐𝟕𝟓</m:t>
                          </m:r>
                        </m:e>
                      </m:d>
                      <m:r>
                        <a:rPr lang="en-US" altLang="zh-CN" sz="171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altLang="zh-CN" sz="171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71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en-US" altLang="zh-CN" sz="171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71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171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71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𝟐𝟕𝟓</m:t>
                          </m:r>
                        </m:e>
                      </m:d>
                      <m:r>
                        <a:rPr lang="en-US" altLang="zh-CN" sz="171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1710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71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71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171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en-US" altLang="zh-CN" sz="171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71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171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71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𝟒𝟕𝟓</m:t>
                          </m:r>
                        </m:e>
                      </m:d>
                      <m:r>
                        <a:rPr lang="en-US" altLang="zh-CN" sz="171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,(</m:t>
                      </m:r>
                      <m:r>
                        <a:rPr lang="en-US" altLang="zh-CN" sz="171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CN" sz="171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US" altLang="zh-CN" sz="171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71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US" altLang="zh-CN" sz="171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71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𝟖𝟕𝟓</m:t>
                      </m:r>
                      <m:r>
                        <a:rPr lang="en-US" altLang="zh-CN" sz="171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71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5E473A8-231B-44DE-B300-CBAE9A82B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167" y="3774301"/>
                <a:ext cx="2889782" cy="881780"/>
              </a:xfrm>
              <a:prstGeom prst="rect">
                <a:avLst/>
              </a:prstGeom>
              <a:blipFill>
                <a:blip r:embed="rId4"/>
                <a:stretch>
                  <a:fillRect l="-1477" t="-3448" b="-48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6947EED-5818-47A0-86EB-38D21CB3B194}"/>
                  </a:ext>
                </a:extLst>
              </p:cNvPr>
              <p:cNvSpPr txBox="1"/>
              <p:nvPr/>
            </p:nvSpPr>
            <p:spPr>
              <a:xfrm>
                <a:off x="2127801" y="5235990"/>
                <a:ext cx="2889782" cy="6186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710" dirty="0">
                    <a:solidFill>
                      <a:srgbClr val="FF0000"/>
                    </a:solidFill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71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71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71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171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71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altLang="zh-CN" sz="171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71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71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altLang="zh-CN" sz="171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171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71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171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71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altLang="zh-CN" sz="171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1710" dirty="0">
                    <a:solidFill>
                      <a:srgbClr val="FF0000"/>
                    </a:solidFill>
                  </a:rPr>
                  <a:t>则无全局极小点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6947EED-5818-47A0-86EB-38D21CB3B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7801" y="5235990"/>
                <a:ext cx="2889782" cy="618631"/>
              </a:xfrm>
              <a:prstGeom prst="rect">
                <a:avLst/>
              </a:prstGeom>
              <a:blipFill>
                <a:blip r:embed="rId5"/>
                <a:stretch>
                  <a:fillRect l="-1477" t="-4950" b="-128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0777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5B8E2D-C9CB-4DDA-9369-CD3E425BD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几个常见的测试函数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2210DF-E343-4A6A-980D-9A63AD728D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Flower</a:t>
                </a:r>
                <a:r>
                  <a:rPr lang="zh-CN" altLang="en-US" dirty="0"/>
                  <a:t>函数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m:rPr>
                        <m:lit/>
                      </m:rPr>
                      <a:rPr lang="en-US" altLang="zh-CN" b="1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m:rPr>
                        <m:lit/>
                      </m:rPr>
                      <a:rPr lang="en-US" altLang="zh-CN" b="1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𝒃𝒔𝒊𝒏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𝒕𝒂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典型参数：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其最小值靠近原点，但不是原点，反正切无定义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2210DF-E343-4A6A-980D-9A63AD728D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17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F80636B1-ABEA-4D94-A8BD-B978AA619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503" y="1297234"/>
            <a:ext cx="3938550" cy="367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866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5B8E2D-C9CB-4DDA-9369-CD3E425BD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几个常见的测试函数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2210DF-E343-4A6A-980D-9A63AD728D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Michalewicz</a:t>
                </a:r>
                <a:r>
                  <a:rPr lang="zh-CN" altLang="en-US" dirty="0"/>
                  <a:t>函数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sup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𝒔𝒊𝒏</m:t>
                        </m:r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𝒔𝒊</m:t>
                        </m:r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𝒎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sSubSup>
                                  <m:sSubSupPr>
                                    <m:ctrlP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𝝅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参数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dirty="0"/>
                  <a:t>典型的选择是</a:t>
                </a:r>
                <a:r>
                  <a:rPr lang="en-US" altLang="zh-CN" dirty="0"/>
                  <a:t>10</a:t>
                </a:r>
                <a:r>
                  <a:rPr lang="zh-CN" altLang="en-US" dirty="0"/>
                  <a:t>，控制陡峭度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全局最小值与维数相关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二维约在</a:t>
                </a:r>
                <a:r>
                  <a:rPr lang="en-US" altLang="zh-CN" dirty="0"/>
                  <a:t>(2.20,1.57),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)=−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𝟖𝟎𝟏𝟏</m:t>
                    </m:r>
                  </m:oMath>
                </a14:m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2210DF-E343-4A6A-980D-9A63AD728D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17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FBA92922-68B6-4259-AFD8-2CB98B032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2938" y="1375715"/>
            <a:ext cx="4583572" cy="435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015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5B8E2D-C9CB-4DDA-9369-CD3E425BD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760" y="123677"/>
            <a:ext cx="8218439" cy="725467"/>
          </a:xfrm>
        </p:spPr>
        <p:txBody>
          <a:bodyPr/>
          <a:lstStyle/>
          <a:p>
            <a:r>
              <a:rPr lang="zh-CN" altLang="en-US" dirty="0"/>
              <a:t>几个常见的测试函数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2210DF-E343-4A6A-980D-9A63AD728D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Rosenbrock Banana</a:t>
                </a:r>
                <a:r>
                  <a:rPr lang="zh-CN" altLang="en-US" dirty="0"/>
                  <a:t>函数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𝒃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altLang="zh-CN" b="1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zh-CN" altLang="en-US" b="1" dirty="0">
                    <a:latin typeface="Cambria Math" panose="02040503050406030204" pitchFamily="18" charset="0"/>
                  </a:rPr>
                  <a:t>全局极小点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zh-CN" b="1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dirty="0"/>
                  <a:t>极小点为</a:t>
                </a:r>
                <a:r>
                  <a:rPr lang="en-US" altLang="zh-CN" dirty="0"/>
                  <a:t>(1,1)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2210DF-E343-4A6A-980D-9A63AD728D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17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F42FC5D1-EBCF-431E-848C-720473D99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184" y="1707535"/>
            <a:ext cx="5180799" cy="508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009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5B8E2D-C9CB-4DDA-9369-CD3E425BD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几个常见的测试函数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2210DF-E343-4A6A-980D-9A63AD728D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Wheeler</a:t>
                </a:r>
                <a:r>
                  <a:rPr lang="zh-CN" altLang="en-US" dirty="0"/>
                  <a:t>函数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d>
                      </m:sup>
                    </m:sSup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dirty="0"/>
                  <a:t>设为</a:t>
                </a:r>
                <a:r>
                  <a:rPr lang="en-US" altLang="zh-CN" dirty="0"/>
                  <a:t>1.5</a:t>
                </a:r>
                <a:r>
                  <a:rPr lang="zh-CN" altLang="en-US" dirty="0"/>
                  <a:t>，在（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-2/3)</a:t>
                </a:r>
                <a:r>
                  <a:rPr lang="zh-CN" altLang="en-US" dirty="0"/>
                  <a:t>处取得极小值</a:t>
                </a:r>
                <a:r>
                  <a:rPr lang="en-US" altLang="zh-CN" dirty="0"/>
                  <a:t>-1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2210DF-E343-4A6A-980D-9A63AD728D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17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8A16FD13-821D-4597-8A49-2417B7BFD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269" y="3429000"/>
            <a:ext cx="7186428" cy="259882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67884C3-EC53-46D0-BF73-DBF228F45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634" y="3634239"/>
            <a:ext cx="2120807" cy="2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85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2C56A8-E89D-4075-B6F1-11F27CEB7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几个常见的测试函数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F13E1AD-3C6C-4F15-A39B-DC47059BEC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2280" dirty="0"/>
                  <a:t>Beale</a:t>
                </a:r>
                <a:r>
                  <a:rPr lang="zh-CN" altLang="en-US" sz="2280" dirty="0"/>
                  <a:t>函数</a:t>
                </a:r>
                <a14:m>
                  <m:oMath xmlns:m="http://schemas.openxmlformats.org/officeDocument/2006/math">
                    <m:r>
                      <a:rPr lang="zh-CN" altLang="en-US" sz="2280" b="1" i="1" dirty="0"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 sz="2280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28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280" b="1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sz="228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28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28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8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28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28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8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28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28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8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28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28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sz="2280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28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  <m:t>𝟐𝟓</m:t>
                            </m:r>
                            <m: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28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8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28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28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8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28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altLang="zh-CN" sz="2280" b="1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28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28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  <m:sup>
                                <m:r>
                                  <a:rPr lang="en-US" altLang="zh-CN" sz="228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altLang="zh-CN" sz="228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sz="2280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28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  <m:t>𝟔𝟐𝟓</m:t>
                            </m:r>
                            <m: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28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8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28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228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28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8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28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altLang="zh-CN" sz="2280" b="1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28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28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  <m:sup>
                                <m:r>
                                  <a:rPr lang="en-US" altLang="zh-CN" sz="2280" b="1" i="1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altLang="zh-CN" sz="228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altLang="zh-CN" sz="2280" b="1" dirty="0"/>
              </a:p>
              <a:p>
                <a:pPr lvl="1"/>
                <a:r>
                  <a:rPr lang="zh-CN" altLang="en-US" sz="1520" dirty="0">
                    <a:solidFill>
                      <a:srgbClr val="000000"/>
                    </a:solidFill>
                    <a:latin typeface="CMR10"/>
                  </a:rPr>
                  <a:t>这个非凸函数在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52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52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52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152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52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52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52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sz="152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152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152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0.5</m:t>
                            </m:r>
                          </m:e>
                        </m:d>
                      </m:e>
                      <m:sup>
                        <m:r>
                          <a:rPr lang="en-US" altLang="zh-CN" sz="152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152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1520" dirty="0">
                    <a:solidFill>
                      <a:srgbClr val="000000"/>
                    </a:solidFill>
                    <a:latin typeface="CMR10"/>
                  </a:rPr>
                  <a:t>处只有一个全局最小值，没有其他局部最小值</a:t>
                </a:r>
                <a:endParaRPr lang="en-US" altLang="zh-CN" sz="1520" dirty="0">
                  <a:solidFill>
                    <a:srgbClr val="000000"/>
                  </a:solidFill>
                  <a:latin typeface="CMR10"/>
                </a:endParaRPr>
              </a:p>
              <a:p>
                <a:pPr lvl="1"/>
                <a:r>
                  <a:rPr lang="en-US" altLang="zh-CN" sz="1520" dirty="0">
                    <a:solidFill>
                      <a:srgbClr val="000000"/>
                    </a:solidFill>
                    <a:latin typeface="CMR10"/>
                  </a:rPr>
                  <a:t>Beale </a:t>
                </a:r>
                <a:r>
                  <a:rPr lang="zh-CN" altLang="en-US" sz="1520" dirty="0">
                    <a:solidFill>
                      <a:srgbClr val="000000"/>
                    </a:solidFill>
                    <a:latin typeface="CMR10"/>
                  </a:rPr>
                  <a:t>函数有一个十字形的谷值，峰值位于 </a:t>
                </a:r>
                <a14:m>
                  <m:oMath xmlns:m="http://schemas.openxmlformats.org/officeDocument/2006/math">
                    <m:r>
                      <a:rPr lang="en-US" altLang="zh-CN" sz="152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152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、</m:t>
                    </m:r>
                    <m:r>
                      <a:rPr lang="en-US" altLang="zh-CN" sz="152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152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1520" dirty="0">
                    <a:solidFill>
                      <a:srgbClr val="000000"/>
                    </a:solidFill>
                    <a:latin typeface="CMR10"/>
                  </a:rPr>
                  <a:t>平面的拐角处。下图是不同方法的收敛区域显示，左边是经典牛顿法，右边是三次正则化牛顿法</a:t>
                </a:r>
                <a:r>
                  <a:rPr lang="en-US" altLang="zh-CN" sz="1520" dirty="0">
                    <a:solidFill>
                      <a:srgbClr val="000000"/>
                    </a:solidFill>
                    <a:latin typeface="CMR10"/>
                  </a:rPr>
                  <a:t>,</a:t>
                </a:r>
                <a:r>
                  <a:rPr lang="zh-CN" altLang="en-US" sz="1520" dirty="0">
                    <a:solidFill>
                      <a:srgbClr val="000000"/>
                    </a:solidFill>
                    <a:latin typeface="CMR10"/>
                  </a:rPr>
                  <a:t>右边图为其轮廓图。</a:t>
                </a:r>
                <a:br>
                  <a:rPr lang="en-US" altLang="zh-CN" sz="2280" dirty="0"/>
                </a:br>
                <a:endParaRPr lang="zh-CN" altLang="en-US" sz="228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F13E1AD-3C6C-4F15-A39B-DC47059BEC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8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446845D9-2A86-4447-A58E-9DDC1BB2C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308" y="3223761"/>
            <a:ext cx="5130258" cy="258246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BFCADDF-BC7C-4BD9-A68F-02D9EFC21E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260" y="3243160"/>
            <a:ext cx="3833819" cy="264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033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5B8E2D-C9CB-4DDA-9369-CD3E425BD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几个常见的测试函数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2210DF-E343-4A6A-980D-9A63AD728D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Bohachevsky</a:t>
                </a:r>
                <a:r>
                  <a:rPr lang="zh-CN" altLang="en-US" dirty="0"/>
                  <a:t>函数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𝒄𝒐𝒔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𝝅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𝒄𝒐𝒔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𝝅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𝟕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zh-CN" dirty="0"/>
                  <a:t>Bohachevsky 函数的特点是整体碗形，</a:t>
                </a:r>
                <a:r>
                  <a:rPr lang="zh-CN" altLang="en-US" dirty="0"/>
                  <a:t>有全局极小点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；但是，此函数在 </a:t>
                </a:r>
                <a:r>
                  <a:rPr lang="en-US" altLang="zh-CN" dirty="0"/>
                  <a:t>x </a:t>
                </a:r>
                <a:r>
                  <a:rPr lang="zh-CN" altLang="en-US" dirty="0"/>
                  <a:t>方向上</a:t>
                </a:r>
                <a:r>
                  <a:rPr lang="en-US" altLang="zh-CN" dirty="0"/>
                  <a:t>0.61</a:t>
                </a:r>
                <a:r>
                  <a:rPr lang="zh-CN" altLang="en-US" dirty="0"/>
                  <a:t>附近，在 </a:t>
                </a:r>
                <a:r>
                  <a:rPr lang="en-US" altLang="zh-CN" dirty="0"/>
                  <a:t>y </a:t>
                </a:r>
                <a:r>
                  <a:rPr lang="zh-CN" altLang="en-US" dirty="0"/>
                  <a:t>方向上约为 </a:t>
                </a:r>
                <a:r>
                  <a:rPr lang="en-US" altLang="zh-CN" dirty="0"/>
                  <a:t>.46</a:t>
                </a:r>
                <a:r>
                  <a:rPr lang="zh-CN" altLang="en-US" dirty="0"/>
                  <a:t>，具有许多局部最小值，这使得优化算法很容易卡在局部最小值中。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2210DF-E343-4A6A-980D-9A63AD728D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17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0CF3F6F4-00F2-45BB-B565-028257F11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347" y="3429000"/>
            <a:ext cx="4363666" cy="290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593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5B8E2D-C9CB-4DDA-9369-CD3E425BD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几个常见的测试函数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2210DF-E343-4A6A-980D-9A63AD728D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McCormick</a:t>
                </a:r>
                <a:r>
                  <a:rPr lang="zh-CN" altLang="en-US" dirty="0"/>
                  <a:t>函数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𝒔𝒊𝒏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d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altLang="zh-CN" b="1" dirty="0"/>
              </a:p>
              <a:p>
                <a:pPr lvl="1"/>
                <a:r>
                  <a:rPr lang="en-US" altLang="zh-CN" sz="1710" dirty="0"/>
                  <a:t>McCormick </a:t>
                </a:r>
                <a:r>
                  <a:rPr lang="zh-CN" altLang="en-US" sz="1710" dirty="0"/>
                  <a:t>是一个板状函数，没有全局最小值，但有许多彼此相差约 </a:t>
                </a:r>
                <a14:m>
                  <m:oMath xmlns:m="http://schemas.openxmlformats.org/officeDocument/2006/math">
                    <m:r>
                      <a:rPr lang="en-US" altLang="zh-CN" sz="171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710" i="1" dirty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sz="171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710" i="1" dirty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sz="171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sz="1710" dirty="0"/>
                  <a:t>的局部最小值。当 </a:t>
                </a:r>
                <a:r>
                  <a:rPr lang="en-US" altLang="zh-CN" sz="1710" dirty="0"/>
                  <a:t>x </a:t>
                </a:r>
                <a:r>
                  <a:rPr lang="zh-CN" altLang="en-US" sz="1710" dirty="0"/>
                  <a:t>和 </a:t>
                </a:r>
                <a:r>
                  <a:rPr lang="en-US" altLang="zh-CN" sz="1710" dirty="0"/>
                  <a:t>y </a:t>
                </a:r>
                <a:r>
                  <a:rPr lang="zh-CN" altLang="en-US" sz="1710" dirty="0"/>
                  <a:t>接近 −∞时，这些局部最小值的目标值逐渐变小。此函数的通常搜索区间为 </a:t>
                </a:r>
                <a14:m>
                  <m:oMath xmlns:m="http://schemas.openxmlformats.org/officeDocument/2006/math">
                    <m:r>
                      <a:rPr lang="zh-CN" altLang="en-US" sz="171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710" i="1" dirty="0">
                        <a:latin typeface="Cambria Math" panose="02040503050406030204" pitchFamily="18" charset="0"/>
                      </a:rPr>
                      <m:t>1.5 ≤ </m:t>
                    </m:r>
                    <m:r>
                      <a:rPr lang="en-US" altLang="zh-CN" sz="171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710" i="1" dirty="0">
                        <a:latin typeface="Cambria Math" panose="02040503050406030204" pitchFamily="18" charset="0"/>
                      </a:rPr>
                      <m:t> ≤ 4</m:t>
                    </m:r>
                    <m:r>
                      <a:rPr lang="zh-CN" altLang="en-US" sz="1710" i="1" dirty="0">
                        <a:latin typeface="Cambria Math" panose="02040503050406030204" pitchFamily="18" charset="0"/>
                      </a:rPr>
                      <m:t>、</m:t>
                    </m:r>
                    <m:r>
                      <a:rPr lang="zh-CN" altLang="en-US" sz="1710" i="1" dirty="0">
                        <a:latin typeface="Cambria Math" panose="02040503050406030204" pitchFamily="18" charset="0"/>
                      </a:rPr>
                      <m:t>−3 ≤ </m:t>
                    </m:r>
                    <m:r>
                      <a:rPr lang="en-US" altLang="zh-CN" sz="171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1710" i="1" dirty="0">
                        <a:latin typeface="Cambria Math" panose="02040503050406030204" pitchFamily="18" charset="0"/>
                      </a:rPr>
                      <m:t> ≤ 4</m:t>
                    </m:r>
                  </m:oMath>
                </a14:m>
                <a:r>
                  <a:rPr lang="zh-CN" altLang="en-US" sz="1710" dirty="0"/>
                  <a:t>，该区间的最小值为</a:t>
                </a:r>
                <a14:m>
                  <m:oMath xmlns:m="http://schemas.openxmlformats.org/officeDocument/2006/math">
                    <m:r>
                      <a:rPr lang="en-US" altLang="zh-CN" sz="171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171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710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710" i="1" dirty="0">
                        <a:latin typeface="Cambria Math" panose="02040503050406030204" pitchFamily="18" charset="0"/>
                      </a:rPr>
                      <m:t>54719,</m:t>
                    </m:r>
                    <m:r>
                      <a:rPr lang="zh-CN" altLang="en-US" sz="171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171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710" i="1" dirty="0">
                        <a:latin typeface="Cambria Math" panose="02040503050406030204" pitchFamily="18" charset="0"/>
                      </a:rPr>
                      <m:t>1.54719)</m:t>
                    </m:r>
                  </m:oMath>
                </a14:m>
                <a:r>
                  <a:rPr lang="zh-CN" altLang="en-US" sz="1710" dirty="0"/>
                  <a:t>没有全局极小点，如图为局部轮廓图</a:t>
                </a:r>
                <a:endParaRPr lang="en-US" altLang="zh-CN" sz="171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2210DF-E343-4A6A-980D-9A63AD728D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17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1BFF1AF6-358A-4B01-93E0-8139080DB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953" y="3245689"/>
            <a:ext cx="4446854" cy="3101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204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5B8E2D-C9CB-4DDA-9369-CD3E425BD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几个常见的测试函数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2210DF-E343-4A6A-980D-9A63AD728D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Himmelblau</a:t>
                </a:r>
                <a:r>
                  <a:rPr lang="zh-CN" altLang="en-US" dirty="0"/>
                  <a:t>函数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𝟏𝟏</m:t>
                            </m:r>
                          </m:e>
                        </m:d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𝟕</m:t>
                            </m:r>
                          </m:e>
                        </m:d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altLang="zh-CN" b="1" dirty="0"/>
              </a:p>
              <a:p>
                <a:pPr lvl="1"/>
                <a:r>
                  <a:rPr lang="en-US" altLang="zh-CN" sz="1710" dirty="0" err="1"/>
                  <a:t>Himmelblau</a:t>
                </a:r>
                <a:r>
                  <a:rPr lang="en-US" altLang="zh-CN" sz="1710" dirty="0"/>
                  <a:t> </a:t>
                </a:r>
                <a:r>
                  <a:rPr lang="zh-CN" altLang="en-US" sz="1710" dirty="0"/>
                  <a:t>函数是一个碗形函数，具有四个局部最小值</a:t>
                </a:r>
                <a:r>
                  <a:rPr lang="en-US" altLang="zh-CN" sz="1710" dirty="0">
                    <a:sym typeface="Wingdings" panose="05000000000000000000" pitchFamily="2" charset="2"/>
                  </a:rPr>
                  <a:t>(</a:t>
                </a:r>
                <a:r>
                  <a:rPr lang="en-US" altLang="zh-CN" sz="1710" dirty="0"/>
                  <a:t>3,</a:t>
                </a:r>
                <a:r>
                  <a:rPr lang="zh-CN" altLang="en-US" sz="1710" dirty="0"/>
                  <a:t> </a:t>
                </a:r>
                <a:r>
                  <a:rPr lang="en-US" altLang="zh-CN" sz="1710" dirty="0"/>
                  <a:t>2)</a:t>
                </a:r>
                <a:r>
                  <a:rPr lang="zh-CN" altLang="en-US" sz="1710" dirty="0"/>
                  <a:t>、</a:t>
                </a:r>
                <a:r>
                  <a:rPr lang="en-US" altLang="zh-CN" sz="1710" dirty="0">
                    <a:sym typeface="Wingdings" panose="05000000000000000000" pitchFamily="2" charset="2"/>
                  </a:rPr>
                  <a:t> ( </a:t>
                </a:r>
                <a:r>
                  <a:rPr lang="zh-CN" altLang="en-US" sz="1710" dirty="0"/>
                  <a:t>−</a:t>
                </a:r>
                <a:r>
                  <a:rPr lang="en-US" altLang="zh-CN" sz="1710" dirty="0"/>
                  <a:t>2.805118,</a:t>
                </a:r>
                <a:r>
                  <a:rPr lang="zh-CN" altLang="en-US" sz="1710" dirty="0"/>
                  <a:t> </a:t>
                </a:r>
                <a:r>
                  <a:rPr lang="en-US" altLang="zh-CN" sz="1710" dirty="0"/>
                  <a:t>3.131312 ) </a:t>
                </a:r>
                <a:r>
                  <a:rPr lang="zh-CN" altLang="en-US" sz="1710" dirty="0"/>
                  <a:t>、</a:t>
                </a:r>
                <a:r>
                  <a:rPr lang="en-US" altLang="zh-CN" sz="1710" dirty="0">
                    <a:sym typeface="Wingdings" panose="05000000000000000000" pitchFamily="2" charset="2"/>
                  </a:rPr>
                  <a:t> ( </a:t>
                </a:r>
                <a:r>
                  <a:rPr lang="zh-CN" altLang="en-US" sz="1710" dirty="0"/>
                  <a:t>−</a:t>
                </a:r>
                <a:r>
                  <a:rPr lang="en-US" altLang="zh-CN" sz="1710" dirty="0"/>
                  <a:t>3.779310,</a:t>
                </a:r>
                <a:r>
                  <a:rPr lang="zh-CN" altLang="en-US" sz="1710" dirty="0"/>
                  <a:t> −</a:t>
                </a:r>
                <a:r>
                  <a:rPr lang="en-US" altLang="zh-CN" sz="1710" dirty="0"/>
                  <a:t>3.283186 )</a:t>
                </a:r>
                <a:r>
                  <a:rPr lang="zh-CN" altLang="en-US" sz="1710" dirty="0"/>
                  <a:t> 和 </a:t>
                </a:r>
                <a:r>
                  <a:rPr lang="en-US" altLang="zh-CN" sz="1710" dirty="0">
                    <a:sym typeface="Wingdings" panose="05000000000000000000" pitchFamily="2" charset="2"/>
                  </a:rPr>
                  <a:t>( </a:t>
                </a:r>
                <a:r>
                  <a:rPr lang="en-US" altLang="zh-CN" sz="1710" dirty="0"/>
                  <a:t>3.584428,</a:t>
                </a:r>
                <a:r>
                  <a:rPr lang="zh-CN" altLang="en-US" sz="1710" dirty="0"/>
                  <a:t> −</a:t>
                </a:r>
                <a:r>
                  <a:rPr lang="en-US" altLang="zh-CN" sz="1710" dirty="0"/>
                  <a:t>1.848126 )</a:t>
                </a:r>
                <a:r>
                  <a:rPr lang="zh-CN" altLang="en-US" sz="1710" dirty="0"/>
                  <a:t>。而</a:t>
                </a:r>
                <a14:m>
                  <m:oMath xmlns:m="http://schemas.openxmlformats.org/officeDocument/2006/math">
                    <m:r>
                      <a:rPr lang="en-US" altLang="zh-CN" sz="171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710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171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71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71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710" dirty="0"/>
                  <a:t>是全局极小点。</a:t>
                </a:r>
                <a:endParaRPr lang="en-US" altLang="zh-CN" sz="171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2210DF-E343-4A6A-980D-9A63AD728D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17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87ACE40E-8CA7-433D-8C16-26C3345EC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360" y="3156435"/>
            <a:ext cx="5111238" cy="348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23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5B8E2D-C9CB-4DDA-9369-CD3E425BD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几个常见的测试函数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2210DF-E343-4A6A-980D-9A63AD728D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Circle</a:t>
                </a:r>
                <a:r>
                  <a:rPr lang="zh-CN" altLang="en-US" dirty="0"/>
                  <a:t>函数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𝒓𝒄𝒐𝒔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𝒓𝒔𝒊𝒏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  <m:sup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bSup>
                          </m:den>
                        </m:f>
                      </m:e>
                    </m:d>
                  </m:oMath>
                </a14:m>
                <a:r>
                  <a:rPr lang="en-US" altLang="zh-CN" dirty="0"/>
                  <a:t>,Pareto</a:t>
                </a:r>
                <a14:m>
                  <m:oMath xmlns:m="http://schemas.openxmlformats.org/officeDocument/2006/math">
                    <m:r>
                      <a:rPr lang="zh-CN" altLang="en-US" b="1" i="1" dirty="0">
                        <a:latin typeface="Cambria Math" panose="02040503050406030204" pitchFamily="18" charset="0"/>
                      </a:rPr>
                      <m:t>前沿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𝒎𝒐𝒅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𝝅</m:t>
                            </m:r>
                          </m:num>
                          <m:den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dirty="0"/>
                  <a:t>或者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 ,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𝒎𝒐𝒅</m:t>
                    </m:r>
                    <m:d>
                      <m:d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</m:d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𝝅</m:t>
                        </m:r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num>
                          <m:den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zh-CN" altLang="en-US" b="1" i="1" smtClean="0">
                        <a:latin typeface="Cambria Math" panose="02040503050406030204" pitchFamily="18" charset="0"/>
                      </a:rPr>
                      <m:t>多目标</m:t>
                    </m:r>
                  </m:oMath>
                </a14:m>
                <a:r>
                  <a:rPr lang="zh-CN" altLang="en-US" dirty="0"/>
                  <a:t>测试函数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2210DF-E343-4A6A-980D-9A63AD728D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17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4679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AE6266-7C4E-4394-89E3-A3CC57725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几个常见的测试函数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32246EA-D3DA-4947-9A5E-79E8DA868B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den>
                    </m:f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bSup>
                        <m:r>
                          <a:rPr lang="en-US" altLang="zh-CN" b="1" i="1" smtClean="0">
                            <a:latin typeface="Cambria Math"/>
                          </a:rPr>
                          <m:t>+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𝜶</m:t>
                        </m:r>
                        <m:sSubSup>
                          <m:sSub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b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bSup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𝜶</m:t>
                    </m:r>
                    <m:r>
                      <a:rPr lang="en-US" altLang="zh-CN" b="1" i="1" smtClean="0">
                        <a:latin typeface="Cambria Math"/>
                      </a:rPr>
                      <m:t>&gt;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</m:oMath>
                </a14:m>
                <a:r>
                  <a:rPr lang="zh-CN" altLang="en-US" dirty="0"/>
                  <a:t>，极小值点为（</a:t>
                </a:r>
                <a:r>
                  <a:rPr lang="en-US" altLang="zh-CN" dirty="0"/>
                  <a:t>0,0</a:t>
                </a:r>
                <a:r>
                  <a:rPr lang="zh-CN" altLang="en-US" dirty="0"/>
                  <a:t>），任意选定初始点迭代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32246EA-D3DA-4947-9A5E-79E8DA868B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93508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660" dirty="0"/>
              <a:t>各种梯度算法的变种加速算法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显然上述方法都是一阶方法，实际上对一阶方法还有很多变种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Momentum</a:t>
                </a:r>
                <a:r>
                  <a:rPr lang="zh-CN" altLang="en-US" dirty="0"/>
                  <a:t>更新：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𝜷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p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𝜶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CN" dirty="0"/>
                  <a:t>;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p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d>
                          <m:d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dirty="0"/>
              </a:p>
              <a:p>
                <a:pPr lvl="2"/>
                <a:r>
                  <a:rPr lang="zh-CN" altLang="en-US" dirty="0"/>
                  <a:t>动量法在底部不会减缓步长</a:t>
                </a:r>
                <a:endParaRPr lang="en-US" altLang="zh-CN" dirty="0"/>
              </a:p>
              <a:p>
                <a:pPr lvl="1"/>
                <a:r>
                  <a:rPr lang="en-US" altLang="zh-CN" dirty="0" err="1"/>
                  <a:t>Nesterov</a:t>
                </a:r>
                <a:r>
                  <a:rPr lang="en-US" altLang="zh-CN" dirty="0"/>
                  <a:t> Momentum</a:t>
                </a:r>
                <a:r>
                  <a:rPr lang="zh-CN" altLang="en-US" dirty="0"/>
                  <a:t>使用将来位置梯度</a:t>
                </a:r>
                <a:endParaRPr lang="en-US" altLang="zh-CN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𝜷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𝛁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r>
                  <a:rPr lang="en-US" altLang="zh-CN" dirty="0"/>
                  <a:t>;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14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68EFA4B7-BFFC-4C1D-B5EC-8A529E06B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062" y="4249958"/>
            <a:ext cx="5041111" cy="218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18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660" dirty="0"/>
              <a:t>各种梯度算法的变种加速算法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显然上述方法都是一阶方法，实际上对一阶方法还有很多变种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Momentum</a:t>
                </a:r>
                <a:r>
                  <a:rPr lang="zh-CN" altLang="en-US" dirty="0"/>
                  <a:t>更新：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𝜷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p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𝜶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CN" dirty="0"/>
                  <a:t>;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p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d>
                          <m:d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 err="1"/>
                  <a:t>Nesterov</a:t>
                </a:r>
                <a:r>
                  <a:rPr lang="en-US" altLang="zh-CN" dirty="0"/>
                  <a:t> Momentum</a:t>
                </a:r>
                <a:r>
                  <a:rPr lang="zh-CN" altLang="en-US" dirty="0"/>
                  <a:t>使用将来位置梯度</a:t>
                </a:r>
                <a:endParaRPr lang="en-US" altLang="zh-CN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𝜷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𝛁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r>
                  <a:rPr lang="en-US" altLang="zh-CN" dirty="0"/>
                  <a:t>;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Adagrad</m:t>
                    </m:r>
                  </m:oMath>
                </a14:m>
                <a:r>
                  <a:rPr lang="zh-CN" altLang="en-US" dirty="0"/>
                  <a:t>方法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自适应子梯度方法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：为每个变量维度更新学习率</a:t>
                </a:r>
                <a:endParaRPr lang="en-US" altLang="zh-CN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bSup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bSup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𝜶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</m:d>
                              </m:sup>
                            </m:sSubSup>
                          </m:e>
                        </m:rad>
                      </m:den>
                    </m:f>
                    <m:sSubSup>
                      <m:sSub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bSup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  <m:e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</a:rPr>
                                          <m:t>𝒋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dirty="0"/>
                  <a:t>,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𝝐</m:t>
                    </m:r>
                    <m:r>
                      <a:rPr lang="en-US" altLang="zh-CN" b="1" i="0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b="1" i="0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𝟏</m:t>
                    </m:r>
                    <m:sSup>
                      <m:sSup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𝟖</m:t>
                        </m:r>
                      </m:sup>
                    </m:sSup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防止被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除</a:t>
                </a:r>
                <a:endParaRPr lang="en-US" altLang="zh-CN" dirty="0"/>
              </a:p>
              <a:p>
                <a:pPr lvl="2"/>
                <a:r>
                  <a:rPr lang="en-US" altLang="zh-CN" dirty="0" err="1"/>
                  <a:t>Adagrad</a:t>
                </a:r>
                <a:r>
                  <a:rPr lang="zh-CN" altLang="en-US" dirty="0"/>
                  <a:t>对学习率不敏感，一般设置为</a:t>
                </a:r>
                <a:r>
                  <a:rPr lang="en-US" altLang="zh-CN" dirty="0"/>
                  <a:t>0.1</a:t>
                </a:r>
              </a:p>
              <a:p>
                <a:pPr lvl="2"/>
                <a:r>
                  <a:rPr lang="zh-CN" altLang="en-US" dirty="0"/>
                  <a:t>缺陷是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zh-CN" altLang="en-US" dirty="0"/>
                  <a:t>非下降，导致学习率会下降，影响收敛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1410" b="-49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1D2B1348-A8D6-4D15-9ED5-8790BE97C2D2}"/>
              </a:ext>
            </a:extLst>
          </p:cNvPr>
          <p:cNvSpPr txBox="1"/>
          <p:nvPr/>
        </p:nvSpPr>
        <p:spPr>
          <a:xfrm>
            <a:off x="9021135" y="2670539"/>
            <a:ext cx="253171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900" dirty="0">
                <a:solidFill>
                  <a:srgbClr val="FF3399"/>
                </a:solidFill>
              </a:rPr>
              <a:t>动量法和</a:t>
            </a:r>
            <a:r>
              <a:rPr lang="en-US" altLang="zh-CN" sz="1900" dirty="0">
                <a:solidFill>
                  <a:srgbClr val="FF3399"/>
                </a:solidFill>
              </a:rPr>
              <a:t>N-</a:t>
            </a:r>
            <a:r>
              <a:rPr lang="zh-CN" altLang="en-US" sz="1900" dirty="0">
                <a:solidFill>
                  <a:srgbClr val="FF3399"/>
                </a:solidFill>
              </a:rPr>
              <a:t>动量法对所有分量统一参数</a:t>
            </a:r>
          </a:p>
        </p:txBody>
      </p:sp>
    </p:spTree>
    <p:extLst>
      <p:ext uri="{BB962C8B-B14F-4D97-AF65-F5344CB8AC3E}">
        <p14:creationId xmlns:p14="http://schemas.microsoft.com/office/powerpoint/2010/main" val="1915879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660" dirty="0"/>
              <a:t>各种梯度算法的变种加速算法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zh-CN" altLang="en-US" sz="2280" dirty="0"/>
                  <a:t>显然上述方法都是一阶方法，实际上对一阶方法还有很多变种</a:t>
                </a:r>
                <a:endParaRPr lang="en-US" altLang="zh-CN" sz="2280" dirty="0"/>
              </a:p>
              <a:p>
                <a:pPr lvl="1"/>
                <a:r>
                  <a:rPr lang="en-US" altLang="zh-CN" sz="1900" dirty="0"/>
                  <a:t>Momentum</a:t>
                </a:r>
                <a:r>
                  <a:rPr lang="zh-CN" altLang="en-US" sz="1900" dirty="0"/>
                  <a:t>更新：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d>
                          <m:d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𝜷</m:t>
                    </m:r>
                    <m:sSup>
                      <m:sSup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d>
                          <m:d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p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𝜶</m:t>
                    </m:r>
                    <m:sSup>
                      <m:sSup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d>
                          <m:d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CN" sz="1900" dirty="0"/>
                  <a:t>;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9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9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sz="19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b="1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1900" b="1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1900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en-US" altLang="zh-CN" sz="1900" b="1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9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9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sz="19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b="1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p>
                    <m:r>
                      <a:rPr lang="en-US" altLang="zh-CN" sz="1900" b="1" i="1" dirty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19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900" b="1" i="1" dirty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d>
                          <m:dPr>
                            <m:ctrlPr>
                              <a:rPr lang="en-US" altLang="zh-CN" sz="19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b="1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1900" b="1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1900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sz="1900" dirty="0"/>
              </a:p>
              <a:p>
                <a:pPr lvl="1"/>
                <a:r>
                  <a:rPr lang="en-US" altLang="zh-CN" sz="1900" dirty="0" err="1"/>
                  <a:t>Nesterov</a:t>
                </a:r>
                <a:r>
                  <a:rPr lang="en-US" altLang="zh-CN" sz="1900" dirty="0"/>
                  <a:t> Momentum</a:t>
                </a:r>
                <a:r>
                  <a:rPr lang="zh-CN" altLang="en-US" sz="1900" dirty="0"/>
                  <a:t>使用将来位置梯度</a:t>
                </a:r>
                <a:endParaRPr lang="en-US" altLang="zh-CN" sz="1900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71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710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d>
                          <m:dPr>
                            <m:ctrlPr>
                              <a:rPr lang="en-US" altLang="zh-CN" sz="171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710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17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1710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en-US" altLang="zh-CN" sz="171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710" i="1">
                        <a:latin typeface="Cambria Math" panose="02040503050406030204" pitchFamily="18" charset="0"/>
                      </a:rPr>
                      <m:t>𝜷</m:t>
                    </m:r>
                    <m:sSup>
                      <m:sSupPr>
                        <m:ctrlPr>
                          <a:rPr lang="en-US" altLang="zh-CN" sz="171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710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d>
                          <m:dPr>
                            <m:ctrlPr>
                              <a:rPr lang="en-US" altLang="zh-CN" sz="171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710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p>
                    <m:r>
                      <a:rPr lang="en-US" altLang="zh-CN" sz="171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710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zh-CN" sz="1710" b="1">
                        <a:latin typeface="Cambria Math" panose="02040503050406030204" pitchFamily="18" charset="0"/>
                      </a:rPr>
                      <m:t>𝛁</m:t>
                    </m:r>
                    <m:r>
                      <a:rPr lang="en-US" altLang="zh-CN" sz="1710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171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71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71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71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710" b="1" i="1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171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710" b="1" i="1">
                            <a:latin typeface="Cambria Math" panose="02040503050406030204" pitchFamily="18" charset="0"/>
                          </a:rPr>
                          <m:t>𝜷</m:t>
                        </m:r>
                        <m:sSup>
                          <m:sSupPr>
                            <m:ctrlPr>
                              <a:rPr lang="en-US" altLang="zh-CN" sz="171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710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71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710" b="1" i="1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r>
                  <a:rPr lang="en-US" altLang="zh-CN" sz="1710" dirty="0"/>
                  <a:t>;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71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710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sz="171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710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171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1710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en-US" altLang="zh-CN" sz="171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71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710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sz="171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710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p>
                    <m:r>
                      <a:rPr lang="en-US" altLang="zh-CN" sz="1710" i="1" dirty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171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710" i="1" dirty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d>
                          <m:dPr>
                            <m:ctrlPr>
                              <a:rPr lang="en-US" altLang="zh-CN" sz="171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710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171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1710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sz="171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900" i="1" dirty="0">
                        <a:latin typeface="Cambria Math" panose="02040503050406030204" pitchFamily="18" charset="0"/>
                      </a:rPr>
                      <m:t>Adagrad</m:t>
                    </m:r>
                  </m:oMath>
                </a14:m>
                <a:r>
                  <a:rPr lang="zh-CN" altLang="en-US" sz="1900" dirty="0"/>
                  <a:t>方法</a:t>
                </a:r>
                <a:r>
                  <a:rPr lang="en-US" altLang="zh-CN" sz="1900" dirty="0"/>
                  <a:t>(</a:t>
                </a:r>
                <a:r>
                  <a:rPr lang="zh-CN" altLang="en-US" sz="1900" dirty="0"/>
                  <a:t>自适应子梯度方法</a:t>
                </a:r>
                <a:r>
                  <a:rPr lang="en-US" altLang="zh-CN" sz="1900" dirty="0"/>
                  <a:t>)</a:t>
                </a:r>
                <a:r>
                  <a:rPr lang="zh-CN" altLang="en-US" sz="1900" dirty="0"/>
                  <a:t>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d>
                          <m:d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bSup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d>
                          <m:d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bSup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𝜶</m:t>
                        </m:r>
                      </m:num>
                      <m:den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𝝐</m:t>
                        </m:r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sz="19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900" b="1" i="1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</m:d>
                              </m:sup>
                            </m:sSubSup>
                          </m:e>
                        </m:rad>
                      </m:den>
                    </m:f>
                    <m:sSubSup>
                      <m:sSubSup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d>
                          <m:d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altLang="zh-CN" sz="1900" dirty="0"/>
                  <a:t>,</a:t>
                </a:r>
                <a:r>
                  <a:rPr lang="zh-CN" altLang="en-US" sz="1900" dirty="0"/>
                  <a:t>其中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d>
                          <m:d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bSup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  <m:e>
                        <m:sSup>
                          <m:sSup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CN" sz="19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1900" b="1" i="1"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</m:e>
                                  <m:sub>
                                    <m:r>
                                      <a:rPr lang="en-US" altLang="zh-CN" sz="1900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altLang="zh-CN" sz="19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900" b="1" i="1">
                                            <a:latin typeface="Cambria Math" panose="02040503050406030204" pitchFamily="18" charset="0"/>
                                          </a:rPr>
                                          <m:t>𝒋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sz="1900" dirty="0"/>
                  <a:t>,</a:t>
                </a:r>
                <a14:m>
                  <m:oMath xmlns:m="http://schemas.openxmlformats.org/officeDocument/2006/math">
                    <m:r>
                      <a:rPr lang="en-US" altLang="zh-CN" sz="1900" b="1" i="1" dirty="0">
                        <a:latin typeface="Cambria Math" panose="02040503050406030204" pitchFamily="18" charset="0"/>
                      </a:rPr>
                      <m:t>𝝐</m:t>
                    </m:r>
                    <m:r>
                      <a:rPr lang="en-US" altLang="zh-CN" sz="1900" b="1" dirty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sz="1900" b="1" dirty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900" b="1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900" b="1" i="1" dirty="0">
                        <a:latin typeface="Cambria Math" panose="02040503050406030204" pitchFamily="18" charset="0"/>
                      </a:rPr>
                      <m:t>𝟏</m:t>
                    </m:r>
                    <m:sSup>
                      <m:sSupPr>
                        <m:ctrlPr>
                          <a:rPr lang="en-US" altLang="zh-CN" sz="19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900" b="1" i="1" dirty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altLang="zh-CN" sz="1900" b="1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900" b="1" i="1" dirty="0">
                            <a:latin typeface="Cambria Math" panose="02040503050406030204" pitchFamily="18" charset="0"/>
                          </a:rPr>
                          <m:t>𝟖</m:t>
                        </m:r>
                      </m:sup>
                    </m:sSup>
                  </m:oMath>
                </a14:m>
                <a:r>
                  <a:rPr lang="en-US" altLang="zh-CN" sz="1900" dirty="0"/>
                  <a:t>,</a:t>
                </a:r>
                <a:r>
                  <a:rPr lang="zh-CN" altLang="en-US" sz="1900" dirty="0"/>
                  <a:t>防止被</a:t>
                </a:r>
                <a:r>
                  <a:rPr lang="en-US" altLang="zh-CN" sz="1900" dirty="0"/>
                  <a:t>0</a:t>
                </a:r>
                <a:r>
                  <a:rPr lang="zh-CN" altLang="en-US" sz="1900" dirty="0"/>
                  <a:t>除</a:t>
                </a:r>
                <a:endParaRPr lang="en-US" altLang="zh-CN" sz="1900" dirty="0"/>
              </a:p>
              <a:p>
                <a:pPr lvl="1"/>
                <a:r>
                  <a:rPr lang="en-US" altLang="zh-CN" sz="1900" dirty="0" err="1"/>
                  <a:t>RMSProp</a:t>
                </a:r>
                <a:r>
                  <a:rPr lang="zh-CN" altLang="en-US" sz="1900" dirty="0"/>
                  <a:t>：在</a:t>
                </a:r>
                <a:r>
                  <a:rPr lang="en-US" altLang="zh-CN" sz="1900" dirty="0" err="1"/>
                  <a:t>adagrad</a:t>
                </a:r>
                <a:r>
                  <a:rPr lang="zh-CN" altLang="en-US" sz="1900" dirty="0"/>
                  <a:t>上避免学习率下降：</a:t>
                </a:r>
                <a:endParaRPr lang="en-US" altLang="zh-CN" sz="19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8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</m:acc>
                      </m:e>
                      <m:sup>
                        <m:d>
                          <m:dPr>
                            <m:ctrlPr>
                              <a:rPr lang="en-US" altLang="zh-CN" sz="228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80" b="1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2280" b="1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280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en-US" altLang="zh-CN" sz="2280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280" b="1" i="1" dirty="0">
                        <a:latin typeface="Cambria Math" panose="02040503050406030204" pitchFamily="18" charset="0"/>
                      </a:rPr>
                      <m:t>𝜸</m:t>
                    </m:r>
                    <m:sSup>
                      <m:sSupPr>
                        <m:ctrlPr>
                          <a:rPr lang="en-US" altLang="zh-CN" sz="228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sz="2280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280" b="1" i="1" dirty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</m:acc>
                      </m:e>
                      <m:sup>
                        <m:d>
                          <m:dPr>
                            <m:ctrlPr>
                              <a:rPr lang="en-US" altLang="zh-CN" sz="228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80" b="1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p>
                    <m:r>
                      <a:rPr lang="en-US" altLang="zh-CN" sz="2280" b="1" i="1" dirty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sz="228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80" b="1" i="1" dirty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280" b="1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280" b="1" i="1" dirty="0">
                            <a:latin typeface="Cambria Math" panose="02040503050406030204" pitchFamily="18" charset="0"/>
                          </a:rPr>
                          <m:t>𝜸</m:t>
                        </m:r>
                      </m:e>
                    </m:d>
                    <m:d>
                      <m:dPr>
                        <m:ctrlPr>
                          <a:rPr lang="en-US" altLang="zh-CN" sz="228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28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80" b="1" i="1" dirty="0"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280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280" b="1" i="1" dirty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228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⨀</m:t>
                        </m:r>
                        <m:sSup>
                          <m:sSupPr>
                            <m:ctrlPr>
                              <a:rPr lang="en-US" altLang="zh-CN" sz="228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8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𝒈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28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28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r>
                  <a:rPr lang="en-US" altLang="zh-CN" sz="1900" dirty="0"/>
                  <a:t>,</a:t>
                </a:r>
                <a:r>
                  <a:rPr lang="zh-CN" altLang="en-US" sz="1900" dirty="0"/>
                  <a:t>衰减率</a:t>
                </a:r>
                <a14:m>
                  <m:oMath xmlns:m="http://schemas.openxmlformats.org/officeDocument/2006/math"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𝜸</m:t>
                    </m:r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∈[</m:t>
                    </m:r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1900" dirty="0"/>
                  <a:t>设定靠近</a:t>
                </a:r>
                <a:r>
                  <a:rPr lang="en-US" altLang="zh-CN" sz="1900" dirty="0"/>
                  <a:t>0.9</a:t>
                </a:r>
              </a:p>
              <a:p>
                <a:pPr lvl="1"/>
                <a:r>
                  <a:rPr lang="en-US" altLang="zh-CN" sz="1900" dirty="0"/>
                  <a:t>Update</a:t>
                </a:r>
                <a:r>
                  <a:rPr lang="zh-CN" altLang="en-US" sz="1900" dirty="0"/>
                  <a:t>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d>
                          <m:d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bSup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d>
                          <m:d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bSup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1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900" i="1">
                            <a:latin typeface="Cambria Math" panose="02040503050406030204" pitchFamily="18" charset="0"/>
                          </a:rPr>
                          <m:t>𝜶</m:t>
                        </m:r>
                      </m:num>
                      <m:den>
                        <m:r>
                          <a:rPr lang="en-US" altLang="zh-CN" sz="1900" i="1">
                            <a:latin typeface="Cambria Math" panose="02040503050406030204" pitchFamily="18" charset="0"/>
                          </a:rPr>
                          <m:t>𝝐</m:t>
                        </m:r>
                        <m:r>
                          <a:rPr lang="en-US" altLang="zh-CN" sz="1900" i="1"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altLang="zh-CN" sz="19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US" altLang="zh-CN" sz="19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sz="19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900" i="1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1900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900" i="1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</m:d>
                              </m:sup>
                            </m:sSubSup>
                          </m:e>
                        </m:rad>
                      </m:den>
                    </m:f>
                    <m:sSubSup>
                      <m:sSubSupPr>
                        <m:ctrlPr>
                          <a:rPr lang="en-US" altLang="zh-CN" sz="19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900" i="1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zh-CN" sz="1900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d>
                          <m:dPr>
                            <m:ctrlPr>
                              <a:rPr lang="en-US" altLang="zh-CN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bSup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9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9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9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900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d>
                          <m:dPr>
                            <m:ctrlPr>
                              <a:rPr lang="en-US" altLang="zh-CN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bSup>
                    <m:r>
                      <a:rPr lang="en-US" altLang="zh-CN" sz="19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1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900" i="1">
                            <a:latin typeface="Cambria Math" panose="02040503050406030204" pitchFamily="18" charset="0"/>
                          </a:rPr>
                          <m:t>𝜶</m:t>
                        </m:r>
                      </m:num>
                      <m:den>
                        <m:r>
                          <a:rPr lang="en-US" altLang="zh-CN" sz="1900" i="1">
                            <a:latin typeface="Cambria Math" panose="02040503050406030204" pitchFamily="18" charset="0"/>
                          </a:rPr>
                          <m:t>𝝐</m:t>
                        </m:r>
                        <m:r>
                          <a:rPr lang="en-US" altLang="zh-CN" sz="19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𝑹𝑴𝑺</m:t>
                        </m:r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  <m:sub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sSubSup>
                      <m:sSubSupPr>
                        <m:ctrlPr>
                          <a:rPr lang="en-US" altLang="zh-CN" sz="19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900" i="1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zh-CN" sz="1900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d>
                          <m:dPr>
                            <m:ctrlPr>
                              <a:rPr lang="en-US" altLang="zh-CN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bSup>
                  </m:oMath>
                </a14:m>
                <a:endParaRPr lang="en-US" altLang="zh-CN" sz="1900" dirty="0"/>
              </a:p>
              <a:p>
                <a:pPr lvl="1"/>
                <a:r>
                  <a:rPr lang="en-US" altLang="zh-CN" sz="1900" dirty="0" err="1"/>
                  <a:t>Adadelta</a:t>
                </a:r>
                <a:r>
                  <a:rPr lang="en-US" altLang="zh-CN" sz="1900" dirty="0"/>
                  <a:t>:</a:t>
                </a:r>
                <a:r>
                  <a:rPr lang="zh-CN" altLang="en-US" sz="1900" dirty="0"/>
                  <a:t>另一种避免</a:t>
                </a:r>
                <a:r>
                  <a:rPr lang="en-US" altLang="zh-CN" sz="1900" dirty="0" err="1"/>
                  <a:t>Adagrad</a:t>
                </a:r>
                <a:r>
                  <a:rPr lang="zh-CN" altLang="en-US" sz="1900" dirty="0"/>
                  <a:t>单调递减学习率的方法</a:t>
                </a:r>
                <a:endParaRPr lang="en-US" altLang="zh-CN" sz="190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9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9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900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d>
                          <m:dPr>
                            <m:ctrlPr>
                              <a:rPr lang="en-US" altLang="zh-CN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19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1900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bSup>
                    <m:r>
                      <a:rPr lang="en-US" altLang="zh-CN" sz="19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19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9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900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d>
                          <m:dPr>
                            <m:ctrlPr>
                              <a:rPr lang="en-US" altLang="zh-CN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bSup>
                    <m:r>
                      <a:rPr lang="en-US" altLang="zh-CN" sz="19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1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𝑹𝑴𝑺</m:t>
                        </m:r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𝜟</m:t>
                        </m:r>
                        <m:sSub>
                          <m:sSub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1900" i="1">
                            <a:latin typeface="Cambria Math" panose="02040503050406030204" pitchFamily="18" charset="0"/>
                          </a:rPr>
                          <m:t>𝝐</m:t>
                        </m:r>
                        <m:r>
                          <a:rPr lang="en-US" altLang="zh-CN" sz="19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900" i="1">
                            <a:latin typeface="Cambria Math" panose="02040503050406030204" pitchFamily="18" charset="0"/>
                          </a:rPr>
                          <m:t>𝑹𝑴𝑺</m:t>
                        </m:r>
                        <m:r>
                          <a:rPr lang="en-US" altLang="zh-CN" sz="19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900" i="1"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  <m:sub>
                            <m:r>
                              <a:rPr lang="en-US" altLang="zh-CN" sz="1900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sSubSup>
                      <m:sSubSupPr>
                        <m:ctrlPr>
                          <a:rPr lang="en-US" altLang="zh-CN" sz="19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900" i="1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zh-CN" sz="1900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d>
                          <m:dPr>
                            <m:ctrlPr>
                              <a:rPr lang="en-US" altLang="zh-CN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altLang="zh-CN" sz="1900" dirty="0"/>
                  <a:t>,</a:t>
                </a:r>
                <a:r>
                  <a:rPr lang="zh-CN" altLang="en-US" sz="1900" dirty="0"/>
                  <a:t>完全消除学习率的影响</a:t>
                </a:r>
                <a:endParaRPr lang="en-US" altLang="zh-CN" sz="19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33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660" dirty="0"/>
              <a:t>各种梯度算法的变种加速算法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zh-CN" altLang="en-US" sz="2280" dirty="0"/>
                  <a:t>显然上述方法都是一阶方法，实际上对一阶方法还有很多变种</a:t>
                </a:r>
                <a:endParaRPr lang="en-US" altLang="zh-CN" sz="2280" dirty="0"/>
              </a:p>
              <a:p>
                <a:pPr lvl="1"/>
                <a:r>
                  <a:rPr lang="en-US" altLang="zh-CN" sz="1900" dirty="0"/>
                  <a:t>Momentum</a:t>
                </a:r>
                <a:r>
                  <a:rPr lang="zh-CN" altLang="en-US" sz="1900" dirty="0"/>
                  <a:t>更新；</a:t>
                </a:r>
                <a:r>
                  <a:rPr lang="en-US" altLang="zh-CN" sz="1900" dirty="0" err="1"/>
                  <a:t>Nesterov</a:t>
                </a:r>
                <a:r>
                  <a:rPr lang="en-US" altLang="zh-CN" sz="1900" dirty="0"/>
                  <a:t> Momentum</a:t>
                </a:r>
                <a:r>
                  <a:rPr lang="zh-CN" altLang="en-US" sz="1900" dirty="0"/>
                  <a:t>；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900" i="1" dirty="0">
                        <a:latin typeface="Cambria Math" panose="02040503050406030204" pitchFamily="18" charset="0"/>
                      </a:rPr>
                      <m:t>Adagrad</m:t>
                    </m:r>
                  </m:oMath>
                </a14:m>
                <a:r>
                  <a:rPr lang="zh-CN" altLang="en-US" sz="1900" dirty="0"/>
                  <a:t>方法</a:t>
                </a:r>
                <a:r>
                  <a:rPr lang="en-US" altLang="zh-CN" sz="1900" dirty="0"/>
                  <a:t>(</a:t>
                </a:r>
                <a:r>
                  <a:rPr lang="zh-CN" altLang="en-US" sz="1900" dirty="0"/>
                  <a:t>自适应子梯度方法</a:t>
                </a:r>
                <a:r>
                  <a:rPr lang="en-US" altLang="zh-CN" sz="1900" dirty="0"/>
                  <a:t>)</a:t>
                </a:r>
              </a:p>
              <a:p>
                <a:pPr lvl="1"/>
                <a:r>
                  <a:rPr lang="en-US" altLang="zh-CN" sz="1900" dirty="0" err="1"/>
                  <a:t>RMSProp</a:t>
                </a:r>
                <a:r>
                  <a:rPr lang="zh-CN" altLang="en-US" sz="1900" dirty="0"/>
                  <a:t>；</a:t>
                </a:r>
                <a:r>
                  <a:rPr lang="en-US" altLang="zh-CN" sz="1900" dirty="0" err="1"/>
                  <a:t>Adadelta</a:t>
                </a:r>
                <a:endParaRPr lang="en-US" altLang="zh-CN" sz="1900" dirty="0"/>
              </a:p>
              <a:p>
                <a:pPr lvl="1"/>
                <a:r>
                  <a:rPr lang="en-US" altLang="zh-CN" sz="1900" dirty="0"/>
                  <a:t>Adam(Adaptive moment estimation)-2015</a:t>
                </a:r>
              </a:p>
              <a:p>
                <a:pPr lvl="1"/>
                <a:r>
                  <a:rPr lang="zh-CN" altLang="en-US" sz="1900" dirty="0"/>
                  <a:t>修改每一个参数的学习率，存储指数衰减平方梯度，如</a:t>
                </a:r>
                <a:r>
                  <a:rPr lang="en-US" altLang="zh-CN" sz="1900" dirty="0" err="1"/>
                  <a:t>RMSProp,Adadelta</a:t>
                </a:r>
                <a:r>
                  <a:rPr lang="en-US" altLang="zh-CN" sz="1900" dirty="0"/>
                  <a:t>,</a:t>
                </a:r>
                <a:r>
                  <a:rPr lang="zh-CN" altLang="en-US" sz="1900" dirty="0"/>
                  <a:t>以及指数衰减梯度，如</a:t>
                </a:r>
                <a:r>
                  <a:rPr lang="en-US" altLang="zh-CN" sz="1900" dirty="0"/>
                  <a:t>Momentum</a:t>
                </a:r>
              </a:p>
              <a:p>
                <a:pPr lvl="1"/>
                <a:r>
                  <a:rPr lang="zh-CN" altLang="en-US" sz="1900" dirty="0"/>
                  <a:t>初始化梯度和平方梯度为</a:t>
                </a:r>
                <a:r>
                  <a:rPr lang="en-US" altLang="zh-CN" sz="1900" dirty="0"/>
                  <a:t>0</a:t>
                </a:r>
                <a:r>
                  <a:rPr lang="zh-CN" altLang="en-US" sz="1900" dirty="0"/>
                  <a:t>时会引入偏差，因此需要专门的偏差校正来减轻这个问题（</a:t>
                </a:r>
                <a14:m>
                  <m:oMath xmlns:m="http://schemas.openxmlformats.org/officeDocument/2006/math"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𝟎𝟏</m:t>
                    </m:r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𝜸</m:t>
                        </m:r>
                      </m:e>
                      <m:sub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</m:sSub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𝜸</m:t>
                        </m:r>
                      </m:e>
                      <m:sub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𝟗𝟗𝟗</m:t>
                    </m:r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𝝐</m:t>
                    </m:r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𝟏</m:t>
                    </m:r>
                    <m:sSup>
                      <m:sSup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𝟖</m:t>
                        </m:r>
                      </m:sup>
                    </m:sSup>
                  </m:oMath>
                </a14:m>
                <a:r>
                  <a:rPr lang="zh-CN" altLang="en-US" sz="1900" dirty="0"/>
                  <a:t>）</a:t>
                </a:r>
                <a:endParaRPr lang="en-US" altLang="zh-CN" sz="1900" dirty="0"/>
              </a:p>
              <a:p>
                <a:pPr lvl="1"/>
                <a:r>
                  <a:rPr lang="zh-CN" altLang="en-US" sz="1900" dirty="0"/>
                  <a:t>带偏差的衰减</a:t>
                </a:r>
                <a:r>
                  <a:rPr lang="en-US" altLang="zh-CN" sz="1900" dirty="0"/>
                  <a:t>momentum: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d>
                          <m:d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𝜸</m:t>
                        </m:r>
                      </m:e>
                      <m:sub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</m:sSub>
                    <m:sSup>
                      <m:sSup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d>
                          <m:d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p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𝜸</m:t>
                            </m:r>
                          </m:e>
                          <m:sub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d>
                          <m:d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sz="1900" b="1" dirty="0"/>
              </a:p>
              <a:p>
                <a:pPr lvl="1"/>
                <a:r>
                  <a:rPr lang="zh-CN" altLang="en-US" sz="1900" dirty="0"/>
                  <a:t>带偏差的衰减</a:t>
                </a:r>
                <a:r>
                  <a:rPr lang="en-US" altLang="zh-CN" sz="1900" dirty="0"/>
                  <a:t>sq. gradient: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p>
                        <m:d>
                          <m:d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𝜸</m:t>
                        </m:r>
                      </m:e>
                      <m:sub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sSup>
                      <m:sSup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p>
                        <m:d>
                          <m:d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p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𝜸</m:t>
                            </m:r>
                          </m:e>
                          <m:sub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𝒔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⨀</m:t>
                        </m:r>
                        <m:sSup>
                          <m:sSup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en-US" altLang="zh-CN" sz="1900" dirty="0"/>
              </a:p>
              <a:p>
                <a:pPr lvl="1"/>
                <a:r>
                  <a:rPr lang="zh-CN" altLang="en-US" sz="1900" dirty="0"/>
                  <a:t>校正的衰减</a:t>
                </a:r>
                <a:r>
                  <a:rPr lang="en-US" altLang="zh-CN" sz="1900" dirty="0"/>
                  <a:t>momentum</a:t>
                </a:r>
                <a:r>
                  <a:rPr lang="zh-CN" altLang="en-US" sz="1900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8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acc>
                      </m:e>
                      <m:sup>
                        <m:d>
                          <m:dPr>
                            <m:ctrlPr>
                              <a:rPr lang="en-US" altLang="zh-CN" sz="228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80" b="1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2280" b="1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280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en-US" altLang="zh-CN" sz="2280" b="1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280" b="1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28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280" b="1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280" b="1" i="1" dirty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acc>
                          </m:e>
                          <m:sup>
                            <m:d>
                              <m:dPr>
                                <m:ctrlPr>
                                  <a:rPr lang="en-US" altLang="zh-CN" sz="2280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280" b="1" i="1" dirty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altLang="zh-CN" sz="2280" b="1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280" b="1" i="1" dirty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sup>
                        </m:sSup>
                      </m:num>
                      <m:den>
                        <m:r>
                          <a:rPr lang="en-US" altLang="zh-CN" sz="2280" b="1" i="1" dirty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280" b="1" i="1" dirty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sz="2280" b="1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280" b="1" i="1" dirty="0">
                                <a:latin typeface="Cambria Math" panose="02040503050406030204" pitchFamily="18" charset="0"/>
                              </a:rPr>
                              <m:t>𝜸</m:t>
                            </m:r>
                          </m:e>
                          <m:sub>
                            <m:r>
                              <a:rPr lang="en-US" altLang="zh-CN" sz="2280" b="1" i="1" dirty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  <m:sup>
                            <m:r>
                              <a:rPr lang="en-US" altLang="zh-CN" sz="2280" b="1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p>
                        </m:sSubSup>
                      </m:den>
                    </m:f>
                  </m:oMath>
                </a14:m>
                <a:endParaRPr lang="en-US" altLang="zh-CN" sz="1900" dirty="0"/>
              </a:p>
              <a:p>
                <a:pPr lvl="1"/>
                <a:r>
                  <a:rPr lang="zh-CN" altLang="en-US" sz="1900" dirty="0"/>
                  <a:t>校正的衰减</a:t>
                </a:r>
                <a:r>
                  <a:rPr lang="en-US" altLang="zh-CN" sz="1900" dirty="0"/>
                  <a:t>sq. gradient</a:t>
                </a:r>
                <a:r>
                  <a:rPr lang="zh-CN" altLang="en-US" sz="1900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8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</m:acc>
                      </m:e>
                      <m:sup>
                        <m:d>
                          <m:dPr>
                            <m:ctrlPr>
                              <a:rPr lang="en-US" altLang="zh-CN" sz="228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80" b="1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2280" b="1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280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en-US" altLang="zh-CN" sz="2280" b="1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280" b="1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28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80" b="1" i="1" dirty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280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280" b="1" i="1" dirty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altLang="zh-CN" sz="2280" b="1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280" b="1" i="1" dirty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sup>
                        </m:sSup>
                      </m:num>
                      <m:den>
                        <m:r>
                          <a:rPr lang="en-US" altLang="zh-CN" sz="2280" b="1" i="1" dirty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280" b="1" i="1" dirty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sz="2280" b="1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280" b="1" i="1" dirty="0">
                                <a:latin typeface="Cambria Math" panose="02040503050406030204" pitchFamily="18" charset="0"/>
                              </a:rPr>
                              <m:t>𝜸</m:t>
                            </m:r>
                          </m:e>
                          <m:sub>
                            <m:r>
                              <a:rPr lang="en-US" altLang="zh-CN" sz="2280" b="1" i="1" dirty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sub>
                          <m:sup>
                            <m:r>
                              <a:rPr lang="en-US" altLang="zh-CN" sz="2280" b="1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p>
                        </m:sSubSup>
                      </m:den>
                    </m:f>
                  </m:oMath>
                </a14:m>
                <a:endParaRPr lang="en-US" altLang="zh-CN" sz="1900" dirty="0"/>
              </a:p>
              <a:p>
                <a:pPr lvl="1"/>
                <a:r>
                  <a:rPr lang="zh-CN" altLang="en-US" sz="1900" dirty="0"/>
                  <a:t>迭代：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p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𝜶</m:t>
                        </m:r>
                        <m:sSup>
                          <m:sSup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acc>
                          </m:e>
                          <m:sup>
                            <m:d>
                              <m:dPr>
                                <m:ctrlP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sup>
                        </m:sSup>
                      </m:num>
                      <m:den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𝝐</m:t>
                        </m:r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228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sz="19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900" b="1" i="1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</m:acc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228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280" b="1" i="1" dirty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US" altLang="zh-CN" sz="2280" b="1" i="1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2280" b="1" i="1" dirty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d>
                              </m:sup>
                            </m:sSup>
                          </m:e>
                        </m:rad>
                      </m:den>
                    </m:f>
                  </m:oMath>
                </a14:m>
                <a:endParaRPr lang="en-US" altLang="zh-CN" sz="19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80" t="-2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0318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660" dirty="0"/>
              <a:t>各种梯度算法的变种加速算法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1900" dirty="0"/>
                  <a:t>梯度加速方法一般要么对学习率特别敏感，要么需要在执行过程中浪费很长时间来修改学习率</a:t>
                </a:r>
                <a:endParaRPr lang="en-US" altLang="zh-CN" sz="1900" dirty="0"/>
              </a:p>
              <a:p>
                <a:r>
                  <a:rPr lang="zh-CN" altLang="en-US" sz="1900" dirty="0"/>
                  <a:t>而学习率表明方法对梯度信号到底有多敏感！学习率太高或太低都会显著影响算法的性能</a:t>
                </a:r>
                <a:endParaRPr lang="en-US" altLang="zh-CN" sz="1900" dirty="0"/>
              </a:p>
              <a:p>
                <a:r>
                  <a:rPr lang="en-US" altLang="zh-CN" sz="1900" dirty="0"/>
                  <a:t>2018</a:t>
                </a:r>
                <a:r>
                  <a:rPr lang="zh-CN" altLang="en-US" sz="1900" dirty="0"/>
                  <a:t>年</a:t>
                </a:r>
                <a:r>
                  <a:rPr lang="en-US" altLang="zh-CN" sz="1900" dirty="0"/>
                  <a:t>ICML</a:t>
                </a:r>
                <a:r>
                  <a:rPr lang="zh-CN" altLang="en-US" sz="1900" dirty="0"/>
                  <a:t>提出</a:t>
                </a:r>
                <a:r>
                  <a:rPr lang="en-US" altLang="zh-CN" sz="1900" dirty="0" err="1"/>
                  <a:t>Hypergradient</a:t>
                </a:r>
                <a:r>
                  <a:rPr lang="en-US" altLang="zh-CN" sz="1900" dirty="0"/>
                  <a:t> descent</a:t>
                </a:r>
                <a:r>
                  <a:rPr lang="zh-CN" altLang="en-US" sz="1900" dirty="0"/>
                  <a:t>方法，认为学习率的的导数应该对改进优化器的性能有用</a:t>
                </a:r>
                <a:endParaRPr lang="en-US" altLang="zh-CN" sz="1900" dirty="0"/>
              </a:p>
              <a:p>
                <a:r>
                  <a:rPr lang="zh-CN" altLang="en-US" sz="1900" dirty="0"/>
                  <a:t>超梯度是对超参数的导数，超梯度算法降低了对超参数的敏感性，允许更快速的自适应</a:t>
                </a:r>
                <a:endParaRPr lang="en-US" altLang="zh-CN" sz="1900" dirty="0"/>
              </a:p>
              <a:p>
                <a:r>
                  <a:rPr lang="zh-CN" altLang="en-US" sz="1900" dirty="0"/>
                  <a:t>超梯度下降将梯度下降应用到隐含下降方法的学习率上，要求目标函数对学习率求偏导数。对于梯度下降，其偏导数为：</a:t>
                </a:r>
                <a:endParaRPr lang="en-US" altLang="zh-CN" sz="19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19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900" b="1" i="1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𝝏𝜶</m:t>
                        </m:r>
                      </m:den>
                    </m:f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  <m:t>𝒈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19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900" b="1" i="1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f>
                      <m:f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𝝏</m:t>
                        </m:r>
                      </m:num>
                      <m:den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𝝏𝜶</m:t>
                        </m:r>
                      </m:den>
                    </m:f>
                    <m:d>
                      <m:d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𝜶</m:t>
                        </m:r>
                        <m:sSup>
                          <m:sSup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  <m:t>𝒈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19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900" b="1" i="1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d>
                      <m:d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en-US" altLang="zh-CN" sz="1900" dirty="0"/>
              </a:p>
              <a:p>
                <a:r>
                  <a:rPr lang="zh-CN" altLang="en-US" sz="1900" dirty="0"/>
                  <a:t>超梯度的计算要求上一次的梯度，最终的更新规则为</a:t>
                </a:r>
                <a:r>
                  <a:rPr lang="en-US" altLang="zh-CN" sz="1900" dirty="0"/>
                  <a:t>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p>
                        <m:d>
                          <m:d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p>
                        <m:d>
                          <m:d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p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𝝁</m:t>
                    </m:r>
                    <m:f>
                      <m:f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19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900" b="1" i="1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𝝏𝜶</m:t>
                        </m:r>
                      </m:den>
                    </m:f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p>
                        <m:d>
                          <m:d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p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altLang="zh-CN" sz="1900" b="1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900" b="1" i="1">
                                    <a:latin typeface="Cambria Math" panose="02040503050406030204" pitchFamily="18" charset="0"/>
                                  </a:rPr>
                                  <m:t>𝒈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19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900" b="1" i="1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sSup>
                      <m:sSupPr>
                        <m:ctrlPr>
                          <a:rPr lang="en-US" altLang="zh-CN" sz="19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900" b="1" i="1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d>
                          <m:dPr>
                            <m:ctrlP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19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CN" sz="1900" dirty="0"/>
                  <a:t>,</a:t>
                </a:r>
                <a:r>
                  <a:rPr lang="zh-CN" altLang="en-US" sz="1900" dirty="0"/>
                  <a:t>为超参数学习率</a:t>
                </a:r>
                <a:endParaRPr lang="en-US" altLang="zh-CN" sz="19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5" t="-542" r="-4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628C2D7D-51B7-4FAD-8A08-799583B2A3A9}"/>
              </a:ext>
            </a:extLst>
          </p:cNvPr>
          <p:cNvSpPr/>
          <p:nvPr/>
        </p:nvSpPr>
        <p:spPr>
          <a:xfrm>
            <a:off x="1717559" y="6087815"/>
            <a:ext cx="8894133" cy="7063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330" dirty="0">
                <a:solidFill>
                  <a:srgbClr val="FF0000"/>
                </a:solidFill>
                <a:latin typeface="TeXGyrePagella-Regular-Identity-H"/>
              </a:rPr>
              <a:t>A. G. </a:t>
            </a:r>
            <a:r>
              <a:rPr lang="en-US" altLang="zh-CN" sz="1330" dirty="0" err="1">
                <a:solidFill>
                  <a:srgbClr val="FF0000"/>
                </a:solidFill>
                <a:latin typeface="TeXGyrePagella-Regular-Identity-H"/>
              </a:rPr>
              <a:t>Baydin</a:t>
            </a:r>
            <a:r>
              <a:rPr lang="en-US" altLang="zh-CN" sz="1330" dirty="0">
                <a:solidFill>
                  <a:srgbClr val="FF0000"/>
                </a:solidFill>
                <a:latin typeface="TeXGyrePagella-Regular-Identity-H"/>
              </a:rPr>
              <a:t>, R. Cornish, D. M. Rubio, M. Schmidt, and F. Wood, ‘‘Online Learning Rate Adaptation with </a:t>
            </a:r>
            <a:r>
              <a:rPr lang="en-US" altLang="zh-CN" sz="1330" dirty="0" err="1">
                <a:solidFill>
                  <a:srgbClr val="FF0000"/>
                </a:solidFill>
                <a:latin typeface="TeXGyrePagella-Regular-Identity-H"/>
              </a:rPr>
              <a:t>Hypergradient</a:t>
            </a:r>
            <a:r>
              <a:rPr lang="en-US" altLang="zh-CN" sz="1330" dirty="0">
                <a:solidFill>
                  <a:srgbClr val="FF0000"/>
                </a:solidFill>
                <a:latin typeface="TeXGyrePagella-Regular-Identity-H"/>
              </a:rPr>
              <a:t> Descent,’’ in </a:t>
            </a:r>
            <a:r>
              <a:rPr lang="en-US" altLang="zh-CN" sz="1330" i="1" dirty="0">
                <a:solidFill>
                  <a:srgbClr val="FF0000"/>
                </a:solidFill>
                <a:latin typeface="TeXGyrePagella-Italic-Identity-H"/>
              </a:rPr>
              <a:t>International Conference on Learning Representations (ICLR)</a:t>
            </a:r>
            <a:r>
              <a:rPr lang="en-US" altLang="zh-CN" sz="1330" dirty="0">
                <a:solidFill>
                  <a:srgbClr val="FF0000"/>
                </a:solidFill>
                <a:latin typeface="TeXGyrePagella-Regular-Identity-H"/>
              </a:rPr>
              <a:t>, 2018.</a:t>
            </a:r>
            <a:r>
              <a:rPr lang="en-US" altLang="zh-CN" sz="1330" dirty="0">
                <a:solidFill>
                  <a:srgbClr val="FF0000"/>
                </a:solidFill>
              </a:rPr>
              <a:t> </a:t>
            </a:r>
            <a:br>
              <a:rPr lang="en-US" altLang="zh-CN" sz="1330" dirty="0">
                <a:solidFill>
                  <a:srgbClr val="FF0000"/>
                </a:solidFill>
              </a:rPr>
            </a:br>
            <a:endParaRPr lang="zh-CN" altLang="en-US" sz="133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420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52088A-4071-46BB-ACF0-5C8750D04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660" dirty="0"/>
              <a:t>各种梯度算法的变种加速算法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DE8E58-4DA6-4953-A79C-1772821E3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超梯度下降可以应用到任何类似梯度下降算法中</a:t>
            </a:r>
            <a:endParaRPr lang="en-US" altLang="zh-CN" dirty="0"/>
          </a:p>
          <a:p>
            <a:pPr lvl="1"/>
            <a:r>
              <a:rPr lang="zh-CN" altLang="en-US" dirty="0"/>
              <a:t>黑线表示</a:t>
            </a:r>
            <a:r>
              <a:rPr lang="en-US" altLang="zh-CN" dirty="0" err="1"/>
              <a:t>Hypermomentum</a:t>
            </a:r>
            <a:endParaRPr lang="en-US" altLang="zh-CN" dirty="0"/>
          </a:p>
          <a:p>
            <a:pPr lvl="1"/>
            <a:r>
              <a:rPr lang="zh-CN" altLang="en-US" dirty="0"/>
              <a:t>红线表示</a:t>
            </a:r>
            <a:r>
              <a:rPr lang="en-US" altLang="zh-CN" dirty="0"/>
              <a:t>Hyper-</a:t>
            </a:r>
            <a:r>
              <a:rPr lang="en-US" altLang="zh-CN" dirty="0" err="1"/>
              <a:t>Nesterov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89DCE31-091B-4B85-8634-17BBA4B7C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809" y="2733030"/>
            <a:ext cx="8218439" cy="367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224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26121C-681C-47D9-83F4-F327DAA2E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660F71-ADC8-442B-A51C-DAF228E9C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B98C13B-75CB-48F3-BA53-28EE6B588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476" y="1855498"/>
            <a:ext cx="8787048" cy="343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0418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0C2D67-19B3-4AB7-852C-E03DDCA0D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B01DB8-91E4-47D3-80B1-97652E1E4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阅读论文：</a:t>
            </a:r>
            <a:r>
              <a:rPr lang="en-US" altLang="zh-CN" dirty="0"/>
              <a:t>A Review of Benchmark and Test Functions for Global Optimization Algorithms and Metaheuristics</a:t>
            </a:r>
            <a:r>
              <a:rPr lang="zh-CN" altLang="en-US" dirty="0"/>
              <a:t>，</a:t>
            </a:r>
            <a:r>
              <a:rPr lang="en-US" altLang="zh-CN" dirty="0">
                <a:hlinkClick r:id="rId2"/>
              </a:rPr>
              <a:t>A Review of Benchmark and Test Functions for Global Optimization Algorithms and Metaheuristics</a:t>
            </a:r>
            <a:r>
              <a:rPr lang="zh-CN" altLang="en-US" dirty="0"/>
              <a:t>，在这个基线的基础上，完善以下内容：</a:t>
            </a:r>
          </a:p>
          <a:p>
            <a:pPr lvl="1"/>
            <a:r>
              <a:rPr lang="zh-CN" altLang="en-US" dirty="0"/>
              <a:t>实现梯度下降法，及其各种加速算法，并在测试函数上画出迭代路径，并尽量描绘收敛区域</a:t>
            </a:r>
            <a:endParaRPr lang="en-US" altLang="zh-CN" dirty="0"/>
          </a:p>
          <a:p>
            <a:pPr lvl="1"/>
            <a:r>
              <a:rPr lang="zh-CN" altLang="en-US" dirty="0"/>
              <a:t>实现牛顿法，及三次正则化牛顿法，并在测试函数上画出迭代路径，并于前面的梯度下降法进行速度和迭代次数的比较，理解优化中的逼近</a:t>
            </a:r>
            <a:r>
              <a:rPr lang="en-US" altLang="zh-CN" dirty="0"/>
              <a:t>+</a:t>
            </a:r>
            <a:r>
              <a:rPr lang="zh-CN" altLang="en-US" dirty="0"/>
              <a:t>迭代的思想</a:t>
            </a:r>
            <a:endParaRPr lang="en-US" altLang="zh-CN" dirty="0"/>
          </a:p>
          <a:p>
            <a:r>
              <a:rPr lang="zh-CN" altLang="en-US" dirty="0"/>
              <a:t>阅读论文：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Courier New" panose="02070309020205020404" pitchFamily="49" charset="0"/>
                <a:hlinkClick r:id="rId3"/>
              </a:rPr>
              <a:t>A Deep Learning Optimizer Benchmark Suite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Courier New" panose="02070309020205020404" pitchFamily="49" charset="0"/>
              </a:rPr>
              <a:t>，</a:t>
            </a:r>
            <a:r>
              <a:rPr lang="zh-CN" altLang="en-US" dirty="0"/>
              <a:t>文档和代码：</a:t>
            </a:r>
            <a:r>
              <a:rPr lang="en-US" altLang="zh-CN" dirty="0" err="1">
                <a:hlinkClick r:id="rId4"/>
              </a:rPr>
              <a:t>DeepOBS</a:t>
            </a:r>
            <a:r>
              <a:rPr lang="en-US" altLang="zh-CN" dirty="0">
                <a:hlinkClick r:id="rId4"/>
              </a:rPr>
              <a:t> – </a:t>
            </a:r>
            <a:r>
              <a:rPr lang="en-US" altLang="zh-CN" dirty="0" err="1">
                <a:hlinkClick r:id="rId4"/>
              </a:rPr>
              <a:t>DeepOBS</a:t>
            </a:r>
            <a:r>
              <a:rPr lang="zh-CN" altLang="en-US" dirty="0"/>
              <a:t>，</a:t>
            </a:r>
            <a:endParaRPr lang="en-US" altLang="zh-CN" dirty="0"/>
          </a:p>
          <a:p>
            <a:pPr lvl="1"/>
            <a:r>
              <a:rPr lang="zh-CN" altLang="en-US" dirty="0"/>
              <a:t>运行并给出不同优化算法在典型数据集上的性能比较报告，</a:t>
            </a:r>
            <a:endParaRPr lang="en-US" altLang="zh-CN" dirty="0"/>
          </a:p>
          <a:p>
            <a:pPr lvl="1"/>
            <a:r>
              <a:rPr lang="zh-CN" altLang="en-US" dirty="0"/>
              <a:t>上述的算法有的已经集成到这个基线当中，尝试将新算法集成进入该基线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2FA6E12-67A4-42D8-8AF5-C110F1DC9760}"/>
              </a:ext>
            </a:extLst>
          </p:cNvPr>
          <p:cNvSpPr txBox="1"/>
          <p:nvPr/>
        </p:nvSpPr>
        <p:spPr>
          <a:xfrm>
            <a:off x="1023200" y="6375053"/>
            <a:ext cx="6095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5"/>
              </a:rPr>
              <a:t>An Evaluation of 14 Deep Learning Optimizers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61499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D10FFF-116E-42C4-9C20-41AC75591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实验内容：阅读下面及最新相关论文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C2E627-9106-48BC-8956-BD06669C3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 b="1" i="0" dirty="0">
                <a:solidFill>
                  <a:srgbClr val="333333"/>
                </a:solidFill>
                <a:effectLst/>
                <a:latin typeface="HelveticaNeue Regular"/>
              </a:rPr>
              <a:t>Accelerated First-Order Optimization Algorithms for Machine Learning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Neue Regular"/>
              </a:rPr>
              <a:t>，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Neue Regular"/>
              </a:rPr>
              <a:t>Published in: </a:t>
            </a:r>
            <a:r>
              <a:rPr lang="en-US" altLang="zh-CN" b="0" i="0" u="none" strike="noStrike" dirty="0">
                <a:solidFill>
                  <a:srgbClr val="006699"/>
                </a:solidFill>
                <a:effectLst/>
                <a:latin typeface="HelveticaNeue Regular"/>
                <a:hlinkClick r:id="rId2"/>
              </a:rPr>
              <a:t>Proceedings of the IEEE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Neue Regular"/>
              </a:rPr>
              <a:t> ( Volume: 108, </a:t>
            </a:r>
            <a:r>
              <a:rPr lang="en-US" altLang="zh-CN" b="0" i="0" u="none" strike="noStrike" dirty="0">
                <a:solidFill>
                  <a:srgbClr val="006699"/>
                </a:solidFill>
                <a:effectLst/>
                <a:latin typeface="HelveticaNeue Regular"/>
                <a:hlinkClick r:id="rId3"/>
              </a:rPr>
              <a:t>Issue: 11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Neue Regular"/>
              </a:rPr>
              <a:t>, November 2020)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Neue Regular"/>
              </a:rPr>
              <a:t>，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Neue Regular"/>
              </a:rPr>
              <a:t>Page(s): 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Neue Regular"/>
              </a:rPr>
              <a:t>2067 - 2082</a:t>
            </a:r>
          </a:p>
          <a:p>
            <a:pPr>
              <a:lnSpc>
                <a:spcPct val="120000"/>
              </a:lnSpc>
            </a:pPr>
            <a:r>
              <a:rPr lang="en-US" altLang="zh-CN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4"/>
              </a:rPr>
              <a:t>Recent Advances in Optimization Methods for Machine Learning: A Systematic Review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，</a:t>
            </a:r>
            <a:r>
              <a:rPr lang="en-US" altLang="zh-CN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Mathematics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altLang="zh-CN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2025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altLang="zh-CN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13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(13), 2210; </a:t>
            </a:r>
            <a:r>
              <a:rPr lang="en-US" altLang="zh-CN" b="1" i="0" u="none" strike="noStrike" dirty="0">
                <a:solidFill>
                  <a:srgbClr val="4F5671"/>
                </a:solidFill>
                <a:effectLst/>
                <a:latin typeface="Arial" panose="020B0604020202020204" pitchFamily="34" charset="0"/>
                <a:hlinkClick r:id="rId5"/>
              </a:rPr>
              <a:t>https://doi.org/10.3390/math13132210</a:t>
            </a:r>
            <a:endParaRPr lang="en-US" altLang="zh-CN" b="1" i="0" u="none" strike="noStrike" dirty="0">
              <a:solidFill>
                <a:srgbClr val="4F5671"/>
              </a:solidFill>
              <a:effectLst/>
              <a:latin typeface="Arial" panose="020B060402020202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2800" b="0" i="0" dirty="0" err="1">
                <a:solidFill>
                  <a:srgbClr val="242021"/>
                </a:solidFill>
                <a:effectLst/>
                <a:latin typeface="Formata-Medium"/>
              </a:rPr>
              <a:t>PlatEMO</a:t>
            </a:r>
            <a:r>
              <a:rPr lang="en-US" altLang="zh-CN" sz="2800" b="0" i="0" dirty="0">
                <a:solidFill>
                  <a:srgbClr val="242021"/>
                </a:solidFill>
                <a:effectLst/>
                <a:latin typeface="Formata-Medium"/>
              </a:rPr>
              <a:t>: A MATLAB Platform for Evolutionary Multi-Objective Optimization</a:t>
            </a:r>
            <a:r>
              <a:rPr lang="zh-CN" altLang="en-US" sz="2800" b="0" i="0" dirty="0">
                <a:solidFill>
                  <a:srgbClr val="242021"/>
                </a:solidFill>
                <a:effectLst/>
                <a:latin typeface="Formata-Medium"/>
              </a:rPr>
              <a:t>，</a:t>
            </a:r>
            <a:r>
              <a:rPr lang="en-US" altLang="zh-CN" b="0" i="0" u="none" strike="noStrike" dirty="0">
                <a:solidFill>
                  <a:srgbClr val="006699"/>
                </a:solidFill>
                <a:effectLst/>
                <a:latin typeface="HelveticaNeue Regular"/>
                <a:hlinkClick r:id="rId6"/>
              </a:rPr>
              <a:t> IEEE Computational Intelligence Magazine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Neue Regular"/>
              </a:rPr>
              <a:t> ( Volume: 12, </a:t>
            </a:r>
            <a:r>
              <a:rPr lang="en-US" altLang="zh-CN" b="0" i="0" u="none" strike="noStrike" dirty="0">
                <a:solidFill>
                  <a:srgbClr val="006699"/>
                </a:solidFill>
                <a:effectLst/>
                <a:latin typeface="HelveticaNeue Regular"/>
                <a:hlinkClick r:id="rId7"/>
              </a:rPr>
              <a:t>Issue: 4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Neue Regular"/>
              </a:rPr>
              <a:t>, November 2017)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Neue Regular"/>
              </a:rPr>
              <a:t>，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Neue Regular"/>
              </a:rPr>
              <a:t>Page(s): 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Neue Regular"/>
              </a:rPr>
              <a:t>73 - 87</a:t>
            </a:r>
          </a:p>
          <a:p>
            <a:pPr lvl="1">
              <a:lnSpc>
                <a:spcPct val="120000"/>
              </a:lnSpc>
            </a:pPr>
            <a:r>
              <a:rPr lang="zh-CN" altLang="en-US" b="1" i="0" u="none" strike="noStrike" dirty="0">
                <a:solidFill>
                  <a:srgbClr val="4F5671"/>
                </a:solidFill>
                <a:effectLst/>
                <a:latin typeface="Arial" panose="020B0604020202020204" pitchFamily="34" charset="0"/>
              </a:rPr>
              <a:t>尝试将</a:t>
            </a:r>
            <a:r>
              <a:rPr lang="en-US" altLang="zh-CN" b="1" i="0" u="none" strike="noStrike" dirty="0" err="1">
                <a:solidFill>
                  <a:srgbClr val="4F5671"/>
                </a:solidFill>
                <a:effectLst/>
                <a:latin typeface="Arial" panose="020B0604020202020204" pitchFamily="34" charset="0"/>
              </a:rPr>
              <a:t>PlatEMO</a:t>
            </a:r>
            <a:r>
              <a:rPr lang="zh-CN" altLang="en-US" b="1" i="0" u="none" strike="noStrike" dirty="0">
                <a:solidFill>
                  <a:srgbClr val="4F5671"/>
                </a:solidFill>
                <a:effectLst/>
                <a:latin typeface="Arial" panose="020B0604020202020204" pitchFamily="34" charset="0"/>
              </a:rPr>
              <a:t>中算法集成到上页中的基线当中</a:t>
            </a:r>
            <a:endParaRPr lang="en-US" altLang="zh-CN" b="1" i="0" u="none" strike="noStrike" dirty="0">
              <a:solidFill>
                <a:srgbClr val="4F567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理解机器学习中优化方法的发展历程和最新进展，当前深度学习优化方面的研究，以及深度学习中的研究是如何跟优化相结合的，撰写相关报告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21357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6.7|5.6|23.9|60.8|16|15.9|113.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3262</Words>
  <Application>Microsoft Office PowerPoint</Application>
  <PresentationFormat>宽屏</PresentationFormat>
  <Paragraphs>278</Paragraphs>
  <Slides>30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6" baseType="lpstr">
      <vt:lpstr>CMR10</vt:lpstr>
      <vt:lpstr>Formata-Medium</vt:lpstr>
      <vt:lpstr>HelveticaNeue Regular</vt:lpstr>
      <vt:lpstr>TeXGyrePagella-Italic-Identity-H</vt:lpstr>
      <vt:lpstr>TeXGyrePagella-Regular-Identity-H</vt:lpstr>
      <vt:lpstr>等线</vt:lpstr>
      <vt:lpstr>等线 Light</vt:lpstr>
      <vt:lpstr>宋体</vt:lpstr>
      <vt:lpstr>Arial</vt:lpstr>
      <vt:lpstr>Cambria Math</vt:lpstr>
      <vt:lpstr>Courier New</vt:lpstr>
      <vt:lpstr>Symbol</vt:lpstr>
      <vt:lpstr>Times New Roman</vt:lpstr>
      <vt:lpstr>Wingdings</vt:lpstr>
      <vt:lpstr>Office 主题​​</vt:lpstr>
      <vt:lpstr>Equation.3</vt:lpstr>
      <vt:lpstr>梯度下降法及常见测试函数</vt:lpstr>
      <vt:lpstr>梯度下降法的基本思想</vt:lpstr>
      <vt:lpstr>第3章 非线性规划-基本思路</vt:lpstr>
      <vt:lpstr>梯度下降法</vt:lpstr>
      <vt:lpstr>梯度下降法</vt:lpstr>
      <vt:lpstr>迭代法的基本思路</vt:lpstr>
      <vt:lpstr>梯度下降法的基本流程</vt:lpstr>
      <vt:lpstr>选取λ_k的各种规则，每种规则包含(1),(2)两条件</vt:lpstr>
      <vt:lpstr>α_k的选取</vt:lpstr>
      <vt:lpstr>几个常见的测试函数</vt:lpstr>
      <vt:lpstr>几个常见的测试函数</vt:lpstr>
      <vt:lpstr>几个常见的测试函数</vt:lpstr>
      <vt:lpstr>几个常见的测试函数</vt:lpstr>
      <vt:lpstr>几个常见的测试函数</vt:lpstr>
      <vt:lpstr>几个常见的测试函数</vt:lpstr>
      <vt:lpstr>几个常见的测试函数</vt:lpstr>
      <vt:lpstr>几个常见的测试函数</vt:lpstr>
      <vt:lpstr>几个常见的测试函数</vt:lpstr>
      <vt:lpstr>几个常见的测试函数</vt:lpstr>
      <vt:lpstr>几个常见的测试函数</vt:lpstr>
      <vt:lpstr>几个常见的测试函数</vt:lpstr>
      <vt:lpstr>各种梯度算法的变种加速算法</vt:lpstr>
      <vt:lpstr>各种梯度算法的变种加速算法</vt:lpstr>
      <vt:lpstr>各种梯度算法的变种加速算法</vt:lpstr>
      <vt:lpstr>各种梯度算法的变种加速算法</vt:lpstr>
      <vt:lpstr>各种梯度算法的变种加速算法</vt:lpstr>
      <vt:lpstr>各种梯度算法的变种加速算法</vt:lpstr>
      <vt:lpstr>PowerPoint 演示文稿</vt:lpstr>
      <vt:lpstr>实验内容</vt:lpstr>
      <vt:lpstr>实验内容：阅读下面及最新相关论文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常见测试函数</dc:title>
  <dc:creator>绍辉 刘</dc:creator>
  <cp:lastModifiedBy>刘绍辉</cp:lastModifiedBy>
  <cp:revision>20</cp:revision>
  <dcterms:created xsi:type="dcterms:W3CDTF">2024-04-13T00:39:22Z</dcterms:created>
  <dcterms:modified xsi:type="dcterms:W3CDTF">2026-04-16T02:17:57Z</dcterms:modified>
</cp:coreProperties>
</file>